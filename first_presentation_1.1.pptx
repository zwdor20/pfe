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21"/>
  </p:notesMasterIdLst>
  <p:sldIdLst>
    <p:sldId id="294" r:id="rId2"/>
    <p:sldId id="295" r:id="rId3"/>
    <p:sldId id="296" r:id="rId4"/>
    <p:sldId id="308" r:id="rId5"/>
    <p:sldId id="299" r:id="rId6"/>
    <p:sldId id="311" r:id="rId7"/>
    <p:sldId id="310" r:id="rId8"/>
    <p:sldId id="312" r:id="rId9"/>
    <p:sldId id="313" r:id="rId10"/>
    <p:sldId id="300" r:id="rId11"/>
    <p:sldId id="301" r:id="rId12"/>
    <p:sldId id="302" r:id="rId13"/>
    <p:sldId id="303" r:id="rId14"/>
    <p:sldId id="304" r:id="rId15"/>
    <p:sldId id="306" r:id="rId16"/>
    <p:sldId id="314" r:id="rId17"/>
    <p:sldId id="315" r:id="rId18"/>
    <p:sldId id="307" r:id="rId19"/>
    <p:sldId id="30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mar zwd" initials="oz" lastIdx="1" clrIdx="0">
    <p:extLst>
      <p:ext uri="{19B8F6BF-5375-455C-9EA6-DF929625EA0E}">
        <p15:presenceInfo xmlns:p15="http://schemas.microsoft.com/office/powerpoint/2012/main" userId="6ff0acc71168d0e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45" autoAdjust="0"/>
    <p:restoredTop sz="68198" autoAdjust="0"/>
  </p:normalViewPr>
  <p:slideViewPr>
    <p:cSldViewPr snapToGrid="0">
      <p:cViewPr>
        <p:scale>
          <a:sx n="75" d="100"/>
          <a:sy n="75" d="100"/>
        </p:scale>
        <p:origin x="197" y="4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0B152C-C8FD-42D7-9917-C2C4E977E611}" type="datetimeFigureOut">
              <a:rPr lang="fr-FR" smtClean="0"/>
              <a:t>26/05/2020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6B0659-C84A-4C94-9A37-1BE51DD4DB6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9773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L’organisme d’accueil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Contexte de projet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Présentation du projet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Gestion de projet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Spécification du projet</a:t>
            </a:r>
          </a:p>
          <a:p>
            <a:pPr>
              <a:lnSpc>
                <a:spcPct val="150000"/>
              </a:lnSpc>
            </a:pPr>
            <a:endParaRPr lang="fr-FR" sz="2800" dirty="0"/>
          </a:p>
          <a:p>
            <a:pPr lvl="1"/>
            <a:endParaRPr lang="fr-FR" b="1" dirty="0"/>
          </a:p>
          <a:p>
            <a:pPr lvl="1"/>
            <a:endParaRPr lang="fr-FR" b="1" dirty="0"/>
          </a:p>
          <a:p>
            <a:pPr lvl="1"/>
            <a:endParaRPr lang="fr-FR" b="1" dirty="0"/>
          </a:p>
          <a:p>
            <a:pPr marL="742950" lvl="1" indent="-285750">
              <a:buAutoNum type="romanUcParenR"/>
            </a:pPr>
            <a:endParaRPr lang="fr-FR" sz="1100" dirty="0"/>
          </a:p>
          <a:p>
            <a:endParaRPr lang="fr-FR" sz="1100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55358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SG ATS est une filiale du groupe Société Générale qui a démarré ses activités en début 2014, basée à Casablanca. Société Générale </a:t>
            </a:r>
            <a:r>
              <a:rPr lang="fr-FR" dirty="0" err="1"/>
              <a:t>Africa</a:t>
            </a:r>
            <a:r>
              <a:rPr lang="fr-FR" dirty="0"/>
              <a:t> Technologies &amp; Services regroupe des services liés aux activités de marché de la banque de financement et d’investissements (SG CIB), spécialisés en Recherche et Développement et en Ingénierie Financière.</a:t>
            </a:r>
            <a:endParaRPr lang="fr-FR" sz="1800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536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équipes R&amp;D de la Société Générale sont constituées de Cinq branches principales peuvent être distinguées. Une branche constituée de trois équipes R&amp;D :</a:t>
            </a:r>
          </a:p>
          <a:p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QUANT : a pour mission de développer les librairies mathématiques de calcul des prix.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QARM : équipe en charge de tests et de validation des produits développés par les autres </a:t>
            </a:r>
            <a:r>
              <a:rPr lang="fr-FR" i="1" dirty="0"/>
              <a:t>entités.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SET : équipe en charge de la création d’outils de trading et de la mise en œuvre effective des librairies de calcul dans un contexte industriel.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7576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dirty="0"/>
              <a:t>L’équipe RDWS développe et maintient des services utilisés par les équipes du département</a:t>
            </a:r>
          </a:p>
          <a:p>
            <a:pPr lvl="1"/>
            <a:r>
              <a:rPr lang="fr-FR" dirty="0"/>
              <a:t>Recherche &amp; Développement du groupe Société Générale. Ces services sont regroupés est déployé dans le cloud Microsoft Azure, sous une architecture service cloud.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1671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dirty="0"/>
              <a:t>L’équipe RDWS développe et maintient des services utilisés par les équipes du département</a:t>
            </a:r>
          </a:p>
          <a:p>
            <a:pPr lvl="1"/>
            <a:r>
              <a:rPr lang="fr-FR" dirty="0"/>
              <a:t>Recherche &amp; Développement du groupe Société Générale. Ces services sont regroupés est déployé dans le cloud Microsoft Azure, sous une architecture service cloud.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18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2430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826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fr-FR" sz="1100" b="1" dirty="0"/>
          </a:p>
          <a:p>
            <a:r>
              <a:rPr lang="fr-FR" dirty="0"/>
              <a:t>La problématique de service de </a:t>
            </a:r>
            <a:r>
              <a:rPr lang="fr-FR" dirty="0" err="1"/>
              <a:t>scaling</a:t>
            </a:r>
            <a:r>
              <a:rPr lang="fr-FR" dirty="0"/>
              <a:t> existant réside dans le choix manuel des Configuration, fait par l’équipe </a:t>
            </a:r>
            <a:r>
              <a:rPr lang="fr-FR" dirty="0" err="1"/>
              <a:t>CloudOps</a:t>
            </a:r>
            <a:r>
              <a:rPr lang="fr-FR" dirty="0"/>
              <a:t>. Ce choix manuel cause les problèmes suivants :</a:t>
            </a:r>
          </a:p>
          <a:p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Des surcharges non supportées par les services au cas d’une configuration minimale, et par conséquence un temps de réponse non satisfaisant pour le client.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Un coût de déploiement sur le cloud très élevé, au cas d’une configuration gourmande en terme de </a:t>
            </a:r>
            <a:r>
              <a:rPr lang="fr-FR" dirty="0" err="1"/>
              <a:t>workers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49637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b="1" dirty="0"/>
              <a:t>2.  Application de la méthode XP dans le projet : </a:t>
            </a:r>
          </a:p>
          <a:p>
            <a:pPr lvl="1"/>
            <a:endParaRPr lang="fr-FR" dirty="0"/>
          </a:p>
          <a:p>
            <a:r>
              <a:rPr lang="fr-FR" dirty="0"/>
              <a:t>La caractérisation de la méthode XP dans ce projet a été faite en suivant les pratiques telles</a:t>
            </a:r>
          </a:p>
          <a:p>
            <a:r>
              <a:rPr lang="fr-FR" dirty="0"/>
              <a:t>que :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b="1" dirty="0"/>
              <a:t>La revue du code </a:t>
            </a:r>
            <a:r>
              <a:rPr lang="fr-FR" dirty="0"/>
              <a:t>: pour chaque partie développée, une revue du code est prévue afin de valider l’incrément, et l’intégrer dans le répertoire distant. Cette revue a pour but d’assurer que le code respecte toutes les règles de qualité et les bonnes pratiques (YAGNI, KISS, DRY, SOLID…) imposées par l’équipe.</a:t>
            </a:r>
          </a:p>
          <a:p>
            <a:pPr lvl="1"/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b="1" dirty="0"/>
              <a:t>Les tests unitaires </a:t>
            </a:r>
            <a:r>
              <a:rPr lang="fr-FR" dirty="0"/>
              <a:t>: Les tests unitaires de chaque fonctionnalité et une couverture du code à 100% sont exigés par l’équipe.</a:t>
            </a:r>
          </a:p>
          <a:p>
            <a:pPr lvl="1"/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b="1" dirty="0"/>
              <a:t>Le </a:t>
            </a:r>
            <a:r>
              <a:rPr lang="fr-FR" b="1" i="1" dirty="0" err="1"/>
              <a:t>refactoring</a:t>
            </a:r>
            <a:r>
              <a:rPr lang="fr-FR" b="1" i="1" dirty="0"/>
              <a:t> </a:t>
            </a:r>
            <a:r>
              <a:rPr lang="fr-FR" b="1" dirty="0"/>
              <a:t>du code </a:t>
            </a:r>
            <a:r>
              <a:rPr lang="fr-FR" dirty="0"/>
              <a:t>: Consiste à modifier le code source de façon à en améliorer la structure, sans que cela modifie son comportement fonctionnel.</a:t>
            </a:r>
            <a:endParaRPr lang="fr-FR" sz="2400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333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.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G:\_DTP Bureau\LIVE JOBS\DTP56000 - 56999\DTP56185 - SG CIB PPT Template 2011\graphics\SG CIB Building Logo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517" y="6076251"/>
            <a:ext cx="3840000" cy="573076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1" y="2215007"/>
            <a:ext cx="10706099" cy="1249200"/>
          </a:xfrm>
        </p:spPr>
        <p:txBody>
          <a:bodyPr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400" b="0" kern="1200" cap="all" baseline="0" noProof="0" dirty="0" smtClean="0">
                <a:solidFill>
                  <a:srgbClr val="E60028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2951" y="3592449"/>
            <a:ext cx="10706099" cy="324000"/>
          </a:xfrm>
        </p:spPr>
        <p:txBody>
          <a:bodyPr>
            <a:noAutofit/>
          </a:bodyPr>
          <a:lstStyle>
            <a:lvl1pPr marL="0" indent="0" algn="ctr" defTabSz="914400" rtl="0" eaLnBrk="1" latinLnBrk="0" hangingPunct="1">
              <a:spcBef>
                <a:spcPts val="900"/>
              </a:spcBef>
              <a:buClr>
                <a:schemeClr val="tx2"/>
              </a:buClr>
              <a:buSzPct val="90000"/>
              <a:buFont typeface="Wingdings" pitchFamily="2" charset="2"/>
              <a:buNone/>
              <a:defRPr lang="en-GB" sz="2000" b="0" kern="1200" cap="none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93366" y="258432"/>
            <a:ext cx="3934885" cy="144000"/>
          </a:xfrm>
          <a:prstGeom prst="rect">
            <a:avLst/>
          </a:prstGeom>
        </p:spPr>
        <p:txBody>
          <a:bodyPr anchor="ctr"/>
          <a:lstStyle>
            <a:lvl1pPr algn="l">
              <a:defRPr sz="1100"/>
            </a:lvl1pPr>
          </a:lstStyle>
          <a:p>
            <a:fld id="{C52A7112-AD22-4CC6-BB8E-81D9D3125C61}" type="datetimeFigureOut">
              <a:rPr lang="fr-FR" smtClean="0"/>
              <a:t>26/05/2020</a:t>
            </a:fld>
            <a:endParaRPr lang="fr-FR"/>
          </a:p>
        </p:txBody>
      </p:sp>
      <p:sp>
        <p:nvSpPr>
          <p:cNvPr id="8" name="Line 12"/>
          <p:cNvSpPr>
            <a:spLocks noChangeShapeType="1"/>
          </p:cNvSpPr>
          <p:nvPr/>
        </p:nvSpPr>
        <p:spPr bwMode="gray">
          <a:xfrm flipV="1">
            <a:off x="6096000" y="209550"/>
            <a:ext cx="0" cy="266700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3" hasCustomPrompt="1"/>
          </p:nvPr>
        </p:nvSpPr>
        <p:spPr>
          <a:xfrm>
            <a:off x="749301" y="476672"/>
            <a:ext cx="5250689" cy="432048"/>
          </a:xfrm>
          <a:ln>
            <a:noFill/>
            <a:prstDash val="dash"/>
          </a:ln>
        </p:spPr>
        <p:txBody>
          <a:bodyPr anchor="ctr">
            <a:noAutofit/>
          </a:bodyPr>
          <a:lstStyle>
            <a:lvl1pPr marL="0" indent="0" algn="r">
              <a:buNone/>
              <a:defRPr sz="900" b="0" i="0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OPTIONAL: USE C1-C2-C3 for internal use and Confidential otherwise – Please delete box once decided</a:t>
            </a:r>
            <a:endParaRPr lang="en-GB" dirty="0"/>
          </a:p>
        </p:txBody>
      </p:sp>
      <p:sp>
        <p:nvSpPr>
          <p:cNvPr id="13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703846" y="4408320"/>
            <a:ext cx="2784309" cy="1252928"/>
          </a:xfrm>
          <a:prstGeom prst="rect">
            <a:avLst/>
          </a:prstGeom>
          <a:ln>
            <a:noFill/>
            <a:prstDash val="dash"/>
          </a:ln>
        </p:spPr>
        <p:txBody>
          <a:bodyPr anchor="ctr">
            <a:noAutofit/>
          </a:bodyPr>
          <a:lstStyle>
            <a:lvl1pPr marL="0" indent="0" algn="ctr">
              <a:buNone/>
              <a:defRPr sz="900" b="0" i="0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OPTIONAL : Client Logo Area </a:t>
            </a:r>
            <a:b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</a:b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Please resize the logo to fit this area. </a:t>
            </a:r>
            <a:b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</a:b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This box must be deleted once the presentation is complete.</a:t>
            </a:r>
            <a:endParaRPr kumimoji="0" lang="en-GB" sz="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itchFamily="34" charset="0"/>
            </a:endParaRPr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743712" y="1293709"/>
            <a:ext cx="10704576" cy="190800"/>
          </a:xfrm>
          <a:prstGeom prst="rect">
            <a:avLst/>
          </a:prstGeom>
          <a:ln>
            <a:noFill/>
            <a:prstDash val="dash"/>
          </a:ln>
        </p:spPr>
        <p:txBody>
          <a:bodyPr anchor="t">
            <a:noAutofit/>
          </a:bodyPr>
          <a:lstStyle>
            <a:lvl1pPr marL="0" indent="0" algn="ctr">
              <a:buNone/>
              <a:defRPr sz="1200" b="1" i="0" cap="all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OPTIONAL: SERVICE/ID</a:t>
            </a:r>
          </a:p>
        </p:txBody>
      </p:sp>
    </p:spTree>
    <p:extLst>
      <p:ext uri="{BB962C8B-B14F-4D97-AF65-F5344CB8AC3E}">
        <p14:creationId xmlns:p14="http://schemas.microsoft.com/office/powerpoint/2010/main" val="1774939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4896000"/>
          </a:xfrm>
        </p:spPr>
        <p:txBody>
          <a:bodyPr>
            <a:noAutofit/>
          </a:bodyPr>
          <a:lstStyle>
            <a:lvl1pPr marL="0" indent="0">
              <a:buNone/>
              <a:defRPr sz="1100" b="0" baseline="0"/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02925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.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42951" y="1129029"/>
            <a:ext cx="10704000" cy="576000"/>
          </a:xfrm>
        </p:spPr>
        <p:txBody>
          <a:bodyPr anchor="ctr">
            <a:noAutofit/>
          </a:bodyPr>
          <a:lstStyle>
            <a:lvl1pPr algn="ctr">
              <a:defRPr sz="21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911096"/>
            <a:ext cx="10704000" cy="4035600"/>
          </a:xfrm>
        </p:spPr>
        <p:txBody>
          <a:bodyPr rIns="0"/>
          <a:lstStyle>
            <a:lvl1pPr marL="0" indent="0">
              <a:buNone/>
              <a:tabLst>
                <a:tab pos="7988300" algn="r"/>
              </a:tabLst>
              <a:defRPr b="1" cap="all" baseline="0">
                <a:solidFill>
                  <a:srgbClr val="E60028"/>
                </a:solidFill>
              </a:defRPr>
            </a:lvl1pPr>
            <a:lvl2pPr marL="0" indent="0">
              <a:buNone/>
              <a:tabLst>
                <a:tab pos="7988300" algn="r"/>
              </a:tabLst>
              <a:defRPr cap="all" baseline="0"/>
            </a:lvl2pPr>
            <a:lvl3pPr marL="0" indent="0">
              <a:buNone/>
              <a:tabLst>
                <a:tab pos="7988300" algn="r"/>
              </a:tabLst>
              <a:defRPr sz="1000" cap="all" baseline="0"/>
            </a:lvl3pPr>
            <a:lvl4pPr marL="0" indent="0">
              <a:buNone/>
              <a:tabLst>
                <a:tab pos="7988300" algn="r"/>
              </a:tabLst>
              <a:defRPr sz="900" cap="all" baseline="0"/>
            </a:lvl4pPr>
            <a:lvl5pPr marL="0" indent="0">
              <a:buNone/>
              <a:tabLst>
                <a:tab pos="7988300" algn="r"/>
              </a:tabLst>
              <a:defRPr sz="800" cap="all" baseline="0"/>
            </a:lvl5pPr>
          </a:lstStyle>
          <a:p>
            <a:pPr lvl="0"/>
            <a:r>
              <a:rPr lang="en-US" dirty="0"/>
              <a:t>CLICK TO EDIT MASTER TEXT STYLES	x</a:t>
            </a:r>
          </a:p>
          <a:p>
            <a:pPr lvl="1"/>
            <a:r>
              <a:rPr lang="en-US" dirty="0"/>
              <a:t>SECOND LEVEL	x</a:t>
            </a:r>
          </a:p>
          <a:p>
            <a:pPr lvl="2"/>
            <a:r>
              <a:rPr lang="en-US" dirty="0"/>
              <a:t>THIRD LEVEL	x</a:t>
            </a:r>
          </a:p>
          <a:p>
            <a:pPr lvl="3"/>
            <a:r>
              <a:rPr lang="en-US" dirty="0"/>
              <a:t>FOURTH LEVEL	x</a:t>
            </a:r>
          </a:p>
          <a:p>
            <a:pPr lvl="4"/>
            <a:r>
              <a:rPr lang="en-US" dirty="0"/>
              <a:t>FIFTH LEVEL	x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3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26/05/2020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pic>
        <p:nvPicPr>
          <p:cNvPr id="13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52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. Table of Contents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42951" y="1129029"/>
            <a:ext cx="10704000" cy="576000"/>
          </a:xfrm>
        </p:spPr>
        <p:txBody>
          <a:bodyPr anchor="ctr">
            <a:noAutofit/>
          </a:bodyPr>
          <a:lstStyle>
            <a:lvl1pPr algn="ctr">
              <a:defRPr sz="21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sp>
        <p:nvSpPr>
          <p:cNvPr id="30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911096"/>
            <a:ext cx="10704000" cy="4035600"/>
          </a:xfrm>
        </p:spPr>
        <p:txBody>
          <a:bodyPr rIns="0" numCol="2" spcCol="216000"/>
          <a:lstStyle>
            <a:lvl1pPr marL="0" indent="0">
              <a:buNone/>
              <a:tabLst>
                <a:tab pos="3924000" algn="r"/>
                <a:tab pos="7920000" algn="r"/>
              </a:tabLst>
              <a:defRPr b="1" cap="all" baseline="0">
                <a:solidFill>
                  <a:srgbClr val="E60028"/>
                </a:solidFill>
              </a:defRPr>
            </a:lvl1pPr>
            <a:lvl2pPr marL="0" indent="0">
              <a:buNone/>
              <a:tabLst>
                <a:tab pos="3924000" algn="r"/>
                <a:tab pos="7920000" algn="r"/>
              </a:tabLst>
              <a:defRPr cap="all" baseline="0"/>
            </a:lvl2pPr>
            <a:lvl3pPr marL="0" indent="0">
              <a:buNone/>
              <a:tabLst>
                <a:tab pos="3924000" algn="r"/>
                <a:tab pos="7920000" algn="r"/>
              </a:tabLst>
              <a:defRPr sz="1000" cap="all" baseline="0"/>
            </a:lvl3pPr>
            <a:lvl4pPr marL="0" indent="0">
              <a:buNone/>
              <a:tabLst>
                <a:tab pos="3924000" algn="r"/>
                <a:tab pos="7920000" algn="r"/>
              </a:tabLst>
              <a:defRPr sz="900" cap="all" baseline="0"/>
            </a:lvl4pPr>
            <a:lvl5pPr marL="0" indent="0">
              <a:buNone/>
              <a:tabLst>
                <a:tab pos="3924000" algn="r"/>
                <a:tab pos="7920000" algn="r"/>
              </a:tabLst>
              <a:defRPr sz="800" cap="all" baseline="0"/>
            </a:lvl5pPr>
          </a:lstStyle>
          <a:p>
            <a:pPr lvl="0"/>
            <a:r>
              <a:rPr lang="en-US" dirty="0"/>
              <a:t>CLICK TO EDIT MASTER TEXT STYLES	x</a:t>
            </a:r>
          </a:p>
          <a:p>
            <a:pPr lvl="1"/>
            <a:r>
              <a:rPr lang="en-US" dirty="0"/>
              <a:t>SECOND LEVEL	x</a:t>
            </a:r>
          </a:p>
          <a:p>
            <a:pPr lvl="2"/>
            <a:r>
              <a:rPr lang="en-US" dirty="0"/>
              <a:t>THIRD LEVEL	x</a:t>
            </a:r>
          </a:p>
          <a:p>
            <a:pPr lvl="3"/>
            <a:r>
              <a:rPr lang="en-US" dirty="0"/>
              <a:t>FOURTH LEVEL	x</a:t>
            </a:r>
          </a:p>
          <a:p>
            <a:pPr lvl="4"/>
            <a:r>
              <a:rPr lang="en-US" dirty="0"/>
              <a:t>FIFTH LEVEL	x</a:t>
            </a:r>
            <a:endParaRPr lang="en-GB" dirty="0"/>
          </a:p>
          <a:p>
            <a:pPr lvl="0"/>
            <a:endParaRPr lang="en-US" dirty="0"/>
          </a:p>
        </p:txBody>
      </p:sp>
      <p:cxnSp>
        <p:nvCxnSpPr>
          <p:cNvPr id="32" name="Straight Connector 31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4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26/05/2020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pic>
        <p:nvPicPr>
          <p:cNvPr id="13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5622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4.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1" y="2215007"/>
            <a:ext cx="10706099" cy="1249200"/>
          </a:xfrm>
        </p:spPr>
        <p:txBody>
          <a:bodyPr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 dirty="0"/>
              <a:t>Click to edit divider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2951" y="3592449"/>
            <a:ext cx="10706099" cy="324000"/>
          </a:xfrm>
        </p:spPr>
        <p:txBody>
          <a:bodyPr>
            <a:noAutofit/>
          </a:bodyPr>
          <a:lstStyle>
            <a:lvl1pPr marL="0" indent="0" algn="ctr" defTabSz="914400" rtl="0" eaLnBrk="1" latinLnBrk="0" hangingPunct="1">
              <a:spcBef>
                <a:spcPts val="900"/>
              </a:spcBef>
              <a:buClr>
                <a:schemeClr val="tx2"/>
              </a:buClr>
              <a:buSzPct val="90000"/>
              <a:buFont typeface="Wingdings" pitchFamily="2" charset="2"/>
              <a:buNone/>
              <a:defRPr lang="en-GB" sz="1800" b="0" kern="1200" cap="none" baseline="0" dirty="0" smtClean="0">
                <a:solidFill>
                  <a:schemeClr val="tx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pic>
        <p:nvPicPr>
          <p:cNvPr id="11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7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844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7421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Basic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980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7413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Column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489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489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2072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4 Quar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6190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9235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4 Quarter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 hasCustomPrompt="1"/>
          </p:nvPr>
        </p:nvSpPr>
        <p:spPr>
          <a:xfrm>
            <a:off x="5494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9576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742951" y="357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62002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Row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22821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1 Row + 2 Quar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6190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3528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Quarters + 1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2931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1 Row + 2 Quarter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 hasCustomPrompt="1"/>
          </p:nvPr>
        </p:nvSpPr>
        <p:spPr>
          <a:xfrm>
            <a:off x="5494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43196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Quarters + 1 Row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1642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31103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ayout: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1733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1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951" y="260349"/>
            <a:ext cx="9384000" cy="28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1" y="1050924"/>
            <a:ext cx="10704000" cy="48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gray">
          <a:xfrm flipH="1">
            <a:off x="325967" y="765175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0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26/05/2020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25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</p:sldLayoutIdLst>
  <p:txStyles>
    <p:titleStyle>
      <a:lvl1pPr algn="l" defTabSz="914400" rtl="0" eaLnBrk="1" fontAlgn="base" latinLnBrk="0" hangingPunct="1">
        <a:lnSpc>
          <a:spcPct val="90000"/>
        </a:lnSpc>
        <a:spcBef>
          <a:spcPct val="0"/>
        </a:spcBef>
        <a:spcAft>
          <a:spcPct val="0"/>
        </a:spcAft>
        <a:buNone/>
        <a:defRPr lang="en-GB" sz="1600" b="1" kern="1200" cap="all" baseline="0" noProof="0" dirty="0" smtClean="0">
          <a:solidFill>
            <a:srgbClr val="E60028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182563" indent="-182563" algn="l" defTabSz="914400" rtl="0" eaLnBrk="1" latinLnBrk="0" hangingPunct="1">
        <a:spcBef>
          <a:spcPts val="900"/>
        </a:spcBef>
        <a:buClr>
          <a:schemeClr val="tx2"/>
        </a:buClr>
        <a:buSzPct val="90000"/>
        <a:buFont typeface="Wingdings" pitchFamily="2" charset="2"/>
        <a:buChar char="n"/>
        <a:defRPr sz="1400" b="1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357188" indent="-174625" algn="l" defTabSz="914400" rtl="0" eaLnBrk="1" latinLnBrk="0" hangingPunct="1">
        <a:spcBef>
          <a:spcPts val="600"/>
        </a:spcBef>
        <a:buClr>
          <a:schemeClr val="tx2"/>
        </a:buClr>
        <a:buFont typeface="Arial" pitchFamily="34" charset="0"/>
        <a:buChar char="●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539750" indent="-182563" algn="l" defTabSz="914400" rtl="0" eaLnBrk="1" latinLnBrk="0" hangingPunct="1">
        <a:spcBef>
          <a:spcPts val="600"/>
        </a:spcBef>
        <a:buClr>
          <a:schemeClr val="tx2"/>
        </a:buClr>
        <a:buFont typeface="Webdings" pitchFamily="18" charset="2"/>
        <a:buChar char="4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712788" indent="-173038" algn="l" defTabSz="914400" rtl="0" eaLnBrk="1" latinLnBrk="0" hangingPunct="1">
        <a:spcBef>
          <a:spcPts val="600"/>
        </a:spcBef>
        <a:buClr>
          <a:schemeClr val="tx2"/>
        </a:buClr>
        <a:buFont typeface="Arial" pitchFamily="34" charset="0"/>
        <a:buChar char="–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895350" indent="-182563" algn="l" defTabSz="914400" rtl="0" eaLnBrk="1" latinLnBrk="0" hangingPunct="1">
        <a:spcBef>
          <a:spcPts val="600"/>
        </a:spcBef>
        <a:buClr>
          <a:schemeClr val="tx2"/>
        </a:buClr>
        <a:buFont typeface="Wingdings" pitchFamily="2" charset="2"/>
        <a:buChar char="w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/>
          <p:cNvSpPr/>
          <p:nvPr/>
        </p:nvSpPr>
        <p:spPr>
          <a:xfrm>
            <a:off x="-2" y="2166011"/>
            <a:ext cx="12192002" cy="1362229"/>
          </a:xfrm>
          <a:prstGeom prst="rect">
            <a:avLst/>
          </a:prstGeom>
          <a:solidFill>
            <a:schemeClr val="tx1"/>
          </a:solidFill>
          <a:ln w="9525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vert270" lIns="182880" rtlCol="0" anchor="ctr" anchorCtr="0"/>
          <a:lstStyle/>
          <a:p>
            <a:pPr algn="ctr" defTabSz="1219170"/>
            <a:endParaRPr lang="en-US" sz="3200" kern="0">
              <a:solidFill>
                <a:srgbClr val="FFFFFF"/>
              </a:solidFill>
              <a:latin typeface="Open Sans Light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1991" y="250153"/>
            <a:ext cx="2317749" cy="41770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9151" y="2034051"/>
            <a:ext cx="10926570" cy="1477328"/>
          </a:xfrm>
          <a:noFill/>
        </p:spPr>
        <p:txBody>
          <a:bodyPr wrap="square" lIns="243840" tIns="121920" rIns="243840" bIns="121920" rtlCol="0" anchor="b" anchorCtr="0">
            <a:spAutoFit/>
          </a:bodyPr>
          <a:lstStyle/>
          <a:p>
            <a:pPr defTabSz="1219170">
              <a:lnSpc>
                <a:spcPct val="100000"/>
              </a:lnSpc>
              <a:spcBef>
                <a:spcPts val="0"/>
              </a:spcBef>
            </a:pPr>
            <a:r>
              <a:rPr lang="fr-FR" sz="4000" b="1" kern="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11000"/>
                    </a:prstClr>
                  </a:outerShdw>
                </a:effectLst>
                <a:latin typeface="Open Sans Light"/>
                <a:ea typeface="+mn-ea"/>
                <a:cs typeface="+mn-cs"/>
              </a:rPr>
              <a:t>Conception et réalisation d’un outil de Simulation de charge</a:t>
            </a:r>
            <a:endParaRPr lang="en-US" sz="4000" b="1" kern="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11000"/>
                  </a:prstClr>
                </a:outerShdw>
              </a:effectLst>
              <a:latin typeface="Open Sans Light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70436" y="1048731"/>
            <a:ext cx="9144000" cy="10002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Projet de fin d’études</a:t>
            </a:r>
          </a:p>
          <a:p>
            <a:pPr algn="ctr"/>
            <a:endParaRPr lang="fr-FR" sz="1100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algn="ctr"/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Pour l'obtention du diplôme d'Ingénieur d'État en informatique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" y="198158"/>
            <a:ext cx="2751787" cy="5216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D1848E-98AE-40D9-9B27-1549C9A1E73B}"/>
              </a:ext>
            </a:extLst>
          </p:cNvPr>
          <p:cNvSpPr txBox="1"/>
          <p:nvPr/>
        </p:nvSpPr>
        <p:spPr>
          <a:xfrm>
            <a:off x="1758544" y="5333699"/>
            <a:ext cx="2568427" cy="630553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r>
              <a:rPr lang="fr-FR" sz="1600" b="1" dirty="0"/>
              <a:t>Réalisé  par :</a:t>
            </a:r>
          </a:p>
          <a:p>
            <a:r>
              <a:rPr lang="fr-FR" sz="1600" dirty="0"/>
              <a:t>	M. </a:t>
            </a:r>
            <a:r>
              <a:rPr lang="fr-FR" sz="1600" dirty="0" err="1"/>
              <a:t>Zouaid</a:t>
            </a:r>
            <a:r>
              <a:rPr lang="fr-FR" sz="1600" dirty="0"/>
              <a:t> Omar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9C9B7-505A-49F2-A5AF-F09C76086DD6}"/>
              </a:ext>
            </a:extLst>
          </p:cNvPr>
          <p:cNvSpPr txBox="1"/>
          <p:nvPr/>
        </p:nvSpPr>
        <p:spPr>
          <a:xfrm>
            <a:off x="3396343" y="3866146"/>
            <a:ext cx="4548249" cy="539599"/>
          </a:xfrm>
          <a:prstGeom prst="rect">
            <a:avLst/>
          </a:prstGeom>
          <a:solidFill>
            <a:srgbClr val="C00000"/>
          </a:solidFill>
        </p:spPr>
        <p:txBody>
          <a:bodyPr wrap="none" lIns="36000" tIns="36000" rIns="36000" bIns="36000" rtlCol="0">
            <a:noAutofit/>
          </a:bodyPr>
          <a:lstStyle/>
          <a:p>
            <a:pPr algn="ctr"/>
            <a:r>
              <a:rPr lang="fr-FR" sz="2000" dirty="0">
                <a:solidFill>
                  <a:schemeClr val="bg1"/>
                </a:solidFill>
              </a:rPr>
              <a:t>Présentation de l’avancement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AF742-48D2-420A-96B9-78111A4D4EE5}"/>
              </a:ext>
            </a:extLst>
          </p:cNvPr>
          <p:cNvSpPr txBox="1"/>
          <p:nvPr/>
        </p:nvSpPr>
        <p:spPr>
          <a:xfrm>
            <a:off x="3396343" y="4444851"/>
            <a:ext cx="4548249" cy="432722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</a:rPr>
              <a:t>Le jeudi 28 Mai 2020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05C07-660C-4C97-90E0-10478DB7B2ED}"/>
              </a:ext>
            </a:extLst>
          </p:cNvPr>
          <p:cNvSpPr txBox="1"/>
          <p:nvPr/>
        </p:nvSpPr>
        <p:spPr>
          <a:xfrm>
            <a:off x="7474836" y="5333698"/>
            <a:ext cx="2958620" cy="92761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r>
              <a:rPr lang="fr-FR" sz="1600" b="1" dirty="0"/>
              <a:t>Encadré  par :</a:t>
            </a:r>
          </a:p>
          <a:p>
            <a:r>
              <a:rPr lang="fr-FR" sz="1600" b="1"/>
              <a:t>	</a:t>
            </a:r>
            <a:r>
              <a:rPr lang="fr-FR" sz="1600"/>
              <a:t>Pr  </a:t>
            </a:r>
            <a:r>
              <a:rPr lang="fr-FR" sz="1600" dirty="0" err="1"/>
              <a:t>Addou</a:t>
            </a:r>
            <a:r>
              <a:rPr lang="fr-FR" sz="1600" dirty="0"/>
              <a:t> Malika</a:t>
            </a:r>
          </a:p>
          <a:p>
            <a:r>
              <a:rPr lang="fr-FR" sz="1600" dirty="0"/>
              <a:t>	M. Tarik </a:t>
            </a:r>
            <a:r>
              <a:rPr lang="fr-FR" sz="1600" dirty="0" err="1"/>
              <a:t>Douiyeh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324899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5262" y="45530"/>
            <a:ext cx="10706099" cy="800275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Plan 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DBA98D-C658-4B43-9A6C-C677FCB48491}"/>
              </a:ext>
            </a:extLst>
          </p:cNvPr>
          <p:cNvCxnSpPr>
            <a:cxnSpLocks/>
          </p:cNvCxnSpPr>
          <p:nvPr/>
        </p:nvCxnSpPr>
        <p:spPr>
          <a:xfrm>
            <a:off x="560195" y="991893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FF8FF7A2-CF62-40A3-BAF4-A41AC4CCF273}"/>
              </a:ext>
            </a:extLst>
          </p:cNvPr>
          <p:cNvGrpSpPr/>
          <p:nvPr/>
        </p:nvGrpSpPr>
        <p:grpSpPr>
          <a:xfrm>
            <a:off x="9061254" y="2311400"/>
            <a:ext cx="2127437" cy="406400"/>
            <a:chOff x="6862622" y="1733550"/>
            <a:chExt cx="1595578" cy="304800"/>
          </a:xfrm>
        </p:grpSpPr>
        <p:sp>
          <p:nvSpPr>
            <p:cNvPr id="8" name="Chevron 57">
              <a:extLst>
                <a:ext uri="{FF2B5EF4-FFF2-40B4-BE49-F238E27FC236}">
                  <a16:creationId xmlns:a16="http://schemas.microsoft.com/office/drawing/2014/main" id="{49BE5210-A30A-41E1-BDF8-2A52854B1B98}"/>
                </a:ext>
              </a:extLst>
            </p:cNvPr>
            <p:cNvSpPr/>
            <p:nvPr/>
          </p:nvSpPr>
          <p:spPr>
            <a:xfrm>
              <a:off x="6862622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5BBE77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7A97DEC-8280-47AA-923D-7F7F07331F60}"/>
                </a:ext>
              </a:extLst>
            </p:cNvPr>
            <p:cNvSpPr/>
            <p:nvPr/>
          </p:nvSpPr>
          <p:spPr>
            <a:xfrm>
              <a:off x="7617114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6E9E2D8-40F0-4948-B351-51B228FAD83C}"/>
              </a:ext>
            </a:extLst>
          </p:cNvPr>
          <p:cNvGrpSpPr/>
          <p:nvPr/>
        </p:nvGrpSpPr>
        <p:grpSpPr>
          <a:xfrm>
            <a:off x="7034066" y="2311400"/>
            <a:ext cx="2127437" cy="406400"/>
            <a:chOff x="5318416" y="1733550"/>
            <a:chExt cx="1595578" cy="304800"/>
          </a:xfrm>
        </p:grpSpPr>
        <p:sp>
          <p:nvSpPr>
            <p:cNvPr id="11" name="Chevron 60">
              <a:extLst>
                <a:ext uri="{FF2B5EF4-FFF2-40B4-BE49-F238E27FC236}">
                  <a16:creationId xmlns:a16="http://schemas.microsoft.com/office/drawing/2014/main" id="{660ECE80-EE34-4366-9393-61600DB60486}"/>
                </a:ext>
              </a:extLst>
            </p:cNvPr>
            <p:cNvSpPr/>
            <p:nvPr/>
          </p:nvSpPr>
          <p:spPr>
            <a:xfrm>
              <a:off x="5318416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5B7AB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5998EDC-1F70-44B2-8482-53E64E9620B3}"/>
                </a:ext>
              </a:extLst>
            </p:cNvPr>
            <p:cNvSpPr/>
            <p:nvPr/>
          </p:nvSpPr>
          <p:spPr>
            <a:xfrm>
              <a:off x="6072908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5DD26D9-419C-47C9-8719-5808715A1BB1}"/>
              </a:ext>
            </a:extLst>
          </p:cNvPr>
          <p:cNvGrpSpPr/>
          <p:nvPr/>
        </p:nvGrpSpPr>
        <p:grpSpPr>
          <a:xfrm>
            <a:off x="5006879" y="2311400"/>
            <a:ext cx="2127437" cy="406400"/>
            <a:chOff x="3774211" y="1733550"/>
            <a:chExt cx="1595578" cy="304800"/>
          </a:xfrm>
        </p:grpSpPr>
        <p:sp>
          <p:nvSpPr>
            <p:cNvPr id="14" name="Chevron 63">
              <a:extLst>
                <a:ext uri="{FF2B5EF4-FFF2-40B4-BE49-F238E27FC236}">
                  <a16:creationId xmlns:a16="http://schemas.microsoft.com/office/drawing/2014/main" id="{5FB536F6-7BB5-4032-A5DE-D367741BE146}"/>
                </a:ext>
              </a:extLst>
            </p:cNvPr>
            <p:cNvSpPr/>
            <p:nvPr/>
          </p:nvSpPr>
          <p:spPr>
            <a:xfrm>
              <a:off x="3774211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7A6C2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758EC84-8546-461A-A25C-A77C061B2855}"/>
                </a:ext>
              </a:extLst>
            </p:cNvPr>
            <p:cNvSpPr/>
            <p:nvPr/>
          </p:nvSpPr>
          <p:spPr>
            <a:xfrm>
              <a:off x="4528703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2D59CE2-F20A-4739-A810-F37FF4FC4C7F}"/>
              </a:ext>
            </a:extLst>
          </p:cNvPr>
          <p:cNvGrpSpPr/>
          <p:nvPr/>
        </p:nvGrpSpPr>
        <p:grpSpPr>
          <a:xfrm>
            <a:off x="2979691" y="2311400"/>
            <a:ext cx="2127437" cy="406400"/>
            <a:chOff x="2230005" y="1733550"/>
            <a:chExt cx="1595578" cy="304800"/>
          </a:xfrm>
        </p:grpSpPr>
        <p:sp>
          <p:nvSpPr>
            <p:cNvPr id="17" name="Chevron 66">
              <a:extLst>
                <a:ext uri="{FF2B5EF4-FFF2-40B4-BE49-F238E27FC236}">
                  <a16:creationId xmlns:a16="http://schemas.microsoft.com/office/drawing/2014/main" id="{901A51B1-E96D-4790-9F54-A63CCEDE2DF2}"/>
                </a:ext>
              </a:extLst>
            </p:cNvPr>
            <p:cNvSpPr/>
            <p:nvPr/>
          </p:nvSpPr>
          <p:spPr>
            <a:xfrm>
              <a:off x="2230005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39CCE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E441B93-5C8D-4D24-B019-4B741C0B6DBB}"/>
                </a:ext>
              </a:extLst>
            </p:cNvPr>
            <p:cNvSpPr/>
            <p:nvPr/>
          </p:nvSpPr>
          <p:spPr>
            <a:xfrm>
              <a:off x="2984497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184C7A54-79D0-4F59-89E9-548E4E60ACD3}"/>
              </a:ext>
            </a:extLst>
          </p:cNvPr>
          <p:cNvSpPr/>
          <p:nvPr/>
        </p:nvSpPr>
        <p:spPr>
          <a:xfrm>
            <a:off x="1065262" y="3225799"/>
            <a:ext cx="1917700" cy="1917700"/>
          </a:xfrm>
          <a:prstGeom prst="ellipse">
            <a:avLst/>
          </a:prstGeom>
          <a:solidFill>
            <a:srgbClr val="2099D8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3516D7D-8F69-4104-BAD3-D09D8472BE33}"/>
              </a:ext>
            </a:extLst>
          </p:cNvPr>
          <p:cNvSpPr/>
          <p:nvPr/>
        </p:nvSpPr>
        <p:spPr>
          <a:xfrm>
            <a:off x="3092449" y="3225800"/>
            <a:ext cx="1917700" cy="1917700"/>
          </a:xfrm>
          <a:prstGeom prst="ellipse">
            <a:avLst/>
          </a:prstGeom>
          <a:solidFill>
            <a:srgbClr val="239CCE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71F5AE6-7881-4706-9BF1-96D20F7EAC47}"/>
              </a:ext>
            </a:extLst>
          </p:cNvPr>
          <p:cNvSpPr/>
          <p:nvPr/>
        </p:nvSpPr>
        <p:spPr>
          <a:xfrm>
            <a:off x="5119637" y="3225800"/>
            <a:ext cx="1917700" cy="1917700"/>
          </a:xfrm>
          <a:prstGeom prst="ellipse">
            <a:avLst/>
          </a:prstGeom>
          <a:solidFill>
            <a:srgbClr val="27A6C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F053A54-8755-451A-A3B9-2F1B925AB2FC}"/>
              </a:ext>
            </a:extLst>
          </p:cNvPr>
          <p:cNvSpPr/>
          <p:nvPr/>
        </p:nvSpPr>
        <p:spPr>
          <a:xfrm>
            <a:off x="7146824" y="3225800"/>
            <a:ext cx="1917700" cy="1917700"/>
          </a:xfrm>
          <a:prstGeom prst="ellipse">
            <a:avLst/>
          </a:prstGeom>
          <a:solidFill>
            <a:srgbClr val="25B7AB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5D21FC3-1A36-4FDA-8A8A-CF8C7A8BD044}"/>
              </a:ext>
            </a:extLst>
          </p:cNvPr>
          <p:cNvSpPr/>
          <p:nvPr/>
        </p:nvSpPr>
        <p:spPr>
          <a:xfrm>
            <a:off x="9174012" y="3225800"/>
            <a:ext cx="1917700" cy="1917700"/>
          </a:xfrm>
          <a:prstGeom prst="ellipse">
            <a:avLst/>
          </a:prstGeom>
          <a:solidFill>
            <a:srgbClr val="5BBE77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0C5061D-336F-4D2A-88C5-42BC08492FEC}"/>
              </a:ext>
            </a:extLst>
          </p:cNvPr>
          <p:cNvCxnSpPr/>
          <p:nvPr/>
        </p:nvCxnSpPr>
        <p:spPr>
          <a:xfrm flipH="1" flipV="1">
            <a:off x="2016223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099D8"/>
            </a:solidFill>
            <a:prstDash val="soli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AE87651-5491-494D-8DB9-F2B377BFC682}"/>
              </a:ext>
            </a:extLst>
          </p:cNvPr>
          <p:cNvCxnSpPr/>
          <p:nvPr/>
        </p:nvCxnSpPr>
        <p:spPr>
          <a:xfrm flipH="1" flipV="1">
            <a:off x="4043409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39CCE"/>
            </a:solidFill>
            <a:prstDash val="solid"/>
          </a:ln>
          <a:effectLst/>
        </p:spPr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12150B-625B-47C8-9491-7E618A667781}"/>
              </a:ext>
            </a:extLst>
          </p:cNvPr>
          <p:cNvCxnSpPr/>
          <p:nvPr/>
        </p:nvCxnSpPr>
        <p:spPr>
          <a:xfrm flipH="1" flipV="1">
            <a:off x="6070597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7A6C2"/>
            </a:solidFill>
            <a:prstDash val="solid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3350E92-088A-4B4D-BAF9-94804CC261D3}"/>
              </a:ext>
            </a:extLst>
          </p:cNvPr>
          <p:cNvCxnSpPr/>
          <p:nvPr/>
        </p:nvCxnSpPr>
        <p:spPr>
          <a:xfrm flipH="1" flipV="1">
            <a:off x="8097784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5BBE77"/>
            </a:solidFill>
            <a:prstDash val="solid"/>
          </a:ln>
          <a:effectLst/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8BDC337-DF91-4120-AE94-6D2CF4885997}"/>
              </a:ext>
            </a:extLst>
          </p:cNvPr>
          <p:cNvCxnSpPr/>
          <p:nvPr/>
        </p:nvCxnSpPr>
        <p:spPr>
          <a:xfrm flipH="1" flipV="1">
            <a:off x="10124972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7EC44E"/>
            </a:solidFill>
            <a:prstDash val="solid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D52D6EF-8E71-49C6-8E73-76D4D94AE66C}"/>
              </a:ext>
            </a:extLst>
          </p:cNvPr>
          <p:cNvSpPr/>
          <p:nvPr/>
        </p:nvSpPr>
        <p:spPr>
          <a:xfrm>
            <a:off x="1007534" y="3810252"/>
            <a:ext cx="1985813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Contexte du projet</a:t>
            </a:r>
            <a:endParaRPr lang="en-US" sz="1467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494212A-4E71-46B5-AE30-C31E5EC64785}"/>
              </a:ext>
            </a:extLst>
          </p:cNvPr>
          <p:cNvSpPr/>
          <p:nvPr/>
        </p:nvSpPr>
        <p:spPr>
          <a:xfrm>
            <a:off x="3076669" y="3861051"/>
            <a:ext cx="1985813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Étude des besoins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8EC4CF0-3915-4457-A4B9-65DE9ED7562D}"/>
              </a:ext>
            </a:extLst>
          </p:cNvPr>
          <p:cNvSpPr/>
          <p:nvPr/>
        </p:nvSpPr>
        <p:spPr>
          <a:xfrm>
            <a:off x="5077689" y="3974368"/>
            <a:ext cx="1985813" cy="4205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Modélisation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E2662BC-2F00-4151-AD9E-E1F62F1F2AAB}"/>
              </a:ext>
            </a:extLst>
          </p:cNvPr>
          <p:cNvSpPr/>
          <p:nvPr/>
        </p:nvSpPr>
        <p:spPr>
          <a:xfrm>
            <a:off x="7104877" y="3974368"/>
            <a:ext cx="1985813" cy="4205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Réalisation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3E1BF41-DA6C-4F4A-8293-D4873192EE46}"/>
              </a:ext>
            </a:extLst>
          </p:cNvPr>
          <p:cNvSpPr/>
          <p:nvPr/>
        </p:nvSpPr>
        <p:spPr>
          <a:xfrm>
            <a:off x="9147846" y="3810252"/>
            <a:ext cx="1985813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Conclusion et perspectives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BF2766E-F6D9-4FE7-AEBA-B32B85582A2C}"/>
              </a:ext>
            </a:extLst>
          </p:cNvPr>
          <p:cNvGrpSpPr/>
          <p:nvPr/>
        </p:nvGrpSpPr>
        <p:grpSpPr>
          <a:xfrm>
            <a:off x="952504" y="2311400"/>
            <a:ext cx="2127437" cy="406400"/>
            <a:chOff x="685800" y="1733550"/>
            <a:chExt cx="1595578" cy="304800"/>
          </a:xfrm>
        </p:grpSpPr>
        <p:sp>
          <p:nvSpPr>
            <p:cNvPr id="36" name="Chevron 91">
              <a:extLst>
                <a:ext uri="{FF2B5EF4-FFF2-40B4-BE49-F238E27FC236}">
                  <a16:creationId xmlns:a16="http://schemas.microsoft.com/office/drawing/2014/main" id="{CE9EBFC7-A3AE-4E2E-9897-02D43F786447}"/>
                </a:ext>
              </a:extLst>
            </p:cNvPr>
            <p:cNvSpPr/>
            <p:nvPr/>
          </p:nvSpPr>
          <p:spPr>
            <a:xfrm>
              <a:off x="685800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099D8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499C662-68A4-47D6-8574-39178CE6A23D}"/>
                </a:ext>
              </a:extLst>
            </p:cNvPr>
            <p:cNvSpPr/>
            <p:nvPr/>
          </p:nvSpPr>
          <p:spPr>
            <a:xfrm>
              <a:off x="1440292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001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8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8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8" decel="666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30" grpId="0"/>
      <p:bldP spid="31" grpId="0"/>
      <p:bldP spid="32" grpId="0"/>
      <p:bldP spid="33" grpId="0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1189" y="170915"/>
            <a:ext cx="10706099" cy="799397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SG ATS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29FC7D-C72B-491E-B7A5-E6BF7AE98052}"/>
              </a:ext>
            </a:extLst>
          </p:cNvPr>
          <p:cNvCxnSpPr>
            <a:cxnSpLocks/>
          </p:cNvCxnSpPr>
          <p:nvPr/>
        </p:nvCxnSpPr>
        <p:spPr>
          <a:xfrm>
            <a:off x="467205" y="1193370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AB5031-1A12-4437-9366-5CD122C63621}"/>
              </a:ext>
            </a:extLst>
          </p:cNvPr>
          <p:cNvSpPr txBox="1"/>
          <p:nvPr/>
        </p:nvSpPr>
        <p:spPr>
          <a:xfrm>
            <a:off x="4232060" y="2126942"/>
            <a:ext cx="37795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Société Générale Africa Technologies &amp; Services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1AE2A6-4905-41BE-AF48-9FF6A74786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617" y="1488873"/>
            <a:ext cx="3510406" cy="632645"/>
          </a:xfrm>
          <a:prstGeom prst="rect">
            <a:avLst/>
          </a:prstGeom>
        </p:spPr>
      </p:pic>
      <p:sp>
        <p:nvSpPr>
          <p:cNvPr id="10" name="Parallelogram 242">
            <a:extLst>
              <a:ext uri="{FF2B5EF4-FFF2-40B4-BE49-F238E27FC236}">
                <a16:creationId xmlns:a16="http://schemas.microsoft.com/office/drawing/2014/main" id="{10B5EF80-EB54-44D6-B08B-61FEDD7BC424}"/>
              </a:ext>
            </a:extLst>
          </p:cNvPr>
          <p:cNvSpPr/>
          <p:nvPr/>
        </p:nvSpPr>
        <p:spPr>
          <a:xfrm rot="5400000" flipV="1">
            <a:off x="9864228" y="3350835"/>
            <a:ext cx="1126908" cy="269817"/>
          </a:xfrm>
          <a:prstGeom prst="parallelogram">
            <a:avLst>
              <a:gd name="adj" fmla="val 66077"/>
            </a:avLst>
          </a:prstGeom>
          <a:solidFill>
            <a:srgbClr val="5BBE77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2829A1-F9CC-44C3-9533-9ECFB8EF227F}"/>
              </a:ext>
            </a:extLst>
          </p:cNvPr>
          <p:cNvSpPr/>
          <p:nvPr/>
        </p:nvSpPr>
        <p:spPr>
          <a:xfrm>
            <a:off x="7312223" y="3860946"/>
            <a:ext cx="2887380" cy="1779888"/>
          </a:xfrm>
          <a:prstGeom prst="rect">
            <a:avLst/>
          </a:prstGeom>
          <a:solidFill>
            <a:srgbClr val="57565A">
              <a:alpha val="1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243840" rIns="243840" bIns="243840" numCol="1" spcCol="1270" anchor="t" anchorCtr="0">
            <a:noAutofit/>
          </a:bodyPr>
          <a:lstStyle/>
          <a:p>
            <a:pPr lvl="0" defTabSz="888978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</a:pPr>
            <a:r>
              <a:rPr lang="fr-FR" sz="2133" kern="0" dirty="0">
                <a:solidFill>
                  <a:srgbClr val="57565A"/>
                </a:solidFill>
                <a:latin typeface="Open Sans Light"/>
              </a:rPr>
              <a:t>Regroupe les activités de la finance du marché du groupe Société Générale</a:t>
            </a:r>
            <a:endParaRPr kumimoji="0" lang="en-US" sz="2133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2325AB-FA8C-4FD0-8B1E-B539726EB1EC}"/>
              </a:ext>
            </a:extLst>
          </p:cNvPr>
          <p:cNvSpPr/>
          <p:nvPr/>
        </p:nvSpPr>
        <p:spPr>
          <a:xfrm>
            <a:off x="7312225" y="2907329"/>
            <a:ext cx="3250363" cy="947952"/>
          </a:xfrm>
          <a:prstGeom prst="rect">
            <a:avLst/>
          </a:prstGeom>
          <a:gradFill>
            <a:gsLst>
              <a:gs pos="0">
                <a:srgbClr val="5BBE77">
                  <a:lumMod val="75000"/>
                </a:srgbClr>
              </a:gs>
              <a:gs pos="32000">
                <a:srgbClr val="5BBE77"/>
              </a:gs>
            </a:gsLst>
            <a:lin ang="0" scaled="1"/>
          </a:gra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365760" tIns="304800" rIns="243840" bIns="304800" numCol="1" spcCol="1270" anchor="t" anchorCtr="0">
            <a:sp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400" kern="0" noProof="0" dirty="0">
                <a:solidFill>
                  <a:srgbClr val="FFFFFF"/>
                </a:solidFill>
                <a:latin typeface="Open Sans Light"/>
              </a:rPr>
              <a:t>Activité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3" name="Parallelogram 246">
            <a:extLst>
              <a:ext uri="{FF2B5EF4-FFF2-40B4-BE49-F238E27FC236}">
                <a16:creationId xmlns:a16="http://schemas.microsoft.com/office/drawing/2014/main" id="{C064DC2A-CAFC-4568-B5E5-AC56D5E5CF8D}"/>
              </a:ext>
            </a:extLst>
          </p:cNvPr>
          <p:cNvSpPr/>
          <p:nvPr/>
        </p:nvSpPr>
        <p:spPr>
          <a:xfrm rot="5400000" flipV="1">
            <a:off x="6883683" y="3157563"/>
            <a:ext cx="1126907" cy="269817"/>
          </a:xfrm>
          <a:prstGeom prst="parallelogram">
            <a:avLst>
              <a:gd name="adj" fmla="val 66077"/>
            </a:avLst>
          </a:prstGeom>
          <a:solidFill>
            <a:srgbClr val="27A6C2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9982F-F5E7-4CEC-844D-B683660FE3E9}"/>
              </a:ext>
            </a:extLst>
          </p:cNvPr>
          <p:cNvSpPr/>
          <p:nvPr/>
        </p:nvSpPr>
        <p:spPr>
          <a:xfrm>
            <a:off x="1711263" y="3936936"/>
            <a:ext cx="2892456" cy="1704718"/>
          </a:xfrm>
          <a:prstGeom prst="rect">
            <a:avLst/>
          </a:prstGeom>
          <a:solidFill>
            <a:srgbClr val="57565A">
              <a:alpha val="1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243840" rIns="243840" bIns="243840" numCol="1" spcCol="1270" anchor="t" anchorCtr="0">
            <a:no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133" kern="0" dirty="0">
                <a:solidFill>
                  <a:srgbClr val="57565A"/>
                </a:solidFill>
                <a:latin typeface="Open Sans Light"/>
              </a:rPr>
              <a:t>2014, Casablanca</a:t>
            </a:r>
            <a:endParaRPr kumimoji="0" lang="en-US" sz="2133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5" name="Parallelogram 252">
            <a:extLst>
              <a:ext uri="{FF2B5EF4-FFF2-40B4-BE49-F238E27FC236}">
                <a16:creationId xmlns:a16="http://schemas.microsoft.com/office/drawing/2014/main" id="{DFFEF84E-AA09-489B-9CBE-1C58936C8ED7}"/>
              </a:ext>
            </a:extLst>
          </p:cNvPr>
          <p:cNvSpPr/>
          <p:nvPr/>
        </p:nvSpPr>
        <p:spPr>
          <a:xfrm rot="5400000" flipV="1">
            <a:off x="4268506" y="3415082"/>
            <a:ext cx="1126908" cy="269817"/>
          </a:xfrm>
          <a:prstGeom prst="parallelogram">
            <a:avLst>
              <a:gd name="adj" fmla="val 66077"/>
            </a:avLst>
          </a:prstGeom>
          <a:solidFill>
            <a:srgbClr val="2099D8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E11FBC-F9AD-4B96-B251-9AFBAB1C6412}"/>
              </a:ext>
            </a:extLst>
          </p:cNvPr>
          <p:cNvSpPr/>
          <p:nvPr/>
        </p:nvSpPr>
        <p:spPr>
          <a:xfrm>
            <a:off x="1716504" y="2983244"/>
            <a:ext cx="3250363" cy="947952"/>
          </a:xfrm>
          <a:prstGeom prst="rect">
            <a:avLst/>
          </a:prstGeom>
          <a:solidFill>
            <a:srgbClr val="2099D8"/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304800" rIns="243840" bIns="304800" numCol="1" spcCol="1270" anchor="t" anchorCtr="0">
            <a:sp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400" kern="0" dirty="0">
                <a:solidFill>
                  <a:srgbClr val="FFFFFF"/>
                </a:solidFill>
                <a:latin typeface="Open Sans Light"/>
              </a:rPr>
              <a:t>Création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405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6" y="-6126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 SG ATS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08C0B0-7314-465A-BC58-C3E242C39E55}"/>
              </a:ext>
            </a:extLst>
          </p:cNvPr>
          <p:cNvCxnSpPr>
            <a:cxnSpLocks/>
          </p:cNvCxnSpPr>
          <p:nvPr/>
        </p:nvCxnSpPr>
        <p:spPr>
          <a:xfrm>
            <a:off x="374215" y="905023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5FF79547-7213-4F6F-9006-661096FCB3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692" y="1075041"/>
            <a:ext cx="10363621" cy="46584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3700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92" y="186786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Présentation du projet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1019353" y="1487385"/>
            <a:ext cx="10706098" cy="149644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Cloud </a:t>
            </a:r>
            <a:r>
              <a:rPr lang="fr-FR" b="1" dirty="0" err="1"/>
              <a:t>Computing</a:t>
            </a:r>
            <a:endParaRPr lang="fr-FR" b="1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CFA83FD-8B90-438A-8E4D-7278D795208C}"/>
              </a:ext>
            </a:extLst>
          </p:cNvPr>
          <p:cNvCxnSpPr>
            <a:cxnSpLocks/>
          </p:cNvCxnSpPr>
          <p:nvPr/>
        </p:nvCxnSpPr>
        <p:spPr>
          <a:xfrm>
            <a:off x="482703" y="1193371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617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92" y="186786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Présentation du projet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1019353" y="1487385"/>
            <a:ext cx="10706098" cy="149644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b="1" dirty="0" err="1"/>
              <a:t>Iaas</a:t>
            </a:r>
            <a:endParaRPr lang="fr-FR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b="1" dirty="0"/>
              <a:t>PaaS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b="1" dirty="0"/>
              <a:t>SaaS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CFA83FD-8B90-438A-8E4D-7278D795208C}"/>
              </a:ext>
            </a:extLst>
          </p:cNvPr>
          <p:cNvCxnSpPr>
            <a:cxnSpLocks/>
          </p:cNvCxnSpPr>
          <p:nvPr/>
        </p:nvCxnSpPr>
        <p:spPr>
          <a:xfrm>
            <a:off x="482703" y="1193371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837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92" y="186786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Présentation du projet</a:t>
            </a:r>
          </a:p>
        </p:txBody>
      </p:sp>
      <p:pic>
        <p:nvPicPr>
          <p:cNvPr id="1026" name="Picture 2" descr="Topologie et applications de service cloud">
            <a:extLst>
              <a:ext uri="{FF2B5EF4-FFF2-40B4-BE49-F238E27FC236}">
                <a16:creationId xmlns:a16="http://schemas.microsoft.com/office/drawing/2014/main" id="{08B9E565-2DD3-44B1-A4CF-8C726EB8E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921" y="2384854"/>
            <a:ext cx="9939136" cy="350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CFA83FD-8B90-438A-8E4D-7278D795208C}"/>
              </a:ext>
            </a:extLst>
          </p:cNvPr>
          <p:cNvCxnSpPr>
            <a:cxnSpLocks/>
          </p:cNvCxnSpPr>
          <p:nvPr/>
        </p:nvCxnSpPr>
        <p:spPr>
          <a:xfrm>
            <a:off x="482703" y="1193371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DE47B88-F15D-4FF6-8B6A-7B3692420AC6}"/>
              </a:ext>
            </a:extLst>
          </p:cNvPr>
          <p:cNvSpPr txBox="1"/>
          <p:nvPr/>
        </p:nvSpPr>
        <p:spPr>
          <a:xfrm>
            <a:off x="739050" y="1700480"/>
            <a:ext cx="3746453" cy="57343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Contexte de projet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371764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FE45D61-8373-47F5-B95A-BD7E11F4BEE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77" y="778477"/>
            <a:ext cx="10826875" cy="539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92" y="186786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Présentation du projet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CFA83FD-8B90-438A-8E4D-7278D795208C}"/>
              </a:ext>
            </a:extLst>
          </p:cNvPr>
          <p:cNvCxnSpPr>
            <a:cxnSpLocks/>
          </p:cNvCxnSpPr>
          <p:nvPr/>
        </p:nvCxnSpPr>
        <p:spPr>
          <a:xfrm>
            <a:off x="482703" y="1193371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DE47B88-F15D-4FF6-8B6A-7B3692420AC6}"/>
              </a:ext>
            </a:extLst>
          </p:cNvPr>
          <p:cNvSpPr txBox="1"/>
          <p:nvPr/>
        </p:nvSpPr>
        <p:spPr>
          <a:xfrm>
            <a:off x="269493" y="1498344"/>
            <a:ext cx="6662647" cy="57343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Contexte projet : architecture d’hébergement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3476858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DE47B88-F15D-4FF6-8B6A-7B3692420AC6}"/>
              </a:ext>
            </a:extLst>
          </p:cNvPr>
          <p:cNvSpPr txBox="1"/>
          <p:nvPr/>
        </p:nvSpPr>
        <p:spPr>
          <a:xfrm>
            <a:off x="590769" y="1099763"/>
            <a:ext cx="5698820" cy="57343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Contexte de projet : Concept d’auto </a:t>
            </a:r>
            <a:r>
              <a:rPr lang="fr-FR" b="1" dirty="0" err="1"/>
              <a:t>scaling</a:t>
            </a:r>
            <a:endParaRPr lang="fr-FR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10DBE2-A584-4323-AB2B-136B5941F49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2941" y="2100649"/>
            <a:ext cx="8464378" cy="36575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2144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36128D-9F73-4894-BCD3-FDE40FA6E548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0608" y="232555"/>
            <a:ext cx="8946292" cy="5807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7983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826429" y="162315"/>
            <a:ext cx="2749458" cy="541092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Problématique :</a:t>
            </a:r>
          </a:p>
          <a:p>
            <a:pPr lvl="1"/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54991F-80A9-4E8B-A4A7-CF2AF20E4E70}"/>
              </a:ext>
            </a:extLst>
          </p:cNvPr>
          <p:cNvSpPr txBox="1"/>
          <p:nvPr/>
        </p:nvSpPr>
        <p:spPr>
          <a:xfrm>
            <a:off x="1480672" y="1316542"/>
            <a:ext cx="8899003" cy="94487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configuration minimale  =&gt; sous-estimation de la charge =&gt; un temps de réponse non satisfaisant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dirty="0"/>
          </a:p>
          <a:p>
            <a:pPr lvl="1"/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54A1AB-EA7E-4701-9394-B3685DE2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385" y="1720156"/>
            <a:ext cx="1497576" cy="13178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DE85A17-1BB2-4B06-A896-8A850C930254}"/>
              </a:ext>
            </a:extLst>
          </p:cNvPr>
          <p:cNvSpPr txBox="1"/>
          <p:nvPr/>
        </p:nvSpPr>
        <p:spPr>
          <a:xfrm>
            <a:off x="1480672" y="3038023"/>
            <a:ext cx="8482049" cy="1327355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Configuration très gourmande =&gt; Un coût de déploiement sur très élevé, résulte d’une configuration très gourmande en termes de ressources.</a:t>
            </a:r>
            <a:endParaRPr lang="en-US" dirty="0"/>
          </a:p>
          <a:p>
            <a:pPr lvl="1"/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55619B-DD96-47CA-9292-2A9FC3FB12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487" y="3846688"/>
            <a:ext cx="1851025" cy="169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670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609613" y="243645"/>
            <a:ext cx="10972774" cy="3952521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Objectif du projet :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  <a:p>
            <a:pPr lvl="1"/>
            <a:endParaRPr lang="fr-FR" b="1" dirty="0"/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 but du stage est la création d’un outil de simulation de charge, qui peut simuler le fonctionnement du service de </a:t>
            </a:r>
            <a:r>
              <a:rPr lang="fr-FR" dirty="0" err="1"/>
              <a:t>Scaling</a:t>
            </a:r>
            <a:r>
              <a:rPr lang="fr-FR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 cet outil va pouvoir ressortir à partir d’une configuration donnée et une charge précise, un document qui contient les différentes facteurs de qualités(cloud </a:t>
            </a:r>
            <a:r>
              <a:rPr lang="fr-FR" dirty="0" err="1"/>
              <a:t>metrics</a:t>
            </a:r>
            <a:r>
              <a:rPr lang="fr-FR" u="sng" dirty="0"/>
              <a:t>)</a:t>
            </a:r>
            <a:r>
              <a:rPr lang="fr-FR" dirty="0"/>
              <a:t>.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98341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1012743" y="1295197"/>
            <a:ext cx="9523178" cy="2041875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dirty="0"/>
              <a:t>Pour évaluer la qualité d’une configuration on se trouve face à deux enjeux principaux : </a:t>
            </a:r>
          </a:p>
          <a:p>
            <a:pPr lvl="1"/>
            <a:endParaRPr lang="fr-FR" b="1" dirty="0"/>
          </a:p>
          <a:p>
            <a:pPr lvl="1"/>
            <a:endParaRPr lang="fr-FR" sz="1100" b="1" dirty="0"/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fr-FR" dirty="0"/>
              <a:t>Réduire le coût en termes de ressources matérielles.</a:t>
            </a:r>
          </a:p>
          <a:p>
            <a:pPr marL="1657350" lvl="3" indent="-285750">
              <a:buFont typeface="Wingdings" panose="05000000000000000000" pitchFamily="2" charset="2"/>
              <a:buChar char="ü"/>
            </a:pPr>
            <a:endParaRPr lang="fr-FR" dirty="0"/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fr-FR" dirty="0"/>
              <a:t>Minimiser le temps d’attente d’un client</a:t>
            </a:r>
          </a:p>
          <a:p>
            <a:pPr marL="1657350" lvl="3" indent="-285750">
              <a:buFont typeface="Wingdings" panose="05000000000000000000" pitchFamily="2" charset="2"/>
              <a:buChar char="ü"/>
            </a:pPr>
            <a:endParaRPr lang="fr-FR" dirty="0"/>
          </a:p>
          <a:p>
            <a:pPr marL="1657350" lvl="3" indent="-285750">
              <a:buFont typeface="Wingdings" panose="05000000000000000000" pitchFamily="2" charset="2"/>
              <a:buChar char="ü"/>
            </a:pPr>
            <a:endParaRPr lang="fr-FR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8A35A9-86FE-4383-BECF-076425D36E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759" y="477647"/>
            <a:ext cx="4129322" cy="446913"/>
          </a:xfrm>
        </p:spPr>
        <p:txBody>
          <a:bodyPr/>
          <a:lstStyle/>
          <a:p>
            <a:r>
              <a:rPr lang="fr-FR" sz="1800" b="1" dirty="0"/>
              <a:t>Enjeux du projet :</a:t>
            </a:r>
            <a:endParaRPr lang="fr-FR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765241-EE45-4E51-9B31-16ED9DDB1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680" y="3337072"/>
            <a:ext cx="3924118" cy="263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166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1" y="328672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Gestion du projet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606688" y="1945128"/>
            <a:ext cx="10523815" cy="35645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1.  Méthode adopté : </a:t>
            </a:r>
          </a:p>
          <a:p>
            <a:pPr lvl="1"/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fr-FR" dirty="0"/>
              <a:t>La méthode </a:t>
            </a:r>
            <a:r>
              <a:rPr lang="fr-FR" b="1" dirty="0"/>
              <a:t>XP </a:t>
            </a:r>
            <a:r>
              <a:rPr lang="fr-FR" dirty="0"/>
              <a:t>(</a:t>
            </a:r>
            <a:r>
              <a:rPr lang="fr-FR" dirty="0" err="1"/>
              <a:t>eXtreme</a:t>
            </a:r>
            <a:r>
              <a:rPr lang="fr-FR" dirty="0"/>
              <a:t> </a:t>
            </a:r>
            <a:r>
              <a:rPr lang="fr-FR" dirty="0" err="1"/>
              <a:t>Programming</a:t>
            </a:r>
            <a:r>
              <a:rPr lang="fr-FR" dirty="0"/>
              <a:t>) est la méthode adoptée pour la gestion de projet.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fr-FR" dirty="0"/>
              <a:t>La méthode </a:t>
            </a:r>
            <a:r>
              <a:rPr lang="fr-FR" dirty="0" err="1"/>
              <a:t>eXtreme</a:t>
            </a:r>
            <a:r>
              <a:rPr lang="fr-FR" dirty="0"/>
              <a:t> </a:t>
            </a:r>
            <a:r>
              <a:rPr lang="fr-FR" dirty="0" err="1"/>
              <a:t>Programming</a:t>
            </a:r>
            <a:r>
              <a:rPr lang="fr-FR" dirty="0"/>
              <a:t> s'appuie sur :</a:t>
            </a:r>
          </a:p>
          <a:p>
            <a:pPr lvl="1"/>
            <a:endParaRPr lang="fr-FR" dirty="0"/>
          </a:p>
          <a:p>
            <a:pPr lvl="3"/>
            <a:r>
              <a:rPr lang="fr-FR" dirty="0"/>
              <a:t>● Des petits livrables.</a:t>
            </a:r>
          </a:p>
          <a:p>
            <a:pPr lvl="3"/>
            <a:r>
              <a:rPr lang="fr-FR" dirty="0"/>
              <a:t>● Une conception simple.</a:t>
            </a:r>
          </a:p>
          <a:p>
            <a:pPr lvl="3"/>
            <a:r>
              <a:rPr lang="fr-FR" dirty="0"/>
              <a:t>● Des tests unitaires.</a:t>
            </a:r>
          </a:p>
          <a:p>
            <a:pPr lvl="3"/>
            <a:r>
              <a:rPr lang="fr-FR" dirty="0"/>
              <a:t>● La revue du code.</a:t>
            </a:r>
          </a:p>
          <a:p>
            <a:pPr lvl="3"/>
            <a:r>
              <a:rPr lang="fr-FR" dirty="0"/>
              <a:t>● Du </a:t>
            </a:r>
            <a:r>
              <a:rPr lang="fr-FR" dirty="0" err="1"/>
              <a:t>Refactoring</a:t>
            </a:r>
            <a:endParaRPr lang="fr-FR" sz="16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593B45E-2EEC-4D73-95AF-4B2D40D5F806}"/>
              </a:ext>
            </a:extLst>
          </p:cNvPr>
          <p:cNvCxnSpPr>
            <a:cxnSpLocks/>
          </p:cNvCxnSpPr>
          <p:nvPr/>
        </p:nvCxnSpPr>
        <p:spPr>
          <a:xfrm>
            <a:off x="606688" y="1332854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333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FD7A90-C52D-474F-8D28-918F91326E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Gantt diagramme</a:t>
            </a:r>
          </a:p>
        </p:txBody>
      </p:sp>
    </p:spTree>
    <p:extLst>
      <p:ext uri="{BB962C8B-B14F-4D97-AF65-F5344CB8AC3E}">
        <p14:creationId xmlns:p14="http://schemas.microsoft.com/office/powerpoint/2010/main" val="1602821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FD7A90-C52D-474F-8D28-918F91326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511" y="223647"/>
            <a:ext cx="4591049" cy="426593"/>
          </a:xfrm>
        </p:spPr>
        <p:txBody>
          <a:bodyPr/>
          <a:lstStyle/>
          <a:p>
            <a:r>
              <a:rPr lang="fr-FR" sz="1600" b="1" dirty="0"/>
              <a:t>Etude de l’existant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02DB35-A9CF-40A1-81F8-34952CF6737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440" y="934720"/>
            <a:ext cx="10139680" cy="4572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767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FD7A90-C52D-474F-8D28-918F91326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511" y="223647"/>
            <a:ext cx="4591049" cy="426593"/>
          </a:xfrm>
        </p:spPr>
        <p:txBody>
          <a:bodyPr/>
          <a:lstStyle/>
          <a:p>
            <a:r>
              <a:rPr lang="fr-FR" sz="1600" b="1" dirty="0"/>
              <a:t>Etude de l’existant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389995-4AA3-4C1E-B76F-FF500717114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8080" y="934720"/>
            <a:ext cx="10017759" cy="49885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09459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196" y="403762"/>
            <a:ext cx="10706099" cy="895650"/>
          </a:xfrm>
        </p:spPr>
        <p:txBody>
          <a:bodyPr/>
          <a:lstStyle/>
          <a:p>
            <a:pPr algn="l"/>
            <a:r>
              <a:rPr lang="fr-FR" dirty="0">
                <a:solidFill>
                  <a:srgbClr val="C00000"/>
                </a:solidFill>
              </a:rPr>
              <a:t>Spécification du projet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451707" y="1503426"/>
            <a:ext cx="10783588" cy="4521529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2.  Spécification non fonctionnelles:</a:t>
            </a:r>
          </a:p>
          <a:p>
            <a:pPr marL="914400" lvl="1" indent="-457200">
              <a:buAutoNum type="arabicPeriod" startAt="2"/>
            </a:pPr>
            <a:endParaRPr lang="fr-FR" sz="24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Performance :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/>
              <a:t>La solution proposée doit être performante, avec un temps d’exécution négligeable devant celui des outils simulés.</a:t>
            </a:r>
          </a:p>
          <a:p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Evolution &amp; Maintenabilité :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/>
              <a:t>Le projet est un projet de type évolutif, à chaque moment on peut intégrer des nouvelles idées et fonctionnalités, et pour cela il faut éviter le forte couplage entre les différentes composantes de la solution.</a:t>
            </a:r>
            <a:endParaRPr lang="fr-FR" sz="1100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/>
              <a:t>La barre des objectives est très haute, il se peut qu’on arrive pas à les réaliser tous, et donc pour cela nous devons assuré l’évolution de la solution soit pour garder la performance ou l’améliorer.</a:t>
            </a:r>
            <a:endParaRPr lang="fr-FR" sz="36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451707" y="1348351"/>
            <a:ext cx="10706098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dirty="0">
                <a:solidFill>
                  <a:schemeClr val="bg1"/>
                </a:solidFill>
              </a:rPr>
              <a:t>Merci pour votre attention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098939"/>
      </p:ext>
    </p:extLst>
  </p:cSld>
  <p:clrMapOvr>
    <a:masterClrMapping/>
  </p:clrMapOvr>
</p:sld>
</file>

<file path=ppt/theme/theme1.xml><?xml version="1.0" encoding="utf-8"?>
<a:theme xmlns:a="http://schemas.openxmlformats.org/drawingml/2006/main" name="SG CIB Multi-purpose Template 2011">
  <a:themeElements>
    <a:clrScheme name="SG CIB Theme Colours 2011">
      <a:dk1>
        <a:srgbClr val="000000"/>
      </a:dk1>
      <a:lt1>
        <a:srgbClr val="FFFFFF"/>
      </a:lt1>
      <a:dk2>
        <a:srgbClr val="AA8778"/>
      </a:dk2>
      <a:lt2>
        <a:srgbClr val="E1694B"/>
      </a:lt2>
      <a:accent1>
        <a:srgbClr val="BE574B"/>
      </a:accent1>
      <a:accent2>
        <a:srgbClr val="EF8341"/>
      </a:accent2>
      <a:accent3>
        <a:srgbClr val="EBAF47"/>
      </a:accent3>
      <a:accent4>
        <a:srgbClr val="709127"/>
      </a:accent4>
      <a:accent5>
        <a:srgbClr val="645E99"/>
      </a:accent5>
      <a:accent6>
        <a:srgbClr val="91929C"/>
      </a:accent6>
      <a:hlink>
        <a:srgbClr val="78236E"/>
      </a:hlink>
      <a:folHlink>
        <a:srgbClr val="91929C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9050"/>
      </a:spPr>
      <a:bodyPr rtlCol="0" anchor="ctr"/>
      <a:lstStyle>
        <a:defPPr algn="ctr">
          <a:defRPr sz="12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36000" tIns="36000" rIns="36000" bIns="36000" rtlCol="0">
        <a:noAutofit/>
      </a:bodyPr>
      <a:lstStyle>
        <a:defPPr>
          <a:defRPr sz="11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SG CIB Multi-purpose Template 2011</Template>
  <TotalTime>1756</TotalTime>
  <Words>891</Words>
  <Application>Microsoft Office PowerPoint</Application>
  <PresentationFormat>Widescreen</PresentationFormat>
  <Paragraphs>134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Open Sans Light</vt:lpstr>
      <vt:lpstr>Webdings</vt:lpstr>
      <vt:lpstr>Wingdings</vt:lpstr>
      <vt:lpstr>SG CIB Multi-purpose Template 2011</vt:lpstr>
      <vt:lpstr>Conception et réalisation d’un outil de Simulation de charge</vt:lpstr>
      <vt:lpstr>Plan </vt:lpstr>
      <vt:lpstr>SG ATS </vt:lpstr>
      <vt:lpstr> SG ATS </vt:lpstr>
      <vt:lpstr>Présentation du projet</vt:lpstr>
      <vt:lpstr>Présentation du projet</vt:lpstr>
      <vt:lpstr>Présentation du projet</vt:lpstr>
      <vt:lpstr>Présentation du projet</vt:lpstr>
      <vt:lpstr>PowerPoint Presentation</vt:lpstr>
      <vt:lpstr>PowerPoint Presentation</vt:lpstr>
      <vt:lpstr>PowerPoint Presentation</vt:lpstr>
      <vt:lpstr>PowerPoint Presentation</vt:lpstr>
      <vt:lpstr>Enjeux du projet :</vt:lpstr>
      <vt:lpstr>Gestion du projet</vt:lpstr>
      <vt:lpstr>Gantt diagramme</vt:lpstr>
      <vt:lpstr>Etude de l’existant</vt:lpstr>
      <vt:lpstr>Etude de l’existant</vt:lpstr>
      <vt:lpstr>Spécification du projet </vt:lpstr>
      <vt:lpstr>Merci pour votre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Conception et réalisation d’un outil intelligent d’aide à la validation des développements</dc:title>
  <dc:creator>omar zwd</dc:creator>
  <cp:lastModifiedBy>omar zwd</cp:lastModifiedBy>
  <cp:revision>56</cp:revision>
  <dcterms:created xsi:type="dcterms:W3CDTF">2020-03-04T22:42:21Z</dcterms:created>
  <dcterms:modified xsi:type="dcterms:W3CDTF">2020-05-26T11:43:06Z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aaa69c8-0478-4e13-9e4c-38511e3b6774_Enabled">
    <vt:lpwstr>True</vt:lpwstr>
  </property>
  <property fmtid="{D5CDD505-2E9C-101B-9397-08002B2CF9AE}" pid="3" name="MSIP_Label_1aaa69c8-0478-4e13-9e4c-38511e3b6774_SiteId">
    <vt:lpwstr>c9a7d621-4bc4-4407-b730-f428e656aa9e</vt:lpwstr>
  </property>
  <property fmtid="{D5CDD505-2E9C-101B-9397-08002B2CF9AE}" pid="4" name="MSIP_Label_1aaa69c8-0478-4e13-9e4c-38511e3b6774_Owner">
    <vt:lpwstr>omar.zouaid@sgcib.com</vt:lpwstr>
  </property>
  <property fmtid="{D5CDD505-2E9C-101B-9397-08002B2CF9AE}" pid="5" name="MSIP_Label_1aaa69c8-0478-4e13-9e4c-38511e3b6774_SetDate">
    <vt:lpwstr>2020-03-05T15:30:16.9565067Z</vt:lpwstr>
  </property>
  <property fmtid="{D5CDD505-2E9C-101B-9397-08002B2CF9AE}" pid="6" name="MSIP_Label_1aaa69c8-0478-4e13-9e4c-38511e3b6774_Name">
    <vt:lpwstr>C0 - Public</vt:lpwstr>
  </property>
  <property fmtid="{D5CDD505-2E9C-101B-9397-08002B2CF9AE}" pid="7" name="MSIP_Label_1aaa69c8-0478-4e13-9e4c-38511e3b6774_Application">
    <vt:lpwstr>Microsoft Azure Information Protection</vt:lpwstr>
  </property>
  <property fmtid="{D5CDD505-2E9C-101B-9397-08002B2CF9AE}" pid="8" name="MSIP_Label_1aaa69c8-0478-4e13-9e4c-38511e3b6774_ActionId">
    <vt:lpwstr>941a2c68-0ece-4a5e-807b-2651b27a79ff</vt:lpwstr>
  </property>
  <property fmtid="{D5CDD505-2E9C-101B-9397-08002B2CF9AE}" pid="9" name="MSIP_Label_1aaa69c8-0478-4e13-9e4c-38511e3b6774_Extended_MSFT_Method">
    <vt:lpwstr>Manual</vt:lpwstr>
  </property>
  <property fmtid="{D5CDD505-2E9C-101B-9397-08002B2CF9AE}" pid="10" name="Sensitivity">
    <vt:lpwstr>C0 - Public</vt:lpwstr>
  </property>
</Properties>
</file>