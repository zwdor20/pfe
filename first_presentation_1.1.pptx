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294" r:id="rId2"/>
    <p:sldId id="295" r:id="rId3"/>
    <p:sldId id="296" r:id="rId4"/>
    <p:sldId id="308" r:id="rId5"/>
    <p:sldId id="297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.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_DTP Bureau\LIVE JOBS\DTP56000 - 56999\DTP56185 - SG CIB PPT Template 2011\graphics\SG CIB Building Logo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517" y="6076251"/>
            <a:ext cx="3840000" cy="573076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1" y="2215007"/>
            <a:ext cx="10706099" cy="1249200"/>
          </a:xfrm>
        </p:spPr>
        <p:txBody>
          <a:bodyPr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400" b="0" kern="1200" cap="all" baseline="0" noProof="0" dirty="0" smtClean="0">
                <a:solidFill>
                  <a:srgbClr val="E60028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2951" y="3592449"/>
            <a:ext cx="10706099" cy="3240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ts val="9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000" b="0" kern="1200" cap="none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93366" y="258432"/>
            <a:ext cx="3934885" cy="144000"/>
          </a:xfrm>
          <a:prstGeom prst="rect">
            <a:avLst/>
          </a:prstGeom>
        </p:spPr>
        <p:txBody>
          <a:bodyPr anchor="ctr"/>
          <a:lstStyle>
            <a:lvl1pPr algn="l">
              <a:defRPr sz="1100"/>
            </a:lvl1pPr>
          </a:lstStyle>
          <a:p>
            <a:fld id="{C52A7112-AD22-4CC6-BB8E-81D9D3125C61}" type="datetimeFigureOut">
              <a:rPr lang="fr-FR" smtClean="0"/>
              <a:t>07/03/2020</a:t>
            </a:fld>
            <a:endParaRPr lang="fr-FR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gray">
          <a:xfrm flipV="1">
            <a:off x="6096000" y="209550"/>
            <a:ext cx="0" cy="266700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749301" y="476672"/>
            <a:ext cx="5250689" cy="432048"/>
          </a:xfrm>
          <a:ln>
            <a:noFill/>
            <a:prstDash val="dash"/>
          </a:ln>
        </p:spPr>
        <p:txBody>
          <a:bodyPr anchor="ctr">
            <a:noAutofit/>
          </a:bodyPr>
          <a:lstStyle>
            <a:lvl1pPr marL="0" indent="0" algn="r">
              <a:buNone/>
              <a:defRPr sz="900" b="0" i="0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OPTIONAL: USE C1-C2-C3 for internal use and Confidential otherwise – Please delete box once decided</a:t>
            </a:r>
            <a:endParaRPr lang="en-GB" dirty="0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4703846" y="4408320"/>
            <a:ext cx="2784309" cy="1252928"/>
          </a:xfrm>
          <a:prstGeom prst="rect">
            <a:avLst/>
          </a:prstGeom>
          <a:ln>
            <a:noFill/>
            <a:prstDash val="dash"/>
          </a:ln>
        </p:spPr>
        <p:txBody>
          <a:bodyPr anchor="ctr">
            <a:noAutofit/>
          </a:bodyPr>
          <a:lstStyle>
            <a:lvl1pPr marL="0" indent="0" algn="ctr">
              <a:buNone/>
              <a:defRPr sz="900" b="0" i="0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OPTIONAL : Client Logo Area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Please resize the logo to fit this area.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This box must be deleted once the presentation is complete.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743712" y="1293709"/>
            <a:ext cx="10704576" cy="190800"/>
          </a:xfrm>
          <a:prstGeom prst="rect">
            <a:avLst/>
          </a:prstGeom>
          <a:ln>
            <a:noFill/>
            <a:prstDash val="dash"/>
          </a:ln>
        </p:spPr>
        <p:txBody>
          <a:bodyPr anchor="t">
            <a:noAutofit/>
          </a:bodyPr>
          <a:lstStyle>
            <a:lvl1pPr marL="0" indent="0" algn="ctr">
              <a:buNone/>
              <a:defRPr sz="1200" b="1" i="0" cap="all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OPTIONAL: SERVICE/ID</a:t>
            </a:r>
          </a:p>
        </p:txBody>
      </p:sp>
    </p:spTree>
    <p:extLst>
      <p:ext uri="{BB962C8B-B14F-4D97-AF65-F5344CB8AC3E}">
        <p14:creationId xmlns:p14="http://schemas.microsoft.com/office/powerpoint/2010/main" val="177493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DISCLAIMER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4896000"/>
          </a:xfrm>
        </p:spPr>
        <p:txBody>
          <a:bodyPr>
            <a:noAutofit/>
          </a:bodyPr>
          <a:lstStyle>
            <a:lvl1pPr marL="0" indent="0">
              <a:buNone/>
              <a:defRPr sz="1100" b="0" baseline="0"/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0292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1" y="1129029"/>
            <a:ext cx="10704000" cy="576000"/>
          </a:xfrm>
        </p:spPr>
        <p:txBody>
          <a:bodyPr anchor="ctr">
            <a:noAutofit/>
          </a:bodyPr>
          <a:lstStyle>
            <a:lvl1pPr algn="ctr">
              <a:defRPr sz="21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911096"/>
            <a:ext cx="10704000" cy="4035600"/>
          </a:xfrm>
        </p:spPr>
        <p:txBody>
          <a:bodyPr rIns="0"/>
          <a:lstStyle>
            <a:lvl1pPr marL="0" indent="0">
              <a:buNone/>
              <a:tabLst>
                <a:tab pos="7988300" algn="r"/>
              </a:tabLst>
              <a:defRPr b="1" cap="all" baseline="0">
                <a:solidFill>
                  <a:srgbClr val="E60028"/>
                </a:solidFill>
              </a:defRPr>
            </a:lvl1pPr>
            <a:lvl2pPr marL="0" indent="0">
              <a:buNone/>
              <a:tabLst>
                <a:tab pos="7988300" algn="r"/>
              </a:tabLst>
              <a:defRPr cap="all" baseline="0"/>
            </a:lvl2pPr>
            <a:lvl3pPr marL="0" indent="0">
              <a:buNone/>
              <a:tabLst>
                <a:tab pos="7988300" algn="r"/>
              </a:tabLst>
              <a:defRPr sz="1000" cap="all" baseline="0"/>
            </a:lvl3pPr>
            <a:lvl4pPr marL="0" indent="0">
              <a:buNone/>
              <a:tabLst>
                <a:tab pos="7988300" algn="r"/>
              </a:tabLst>
              <a:defRPr sz="900" cap="all" baseline="0"/>
            </a:lvl4pPr>
            <a:lvl5pPr marL="0" indent="0">
              <a:buNone/>
              <a:tabLst>
                <a:tab pos="7988300" algn="r"/>
              </a:tabLst>
              <a:defRPr sz="800" cap="all" baseline="0"/>
            </a:lvl5pPr>
          </a:lstStyle>
          <a:p>
            <a:pPr lvl="0"/>
            <a:r>
              <a:rPr lang="en-US" dirty="0"/>
              <a:t>CLICK TO EDIT MASTER TEXT STYLES	x</a:t>
            </a:r>
          </a:p>
          <a:p>
            <a:pPr lvl="1"/>
            <a:r>
              <a:rPr lang="en-US" dirty="0"/>
              <a:t>SECOND LEVEL	x</a:t>
            </a:r>
          </a:p>
          <a:p>
            <a:pPr lvl="2"/>
            <a:r>
              <a:rPr lang="en-US" dirty="0"/>
              <a:t>THIRD LEVEL	x</a:t>
            </a:r>
          </a:p>
          <a:p>
            <a:pPr lvl="3"/>
            <a:r>
              <a:rPr lang="en-US" dirty="0"/>
              <a:t>FOURTH LEVEL	x</a:t>
            </a:r>
          </a:p>
          <a:p>
            <a:pPr lvl="4"/>
            <a:r>
              <a:rPr lang="en-US" dirty="0"/>
              <a:t>FIFTH LEVEL	x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07/03/2020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3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2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able of Conten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1" y="1129029"/>
            <a:ext cx="10704000" cy="576000"/>
          </a:xfrm>
        </p:spPr>
        <p:txBody>
          <a:bodyPr anchor="ctr">
            <a:noAutofit/>
          </a:bodyPr>
          <a:lstStyle>
            <a:lvl1pPr algn="ctr">
              <a:defRPr sz="21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sp>
        <p:nvSpPr>
          <p:cNvPr id="30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911096"/>
            <a:ext cx="10704000" cy="4035600"/>
          </a:xfrm>
        </p:spPr>
        <p:txBody>
          <a:bodyPr rIns="0" numCol="2" spcCol="216000"/>
          <a:lstStyle>
            <a:lvl1pPr marL="0" indent="0">
              <a:buNone/>
              <a:tabLst>
                <a:tab pos="3924000" algn="r"/>
                <a:tab pos="7920000" algn="r"/>
              </a:tabLst>
              <a:defRPr b="1" cap="all" baseline="0">
                <a:solidFill>
                  <a:srgbClr val="E60028"/>
                </a:solidFill>
              </a:defRPr>
            </a:lvl1pPr>
            <a:lvl2pPr marL="0" indent="0">
              <a:buNone/>
              <a:tabLst>
                <a:tab pos="3924000" algn="r"/>
                <a:tab pos="7920000" algn="r"/>
              </a:tabLst>
              <a:defRPr cap="all" baseline="0"/>
            </a:lvl2pPr>
            <a:lvl3pPr marL="0" indent="0">
              <a:buNone/>
              <a:tabLst>
                <a:tab pos="3924000" algn="r"/>
                <a:tab pos="7920000" algn="r"/>
              </a:tabLst>
              <a:defRPr sz="1000" cap="all" baseline="0"/>
            </a:lvl3pPr>
            <a:lvl4pPr marL="0" indent="0">
              <a:buNone/>
              <a:tabLst>
                <a:tab pos="3924000" algn="r"/>
                <a:tab pos="7920000" algn="r"/>
              </a:tabLst>
              <a:defRPr sz="900" cap="all" baseline="0"/>
            </a:lvl4pPr>
            <a:lvl5pPr marL="0" indent="0">
              <a:buNone/>
              <a:tabLst>
                <a:tab pos="3924000" algn="r"/>
                <a:tab pos="7920000" algn="r"/>
              </a:tabLst>
              <a:defRPr sz="800" cap="all" baseline="0"/>
            </a:lvl5pPr>
          </a:lstStyle>
          <a:p>
            <a:pPr lvl="0"/>
            <a:r>
              <a:rPr lang="en-US" dirty="0"/>
              <a:t>CLICK TO EDIT MASTER TEXT STYLES	x</a:t>
            </a:r>
          </a:p>
          <a:p>
            <a:pPr lvl="1"/>
            <a:r>
              <a:rPr lang="en-US" dirty="0"/>
              <a:t>SECOND LEVEL	x</a:t>
            </a:r>
          </a:p>
          <a:p>
            <a:pPr lvl="2"/>
            <a:r>
              <a:rPr lang="en-US" dirty="0"/>
              <a:t>THIRD LEVEL	x</a:t>
            </a:r>
          </a:p>
          <a:p>
            <a:pPr lvl="3"/>
            <a:r>
              <a:rPr lang="en-US" dirty="0"/>
              <a:t>FOURTH LEVEL	x</a:t>
            </a:r>
          </a:p>
          <a:p>
            <a:pPr lvl="4"/>
            <a:r>
              <a:rPr lang="en-US" dirty="0"/>
              <a:t>FIFTH LEVEL	x</a:t>
            </a:r>
            <a:endParaRPr lang="en-GB" dirty="0"/>
          </a:p>
          <a:p>
            <a:pPr lvl="0"/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4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07/03/2020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3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62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.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1" y="2215007"/>
            <a:ext cx="10706099" cy="1249200"/>
          </a:xfrm>
        </p:spPr>
        <p:txBody>
          <a:bodyPr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divider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2951" y="3592449"/>
            <a:ext cx="10706099" cy="3240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ts val="9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1800" b="0" kern="1200" cap="none" baseline="0" dirty="0" smtClean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pic>
        <p:nvPicPr>
          <p:cNvPr id="11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7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44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742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Basic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80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741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Column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489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489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07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4 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190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23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4 Quarter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494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576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742951" y="357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20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Row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282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1 Row + 2 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190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528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Quarters + 1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931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1 Row + 2 Quarter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494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19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Quarters + 1 Row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1642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3110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73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951" y="260349"/>
            <a:ext cx="9384000" cy="28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1" y="1050924"/>
            <a:ext cx="10704000" cy="48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gray">
          <a:xfrm flipH="1">
            <a:off x="325967" y="765175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0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07/03/2020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5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txStyles>
    <p:titleStyle>
      <a:lvl1pPr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lang="en-GB" sz="1600" b="1" kern="1200" cap="all" baseline="0" noProof="0" dirty="0" smtClean="0">
          <a:solidFill>
            <a:srgbClr val="E6002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82563" indent="-182563" algn="l" defTabSz="914400" rtl="0" eaLnBrk="1" latinLnBrk="0" hangingPunct="1">
        <a:spcBef>
          <a:spcPts val="900"/>
        </a:spcBef>
        <a:buClr>
          <a:schemeClr val="tx2"/>
        </a:buClr>
        <a:buSzPct val="90000"/>
        <a:buFont typeface="Wingdings" pitchFamily="2" charset="2"/>
        <a:buChar char="n"/>
        <a:defRPr sz="14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57188" indent="-174625" algn="l" defTabSz="914400" rtl="0" eaLnBrk="1" latinLnBrk="0" hangingPunct="1">
        <a:spcBef>
          <a:spcPts val="600"/>
        </a:spcBef>
        <a:buClr>
          <a:schemeClr val="tx2"/>
        </a:buClr>
        <a:buFont typeface="Arial" pitchFamily="34" charset="0"/>
        <a:buChar char="●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39750" indent="-182563" algn="l" defTabSz="914400" rtl="0" eaLnBrk="1" latinLnBrk="0" hangingPunct="1">
        <a:spcBef>
          <a:spcPts val="600"/>
        </a:spcBef>
        <a:buClr>
          <a:schemeClr val="tx2"/>
        </a:buClr>
        <a:buFont typeface="Webdings" pitchFamily="18" charset="2"/>
        <a:buChar char="4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12788" indent="-173038" algn="l" defTabSz="914400" rtl="0" eaLnBrk="1" latinLnBrk="0" hangingPunct="1">
        <a:spcBef>
          <a:spcPts val="600"/>
        </a:spcBef>
        <a:buClr>
          <a:schemeClr val="tx2"/>
        </a:buClr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95350" indent="-182563" algn="l" defTabSz="914400" rtl="0" eaLnBrk="1" latinLnBrk="0" hangingPunct="1">
        <a:spcBef>
          <a:spcPts val="600"/>
        </a:spcBef>
        <a:buClr>
          <a:schemeClr val="tx2"/>
        </a:buClr>
        <a:buFont typeface="Wingdings" pitchFamily="2" charset="2"/>
        <a:buChar char="w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66011"/>
            <a:ext cx="12192002" cy="136222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charge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0436" y="1048731"/>
            <a:ext cx="9144000" cy="1000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</a:p>
          <a:p>
            <a:pPr algn="ctr"/>
            <a:endParaRPr lang="fr-FR" sz="11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informatique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1758544" y="5333699"/>
            <a:ext cx="2568427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Réalisé  par :</a:t>
            </a:r>
          </a:p>
          <a:p>
            <a:r>
              <a:rPr lang="fr-FR" sz="1600" dirty="0"/>
              <a:t>	M. </a:t>
            </a:r>
            <a:r>
              <a:rPr lang="fr-FR" sz="1600" dirty="0" err="1"/>
              <a:t>Zouaid</a:t>
            </a:r>
            <a:r>
              <a:rPr lang="fr-FR" sz="1600" dirty="0"/>
              <a:t> Omar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9C9B7-505A-49F2-A5AF-F09C76086DD6}"/>
              </a:ext>
            </a:extLst>
          </p:cNvPr>
          <p:cNvSpPr txBox="1"/>
          <p:nvPr/>
        </p:nvSpPr>
        <p:spPr>
          <a:xfrm>
            <a:off x="3396343" y="3866146"/>
            <a:ext cx="4548249" cy="539599"/>
          </a:xfrm>
          <a:prstGeom prst="rect">
            <a:avLst/>
          </a:prstGeom>
          <a:solidFill>
            <a:srgbClr val="C00000"/>
          </a:solidFill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Présentation de l’avancement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AF742-48D2-420A-96B9-78111A4D4EE5}"/>
              </a:ext>
            </a:extLst>
          </p:cNvPr>
          <p:cNvSpPr txBox="1"/>
          <p:nvPr/>
        </p:nvSpPr>
        <p:spPr>
          <a:xfrm>
            <a:off x="3396343" y="4444851"/>
            <a:ext cx="4548249" cy="432722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Le vendredi 06 Mars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7474836" y="5333698"/>
            <a:ext cx="2958620" cy="9276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Encadré  par :</a:t>
            </a:r>
          </a:p>
          <a:p>
            <a:r>
              <a:rPr lang="fr-FR" sz="1600" b="1"/>
              <a:t>	</a:t>
            </a:r>
            <a:r>
              <a:rPr lang="fr-FR" sz="1600"/>
              <a:t>Pr  </a:t>
            </a:r>
            <a:r>
              <a:rPr lang="fr-FR" sz="1600" dirty="0" err="1"/>
              <a:t>Addou</a:t>
            </a:r>
            <a:r>
              <a:rPr lang="fr-FR" sz="1600" dirty="0"/>
              <a:t> Malika</a:t>
            </a:r>
          </a:p>
          <a:p>
            <a:r>
              <a:rPr lang="fr-FR" sz="1600" dirty="0"/>
              <a:t>	M. Tarik </a:t>
            </a:r>
            <a:r>
              <a:rPr lang="fr-FR" sz="1600" dirty="0" err="1"/>
              <a:t>Douiyeh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770" y="41566"/>
            <a:ext cx="10706099" cy="800275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Plan  de la présentation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2312298" y="1410347"/>
            <a:ext cx="8953995" cy="3704094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L’organisme d’accueil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Contexte de projet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Présentation du projet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Gestion de projet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Spécification du projet</a:t>
            </a:r>
          </a:p>
          <a:p>
            <a:pPr>
              <a:lnSpc>
                <a:spcPct val="150000"/>
              </a:lnSpc>
            </a:pPr>
            <a:endParaRPr lang="fr-FR" sz="2800" dirty="0"/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marL="742950" lvl="1" indent="-285750">
              <a:buAutoNum type="romanUcParenR"/>
            </a:pPr>
            <a:endParaRPr lang="fr-FR" sz="1100" dirty="0"/>
          </a:p>
          <a:p>
            <a:endParaRPr lang="fr-FR" sz="1100" dirty="0" err="1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DBA98D-C658-4B43-9A6C-C677FCB48491}"/>
              </a:ext>
            </a:extLst>
          </p:cNvPr>
          <p:cNvCxnSpPr>
            <a:cxnSpLocks/>
          </p:cNvCxnSpPr>
          <p:nvPr/>
        </p:nvCxnSpPr>
        <p:spPr>
          <a:xfrm>
            <a:off x="560195" y="991893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01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189" y="170915"/>
            <a:ext cx="10706099" cy="799397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la SG ATS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1084881" y="1736271"/>
            <a:ext cx="9488115" cy="388323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dirty="0"/>
              <a:t>SG ATS est une filiale du groupe Société Générale qui a démarré ses activités en début 2014, basée à Casablanca. Société Générale </a:t>
            </a:r>
            <a:r>
              <a:rPr lang="fr-FR" dirty="0" err="1"/>
              <a:t>Africa</a:t>
            </a:r>
            <a:r>
              <a:rPr lang="fr-FR" dirty="0"/>
              <a:t> Technologies &amp; Services regroupe des services liés aux activités de marché de la banque de financement et d’investissements (SG CIB), spécialisés en Recherche et Développement et en Ingénierie Financière.</a:t>
            </a:r>
            <a:endParaRPr lang="fr-FR" sz="2800" dirty="0"/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marL="742950" lvl="1" indent="-285750">
              <a:buAutoNum type="romanUcParenR"/>
            </a:pPr>
            <a:endParaRPr lang="fr-FR" sz="1100" dirty="0"/>
          </a:p>
          <a:p>
            <a:endParaRPr lang="fr-FR" sz="1100" dirty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AC198-DB66-451F-BE00-893079593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49" y="3677887"/>
            <a:ext cx="4762500" cy="22098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29FC7D-C72B-491E-B7A5-E6BF7AE98052}"/>
              </a:ext>
            </a:extLst>
          </p:cNvPr>
          <p:cNvCxnSpPr>
            <a:cxnSpLocks/>
          </p:cNvCxnSpPr>
          <p:nvPr/>
        </p:nvCxnSpPr>
        <p:spPr>
          <a:xfrm>
            <a:off x="467205" y="1193370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05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6" y="-6126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la SG ATS 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08C0B0-7314-465A-BC58-C3E242C39E55}"/>
              </a:ext>
            </a:extLst>
          </p:cNvPr>
          <p:cNvCxnSpPr>
            <a:cxnSpLocks/>
          </p:cNvCxnSpPr>
          <p:nvPr/>
        </p:nvCxnSpPr>
        <p:spPr>
          <a:xfrm>
            <a:off x="374215" y="905023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07019E1-128B-4469-949A-12142BDA4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834" y="1146874"/>
            <a:ext cx="9267986" cy="506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0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7" y="229452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la SG ATS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852407" y="2157289"/>
            <a:ext cx="6180853" cy="40377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FR" b="1" dirty="0"/>
              <a:t>Les </a:t>
            </a:r>
            <a:r>
              <a:rPr lang="fr-FR" b="1" dirty="0" err="1"/>
              <a:t>ésquipes</a:t>
            </a:r>
            <a:r>
              <a:rPr lang="fr-FR" b="1" dirty="0"/>
              <a:t> R&amp;D :</a:t>
            </a:r>
          </a:p>
          <a:p>
            <a:pPr lvl="1"/>
            <a:endParaRPr lang="fr-FR" b="1" dirty="0"/>
          </a:p>
          <a:p>
            <a:r>
              <a:rPr lang="fr-FR" dirty="0"/>
              <a:t>Les équipes R&amp;D de la Société Générale sont constituées de Cinq branches principales peuvent être distinguées. Une branche constituée de trois équipes R&amp;D :</a:t>
            </a:r>
          </a:p>
          <a:p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QUANT : a pour mission de développer les librairies mathématiques de calcul des prix.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QARM : équipe en charge de tests et de validation des produits développés par les autres </a:t>
            </a:r>
            <a:r>
              <a:rPr lang="fr-FR" i="1" dirty="0"/>
              <a:t>entités.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SET : équipe en charge de la création d’outils de trading et de la mise en œuvre effective des librairies de calcul dans un contexte industriel.</a:t>
            </a:r>
            <a:endParaRPr lang="fr-FR" b="1" dirty="0"/>
          </a:p>
          <a:p>
            <a:pPr lvl="1"/>
            <a:r>
              <a:rPr lang="fr-FR" b="1" dirty="0"/>
              <a:t> </a:t>
            </a:r>
            <a:endParaRPr lang="fr-FR" sz="11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08C0B0-7314-465A-BC58-C3E242C39E55}"/>
              </a:ext>
            </a:extLst>
          </p:cNvPr>
          <p:cNvCxnSpPr>
            <a:cxnSpLocks/>
          </p:cNvCxnSpPr>
          <p:nvPr/>
        </p:nvCxnSpPr>
        <p:spPr>
          <a:xfrm>
            <a:off x="467205" y="1193370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043DE49-A56E-45AD-8D74-86F8265DC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420" y="2157291"/>
            <a:ext cx="5448301" cy="397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4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192" y="186786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Présentation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1068780" y="1487385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fr-FR" b="1" dirty="0"/>
              <a:t>Contexte du projet  </a:t>
            </a:r>
            <a:endParaRPr lang="fr-FR" sz="1100" b="1" dirty="0"/>
          </a:p>
          <a:p>
            <a:pPr marL="800100" lvl="1" indent="-342900">
              <a:buFont typeface="+mj-lt"/>
              <a:buAutoNum type="arabicPeriod"/>
            </a:pPr>
            <a:endParaRPr lang="fr-FR" sz="1100" b="1" dirty="0"/>
          </a:p>
          <a:p>
            <a:pPr lvl="1"/>
            <a:r>
              <a:rPr lang="fr-FR" dirty="0"/>
              <a:t>L’équipe RDWS développe et maintient des services utilisés par les équipes du département</a:t>
            </a:r>
          </a:p>
          <a:p>
            <a:pPr lvl="1"/>
            <a:r>
              <a:rPr lang="fr-FR" dirty="0"/>
              <a:t>Recherche &amp; Développement du groupe Société Générale. Ces services sont regroupés est déployé dans le cloud Microsoft Azure, sous une architecture service cloud.</a:t>
            </a:r>
          </a:p>
          <a:p>
            <a:pPr lvl="1"/>
            <a:endParaRPr lang="fr-FR" dirty="0"/>
          </a:p>
        </p:txBody>
      </p:sp>
      <p:pic>
        <p:nvPicPr>
          <p:cNvPr id="1026" name="Picture 2" descr="Topologie et applications de service cloud">
            <a:extLst>
              <a:ext uri="{FF2B5EF4-FFF2-40B4-BE49-F238E27FC236}">
                <a16:creationId xmlns:a16="http://schemas.microsoft.com/office/drawing/2014/main" id="{08B9E565-2DD3-44B1-A4CF-8C726EB8E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2983832"/>
            <a:ext cx="7258050" cy="302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FA83FD-8B90-438A-8E4D-7278D795208C}"/>
              </a:ext>
            </a:extLst>
          </p:cNvPr>
          <p:cNvCxnSpPr>
            <a:cxnSpLocks/>
          </p:cNvCxnSpPr>
          <p:nvPr/>
        </p:nvCxnSpPr>
        <p:spPr>
          <a:xfrm>
            <a:off x="482703" y="1193371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1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6" y="233280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Présentation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924401" y="2083264"/>
            <a:ext cx="9070499" cy="32761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2. État de l’existant :</a:t>
            </a:r>
          </a:p>
          <a:p>
            <a:pPr lvl="1"/>
            <a:endParaRPr lang="fr-FR" sz="1100" b="1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sz="1600" dirty="0"/>
              <a:t>Pour assurer la fiabilité et la haute performance des services exposés sur le cloud, l'équipe RDWS a développé un service de </a:t>
            </a:r>
            <a:r>
              <a:rPr lang="fr-FR" sz="1600" b="1" dirty="0" err="1"/>
              <a:t>Scaling</a:t>
            </a:r>
            <a:r>
              <a:rPr lang="fr-FR" sz="16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sz="1600" dirty="0"/>
              <a:t>Le service </a:t>
            </a:r>
            <a:r>
              <a:rPr lang="fr-FR" sz="1600" dirty="0" err="1"/>
              <a:t>Scaling</a:t>
            </a:r>
            <a:r>
              <a:rPr lang="fr-FR" sz="1600" dirty="0"/>
              <a:t> prend en Input une </a:t>
            </a:r>
            <a:r>
              <a:rPr lang="fr-FR" sz="1600" b="1" dirty="0"/>
              <a:t>configuration</a:t>
            </a:r>
            <a:r>
              <a:rPr lang="fr-FR" sz="1600" dirty="0"/>
              <a:t> qui contient des informations liées aux déploiements des services, en se basant sur cette configuration et l'État des </a:t>
            </a:r>
            <a:r>
              <a:rPr lang="fr-FR" sz="1600" dirty="0" err="1"/>
              <a:t>workers</a:t>
            </a:r>
            <a:r>
              <a:rPr lang="fr-FR" sz="1600" dirty="0"/>
              <a:t>, le service </a:t>
            </a:r>
            <a:r>
              <a:rPr lang="fr-FR" sz="1600" dirty="0" err="1"/>
              <a:t>Scaling</a:t>
            </a:r>
            <a:r>
              <a:rPr lang="fr-FR" sz="1600" dirty="0"/>
              <a:t>  s’</a:t>
            </a:r>
            <a:r>
              <a:rPr lang="fr-FR" sz="1600" dirty="0" err="1"/>
              <a:t>éxecute</a:t>
            </a:r>
            <a:r>
              <a:rPr lang="fr-FR" sz="1600" dirty="0"/>
              <a:t> périodiquement en temps réel pour faire des actions de </a:t>
            </a:r>
            <a:r>
              <a:rPr lang="fr-FR" sz="1600" dirty="0" err="1"/>
              <a:t>Scaling</a:t>
            </a:r>
            <a:r>
              <a:rPr lang="fr-FR" sz="1600" dirty="0"/>
              <a:t> UP or Down selon le besoin.</a:t>
            </a:r>
          </a:p>
          <a:p>
            <a:pPr lvl="1"/>
            <a:endParaRPr lang="fr-FR" sz="1100" dirty="0"/>
          </a:p>
          <a:p>
            <a:pPr lvl="1"/>
            <a:endParaRPr lang="fr-FR" sz="11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411BBA-C6A0-48B1-B674-1709A6547AA3}"/>
              </a:ext>
            </a:extLst>
          </p:cNvPr>
          <p:cNvCxnSpPr>
            <a:cxnSpLocks/>
          </p:cNvCxnSpPr>
          <p:nvPr/>
        </p:nvCxnSpPr>
        <p:spPr>
          <a:xfrm>
            <a:off x="451707" y="1286359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98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6" y="403762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Présentation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1068780" y="2165038"/>
            <a:ext cx="10864140" cy="31466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3. Problématique :</a:t>
            </a:r>
          </a:p>
          <a:p>
            <a:pPr lvl="1"/>
            <a:endParaRPr lang="fr-FR" sz="1100" b="1" dirty="0"/>
          </a:p>
          <a:p>
            <a:r>
              <a:rPr lang="fr-FR" dirty="0"/>
              <a:t>La problématique de service de </a:t>
            </a:r>
            <a:r>
              <a:rPr lang="fr-FR" dirty="0" err="1"/>
              <a:t>scaling</a:t>
            </a:r>
            <a:r>
              <a:rPr lang="fr-FR" dirty="0"/>
              <a:t> existant réside dans le choix manuel des Configuration, fait par l’équipe </a:t>
            </a:r>
            <a:r>
              <a:rPr lang="fr-FR" dirty="0" err="1"/>
              <a:t>CloudOps</a:t>
            </a:r>
            <a:r>
              <a:rPr lang="fr-FR" dirty="0"/>
              <a:t>. Ce choix manuel cause les problèmes suivants :</a:t>
            </a:r>
          </a:p>
          <a:p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Des surcharges non supportées par les services au cas d’une configuration minimale, et par conséquence un temps de réponse non satisfaisant pour le client.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Un coût de déploiement sur le cloud très élevé, au cas d’une configuration gourmande en terme de </a:t>
            </a:r>
            <a:r>
              <a:rPr lang="fr-FR" dirty="0" err="1"/>
              <a:t>workers</a:t>
            </a:r>
            <a:r>
              <a:rPr lang="fr-F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5A910E-A625-4F69-AA1C-8A2A0F1D64FC}"/>
              </a:ext>
            </a:extLst>
          </p:cNvPr>
          <p:cNvCxnSpPr>
            <a:cxnSpLocks/>
          </p:cNvCxnSpPr>
          <p:nvPr/>
        </p:nvCxnSpPr>
        <p:spPr>
          <a:xfrm>
            <a:off x="467205" y="1394845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7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6" y="403762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Présentation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802106" y="1843845"/>
            <a:ext cx="10972774" cy="395252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4. Objectif du projet :</a:t>
            </a:r>
          </a:p>
          <a:p>
            <a:pPr lvl="1"/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Le but du stage est la création d’un outil de simulation de charge, qui peut simuler le fonctionnement du service de </a:t>
            </a:r>
            <a:r>
              <a:rPr lang="fr-FR" dirty="0" err="1"/>
              <a:t>Scaling</a:t>
            </a:r>
            <a:r>
              <a:rPr lang="fr-FR" dirty="0"/>
              <a:t>, cet outil va pouvoir ressortir à partir d’une configuration donnée et une charge précise, un document qui contient les différentes facteurs de qualités(cloud </a:t>
            </a:r>
            <a:r>
              <a:rPr lang="fr-FR" dirty="0" err="1"/>
              <a:t>metrics</a:t>
            </a:r>
            <a:r>
              <a:rPr lang="fr-FR" u="sng" dirty="0"/>
              <a:t>)</a:t>
            </a:r>
            <a:r>
              <a:rPr lang="fr-FR" dirty="0"/>
              <a:t>. Et au fur et à mesure de l’avancement on peut envisager des fonctionnalités plus avancées, comme la comparaison de deux configurations, jusqu’a la génération des configuration optimales par le simulator.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A ce titre les éléments suivants doivent être assurés :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Comprendre la problématique et élaborer le besoin.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Analyser de l’existant.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Proposer, concevoir et développer de façon agile.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Agir avec rigueur et ambition afin de fournir un outil de qualité.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fr-FR" dirty="0"/>
              <a:t>Mettre en production la solution, et mesurer sa performance.</a:t>
            </a:r>
            <a:endParaRPr lang="fr-FR" sz="1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EE3AD8-77AD-4E9E-98BD-4C9F0390C259}"/>
              </a:ext>
            </a:extLst>
          </p:cNvPr>
          <p:cNvCxnSpPr>
            <a:cxnSpLocks/>
          </p:cNvCxnSpPr>
          <p:nvPr/>
        </p:nvCxnSpPr>
        <p:spPr>
          <a:xfrm>
            <a:off x="467205" y="1379347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34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6" y="403762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Présentation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1012742" y="2168957"/>
            <a:ext cx="10166515" cy="325509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4. Enjeux du projet : </a:t>
            </a:r>
          </a:p>
          <a:p>
            <a:pPr lvl="1"/>
            <a:endParaRPr lang="fr-FR" b="1" dirty="0"/>
          </a:p>
          <a:p>
            <a:r>
              <a:rPr lang="fr-FR" dirty="0"/>
              <a:t>Proposer des configuration optimales présente plusieurs enjeux :</a:t>
            </a:r>
          </a:p>
          <a:p>
            <a:pPr lvl="1"/>
            <a:endParaRPr lang="fr-FR" sz="1100" b="1" dirty="0"/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fr-FR" b="1" dirty="0"/>
              <a:t>Réduire le coût en termes de ressources matérielles </a:t>
            </a:r>
            <a:r>
              <a:rPr lang="fr-FR" dirty="0"/>
              <a:t>: Donner une configuration adéquate permet de réduire le nombre de machine alloués mais qui sont en </a:t>
            </a:r>
            <a:r>
              <a:rPr lang="fr-FR" b="1" u="sng" dirty="0"/>
              <a:t>état d’attente</a:t>
            </a:r>
            <a:r>
              <a:rPr lang="fr-FR" dirty="0"/>
              <a:t> , et par conséquence réduire le coût.</a:t>
            </a:r>
          </a:p>
          <a:p>
            <a:pPr marL="1657350" lvl="3" indent="-285750">
              <a:buFont typeface="Wingdings" panose="05000000000000000000" pitchFamily="2" charset="2"/>
              <a:buChar char="ü"/>
            </a:pPr>
            <a:endParaRPr lang="fr-FR" dirty="0"/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fr-FR" b="1" dirty="0"/>
              <a:t>Minimiser le temps d’attente d’un client </a:t>
            </a:r>
            <a:r>
              <a:rPr lang="fr-FR" dirty="0"/>
              <a:t>: ca revient à avoir un nombre de machines alloués sur le cloud assez suffisant capable de supporter  la charge des requêtes clientes dans les périodes les plus actives en terme de transactions.</a:t>
            </a:r>
          </a:p>
          <a:p>
            <a:pPr marL="1657350" lvl="3" indent="-285750">
              <a:buFont typeface="Wingdings" panose="05000000000000000000" pitchFamily="2" charset="2"/>
              <a:buChar char="ü"/>
            </a:pPr>
            <a:endParaRPr lang="fr-FR" dirty="0"/>
          </a:p>
          <a:p>
            <a:pPr marL="1657350" lvl="3" indent="-285750">
              <a:buFont typeface="Wingdings" panose="05000000000000000000" pitchFamily="2" charset="2"/>
              <a:buChar char="ü"/>
            </a:pPr>
            <a:endParaRPr lang="fr-FR" dirty="0"/>
          </a:p>
          <a:p>
            <a:pPr marL="1657350" lvl="3" indent="-285750">
              <a:buFont typeface="Wingdings" panose="05000000000000000000" pitchFamily="2" charset="2"/>
              <a:buChar char="ü"/>
            </a:pPr>
            <a:endParaRPr lang="fr-FR" sz="1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D0B3A8-37C0-4C58-9DE1-22943A02578E}"/>
              </a:ext>
            </a:extLst>
          </p:cNvPr>
          <p:cNvCxnSpPr>
            <a:cxnSpLocks/>
          </p:cNvCxnSpPr>
          <p:nvPr/>
        </p:nvCxnSpPr>
        <p:spPr>
          <a:xfrm>
            <a:off x="467205" y="1410343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16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1" y="328672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Gestion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606688" y="1945128"/>
            <a:ext cx="10523815" cy="35645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1.  Méthode adopté : </a:t>
            </a:r>
          </a:p>
          <a:p>
            <a:pPr lvl="1"/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FR" dirty="0"/>
              <a:t>La méthode </a:t>
            </a:r>
            <a:r>
              <a:rPr lang="fr-FR" b="1" dirty="0"/>
              <a:t>XP </a:t>
            </a:r>
            <a:r>
              <a:rPr lang="fr-FR" dirty="0"/>
              <a:t>(</a:t>
            </a:r>
            <a:r>
              <a:rPr lang="fr-FR" dirty="0" err="1"/>
              <a:t>eXtreme</a:t>
            </a:r>
            <a:r>
              <a:rPr lang="fr-FR" dirty="0"/>
              <a:t> </a:t>
            </a:r>
            <a:r>
              <a:rPr lang="fr-FR" dirty="0" err="1"/>
              <a:t>Programming</a:t>
            </a:r>
            <a:r>
              <a:rPr lang="fr-FR" dirty="0"/>
              <a:t>) est la méthode adoptée pour la gestion de projet.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FR" dirty="0"/>
              <a:t>La méthode </a:t>
            </a:r>
            <a:r>
              <a:rPr lang="fr-FR" dirty="0" err="1"/>
              <a:t>eXtreme</a:t>
            </a:r>
            <a:r>
              <a:rPr lang="fr-FR" dirty="0"/>
              <a:t> </a:t>
            </a:r>
            <a:r>
              <a:rPr lang="fr-FR" dirty="0" err="1"/>
              <a:t>Programming</a:t>
            </a:r>
            <a:r>
              <a:rPr lang="fr-FR" dirty="0"/>
              <a:t> s'appuie sur :</a:t>
            </a:r>
          </a:p>
          <a:p>
            <a:pPr lvl="1"/>
            <a:endParaRPr lang="fr-FR" dirty="0"/>
          </a:p>
          <a:p>
            <a:pPr lvl="3"/>
            <a:r>
              <a:rPr lang="fr-FR" dirty="0"/>
              <a:t>● Des petits livrables.</a:t>
            </a:r>
          </a:p>
          <a:p>
            <a:pPr lvl="3"/>
            <a:r>
              <a:rPr lang="fr-FR" dirty="0"/>
              <a:t>● Une conception simple.</a:t>
            </a:r>
          </a:p>
          <a:p>
            <a:pPr lvl="3"/>
            <a:r>
              <a:rPr lang="fr-FR" dirty="0"/>
              <a:t>● Des tests unitaires.</a:t>
            </a:r>
          </a:p>
          <a:p>
            <a:pPr lvl="3"/>
            <a:r>
              <a:rPr lang="fr-FR" dirty="0"/>
              <a:t>● La revue du code.</a:t>
            </a:r>
          </a:p>
          <a:p>
            <a:pPr lvl="3"/>
            <a:r>
              <a:rPr lang="fr-FR" dirty="0"/>
              <a:t>● Du </a:t>
            </a:r>
            <a:r>
              <a:rPr lang="fr-FR" dirty="0" err="1"/>
              <a:t>Refactoring</a:t>
            </a:r>
            <a:endParaRPr lang="fr-FR" sz="1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93B45E-2EEC-4D73-95AF-4B2D40D5F806}"/>
              </a:ext>
            </a:extLst>
          </p:cNvPr>
          <p:cNvCxnSpPr>
            <a:cxnSpLocks/>
          </p:cNvCxnSpPr>
          <p:nvPr/>
        </p:nvCxnSpPr>
        <p:spPr>
          <a:xfrm>
            <a:off x="606688" y="1332854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33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7" y="233280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Gestion du projet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529197" y="1503426"/>
            <a:ext cx="10706098" cy="452152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2.  Application de la méthode XP dans le projet : </a:t>
            </a:r>
          </a:p>
          <a:p>
            <a:pPr lvl="1"/>
            <a:endParaRPr lang="fr-FR" dirty="0"/>
          </a:p>
          <a:p>
            <a:r>
              <a:rPr lang="fr-FR" dirty="0"/>
              <a:t>La caractérisation de la méthode XP dans ce projet a été faite en suivant les pratiques telles</a:t>
            </a:r>
          </a:p>
          <a:p>
            <a:r>
              <a:rPr lang="fr-FR" dirty="0"/>
              <a:t>que 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b="1" dirty="0"/>
              <a:t>La revue du code </a:t>
            </a:r>
            <a:r>
              <a:rPr lang="fr-FR" dirty="0"/>
              <a:t>: pour chaque partie développée, une revue du code est prévue afin de valider l’incrément, et l’intégrer dans le répertoire distant. Cette revue a pour but d’assurer que le code respecte toutes les règles de qualité et les bonnes pratiques (YAGNI, KISS, DRY, SOLID…) imposées par l’équipe.</a:t>
            </a:r>
          </a:p>
          <a:p>
            <a:pPr lvl="1"/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b="1" dirty="0"/>
              <a:t>Les tests unitaires </a:t>
            </a:r>
            <a:r>
              <a:rPr lang="fr-FR" dirty="0"/>
              <a:t>: Les tests unitaires de chaque fonctionnalité et une couverture du code à 100% sont exigés par l’équipe.</a:t>
            </a:r>
          </a:p>
          <a:p>
            <a:pPr lvl="1"/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b="1" dirty="0"/>
              <a:t>Le </a:t>
            </a:r>
            <a:r>
              <a:rPr lang="fr-FR" b="1" i="1" dirty="0" err="1"/>
              <a:t>refactoring</a:t>
            </a:r>
            <a:r>
              <a:rPr lang="fr-FR" b="1" i="1" dirty="0"/>
              <a:t> </a:t>
            </a:r>
            <a:r>
              <a:rPr lang="fr-FR" b="1" dirty="0"/>
              <a:t>du code </a:t>
            </a:r>
            <a:r>
              <a:rPr lang="fr-FR" dirty="0"/>
              <a:t>: Consiste à modifier le code source de façon à en améliorer la structure, sans que cela modifie son comportement fonctionnel.</a:t>
            </a:r>
            <a:endParaRPr lang="fr-FR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CE96FF-271B-4E6C-A799-F7752E8F8F6E}"/>
              </a:ext>
            </a:extLst>
          </p:cNvPr>
          <p:cNvCxnSpPr>
            <a:cxnSpLocks/>
          </p:cNvCxnSpPr>
          <p:nvPr/>
        </p:nvCxnSpPr>
        <p:spPr>
          <a:xfrm>
            <a:off x="529197" y="1286359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59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6" y="403762"/>
            <a:ext cx="10706099" cy="895650"/>
          </a:xfrm>
        </p:spPr>
        <p:txBody>
          <a:bodyPr/>
          <a:lstStyle/>
          <a:p>
            <a:pPr algn="l"/>
            <a:r>
              <a:rPr lang="fr-FR">
                <a:solidFill>
                  <a:srgbClr val="C00000"/>
                </a:solidFill>
              </a:rPr>
              <a:t>Spécification du projet 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529196" y="1503426"/>
            <a:ext cx="10523815" cy="452152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800100" lvl="1" indent="-342900">
              <a:buAutoNum type="arabicPeriod"/>
            </a:pPr>
            <a:r>
              <a:rPr lang="fr-FR" b="1" dirty="0"/>
              <a:t>Spécification fonctionnelles:</a:t>
            </a:r>
          </a:p>
          <a:p>
            <a:pPr lvl="1"/>
            <a:endParaRPr lang="fr-FR" b="1" dirty="0"/>
          </a:p>
          <a:p>
            <a:r>
              <a:rPr lang="fr-FR" dirty="0"/>
              <a:t>Il s’agit ici des principales fonctionnalités pouvant se décliner ou entraîner des sous</a:t>
            </a:r>
          </a:p>
          <a:p>
            <a:r>
              <a:rPr lang="fr-FR" dirty="0"/>
              <a:t>fonctionnalités :</a:t>
            </a:r>
          </a:p>
          <a:p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L’outil doit pouvoir ressortir en premier lieu à partir d’une configuration à une charge données, l’état des </a:t>
            </a:r>
            <a:r>
              <a:rPr lang="fr-FR" dirty="0" err="1"/>
              <a:t>workers</a:t>
            </a:r>
            <a:r>
              <a:rPr lang="fr-FR" dirty="0"/>
              <a:t> au cours de la simulation ( temps d’attente , temps d’activité ).</a:t>
            </a:r>
          </a:p>
          <a:p>
            <a:pPr lvl="1"/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 L’outil doit pouvoir ressortir les facteurs de qualité relative à une configuration donné avec une charge précise.</a:t>
            </a:r>
          </a:p>
          <a:p>
            <a:pPr lvl="1"/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L’outil doit pouvoir comparé deux configurations différentes relativement à une charge précise.</a:t>
            </a:r>
          </a:p>
          <a:p>
            <a:pPr lvl="1"/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Si les spécifications citées sont tous réalisés, on peut améliorer la solution pour qu’elle puisse proposer des configurations optimales relative à une charge précise.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D70AF5-2531-4233-8299-231FE4049B9B}"/>
              </a:ext>
            </a:extLst>
          </p:cNvPr>
          <p:cNvCxnSpPr>
            <a:cxnSpLocks/>
          </p:cNvCxnSpPr>
          <p:nvPr/>
        </p:nvCxnSpPr>
        <p:spPr>
          <a:xfrm>
            <a:off x="451707" y="1348351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821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196" y="403762"/>
            <a:ext cx="10706099" cy="895650"/>
          </a:xfrm>
        </p:spPr>
        <p:txBody>
          <a:bodyPr/>
          <a:lstStyle/>
          <a:p>
            <a:pPr algn="l"/>
            <a:r>
              <a:rPr lang="fr-FR" dirty="0">
                <a:solidFill>
                  <a:srgbClr val="C00000"/>
                </a:solidFill>
              </a:rPr>
              <a:t>Spécification du projet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451707" y="1503426"/>
            <a:ext cx="10783588" cy="452152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2.  Spécification non fonctionnelles:</a:t>
            </a:r>
          </a:p>
          <a:p>
            <a:pPr marL="914400" lvl="1" indent="-457200">
              <a:buAutoNum type="arabicPeriod" startAt="2"/>
            </a:pPr>
            <a:endParaRPr lang="fr-FR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Performance 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/>
              <a:t>La solution proposée doit être performante, avec un temps d’exécution négligeable devant celui des outils simulés.</a:t>
            </a:r>
          </a:p>
          <a:p>
            <a:endParaRPr lang="fr-FR" dirty="0"/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Evolution &amp; Maintenabilité 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/>
              <a:t>Le projet est un projet de type évolutif, à chaque moment on peut intégrer des nouvelles idées et fonctionnalités, et pour cela il faut éviter le forte couplage entre les différentes composantes de la solution.</a:t>
            </a:r>
            <a:endParaRPr lang="fr-FR" sz="11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/>
              <a:t>La barre des objectives est très haute, il se peut qu’on arrive pas à les réaliser tous, et donc pour cela nous devons assuré l’évolution de la solution soit pour garder la performance ou l’améliorer.</a:t>
            </a:r>
            <a:endParaRPr lang="fr-FR" sz="3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451707" y="1348351"/>
            <a:ext cx="10706098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Merci pour votre attention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098939"/>
      </p:ext>
    </p:extLst>
  </p:cSld>
  <p:clrMapOvr>
    <a:masterClrMapping/>
  </p:clrMapOvr>
</p:sld>
</file>

<file path=ppt/theme/theme1.xml><?xml version="1.0" encoding="utf-8"?>
<a:theme xmlns:a="http://schemas.openxmlformats.org/drawingml/2006/main" name="SG CIB Multi-purpose Template 2011">
  <a:themeElements>
    <a:clrScheme name="SG CIB Theme Colours 2011">
      <a:dk1>
        <a:srgbClr val="000000"/>
      </a:dk1>
      <a:lt1>
        <a:srgbClr val="FFFFFF"/>
      </a:lt1>
      <a:dk2>
        <a:srgbClr val="AA8778"/>
      </a:dk2>
      <a:lt2>
        <a:srgbClr val="E1694B"/>
      </a:lt2>
      <a:accent1>
        <a:srgbClr val="BE574B"/>
      </a:accent1>
      <a:accent2>
        <a:srgbClr val="EF8341"/>
      </a:accent2>
      <a:accent3>
        <a:srgbClr val="EBAF47"/>
      </a:accent3>
      <a:accent4>
        <a:srgbClr val="709127"/>
      </a:accent4>
      <a:accent5>
        <a:srgbClr val="645E99"/>
      </a:accent5>
      <a:accent6>
        <a:srgbClr val="91929C"/>
      </a:accent6>
      <a:hlink>
        <a:srgbClr val="78236E"/>
      </a:hlink>
      <a:folHlink>
        <a:srgbClr val="91929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>
          <a:defRPr sz="1100" dirty="0" err="1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SG CIB Multi-purpose Template 2011</Template>
  <TotalTime>1633</TotalTime>
  <Words>1105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Open Sans Light</vt:lpstr>
      <vt:lpstr>Webdings</vt:lpstr>
      <vt:lpstr>Wingdings</vt:lpstr>
      <vt:lpstr>SG CIB Multi-purpose Template 2011</vt:lpstr>
      <vt:lpstr>Conception et réalisation d’un outil de Simulation de charge</vt:lpstr>
      <vt:lpstr>Plan  de la présentation</vt:lpstr>
      <vt:lpstr>la SG ATS ?</vt:lpstr>
      <vt:lpstr>la SG ATS ?</vt:lpstr>
      <vt:lpstr>la SG ATS ?</vt:lpstr>
      <vt:lpstr>Présentation du projet</vt:lpstr>
      <vt:lpstr>Présentation du projet</vt:lpstr>
      <vt:lpstr>Présentation du projet</vt:lpstr>
      <vt:lpstr>Présentation du projet</vt:lpstr>
      <vt:lpstr>Présentation du projet</vt:lpstr>
      <vt:lpstr>Gestion du projet</vt:lpstr>
      <vt:lpstr>Gestion du projet</vt:lpstr>
      <vt:lpstr>Spécification du projet </vt:lpstr>
      <vt:lpstr>Spécification du projet 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réalisation d’un outil intelligent d’aide à la validation des développements</dc:title>
  <dc:creator>omar zwd</dc:creator>
  <cp:lastModifiedBy>omar zwd</cp:lastModifiedBy>
  <cp:revision>46</cp:revision>
  <dcterms:created xsi:type="dcterms:W3CDTF">2020-03-04T22:42:21Z</dcterms:created>
  <dcterms:modified xsi:type="dcterms:W3CDTF">2020-03-07T12:32:41Z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aa69c8-0478-4e13-9e4c-38511e3b6774_Enabled">
    <vt:lpwstr>True</vt:lpwstr>
  </property>
  <property fmtid="{D5CDD505-2E9C-101B-9397-08002B2CF9AE}" pid="3" name="MSIP_Label_1aaa69c8-0478-4e13-9e4c-38511e3b6774_SiteId">
    <vt:lpwstr>c9a7d621-4bc4-4407-b730-f428e656aa9e</vt:lpwstr>
  </property>
  <property fmtid="{D5CDD505-2E9C-101B-9397-08002B2CF9AE}" pid="4" name="MSIP_Label_1aaa69c8-0478-4e13-9e4c-38511e3b6774_Owner">
    <vt:lpwstr>omar.zouaid@sgcib.com</vt:lpwstr>
  </property>
  <property fmtid="{D5CDD505-2E9C-101B-9397-08002B2CF9AE}" pid="5" name="MSIP_Label_1aaa69c8-0478-4e13-9e4c-38511e3b6774_SetDate">
    <vt:lpwstr>2020-03-05T15:30:16.9565067Z</vt:lpwstr>
  </property>
  <property fmtid="{D5CDD505-2E9C-101B-9397-08002B2CF9AE}" pid="6" name="MSIP_Label_1aaa69c8-0478-4e13-9e4c-38511e3b6774_Name">
    <vt:lpwstr>C0 - Public</vt:lpwstr>
  </property>
  <property fmtid="{D5CDD505-2E9C-101B-9397-08002B2CF9AE}" pid="7" name="MSIP_Label_1aaa69c8-0478-4e13-9e4c-38511e3b6774_Application">
    <vt:lpwstr>Microsoft Azure Information Protection</vt:lpwstr>
  </property>
  <property fmtid="{D5CDD505-2E9C-101B-9397-08002B2CF9AE}" pid="8" name="MSIP_Label_1aaa69c8-0478-4e13-9e4c-38511e3b6774_ActionId">
    <vt:lpwstr>941a2c68-0ece-4a5e-807b-2651b27a79ff</vt:lpwstr>
  </property>
  <property fmtid="{D5CDD505-2E9C-101B-9397-08002B2CF9AE}" pid="9" name="MSIP_Label_1aaa69c8-0478-4e13-9e4c-38511e3b6774_Extended_MSFT_Method">
    <vt:lpwstr>Manual</vt:lpwstr>
  </property>
  <property fmtid="{D5CDD505-2E9C-101B-9397-08002B2CF9AE}" pid="10" name="Sensitivity">
    <vt:lpwstr>C0 - Public</vt:lpwstr>
  </property>
</Properties>
</file>