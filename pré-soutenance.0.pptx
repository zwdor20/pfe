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</p:sldMasterIdLst>
  <p:notesMasterIdLst>
    <p:notesMasterId r:id="rId45"/>
  </p:notesMasterIdLst>
  <p:sldIdLst>
    <p:sldId id="294" r:id="rId2"/>
    <p:sldId id="329" r:id="rId3"/>
    <p:sldId id="708" r:id="rId4"/>
    <p:sldId id="296" r:id="rId5"/>
    <p:sldId id="308" r:id="rId6"/>
    <p:sldId id="299" r:id="rId7"/>
    <p:sldId id="711" r:id="rId8"/>
    <p:sldId id="735" r:id="rId9"/>
    <p:sldId id="313" r:id="rId10"/>
    <p:sldId id="712" r:id="rId11"/>
    <p:sldId id="709" r:id="rId12"/>
    <p:sldId id="319" r:id="rId13"/>
    <p:sldId id="321" r:id="rId14"/>
    <p:sldId id="713" r:id="rId15"/>
    <p:sldId id="715" r:id="rId16"/>
    <p:sldId id="714" r:id="rId17"/>
    <p:sldId id="710" r:id="rId18"/>
    <p:sldId id="300" r:id="rId19"/>
    <p:sldId id="314" r:id="rId20"/>
    <p:sldId id="718" r:id="rId21"/>
    <p:sldId id="301" r:id="rId22"/>
    <p:sldId id="736" r:id="rId23"/>
    <p:sldId id="719" r:id="rId24"/>
    <p:sldId id="721" r:id="rId25"/>
    <p:sldId id="732" r:id="rId26"/>
    <p:sldId id="307" r:id="rId27"/>
    <p:sldId id="331" r:id="rId28"/>
    <p:sldId id="733" r:id="rId29"/>
    <p:sldId id="722" r:id="rId30"/>
    <p:sldId id="729" r:id="rId31"/>
    <p:sldId id="728" r:id="rId32"/>
    <p:sldId id="327" r:id="rId33"/>
    <p:sldId id="724" r:id="rId34"/>
    <p:sldId id="725" r:id="rId35"/>
    <p:sldId id="726" r:id="rId36"/>
    <p:sldId id="739" r:id="rId37"/>
    <p:sldId id="734" r:id="rId38"/>
    <p:sldId id="730" r:id="rId39"/>
    <p:sldId id="740" r:id="rId40"/>
    <p:sldId id="742" r:id="rId41"/>
    <p:sldId id="741" r:id="rId42"/>
    <p:sldId id="738" r:id="rId43"/>
    <p:sldId id="309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mar zwd" initials="oz" lastIdx="1" clrIdx="0">
    <p:extLst>
      <p:ext uri="{19B8F6BF-5375-455C-9EA6-DF929625EA0E}">
        <p15:presenceInfo xmlns:p15="http://schemas.microsoft.com/office/powerpoint/2012/main" userId="6ff0acc71168d0e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A1F4"/>
    <a:srgbClr val="B8D5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99" autoAdjust="0"/>
    <p:restoredTop sz="70789" autoAdjust="0"/>
  </p:normalViewPr>
  <p:slideViewPr>
    <p:cSldViewPr snapToGrid="0">
      <p:cViewPr varScale="1">
        <p:scale>
          <a:sx n="65" d="100"/>
          <a:sy n="65" d="100"/>
        </p:scale>
        <p:origin x="127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0B152C-C8FD-42D7-9917-C2C4E977E611}" type="datetimeFigureOut">
              <a:rPr lang="fr-FR" smtClean="0"/>
              <a:t>28/05/2020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6B0659-C84A-4C94-9A37-1BE51DD4DB6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9773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Aujourdh’ui</a:t>
            </a:r>
            <a:r>
              <a:rPr lang="fr-FR" dirty="0"/>
              <a:t> je vais vous présenter mon projet de fin d’</a:t>
            </a:r>
            <a:r>
              <a:rPr lang="fr-FR" dirty="0" err="1"/>
              <a:t>etude</a:t>
            </a:r>
            <a:r>
              <a:rPr lang="fr-FR" dirty="0"/>
              <a:t> intitulé conception …. </a:t>
            </a:r>
            <a:r>
              <a:rPr lang="fr-FR" dirty="0" err="1"/>
              <a:t>Realisé</a:t>
            </a:r>
            <a:r>
              <a:rPr lang="fr-FR" dirty="0"/>
              <a:t> par moi </a:t>
            </a:r>
            <a:r>
              <a:rPr lang="fr-FR" dirty="0" err="1"/>
              <a:t>meeme</a:t>
            </a:r>
            <a:r>
              <a:rPr lang="fr-FR" dirty="0"/>
              <a:t> et encadré par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773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Pour se faire je suivrai le plan suivant 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1180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-SG ATS est une filiale du groupe Société Générale qui a démarré ses activités en début 2014, basée à Casablanca.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-Elle regroupe des services liés aux activités de marché de la banque de financement et d’investissements (SG CIB), spécialisés en Recherche et Développement et en Ingénierie Financière.</a:t>
            </a:r>
            <a:endParaRPr lang="fr-FR" sz="1800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1536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Les équipes R&amp;D de la Société Générale sont constituées de Cinq branches principales peuvent être distinguées. Une branche constituée de trois équipes R&amp;D :</a:t>
            </a:r>
          </a:p>
          <a:p>
            <a:endParaRPr lang="fr-FR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dirty="0"/>
              <a:t>QUANT : a pour mission de développer les librairies mathématiques de calcul des prix.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dirty="0"/>
              <a:t>QARM : équipe en charge de tests et de validation des produits développés par les autres </a:t>
            </a:r>
            <a:r>
              <a:rPr lang="fr-FR" i="1" dirty="0"/>
              <a:t>entités.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dirty="0"/>
              <a:t>SET : équipe en charge de la création d’outils de trading et de la mise en œuvre des librairies dans un contexte industriel.</a:t>
            </a:r>
            <a:endParaRPr lang="fr-FR" b="1" dirty="0"/>
          </a:p>
          <a:p>
            <a:endParaRPr lang="fr-FR" dirty="0"/>
          </a:p>
          <a:p>
            <a:r>
              <a:rPr lang="fr-FR" dirty="0"/>
              <a:t>		</a:t>
            </a:r>
            <a:r>
              <a:rPr lang="fr-FR" dirty="0" err="1"/>
              <a:t>Rdws</a:t>
            </a:r>
            <a:r>
              <a:rPr lang="fr-FR" dirty="0"/>
              <a:t> : développent de </a:t>
            </a:r>
            <a:r>
              <a:rPr lang="fr-FR" dirty="0" err="1"/>
              <a:t>microservices</a:t>
            </a:r>
            <a:r>
              <a:rPr lang="fr-FR" dirty="0"/>
              <a:t> </a:t>
            </a:r>
            <a:r>
              <a:rPr lang="fr-FR" dirty="0" err="1"/>
              <a:t>deoplayable</a:t>
            </a:r>
            <a:r>
              <a:rPr lang="fr-FR" dirty="0"/>
              <a:t> sur le cloud</a:t>
            </a:r>
          </a:p>
          <a:p>
            <a:r>
              <a:rPr lang="fr-FR" dirty="0"/>
              <a:t>		</a:t>
            </a:r>
            <a:r>
              <a:rPr lang="fr-FR" dirty="0" err="1"/>
              <a:t>CloudOPS</a:t>
            </a:r>
            <a:r>
              <a:rPr lang="fr-FR" dirty="0"/>
              <a:t>  : tout ce qui est déploiement de service</a:t>
            </a:r>
          </a:p>
          <a:p>
            <a:r>
              <a:rPr lang="fr-FR" dirty="0"/>
              <a:t>		UX : user expérience</a:t>
            </a:r>
          </a:p>
          <a:p>
            <a:r>
              <a:rPr lang="fr-FR" dirty="0"/>
              <a:t>		Infra : tout ce qui est infrastructure</a:t>
            </a:r>
          </a:p>
          <a:p>
            <a:r>
              <a:rPr lang="fr-FR" dirty="0"/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75762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Infrastructure as a Service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 un modèle d’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utlisation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cloud permet aux entreprises de gérer son infra d’une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facon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direct. Donc la IaaS vous délivre les machines et si nous qui gère la virtualisation, les serveurs, le stockage et les réseaux.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fr-F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Paas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Les entreprises ne se concentrent ici que sur le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develpppent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 applications. Les données, le temps d’exécution, les middlewares et les systèmes d’exploitation sont ici gérés par le fournisseur Cloud. If faut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montionner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Paas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abstraction de IaaS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dirty="0"/>
              <a:t>Saas :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permet à l’entreprise de profiter d’un logiciel via Cloud plutôt que d’avoir à l’installer sur ses propres serveurs ou ordinateurs, comme ça l’entreprise paye ce qu’elle consomme en terme des heures d’utilisations d’un produit.</a:t>
            </a:r>
            <a:endParaRPr lang="fr-FR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90540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Tx/>
              <a:buChar char="-"/>
            </a:pPr>
            <a:r>
              <a:rPr lang="fr-FR" sz="1200" cap="none" dirty="0">
                <a:latin typeface="CIDFont+F3"/>
              </a:rPr>
              <a:t>Passant maintenant à l’</a:t>
            </a:r>
            <a:r>
              <a:rPr lang="fr-FR" sz="1200" cap="none" dirty="0" err="1">
                <a:latin typeface="CIDFont+F3"/>
              </a:rPr>
              <a:t>architectre</a:t>
            </a:r>
            <a:r>
              <a:rPr lang="fr-FR" sz="1200" cap="none" dirty="0">
                <a:latin typeface="CIDFont+F3"/>
              </a:rPr>
              <a:t> de </a:t>
            </a:r>
            <a:r>
              <a:rPr lang="fr-FR" sz="1200" cap="none" dirty="0" err="1">
                <a:latin typeface="CIDFont+F3"/>
              </a:rPr>
              <a:t>deolpiment</a:t>
            </a:r>
            <a:r>
              <a:rPr lang="fr-FR" sz="1200" cap="none" dirty="0">
                <a:latin typeface="CIDFont+F3"/>
              </a:rPr>
              <a:t> de </a:t>
            </a:r>
            <a:r>
              <a:rPr lang="fr-FR" sz="1200" cap="none" dirty="0" err="1">
                <a:latin typeface="CIDFont+F3"/>
              </a:rPr>
              <a:t>srvice</a:t>
            </a:r>
            <a:r>
              <a:rPr lang="fr-FR" sz="1200" cap="none" dirty="0">
                <a:latin typeface="CIDFont+F3"/>
              </a:rPr>
              <a:t> cloud de SG ATS</a:t>
            </a:r>
          </a:p>
          <a:p>
            <a:pPr marL="628650" lvl="1" indent="-171450">
              <a:buFontTx/>
              <a:buChar char="-"/>
            </a:pPr>
            <a:r>
              <a:rPr lang="fr-FR" sz="1200" cap="none" dirty="0">
                <a:latin typeface="CIDFont+F3"/>
              </a:rPr>
              <a:t>La SG ATS utilise le mode d’exploitation PaaS pour le déploiement de ses services </a:t>
            </a:r>
          </a:p>
          <a:p>
            <a:pPr marL="628650" lvl="1" indent="-171450">
              <a:buFontTx/>
              <a:buChar char="-"/>
            </a:pPr>
            <a:endParaRPr lang="fr-FR" sz="1200" cap="none" dirty="0">
              <a:latin typeface="CIDFont+F3"/>
            </a:endParaRPr>
          </a:p>
          <a:p>
            <a:pPr marL="628650" lvl="1" indent="-171450">
              <a:buFontTx/>
              <a:buChar char="-"/>
            </a:pPr>
            <a:r>
              <a:rPr lang="fr-FR" dirty="0"/>
              <a:t>Ces services sont regroupés est déployé dans le cloud Microsoft Azure, sous forme de service </a:t>
            </a:r>
            <a:r>
              <a:rPr lang="fr-FR" dirty="0" err="1"/>
              <a:t>deployement</a:t>
            </a:r>
            <a:r>
              <a:rPr lang="fr-FR" dirty="0"/>
              <a:t> package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  	-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C’est un Cloud Service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configuré et personnalisé pour exécuter une application web.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worker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font des taches en background, par exemple la compression d’une image télécharger par un web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pour minimiser sa taille lors de stockage.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- maintenant on voit comment les cloud dépliement package sont intégré dans l’architecture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azuer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0828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- On définit un min d’instance et un max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2430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2036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800" dirty="0">
                <a:solidFill>
                  <a:srgbClr val="202122"/>
                </a:solidFill>
                <a:latin typeface="Arial" panose="020B0604020202020204" pitchFamily="34" charset="0"/>
              </a:rPr>
              <a:t>L'</a:t>
            </a:r>
            <a:r>
              <a:rPr lang="fr-FR" sz="800" dirty="0" err="1">
                <a:solidFill>
                  <a:srgbClr val="202122"/>
                </a:solidFill>
                <a:latin typeface="Arial" panose="020B0604020202020204" pitchFamily="34" charset="0"/>
              </a:rPr>
              <a:t>extreme</a:t>
            </a:r>
            <a:r>
              <a:rPr lang="fr-FR" sz="800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fr-FR" sz="800" dirty="0" err="1">
                <a:solidFill>
                  <a:srgbClr val="202122"/>
                </a:solidFill>
                <a:latin typeface="Arial" panose="020B0604020202020204" pitchFamily="34" charset="0"/>
              </a:rPr>
              <a:t>programming</a:t>
            </a:r>
            <a:r>
              <a:rPr lang="fr-FR" sz="800" dirty="0">
                <a:solidFill>
                  <a:srgbClr val="202122"/>
                </a:solidFill>
                <a:latin typeface="Arial" panose="020B0604020202020204" pitchFamily="34" charset="0"/>
              </a:rPr>
              <a:t> repose sur des cycles rapides de développement dont les étapes sont les suivantes 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rgbClr val="202122"/>
                </a:solidFill>
                <a:latin typeface="Arial" panose="020B0604020202020204" pitchFamily="34" charset="0"/>
              </a:rPr>
              <a:t>une phase d'exploration détermine les scénarios;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800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rgbClr val="202122"/>
                </a:solidFill>
                <a:latin typeface="Arial" panose="020B0604020202020204" pitchFamily="34" charset="0"/>
              </a:rPr>
              <a:t>l'équipe transforme les scénarios en tâches à réaliser et en tests fonctionnels ;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800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rgbClr val="202122"/>
                </a:solidFill>
                <a:latin typeface="Arial" panose="020B0604020202020204" pitchFamily="34" charset="0"/>
              </a:rPr>
              <a:t>chaque développeur s'attribue des tâches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800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800" dirty="0">
                <a:solidFill>
                  <a:srgbClr val="202122"/>
                </a:solidFill>
                <a:latin typeface="Arial" panose="020B0604020202020204" pitchFamily="34" charset="0"/>
              </a:rPr>
              <a:t>et lorsque le produit satisfait les tests fonctionnels, il est livré.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800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lvl="1"/>
            <a:r>
              <a:rPr lang="fr-FR" sz="800" dirty="0">
                <a:solidFill>
                  <a:srgbClr val="202122"/>
                </a:solidFill>
                <a:latin typeface="Arial" panose="020B0604020202020204" pitchFamily="34" charset="0"/>
              </a:rPr>
              <a:t>Le cycle se répète tant que le client peut fournir des scénarios à livrer. 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13965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 - mon diagramme de gant et composé de deux partie pré et post suspension durant mois avril</a:t>
            </a:r>
          </a:p>
          <a:p>
            <a:endParaRPr lang="fr-FR" dirty="0"/>
          </a:p>
          <a:p>
            <a:r>
              <a:rPr lang="fr-FR" dirty="0"/>
              <a:t>- Sinon pour la division la logique du projet on parle d 4 </a:t>
            </a:r>
            <a:r>
              <a:rPr lang="fr-FR" dirty="0" err="1"/>
              <a:t>etape</a:t>
            </a:r>
            <a:r>
              <a:rPr lang="fr-FR" dirty="0"/>
              <a:t> : 1 er démarrage de projet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69102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- Partie construction du projet qui contient : l’identification des besoins et les spécifications fonctionnels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85788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dirty="0"/>
              <a:t>Partie développement réparti sur 7 itération trois itération avant la suspension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et 4 itération après la suspension détaillerai  pas le contenu des itérations parce que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fr-FR" dirty="0"/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Y’a pas assez de temps pour le faire sinon dans la conclusion je parlerai de l’état d’avancement</a:t>
            </a:r>
          </a:p>
          <a:p>
            <a:pPr lvl="1"/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46088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	-  Partie développement réparti sur 7 itération trois itération avant la suspension 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92026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fr-FR" dirty="0"/>
              <a:t>l’</a:t>
            </a:r>
            <a:r>
              <a:rPr lang="fr-FR" dirty="0" err="1"/>
              <a:t>equipe</a:t>
            </a:r>
            <a:r>
              <a:rPr lang="fr-FR" dirty="0"/>
              <a:t> RDWS a développé un service de </a:t>
            </a:r>
            <a:r>
              <a:rPr lang="fr-FR" dirty="0" err="1"/>
              <a:t>scaling</a:t>
            </a:r>
            <a:r>
              <a:rPr lang="fr-FR" dirty="0"/>
              <a:t> qui permet de la gestion des services </a:t>
            </a:r>
            <a:r>
              <a:rPr lang="fr-FR" dirty="0" err="1"/>
              <a:t>deployé</a:t>
            </a:r>
            <a:r>
              <a:rPr lang="fr-FR" dirty="0"/>
              <a:t> sur le cloud, ca vaut dire la mise à l’</a:t>
            </a:r>
            <a:r>
              <a:rPr lang="fr-FR" dirty="0" err="1"/>
              <a:t>echelle</a:t>
            </a:r>
            <a:r>
              <a:rPr lang="fr-FR" dirty="0"/>
              <a:t> de nombre de </a:t>
            </a:r>
            <a:r>
              <a:rPr lang="fr-FR" dirty="0" err="1"/>
              <a:t>worker</a:t>
            </a:r>
            <a:r>
              <a:rPr lang="fr-FR" dirty="0"/>
              <a:t> alloué selon la charge </a:t>
            </a:r>
          </a:p>
          <a:p>
            <a:pPr marL="0" indent="0">
              <a:buFontTx/>
              <a:buNone/>
            </a:pPr>
            <a:r>
              <a:rPr lang="fr-FR" dirty="0"/>
              <a:t>      En temps réel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28261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Mise en </a:t>
            </a:r>
            <a:r>
              <a:rPr lang="fr-FR" dirty="0" err="1"/>
              <a:t>quistion</a:t>
            </a:r>
            <a:r>
              <a:rPr lang="fr-FR" dirty="0"/>
              <a:t> de l’optimalité des configurations utilisé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49637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fr-FR" sz="1100" b="1" dirty="0"/>
          </a:p>
          <a:p>
            <a:r>
              <a:rPr lang="fr-FR" dirty="0"/>
              <a:t>Il y’a deux  enjeux importante qu’il faut prendre en considération : </a:t>
            </a:r>
          </a:p>
          <a:p>
            <a:r>
              <a:rPr lang="fr-FR" dirty="0"/>
              <a:t>	- premier ca concerne le client</a:t>
            </a:r>
          </a:p>
          <a:p>
            <a:r>
              <a:rPr lang="fr-FR" dirty="0"/>
              <a:t>	- </a:t>
            </a:r>
            <a:r>
              <a:rPr lang="fr-FR" dirty="0" err="1"/>
              <a:t>deuxieme</a:t>
            </a:r>
            <a:r>
              <a:rPr lang="fr-FR" dirty="0"/>
              <a:t> concerne le cout </a:t>
            </a:r>
            <a:r>
              <a:rPr lang="fr-FR" dirty="0" err="1"/>
              <a:t>deploiment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49404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fr-FR" sz="1100" b="1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20793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fr-FR" sz="1100" b="1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30140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Notre </a:t>
            </a:r>
            <a:r>
              <a:rPr lang="fr-FR" dirty="0" err="1"/>
              <a:t>diagrame</a:t>
            </a:r>
            <a:r>
              <a:rPr lang="fr-FR" dirty="0"/>
              <a:t> de classes métier est Composé de 11 classe je commencerai par Simulation date time : </a:t>
            </a:r>
          </a:p>
          <a:p>
            <a:r>
              <a:rPr lang="fr-FR" dirty="0"/>
              <a:t>	-Simulation date Time : cet objet permet de </a:t>
            </a:r>
            <a:r>
              <a:rPr lang="fr-FR" dirty="0" err="1"/>
              <a:t>centralizé</a:t>
            </a:r>
            <a:r>
              <a:rPr lang="fr-FR" dirty="0"/>
              <a:t> la notion du temps entre les objet de la simulation </a:t>
            </a:r>
          </a:p>
          <a:p>
            <a:endParaRPr lang="fr-FR" dirty="0"/>
          </a:p>
          <a:p>
            <a:r>
              <a:rPr lang="fr-FR" dirty="0"/>
              <a:t>	- une instance qui sera crée créé injecter en </a:t>
            </a:r>
            <a:r>
              <a:rPr lang="fr-FR" dirty="0" err="1"/>
              <a:t>depandance</a:t>
            </a:r>
            <a:r>
              <a:rPr lang="fr-FR" dirty="0"/>
              <a:t> pour toute les classes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59961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 - Langage d </a:t>
            </a:r>
            <a:r>
              <a:rPr lang="fr-FR" dirty="0" err="1"/>
              <a:t>eprogramation</a:t>
            </a:r>
            <a:r>
              <a:rPr lang="fr-FR" dirty="0"/>
              <a:t> </a:t>
            </a:r>
            <a:r>
              <a:rPr lang="fr-FR" dirty="0" err="1"/>
              <a:t>c#</a:t>
            </a:r>
            <a:r>
              <a:rPr lang="fr-FR" dirty="0"/>
              <a:t> .net </a:t>
            </a:r>
            <a:r>
              <a:rPr lang="fr-FR" dirty="0" err="1"/>
              <a:t>framwork</a:t>
            </a:r>
            <a:endParaRPr lang="fr-FR" dirty="0"/>
          </a:p>
          <a:p>
            <a:pPr marL="171450" indent="-171450">
              <a:buFontTx/>
              <a:buChar char="-"/>
            </a:pPr>
            <a:r>
              <a:rPr lang="fr-FR" dirty="0"/>
              <a:t>Ide </a:t>
            </a:r>
            <a:r>
              <a:rPr lang="fr-FR" dirty="0" err="1"/>
              <a:t>visual</a:t>
            </a:r>
            <a:r>
              <a:rPr lang="fr-FR" dirty="0"/>
              <a:t> studio</a:t>
            </a:r>
          </a:p>
          <a:p>
            <a:pPr marL="171450" indent="-171450">
              <a:buFontTx/>
              <a:buChar char="-"/>
            </a:pPr>
            <a:r>
              <a:rPr lang="fr-FR" dirty="0"/>
              <a:t>Edition de </a:t>
            </a:r>
            <a:r>
              <a:rPr lang="fr-FR" dirty="0" err="1"/>
              <a:t>text</a:t>
            </a:r>
            <a:r>
              <a:rPr lang="fr-FR" dirty="0"/>
              <a:t> </a:t>
            </a:r>
            <a:r>
              <a:rPr lang="fr-FR" dirty="0" err="1"/>
              <a:t>visual</a:t>
            </a:r>
            <a:r>
              <a:rPr lang="fr-FR" dirty="0"/>
              <a:t> code</a:t>
            </a:r>
          </a:p>
          <a:p>
            <a:pPr marL="171450" indent="-171450">
              <a:buFontTx/>
              <a:buChar char="-"/>
            </a:pPr>
            <a:r>
              <a:rPr lang="fr-FR" dirty="0" err="1"/>
              <a:t>Versionning</a:t>
            </a:r>
            <a:r>
              <a:rPr lang="fr-FR" dirty="0"/>
              <a:t> du code </a:t>
            </a:r>
            <a:r>
              <a:rPr lang="fr-FR" dirty="0" err="1"/>
              <a:t>vaec</a:t>
            </a:r>
            <a:r>
              <a:rPr lang="fr-FR" dirty="0"/>
              <a:t> git</a:t>
            </a:r>
          </a:p>
          <a:p>
            <a:pPr marL="171450" indent="-171450">
              <a:buFontTx/>
              <a:buChar char="-"/>
            </a:pPr>
            <a:r>
              <a:rPr lang="fr-FR" dirty="0"/>
              <a:t>Team city comme étant un server pour </a:t>
            </a:r>
            <a:r>
              <a:rPr lang="fr-FR" dirty="0" err="1"/>
              <a:t>Build</a:t>
            </a:r>
            <a:r>
              <a:rPr lang="fr-FR" dirty="0"/>
              <a:t> management et l’intégration continue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02868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 - pour des raisons de </a:t>
            </a:r>
            <a:r>
              <a:rPr lang="fr-FR" dirty="0" err="1"/>
              <a:t>securité</a:t>
            </a:r>
            <a:r>
              <a:rPr lang="fr-FR" dirty="0"/>
              <a:t> j’ai pas pu faire des </a:t>
            </a:r>
            <a:r>
              <a:rPr lang="fr-FR" dirty="0" err="1"/>
              <a:t>screnShots</a:t>
            </a:r>
            <a:r>
              <a:rPr lang="fr-FR" dirty="0"/>
              <a:t> réel il </a:t>
            </a:r>
            <a:r>
              <a:rPr lang="fr-FR" dirty="0" err="1"/>
              <a:t>ya</a:t>
            </a:r>
            <a:r>
              <a:rPr lang="fr-FR" dirty="0"/>
              <a:t> une </a:t>
            </a:r>
            <a:r>
              <a:rPr lang="fr-FR" dirty="0" err="1"/>
              <a:t>procedure</a:t>
            </a:r>
            <a:r>
              <a:rPr lang="fr-FR" dirty="0"/>
              <a:t> stricte à suivre , sinon les images que je </a:t>
            </a:r>
            <a:r>
              <a:rPr lang="fr-FR" dirty="0" err="1"/>
              <a:t>présentrai</a:t>
            </a:r>
            <a:r>
              <a:rPr lang="fr-FR" dirty="0"/>
              <a:t> sont prises par un téléphone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8922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fr-FR" dirty="0"/>
              <a:t>Fichier de configuration</a:t>
            </a:r>
          </a:p>
          <a:p>
            <a:pPr marL="171450" indent="-171450">
              <a:buFontTx/>
              <a:buChar char="-"/>
            </a:pPr>
            <a:r>
              <a:rPr lang="fr-FR" dirty="0"/>
              <a:t>Fichier de </a:t>
            </a:r>
            <a:r>
              <a:rPr lang="fr-FR" dirty="0" err="1"/>
              <a:t>requetes</a:t>
            </a:r>
            <a:r>
              <a:rPr lang="fr-FR" dirty="0"/>
              <a:t> extrait à partir de l’historique de service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23253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92515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fr-FR" dirty="0"/>
              <a:t>Actuellement je suis entrain de travailler sur la 7éme itération on est un peu en avance par rapport à la au </a:t>
            </a:r>
            <a:r>
              <a:rPr lang="fr-FR" dirty="0" err="1"/>
              <a:t>planing</a:t>
            </a:r>
            <a:r>
              <a:rPr lang="fr-FR" dirty="0"/>
              <a:t> prévisionnel, déjà l’</a:t>
            </a:r>
            <a:r>
              <a:rPr lang="fr-FR" dirty="0" err="1"/>
              <a:t>implémenation</a:t>
            </a:r>
            <a:r>
              <a:rPr lang="fr-FR" dirty="0"/>
              <a:t> est faite </a:t>
            </a:r>
          </a:p>
          <a:p>
            <a:pPr marL="171450" indent="-171450">
              <a:buFontTx/>
              <a:buChar char="-"/>
            </a:pPr>
            <a:r>
              <a:rPr lang="fr-FR" dirty="0"/>
              <a:t>Il reste les tests unitaires pour </a:t>
            </a:r>
            <a:r>
              <a:rPr lang="fr-FR" dirty="0" err="1"/>
              <a:t>metrics</a:t>
            </a:r>
            <a:r>
              <a:rPr lang="fr-FR" dirty="0"/>
              <a:t> et les test d’</a:t>
            </a:r>
            <a:r>
              <a:rPr lang="fr-FR" dirty="0" err="1"/>
              <a:t>integration</a:t>
            </a:r>
            <a:r>
              <a:rPr lang="fr-FR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B0659-C84A-4C94-9A37-1BE51DD4DB67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9480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.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G:\_DTP Bureau\LIVE JOBS\DTP56000 - 56999\DTP56185 - SG CIB PPT Template 2011\graphics\SG CIB Building Logo.e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517" y="6076251"/>
            <a:ext cx="3840000" cy="573076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2951" y="2215007"/>
            <a:ext cx="10706099" cy="1249200"/>
          </a:xfrm>
        </p:spPr>
        <p:txBody>
          <a:bodyPr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400" b="0" kern="1200" cap="all" baseline="0" noProof="0" dirty="0" smtClean="0">
                <a:solidFill>
                  <a:srgbClr val="E60028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2951" y="3592449"/>
            <a:ext cx="10706099" cy="324000"/>
          </a:xfrm>
        </p:spPr>
        <p:txBody>
          <a:bodyPr>
            <a:noAutofit/>
          </a:bodyPr>
          <a:lstStyle>
            <a:lvl1pPr marL="0" indent="0" algn="ctr" defTabSz="914400" rtl="0" eaLnBrk="1" latinLnBrk="0" hangingPunct="1">
              <a:spcBef>
                <a:spcPts val="900"/>
              </a:spcBef>
              <a:buClr>
                <a:schemeClr val="tx2"/>
              </a:buClr>
              <a:buSzPct val="90000"/>
              <a:buFont typeface="Wingdings" pitchFamily="2" charset="2"/>
              <a:buNone/>
              <a:defRPr lang="en-GB" sz="2000" b="0" kern="1200" cap="none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193366" y="258432"/>
            <a:ext cx="3934885" cy="144000"/>
          </a:xfrm>
          <a:prstGeom prst="rect">
            <a:avLst/>
          </a:prstGeom>
        </p:spPr>
        <p:txBody>
          <a:bodyPr anchor="ctr"/>
          <a:lstStyle>
            <a:lvl1pPr algn="l">
              <a:defRPr sz="1100"/>
            </a:lvl1pPr>
          </a:lstStyle>
          <a:p>
            <a:endParaRPr lang="fr-FR"/>
          </a:p>
        </p:txBody>
      </p:sp>
      <p:sp>
        <p:nvSpPr>
          <p:cNvPr id="8" name="Line 12"/>
          <p:cNvSpPr>
            <a:spLocks noChangeShapeType="1"/>
          </p:cNvSpPr>
          <p:nvPr/>
        </p:nvSpPr>
        <p:spPr bwMode="gray">
          <a:xfrm flipV="1">
            <a:off x="6096000" y="209550"/>
            <a:ext cx="0" cy="266700"/>
          </a:xfrm>
          <a:prstGeom prst="line">
            <a:avLst/>
          </a:prstGeom>
          <a:noFill/>
          <a:ln w="12700">
            <a:solidFill>
              <a:srgbClr val="E60028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sz="1800" noProof="0"/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749301" y="476672"/>
            <a:ext cx="5250689" cy="432048"/>
          </a:xfrm>
          <a:ln>
            <a:noFill/>
            <a:prstDash val="dash"/>
          </a:ln>
        </p:spPr>
        <p:txBody>
          <a:bodyPr anchor="ctr">
            <a:noAutofit/>
          </a:bodyPr>
          <a:lstStyle>
            <a:lvl1pPr marL="0" indent="0" algn="r">
              <a:buNone/>
              <a:defRPr sz="900" b="0" i="0" baseline="0">
                <a:latin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OPTIONAL: USE C1-C2-C3 for internal use and Confidential otherwise – Please delete box once decided</a:t>
            </a:r>
            <a:endParaRPr lang="en-GB" dirty="0"/>
          </a:p>
        </p:txBody>
      </p:sp>
      <p:sp>
        <p:nvSpPr>
          <p:cNvPr id="13" name="Text Placehold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4703846" y="4408320"/>
            <a:ext cx="2784309" cy="1252928"/>
          </a:xfrm>
          <a:prstGeom prst="rect">
            <a:avLst/>
          </a:prstGeom>
          <a:ln>
            <a:noFill/>
            <a:prstDash val="dash"/>
          </a:ln>
        </p:spPr>
        <p:txBody>
          <a:bodyPr anchor="ctr">
            <a:noAutofit/>
          </a:bodyPr>
          <a:lstStyle>
            <a:lvl1pPr marL="0" indent="0" algn="ctr">
              <a:buNone/>
              <a:defRPr sz="900" b="0" i="0" baseline="0">
                <a:latin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</a:rPr>
              <a:t>OPTIONAL : Client Logo Area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</a:rPr>
              <a:t>Please resize the logo to fit this area. </a:t>
            </a:r>
            <a:b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</a:rPr>
            </a:b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</a:rPr>
              <a:t>This box must be deleted once the presentation is complete.</a:t>
            </a:r>
            <a:endParaRPr kumimoji="0" lang="en-GB" sz="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</a:endParaRPr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743712" y="1293709"/>
            <a:ext cx="10704576" cy="190800"/>
          </a:xfrm>
          <a:prstGeom prst="rect">
            <a:avLst/>
          </a:prstGeom>
          <a:ln>
            <a:noFill/>
            <a:prstDash val="dash"/>
          </a:ln>
        </p:spPr>
        <p:txBody>
          <a:bodyPr anchor="t">
            <a:noAutofit/>
          </a:bodyPr>
          <a:lstStyle>
            <a:lvl1pPr marL="0" indent="0" algn="ctr">
              <a:buNone/>
              <a:defRPr sz="1200" b="1" i="0" cap="all" baseline="0">
                <a:latin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OPTIONAL: SERVICE/ID</a:t>
            </a:r>
          </a:p>
        </p:txBody>
      </p:sp>
    </p:spTree>
    <p:extLst>
      <p:ext uri="{BB962C8B-B14F-4D97-AF65-F5344CB8AC3E}">
        <p14:creationId xmlns:p14="http://schemas.microsoft.com/office/powerpoint/2010/main" val="1774939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. 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DISCLAIMER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10704000" cy="4896000"/>
          </a:xfrm>
        </p:spPr>
        <p:txBody>
          <a:bodyPr>
            <a:noAutofit/>
          </a:bodyPr>
          <a:lstStyle>
            <a:lvl1pPr marL="0" indent="0">
              <a:buNone/>
              <a:defRPr sz="1100" b="0" baseline="0"/>
            </a:lvl1pPr>
            <a:lvl2pPr>
              <a:buNone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602925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. 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2951" y="1129029"/>
            <a:ext cx="10704000" cy="576000"/>
          </a:xfrm>
        </p:spPr>
        <p:txBody>
          <a:bodyPr anchor="ctr">
            <a:noAutofit/>
          </a:bodyPr>
          <a:lstStyle>
            <a:lvl1pPr algn="ctr">
              <a:defRPr sz="2100" b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911096"/>
            <a:ext cx="10704000" cy="4035600"/>
          </a:xfrm>
        </p:spPr>
        <p:txBody>
          <a:bodyPr rIns="0"/>
          <a:lstStyle>
            <a:lvl1pPr marL="0" indent="0">
              <a:buNone/>
              <a:tabLst>
                <a:tab pos="7988300" algn="r"/>
              </a:tabLst>
              <a:defRPr b="1" cap="all" baseline="0">
                <a:solidFill>
                  <a:srgbClr val="E60028"/>
                </a:solidFill>
              </a:defRPr>
            </a:lvl1pPr>
            <a:lvl2pPr marL="0" indent="0">
              <a:buNone/>
              <a:tabLst>
                <a:tab pos="7988300" algn="r"/>
              </a:tabLst>
              <a:defRPr cap="all" baseline="0"/>
            </a:lvl2pPr>
            <a:lvl3pPr marL="0" indent="0">
              <a:buNone/>
              <a:tabLst>
                <a:tab pos="7988300" algn="r"/>
              </a:tabLst>
              <a:defRPr sz="1000" cap="all" baseline="0"/>
            </a:lvl3pPr>
            <a:lvl4pPr marL="0" indent="0">
              <a:buNone/>
              <a:tabLst>
                <a:tab pos="7988300" algn="r"/>
              </a:tabLst>
              <a:defRPr sz="900" cap="all" baseline="0"/>
            </a:lvl4pPr>
            <a:lvl5pPr marL="0" indent="0">
              <a:buNone/>
              <a:tabLst>
                <a:tab pos="7988300" algn="r"/>
              </a:tabLst>
              <a:defRPr sz="800" cap="all" baseline="0"/>
            </a:lvl5pPr>
          </a:lstStyle>
          <a:p>
            <a:pPr lvl="0"/>
            <a:r>
              <a:rPr lang="en-US" dirty="0"/>
              <a:t>CLICK TO EDIT MASTER TEXT STYLES	x</a:t>
            </a:r>
          </a:p>
          <a:p>
            <a:pPr lvl="1"/>
            <a:r>
              <a:rPr lang="en-US" dirty="0"/>
              <a:t>SECOND LEVEL	x</a:t>
            </a:r>
          </a:p>
          <a:p>
            <a:pPr lvl="2"/>
            <a:r>
              <a:rPr lang="en-US" dirty="0"/>
              <a:t>THIRD LEVEL	x</a:t>
            </a:r>
          </a:p>
          <a:p>
            <a:pPr lvl="3"/>
            <a:r>
              <a:rPr lang="en-US" dirty="0"/>
              <a:t>FOURTH LEVEL	x</a:t>
            </a:r>
          </a:p>
          <a:p>
            <a:pPr lvl="4"/>
            <a:r>
              <a:rPr lang="en-US" dirty="0"/>
              <a:t>FIFTH LEVEL	x</a:t>
            </a:r>
            <a:endParaRPr lang="en-GB" dirty="0"/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gray">
          <a:xfrm flipV="1">
            <a:off x="6096000" y="260351"/>
            <a:ext cx="0" cy="504825"/>
          </a:xfrm>
          <a:prstGeom prst="line">
            <a:avLst/>
          </a:prstGeom>
          <a:noFill/>
          <a:ln w="12700">
            <a:solidFill>
              <a:srgbClr val="E60028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sz="1800" noProof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1584517" y="6524654"/>
            <a:ext cx="0" cy="82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Slide Number Placeholder 5"/>
          <p:cNvSpPr txBox="1">
            <a:spLocks/>
          </p:cNvSpPr>
          <p:nvPr/>
        </p:nvSpPr>
        <p:spPr>
          <a:xfrm>
            <a:off x="11544851" y="6507984"/>
            <a:ext cx="336000" cy="21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fld id="{C6CC3D56-96BB-45E4-94D9-DF781FE65A81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3" name="Date Placeholder 3"/>
          <p:cNvSpPr txBox="1">
            <a:spLocks/>
          </p:cNvSpPr>
          <p:nvPr/>
        </p:nvSpPr>
        <p:spPr>
          <a:xfrm>
            <a:off x="9029851" y="6507984"/>
            <a:ext cx="2419200" cy="21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1D5226-9C5E-427F-A2CE-DC76F1572E78}" type="datetime1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28/05/2020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13" name="Picture 4" descr="G:\_DTP Bureau\LIVE JOBS\DTP56000 - 56999\DTP56185 - SG CIB PPT Template 2011\graphics\SOCCIB104_CMYK Black Text.e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432" y="6374607"/>
            <a:ext cx="2640000" cy="260159"/>
          </a:xfrm>
          <a:prstGeom prst="rect">
            <a:avLst/>
          </a:prstGeom>
          <a:noFill/>
        </p:spPr>
      </p:pic>
      <p:sp>
        <p:nvSpPr>
          <p:cNvPr id="11" name="Line 10"/>
          <p:cNvSpPr>
            <a:spLocks noChangeShapeType="1"/>
          </p:cNvSpPr>
          <p:nvPr/>
        </p:nvSpPr>
        <p:spPr bwMode="gray">
          <a:xfrm flipH="1">
            <a:off x="325967" y="6256340"/>
            <a:ext cx="11544300" cy="0"/>
          </a:xfrm>
          <a:prstGeom prst="line">
            <a:avLst/>
          </a:prstGeom>
          <a:noFill/>
          <a:ln w="6350">
            <a:solidFill>
              <a:srgbClr val="E60028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fr-FR" sz="180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529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. Table of Contents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2951" y="1129029"/>
            <a:ext cx="10704000" cy="576000"/>
          </a:xfrm>
        </p:spPr>
        <p:txBody>
          <a:bodyPr anchor="ctr">
            <a:noAutofit/>
          </a:bodyPr>
          <a:lstStyle>
            <a:lvl1pPr algn="ctr">
              <a:defRPr sz="2100" b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gray">
          <a:xfrm flipV="1">
            <a:off x="6096000" y="260351"/>
            <a:ext cx="0" cy="504825"/>
          </a:xfrm>
          <a:prstGeom prst="line">
            <a:avLst/>
          </a:prstGeom>
          <a:noFill/>
          <a:ln w="12700">
            <a:solidFill>
              <a:srgbClr val="E60028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sz="1800" noProof="0"/>
          </a:p>
        </p:txBody>
      </p:sp>
      <p:sp>
        <p:nvSpPr>
          <p:cNvPr id="30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911096"/>
            <a:ext cx="10704000" cy="4035600"/>
          </a:xfrm>
        </p:spPr>
        <p:txBody>
          <a:bodyPr rIns="0" numCol="2" spcCol="216000"/>
          <a:lstStyle>
            <a:lvl1pPr marL="0" indent="0">
              <a:buNone/>
              <a:tabLst>
                <a:tab pos="3924000" algn="r"/>
                <a:tab pos="7920000" algn="r"/>
              </a:tabLst>
              <a:defRPr b="1" cap="all" baseline="0">
                <a:solidFill>
                  <a:srgbClr val="E60028"/>
                </a:solidFill>
              </a:defRPr>
            </a:lvl1pPr>
            <a:lvl2pPr marL="0" indent="0">
              <a:buNone/>
              <a:tabLst>
                <a:tab pos="3924000" algn="r"/>
                <a:tab pos="7920000" algn="r"/>
              </a:tabLst>
              <a:defRPr cap="all" baseline="0"/>
            </a:lvl2pPr>
            <a:lvl3pPr marL="0" indent="0">
              <a:buNone/>
              <a:tabLst>
                <a:tab pos="3924000" algn="r"/>
                <a:tab pos="7920000" algn="r"/>
              </a:tabLst>
              <a:defRPr sz="1000" cap="all" baseline="0"/>
            </a:lvl3pPr>
            <a:lvl4pPr marL="0" indent="0">
              <a:buNone/>
              <a:tabLst>
                <a:tab pos="3924000" algn="r"/>
                <a:tab pos="7920000" algn="r"/>
              </a:tabLst>
              <a:defRPr sz="900" cap="all" baseline="0"/>
            </a:lvl4pPr>
            <a:lvl5pPr marL="0" indent="0">
              <a:buNone/>
              <a:tabLst>
                <a:tab pos="3924000" algn="r"/>
                <a:tab pos="7920000" algn="r"/>
              </a:tabLst>
              <a:defRPr sz="800" cap="all" baseline="0"/>
            </a:lvl5pPr>
          </a:lstStyle>
          <a:p>
            <a:pPr lvl="0"/>
            <a:r>
              <a:rPr lang="en-US" dirty="0"/>
              <a:t>CLICK TO EDIT MASTER TEXT STYLES	x</a:t>
            </a:r>
          </a:p>
          <a:p>
            <a:pPr lvl="1"/>
            <a:r>
              <a:rPr lang="en-US" dirty="0"/>
              <a:t>SECOND LEVEL	x</a:t>
            </a:r>
          </a:p>
          <a:p>
            <a:pPr lvl="2"/>
            <a:r>
              <a:rPr lang="en-US" dirty="0"/>
              <a:t>THIRD LEVEL	x</a:t>
            </a:r>
          </a:p>
          <a:p>
            <a:pPr lvl="3"/>
            <a:r>
              <a:rPr lang="en-US" dirty="0"/>
              <a:t>FOURTH LEVEL	x</a:t>
            </a:r>
          </a:p>
          <a:p>
            <a:pPr lvl="4"/>
            <a:r>
              <a:rPr lang="en-US" dirty="0"/>
              <a:t>FIFTH LEVEL	x</a:t>
            </a:r>
            <a:endParaRPr lang="en-GB" dirty="0"/>
          </a:p>
          <a:p>
            <a:pPr lvl="0"/>
            <a:endParaRPr lang="en-US" dirty="0"/>
          </a:p>
        </p:txBody>
      </p:sp>
      <p:cxnSp>
        <p:nvCxnSpPr>
          <p:cNvPr id="32" name="Straight Connector 31"/>
          <p:cNvCxnSpPr/>
          <p:nvPr/>
        </p:nvCxnSpPr>
        <p:spPr>
          <a:xfrm>
            <a:off x="11584517" y="6524654"/>
            <a:ext cx="0" cy="82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Slide Number Placeholder 5"/>
          <p:cNvSpPr txBox="1">
            <a:spLocks/>
          </p:cNvSpPr>
          <p:nvPr/>
        </p:nvSpPr>
        <p:spPr>
          <a:xfrm>
            <a:off x="11544851" y="6507984"/>
            <a:ext cx="336000" cy="21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fld id="{C6CC3D56-96BB-45E4-94D9-DF781FE65A81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4" name="Date Placeholder 3"/>
          <p:cNvSpPr txBox="1">
            <a:spLocks/>
          </p:cNvSpPr>
          <p:nvPr/>
        </p:nvSpPr>
        <p:spPr>
          <a:xfrm>
            <a:off x="9029851" y="6507984"/>
            <a:ext cx="2419200" cy="21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1D5226-9C5E-427F-A2CE-DC76F1572E78}" type="datetime1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28/05/2020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13" name="Picture 4" descr="G:\_DTP Bureau\LIVE JOBS\DTP56000 - 56999\DTP56185 - SG CIB PPT Template 2011\graphics\SOCCIB104_CMYK Black Text.e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432" y="6374607"/>
            <a:ext cx="2640000" cy="260159"/>
          </a:xfrm>
          <a:prstGeom prst="rect">
            <a:avLst/>
          </a:prstGeom>
          <a:noFill/>
        </p:spPr>
      </p:pic>
      <p:sp>
        <p:nvSpPr>
          <p:cNvPr id="11" name="Line 10"/>
          <p:cNvSpPr>
            <a:spLocks noChangeShapeType="1"/>
          </p:cNvSpPr>
          <p:nvPr/>
        </p:nvSpPr>
        <p:spPr bwMode="gray">
          <a:xfrm flipH="1">
            <a:off x="325967" y="6256340"/>
            <a:ext cx="11544300" cy="0"/>
          </a:xfrm>
          <a:prstGeom prst="line">
            <a:avLst/>
          </a:prstGeom>
          <a:noFill/>
          <a:ln w="6350">
            <a:solidFill>
              <a:srgbClr val="E60028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fr-FR" sz="180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622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4. 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2951" y="2215007"/>
            <a:ext cx="10706099" cy="1249200"/>
          </a:xfrm>
        </p:spPr>
        <p:txBody>
          <a:bodyPr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Click to edit divider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2951" y="3592449"/>
            <a:ext cx="10706099" cy="324000"/>
          </a:xfrm>
        </p:spPr>
        <p:txBody>
          <a:bodyPr>
            <a:noAutofit/>
          </a:bodyPr>
          <a:lstStyle>
            <a:lvl1pPr marL="0" indent="0" algn="ctr" defTabSz="914400" rtl="0" eaLnBrk="1" latinLnBrk="0" hangingPunct="1">
              <a:spcBef>
                <a:spcPts val="900"/>
              </a:spcBef>
              <a:buClr>
                <a:schemeClr val="tx2"/>
              </a:buClr>
              <a:buSzPct val="90000"/>
              <a:buFont typeface="Wingdings" pitchFamily="2" charset="2"/>
              <a:buNone/>
              <a:defRPr lang="en-GB" sz="1800" b="0" kern="1200" cap="none" baseline="0" dirty="0" smtClean="0">
                <a:solidFill>
                  <a:schemeClr val="tx2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gray">
          <a:xfrm flipV="1">
            <a:off x="6096000" y="260351"/>
            <a:ext cx="0" cy="504825"/>
          </a:xfrm>
          <a:prstGeom prst="line">
            <a:avLst/>
          </a:prstGeom>
          <a:noFill/>
          <a:ln w="12700">
            <a:solidFill>
              <a:srgbClr val="E60028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 sz="1800" noProof="0"/>
          </a:p>
        </p:txBody>
      </p:sp>
      <p:pic>
        <p:nvPicPr>
          <p:cNvPr id="11" name="Picture 4" descr="G:\_DTP Bureau\LIVE JOBS\DTP56000 - 56999\DTP56185 - SG CIB PPT Template 2011\graphics\SOCCIB104_CMYK Black Text.e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432" y="6374607"/>
            <a:ext cx="2640000" cy="260159"/>
          </a:xfrm>
          <a:prstGeom prst="rect">
            <a:avLst/>
          </a:prstGeom>
          <a:noFill/>
        </p:spPr>
      </p:pic>
      <p:sp>
        <p:nvSpPr>
          <p:cNvPr id="7" name="Line 10"/>
          <p:cNvSpPr>
            <a:spLocks noChangeShapeType="1"/>
          </p:cNvSpPr>
          <p:nvPr/>
        </p:nvSpPr>
        <p:spPr bwMode="gray">
          <a:xfrm flipH="1">
            <a:off x="325967" y="6256340"/>
            <a:ext cx="11544300" cy="0"/>
          </a:xfrm>
          <a:prstGeom prst="line">
            <a:avLst/>
          </a:prstGeom>
          <a:noFill/>
          <a:ln w="6350">
            <a:solidFill>
              <a:srgbClr val="E60028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fr-FR" sz="180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447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7421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Basic +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9384000" cy="489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9805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5256000" cy="489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6190951" y="1050924"/>
            <a:ext cx="5256000" cy="489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7413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2 Columns +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4632000" cy="489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494951" y="1050924"/>
            <a:ext cx="4632000" cy="489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2072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4 Quar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5256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6190951" y="1050924"/>
            <a:ext cx="5256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2"/>
          <p:cNvSpPr>
            <a:spLocks noGrp="1"/>
          </p:cNvSpPr>
          <p:nvPr>
            <p:ph idx="15" hasCustomPrompt="1"/>
          </p:nvPr>
        </p:nvSpPr>
        <p:spPr>
          <a:xfrm>
            <a:off x="742951" y="3570924"/>
            <a:ext cx="5256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2"/>
          <p:cNvSpPr>
            <a:spLocks noGrp="1"/>
          </p:cNvSpPr>
          <p:nvPr>
            <p:ph idx="16" hasCustomPrompt="1"/>
          </p:nvPr>
        </p:nvSpPr>
        <p:spPr>
          <a:xfrm>
            <a:off x="6190951" y="3570924"/>
            <a:ext cx="5256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9235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4 Quarters +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4632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494951" y="1050924"/>
            <a:ext cx="4632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2"/>
          <p:cNvSpPr>
            <a:spLocks noGrp="1"/>
          </p:cNvSpPr>
          <p:nvPr>
            <p:ph idx="16" hasCustomPrompt="1"/>
          </p:nvPr>
        </p:nvSpPr>
        <p:spPr>
          <a:xfrm>
            <a:off x="742951" y="3570924"/>
            <a:ext cx="4632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Content Placeholder 2"/>
          <p:cNvSpPr>
            <a:spLocks noGrp="1"/>
          </p:cNvSpPr>
          <p:nvPr>
            <p:ph idx="17" hasCustomPrompt="1"/>
          </p:nvPr>
        </p:nvSpPr>
        <p:spPr>
          <a:xfrm>
            <a:off x="5494951" y="3570924"/>
            <a:ext cx="4632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5763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10704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742951" y="3570924"/>
            <a:ext cx="10704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62002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2 Rows +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9384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2"/>
          <p:cNvSpPr>
            <a:spLocks noGrp="1"/>
          </p:cNvSpPr>
          <p:nvPr>
            <p:ph idx="15" hasCustomPrompt="1"/>
          </p:nvPr>
        </p:nvSpPr>
        <p:spPr>
          <a:xfrm>
            <a:off x="742951" y="3570924"/>
            <a:ext cx="9384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22821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1 Row + 2 Quar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10704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2"/>
          <p:cNvSpPr>
            <a:spLocks noGrp="1"/>
          </p:cNvSpPr>
          <p:nvPr>
            <p:ph idx="15" hasCustomPrompt="1"/>
          </p:nvPr>
        </p:nvSpPr>
        <p:spPr>
          <a:xfrm>
            <a:off x="742951" y="3570924"/>
            <a:ext cx="5256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2"/>
          <p:cNvSpPr>
            <a:spLocks noGrp="1"/>
          </p:cNvSpPr>
          <p:nvPr>
            <p:ph idx="16" hasCustomPrompt="1"/>
          </p:nvPr>
        </p:nvSpPr>
        <p:spPr>
          <a:xfrm>
            <a:off x="6190951" y="3570924"/>
            <a:ext cx="5256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3528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2 Quarters + 1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5256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6190951" y="1050924"/>
            <a:ext cx="5256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2"/>
          <p:cNvSpPr>
            <a:spLocks noGrp="1"/>
          </p:cNvSpPr>
          <p:nvPr>
            <p:ph idx="15" hasCustomPrompt="1"/>
          </p:nvPr>
        </p:nvSpPr>
        <p:spPr>
          <a:xfrm>
            <a:off x="742951" y="3570924"/>
            <a:ext cx="10704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29317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1 Row + 2 Quarters +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9384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2"/>
          <p:cNvSpPr>
            <a:spLocks noGrp="1"/>
          </p:cNvSpPr>
          <p:nvPr>
            <p:ph idx="16" hasCustomPrompt="1"/>
          </p:nvPr>
        </p:nvSpPr>
        <p:spPr>
          <a:xfrm>
            <a:off x="742951" y="3570924"/>
            <a:ext cx="4632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Content Placeholder 2"/>
          <p:cNvSpPr>
            <a:spLocks noGrp="1"/>
          </p:cNvSpPr>
          <p:nvPr>
            <p:ph idx="17" hasCustomPrompt="1"/>
          </p:nvPr>
        </p:nvSpPr>
        <p:spPr>
          <a:xfrm>
            <a:off x="5494951" y="3570924"/>
            <a:ext cx="4632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43196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2 Quarters + 1 Row +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42951" y="1050924"/>
            <a:ext cx="4632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2"/>
          <p:cNvSpPr>
            <a:spLocks noGrp="1"/>
          </p:cNvSpPr>
          <p:nvPr>
            <p:ph idx="15" hasCustomPrompt="1"/>
          </p:nvPr>
        </p:nvSpPr>
        <p:spPr>
          <a:xfrm>
            <a:off x="5494951" y="1050924"/>
            <a:ext cx="4632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2"/>
          <p:cNvSpPr>
            <a:spLocks noGrp="1"/>
          </p:cNvSpPr>
          <p:nvPr>
            <p:ph idx="16" hasCustomPrompt="1"/>
          </p:nvPr>
        </p:nvSpPr>
        <p:spPr>
          <a:xfrm>
            <a:off x="742951" y="3570924"/>
            <a:ext cx="9384000" cy="23760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16425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31103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yout: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1733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 descr="G:\_DTP Bureau\LIVE JOBS\DTP56000 - 56999\DTP56185 - SG CIB PPT Template 2011\graphics\SOCCIB104_CMYK Black Text.emf"/>
          <p:cNvPicPr>
            <a:picLocks noChangeAspect="1" noChangeArrowheads="1"/>
          </p:cNvPicPr>
          <p:nvPr/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334432" y="6374607"/>
            <a:ext cx="2640000" cy="260159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951" y="260349"/>
            <a:ext cx="9384000" cy="288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951" y="1050924"/>
            <a:ext cx="10704000" cy="48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gray">
          <a:xfrm flipH="1">
            <a:off x="325967" y="765175"/>
            <a:ext cx="11544300" cy="0"/>
          </a:xfrm>
          <a:prstGeom prst="line">
            <a:avLst/>
          </a:prstGeom>
          <a:noFill/>
          <a:ln w="6350">
            <a:solidFill>
              <a:srgbClr val="E60028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fr-FR" sz="1800">
              <a:latin typeface="Arial" charset="0"/>
              <a:cs typeface="Arial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11584517" y="6524654"/>
            <a:ext cx="0" cy="82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5"/>
          <p:cNvSpPr txBox="1">
            <a:spLocks/>
          </p:cNvSpPr>
          <p:nvPr/>
        </p:nvSpPr>
        <p:spPr>
          <a:xfrm>
            <a:off x="11544851" y="6507984"/>
            <a:ext cx="336000" cy="21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fld id="{C6CC3D56-96BB-45E4-94D9-DF781FE65A81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0" name="Date Placeholder 3"/>
          <p:cNvSpPr txBox="1">
            <a:spLocks/>
          </p:cNvSpPr>
          <p:nvPr/>
        </p:nvSpPr>
        <p:spPr>
          <a:xfrm>
            <a:off x="9029851" y="6507984"/>
            <a:ext cx="2419200" cy="21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1D5226-9C5E-427F-A2CE-DC76F1572E78}" type="datetime1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28/05/2020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gray">
          <a:xfrm flipH="1">
            <a:off x="325967" y="6256340"/>
            <a:ext cx="11544300" cy="0"/>
          </a:xfrm>
          <a:prstGeom prst="line">
            <a:avLst/>
          </a:prstGeom>
          <a:noFill/>
          <a:ln w="6350">
            <a:solidFill>
              <a:srgbClr val="E60028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fr-FR" sz="180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251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</p:sldLayoutIdLst>
  <p:hf sldNum="0" hdr="0" dt="0"/>
  <p:txStyles>
    <p:titleStyle>
      <a:lvl1pPr algn="l" defTabSz="914400" rtl="0" eaLnBrk="1" fontAlgn="base" latinLnBrk="0" hangingPunct="1">
        <a:lnSpc>
          <a:spcPct val="90000"/>
        </a:lnSpc>
        <a:spcBef>
          <a:spcPct val="0"/>
        </a:spcBef>
        <a:spcAft>
          <a:spcPct val="0"/>
        </a:spcAft>
        <a:buNone/>
        <a:defRPr lang="en-GB" sz="1600" b="1" kern="1200" cap="all" baseline="0" noProof="0" dirty="0" smtClean="0">
          <a:solidFill>
            <a:srgbClr val="E60028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182563" indent="-182563" algn="l" defTabSz="914400" rtl="0" eaLnBrk="1" latinLnBrk="0" hangingPunct="1">
        <a:spcBef>
          <a:spcPts val="900"/>
        </a:spcBef>
        <a:buClr>
          <a:schemeClr val="tx2"/>
        </a:buClr>
        <a:buSzPct val="90000"/>
        <a:buFont typeface="Wingdings" pitchFamily="2" charset="2"/>
        <a:buChar char="n"/>
        <a:defRPr sz="1400" b="1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357188" indent="-174625" algn="l" defTabSz="914400" rtl="0" eaLnBrk="1" latinLnBrk="0" hangingPunct="1">
        <a:spcBef>
          <a:spcPts val="600"/>
        </a:spcBef>
        <a:buClr>
          <a:schemeClr val="tx2"/>
        </a:buClr>
        <a:buFont typeface="Arial" pitchFamily="34" charset="0"/>
        <a:buChar char="●"/>
        <a:defRPr sz="1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539750" indent="-182563" algn="l" defTabSz="914400" rtl="0" eaLnBrk="1" latinLnBrk="0" hangingPunct="1">
        <a:spcBef>
          <a:spcPts val="600"/>
        </a:spcBef>
        <a:buClr>
          <a:schemeClr val="tx2"/>
        </a:buClr>
        <a:buFont typeface="Webdings" pitchFamily="18" charset="2"/>
        <a:buChar char="4"/>
        <a:defRPr sz="1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712788" indent="-173038" algn="l" defTabSz="914400" rtl="0" eaLnBrk="1" latinLnBrk="0" hangingPunct="1">
        <a:spcBef>
          <a:spcPts val="600"/>
        </a:spcBef>
        <a:buClr>
          <a:schemeClr val="tx2"/>
        </a:buClr>
        <a:buFont typeface="Arial" pitchFamily="34" charset="0"/>
        <a:buChar char="–"/>
        <a:defRPr sz="1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895350" indent="-182563" algn="l" defTabSz="914400" rtl="0" eaLnBrk="1" latinLnBrk="0" hangingPunct="1">
        <a:spcBef>
          <a:spcPts val="600"/>
        </a:spcBef>
        <a:buClr>
          <a:schemeClr val="tx2"/>
        </a:buClr>
        <a:buFont typeface="Wingdings" pitchFamily="2" charset="2"/>
        <a:buChar char="w"/>
        <a:defRPr sz="1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2.jpeg"/><Relationship Id="rId5" Type="http://schemas.openxmlformats.org/officeDocument/2006/relationships/image" Target="../media/image51.jpeg"/><Relationship Id="rId4" Type="http://schemas.openxmlformats.org/officeDocument/2006/relationships/image" Target="../media/image50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9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1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67"/>
          <p:cNvSpPr/>
          <p:nvPr/>
        </p:nvSpPr>
        <p:spPr>
          <a:xfrm>
            <a:off x="-2" y="2166011"/>
            <a:ext cx="12192002" cy="1362229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vert270" lIns="182880" rtlCol="0" anchor="ctr" anchorCtr="0"/>
          <a:lstStyle/>
          <a:p>
            <a:pPr algn="ctr" defTabSz="1219170"/>
            <a:endParaRPr lang="en-US" sz="3200" kern="0">
              <a:solidFill>
                <a:srgbClr val="FFFFFF"/>
              </a:solidFill>
              <a:latin typeface="Open Sans Ligh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1991" y="250153"/>
            <a:ext cx="2317749" cy="41770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9151" y="2034051"/>
            <a:ext cx="10926570" cy="1477328"/>
          </a:xfrm>
          <a:noFill/>
        </p:spPr>
        <p:txBody>
          <a:bodyPr wrap="square" lIns="243840" tIns="121920" rIns="243840" bIns="121920" rtlCol="0" anchor="b" anchorCtr="0">
            <a:spAutoFit/>
          </a:bodyPr>
          <a:lstStyle/>
          <a:p>
            <a:pPr defTabSz="1219170">
              <a:lnSpc>
                <a:spcPct val="100000"/>
              </a:lnSpc>
              <a:spcBef>
                <a:spcPts val="0"/>
              </a:spcBef>
            </a:pPr>
            <a:r>
              <a:rPr lang="fr-FR" sz="4000" b="1" kern="0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11000"/>
                    </a:prstClr>
                  </a:outerShdw>
                </a:effectLst>
                <a:latin typeface="Open Sans Light"/>
                <a:ea typeface="+mn-ea"/>
                <a:cs typeface="+mn-cs"/>
              </a:rPr>
              <a:t>Conception et réalisation d’un outil de Simulation de charge</a:t>
            </a:r>
            <a:endParaRPr lang="en-US" sz="4000" b="1" kern="0" dirty="0">
              <a:solidFill>
                <a:schemeClr val="bg1"/>
              </a:solidFill>
              <a:effectLst>
                <a:outerShdw blurRad="50800" dist="38100" dir="8100000" algn="tr" rotWithShape="0">
                  <a:prstClr val="black">
                    <a:alpha val="11000"/>
                  </a:prstClr>
                </a:outerShdw>
              </a:effectLst>
              <a:latin typeface="Open Sans Light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70436" y="1048731"/>
            <a:ext cx="9144000" cy="10002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Projet de fin d’études</a:t>
            </a:r>
          </a:p>
          <a:p>
            <a:pPr algn="ctr"/>
            <a:endParaRPr lang="fr-FR" sz="1100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ctr"/>
            <a:r>
              <a:rPr lang="fr-FR" sz="24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Pour l'obtention du diplôme d'Ingénieur d'État en informatique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71" y="198158"/>
            <a:ext cx="2751787" cy="5216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D1848E-98AE-40D9-9B27-1549C9A1E73B}"/>
              </a:ext>
            </a:extLst>
          </p:cNvPr>
          <p:cNvSpPr txBox="1"/>
          <p:nvPr/>
        </p:nvSpPr>
        <p:spPr>
          <a:xfrm>
            <a:off x="1758544" y="5333699"/>
            <a:ext cx="2568427" cy="630553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r>
              <a:rPr lang="fr-FR" sz="1600" b="1" dirty="0"/>
              <a:t>Réalisé  par :</a:t>
            </a:r>
          </a:p>
          <a:p>
            <a:r>
              <a:rPr lang="fr-FR" sz="1600" dirty="0"/>
              <a:t>	M. </a:t>
            </a:r>
            <a:r>
              <a:rPr lang="fr-FR" sz="1600" dirty="0" err="1"/>
              <a:t>Zouaid</a:t>
            </a:r>
            <a:r>
              <a:rPr lang="fr-FR" sz="1600" dirty="0"/>
              <a:t> Omar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89C9B7-505A-49F2-A5AF-F09C76086DD6}"/>
              </a:ext>
            </a:extLst>
          </p:cNvPr>
          <p:cNvSpPr txBox="1"/>
          <p:nvPr/>
        </p:nvSpPr>
        <p:spPr>
          <a:xfrm>
            <a:off x="3396343" y="3866146"/>
            <a:ext cx="4548249" cy="539599"/>
          </a:xfrm>
          <a:prstGeom prst="rect">
            <a:avLst/>
          </a:prstGeom>
          <a:solidFill>
            <a:srgbClr val="C00000"/>
          </a:solidFill>
        </p:spPr>
        <p:txBody>
          <a:bodyPr wrap="none" lIns="36000" tIns="36000" rIns="36000" bIns="36000" rtlCol="0">
            <a:noAutofit/>
          </a:bodyPr>
          <a:lstStyle/>
          <a:p>
            <a:pPr algn="ctr"/>
            <a:r>
              <a:rPr lang="fr-FR" sz="2000" dirty="0">
                <a:solidFill>
                  <a:schemeClr val="bg1"/>
                </a:solidFill>
              </a:rPr>
              <a:t>Présentation de l’avancement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9AF742-48D2-420A-96B9-78111A4D4EE5}"/>
              </a:ext>
            </a:extLst>
          </p:cNvPr>
          <p:cNvSpPr txBox="1"/>
          <p:nvPr/>
        </p:nvSpPr>
        <p:spPr>
          <a:xfrm>
            <a:off x="3396343" y="4444851"/>
            <a:ext cx="4548249" cy="432722"/>
          </a:xfrm>
          <a:prstGeom prst="rect">
            <a:avLst/>
          </a:prstGeom>
          <a:solidFill>
            <a:schemeClr val="tx1"/>
          </a:solidFill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</a:rPr>
              <a:t>Le jeudi 28 Mai 2020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205C07-660C-4C97-90E0-10478DB7B2ED}"/>
              </a:ext>
            </a:extLst>
          </p:cNvPr>
          <p:cNvSpPr txBox="1"/>
          <p:nvPr/>
        </p:nvSpPr>
        <p:spPr>
          <a:xfrm>
            <a:off x="7474836" y="5333698"/>
            <a:ext cx="2958620" cy="927617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r>
              <a:rPr lang="fr-FR" sz="1600" b="1" dirty="0"/>
              <a:t>Encadré  par :</a:t>
            </a:r>
          </a:p>
          <a:p>
            <a:r>
              <a:rPr lang="fr-FR" sz="1600" b="1" dirty="0"/>
              <a:t>	</a:t>
            </a:r>
            <a:r>
              <a:rPr lang="fr-FR" sz="1600" dirty="0"/>
              <a:t>Mme.  </a:t>
            </a:r>
            <a:r>
              <a:rPr lang="fr-FR" sz="1600" dirty="0" err="1"/>
              <a:t>Addou</a:t>
            </a:r>
            <a:r>
              <a:rPr lang="fr-FR" sz="1600" dirty="0"/>
              <a:t> Malika</a:t>
            </a:r>
          </a:p>
          <a:p>
            <a:r>
              <a:rPr lang="fr-FR" sz="1600" dirty="0"/>
              <a:t>	M. Tarik </a:t>
            </a:r>
            <a:r>
              <a:rPr lang="fr-FR" sz="1600" dirty="0" err="1"/>
              <a:t>Douiyeh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324899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CE61F48-FA02-491A-AD67-C992C7DB567E}"/>
              </a:ext>
            </a:extLst>
          </p:cNvPr>
          <p:cNvGrpSpPr/>
          <p:nvPr/>
        </p:nvGrpSpPr>
        <p:grpSpPr>
          <a:xfrm>
            <a:off x="9061254" y="2311400"/>
            <a:ext cx="2127437" cy="406400"/>
            <a:chOff x="6862622" y="1733550"/>
            <a:chExt cx="1595578" cy="304800"/>
          </a:xfrm>
        </p:grpSpPr>
        <p:sp>
          <p:nvSpPr>
            <p:cNvPr id="6" name="Chevron 57">
              <a:extLst>
                <a:ext uri="{FF2B5EF4-FFF2-40B4-BE49-F238E27FC236}">
                  <a16:creationId xmlns:a16="http://schemas.microsoft.com/office/drawing/2014/main" id="{ACBA3246-476F-4235-8483-733F1E1FA78F}"/>
                </a:ext>
              </a:extLst>
            </p:cNvPr>
            <p:cNvSpPr/>
            <p:nvPr/>
          </p:nvSpPr>
          <p:spPr>
            <a:xfrm>
              <a:off x="6862622" y="1733550"/>
              <a:ext cx="1595578" cy="304800"/>
            </a:xfrm>
            <a:prstGeom prst="chevron">
              <a:avLst>
                <a:gd name="adj" fmla="val 32323"/>
              </a:avLst>
            </a:prstGeom>
            <a:solidFill>
              <a:srgbClr val="5BBE77"/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6B911D2-B771-4B3A-8ECD-BB50F70ED66F}"/>
                </a:ext>
              </a:extLst>
            </p:cNvPr>
            <p:cNvSpPr/>
            <p:nvPr/>
          </p:nvSpPr>
          <p:spPr>
            <a:xfrm>
              <a:off x="7617114" y="1833416"/>
              <a:ext cx="86594" cy="86594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C1306F5-04C0-4F23-9B79-283A70684A0A}"/>
              </a:ext>
            </a:extLst>
          </p:cNvPr>
          <p:cNvGrpSpPr/>
          <p:nvPr/>
        </p:nvGrpSpPr>
        <p:grpSpPr>
          <a:xfrm>
            <a:off x="7034066" y="2311400"/>
            <a:ext cx="2127437" cy="406400"/>
            <a:chOff x="5318416" y="1733550"/>
            <a:chExt cx="1595578" cy="304800"/>
          </a:xfrm>
        </p:grpSpPr>
        <p:sp>
          <p:nvSpPr>
            <p:cNvPr id="9" name="Chevron 60">
              <a:extLst>
                <a:ext uri="{FF2B5EF4-FFF2-40B4-BE49-F238E27FC236}">
                  <a16:creationId xmlns:a16="http://schemas.microsoft.com/office/drawing/2014/main" id="{BACB0CBC-95D0-433C-925F-B836AE176F95}"/>
                </a:ext>
              </a:extLst>
            </p:cNvPr>
            <p:cNvSpPr/>
            <p:nvPr/>
          </p:nvSpPr>
          <p:spPr>
            <a:xfrm>
              <a:off x="5318416" y="1733550"/>
              <a:ext cx="1595578" cy="304800"/>
            </a:xfrm>
            <a:prstGeom prst="chevron">
              <a:avLst>
                <a:gd name="adj" fmla="val 32323"/>
              </a:avLst>
            </a:prstGeom>
            <a:solidFill>
              <a:srgbClr val="25B7AB"/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3E70701-1B25-43A7-B62B-C1816F8CAB44}"/>
                </a:ext>
              </a:extLst>
            </p:cNvPr>
            <p:cNvSpPr/>
            <p:nvPr/>
          </p:nvSpPr>
          <p:spPr>
            <a:xfrm>
              <a:off x="6072908" y="1833416"/>
              <a:ext cx="86594" cy="86594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0544EC-D376-4469-A875-A36F7032AD49}"/>
              </a:ext>
            </a:extLst>
          </p:cNvPr>
          <p:cNvGrpSpPr/>
          <p:nvPr/>
        </p:nvGrpSpPr>
        <p:grpSpPr>
          <a:xfrm>
            <a:off x="5006879" y="2311400"/>
            <a:ext cx="2127437" cy="406400"/>
            <a:chOff x="3774211" y="1733550"/>
            <a:chExt cx="1595578" cy="304800"/>
          </a:xfrm>
        </p:grpSpPr>
        <p:sp>
          <p:nvSpPr>
            <p:cNvPr id="12" name="Chevron 63">
              <a:extLst>
                <a:ext uri="{FF2B5EF4-FFF2-40B4-BE49-F238E27FC236}">
                  <a16:creationId xmlns:a16="http://schemas.microsoft.com/office/drawing/2014/main" id="{D2B93596-B48D-4D1A-9382-108EF60A3504}"/>
                </a:ext>
              </a:extLst>
            </p:cNvPr>
            <p:cNvSpPr/>
            <p:nvPr/>
          </p:nvSpPr>
          <p:spPr>
            <a:xfrm>
              <a:off x="3774211" y="1733550"/>
              <a:ext cx="1595578" cy="304800"/>
            </a:xfrm>
            <a:prstGeom prst="chevron">
              <a:avLst>
                <a:gd name="adj" fmla="val 32323"/>
              </a:avLst>
            </a:prstGeom>
            <a:solidFill>
              <a:srgbClr val="27A6C2"/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9ADBAB5-D3FF-4BE4-BDF6-567CB8E357DB}"/>
                </a:ext>
              </a:extLst>
            </p:cNvPr>
            <p:cNvSpPr/>
            <p:nvPr/>
          </p:nvSpPr>
          <p:spPr>
            <a:xfrm>
              <a:off x="4528703" y="1833416"/>
              <a:ext cx="86594" cy="86594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B62FE1F-5060-4F18-B7D3-DD5EFDC11FB1}"/>
              </a:ext>
            </a:extLst>
          </p:cNvPr>
          <p:cNvGrpSpPr/>
          <p:nvPr/>
        </p:nvGrpSpPr>
        <p:grpSpPr>
          <a:xfrm>
            <a:off x="2979691" y="2311400"/>
            <a:ext cx="2127437" cy="406400"/>
            <a:chOff x="2230005" y="1733550"/>
            <a:chExt cx="1595578" cy="304800"/>
          </a:xfrm>
        </p:grpSpPr>
        <p:sp>
          <p:nvSpPr>
            <p:cNvPr id="15" name="Chevron 66">
              <a:extLst>
                <a:ext uri="{FF2B5EF4-FFF2-40B4-BE49-F238E27FC236}">
                  <a16:creationId xmlns:a16="http://schemas.microsoft.com/office/drawing/2014/main" id="{A0C114C0-FE72-419B-9E7F-D2C79A652C9D}"/>
                </a:ext>
              </a:extLst>
            </p:cNvPr>
            <p:cNvSpPr/>
            <p:nvPr/>
          </p:nvSpPr>
          <p:spPr>
            <a:xfrm>
              <a:off x="2230005" y="1733550"/>
              <a:ext cx="1595578" cy="304800"/>
            </a:xfrm>
            <a:prstGeom prst="chevron">
              <a:avLst>
                <a:gd name="adj" fmla="val 32323"/>
              </a:avLst>
            </a:prstGeom>
            <a:solidFill>
              <a:srgbClr val="239CCE"/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2572903-C2E9-4F36-BD51-A5E9006D2A86}"/>
                </a:ext>
              </a:extLst>
            </p:cNvPr>
            <p:cNvSpPr/>
            <p:nvPr/>
          </p:nvSpPr>
          <p:spPr>
            <a:xfrm>
              <a:off x="2984497" y="1833416"/>
              <a:ext cx="86594" cy="86594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0F74A14C-727A-48B2-B945-B83CD1C0DF09}"/>
              </a:ext>
            </a:extLst>
          </p:cNvPr>
          <p:cNvSpPr txBox="1">
            <a:spLocks/>
          </p:cNvSpPr>
          <p:nvPr/>
        </p:nvSpPr>
        <p:spPr>
          <a:xfrm>
            <a:off x="-499329" y="767433"/>
            <a:ext cx="5506208" cy="81756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 defTabSz="1219170" rtl="0" eaLnBrk="1" latinLnBrk="0" hangingPunct="1">
              <a:lnSpc>
                <a:spcPct val="86000"/>
              </a:lnSpc>
              <a:spcBef>
                <a:spcPct val="0"/>
              </a:spcBef>
              <a:buNone/>
              <a:defRPr sz="2800" kern="800" spc="-53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1219170" rtl="0" eaLnBrk="1" fontAlgn="auto" latinLnBrk="0" hangingPunct="1">
              <a:lnSpc>
                <a:spcPct val="86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srgbClr val="57565A"/>
                </a:solidFill>
                <a:latin typeface="Open Sans Light"/>
              </a:rPr>
              <a:t>Plan</a:t>
            </a:r>
            <a:endParaRPr kumimoji="0" lang="en-US" sz="3600" b="0" i="0" u="none" strike="noStrike" kern="800" cap="none" spc="-53" normalizeH="0" baseline="0" noProof="0" dirty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j-ea"/>
              <a:cs typeface="+mj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B4AD848-6E2C-425C-BBA5-8AC1587BCDE5}"/>
              </a:ext>
            </a:extLst>
          </p:cNvPr>
          <p:cNvSpPr/>
          <p:nvPr/>
        </p:nvSpPr>
        <p:spPr>
          <a:xfrm>
            <a:off x="1065262" y="3225799"/>
            <a:ext cx="1917700" cy="1917700"/>
          </a:xfrm>
          <a:prstGeom prst="ellipse">
            <a:avLst/>
          </a:prstGeom>
          <a:solidFill>
            <a:srgbClr val="2099D8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3C22B1C-1AAB-45B3-9EE5-55F8E22807D4}"/>
              </a:ext>
            </a:extLst>
          </p:cNvPr>
          <p:cNvSpPr/>
          <p:nvPr/>
        </p:nvSpPr>
        <p:spPr>
          <a:xfrm>
            <a:off x="3092449" y="3225800"/>
            <a:ext cx="1917700" cy="1917700"/>
          </a:xfrm>
          <a:prstGeom prst="ellipse">
            <a:avLst/>
          </a:prstGeom>
          <a:solidFill>
            <a:srgbClr val="239CCE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AD57E80-D63E-4DEA-AB04-5DAB70C813A6}"/>
              </a:ext>
            </a:extLst>
          </p:cNvPr>
          <p:cNvSpPr/>
          <p:nvPr/>
        </p:nvSpPr>
        <p:spPr>
          <a:xfrm>
            <a:off x="5119637" y="3225800"/>
            <a:ext cx="1917700" cy="1917700"/>
          </a:xfrm>
          <a:prstGeom prst="ellipse">
            <a:avLst/>
          </a:prstGeom>
          <a:solidFill>
            <a:srgbClr val="27A6C2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A9CF284-78F1-4A6F-B473-42FF220166F4}"/>
              </a:ext>
            </a:extLst>
          </p:cNvPr>
          <p:cNvSpPr/>
          <p:nvPr/>
        </p:nvSpPr>
        <p:spPr>
          <a:xfrm>
            <a:off x="7146824" y="3225800"/>
            <a:ext cx="1917700" cy="1917700"/>
          </a:xfrm>
          <a:prstGeom prst="ellipse">
            <a:avLst/>
          </a:prstGeom>
          <a:solidFill>
            <a:srgbClr val="25B7AB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FEA6167-E326-4E58-AEDE-DE6C6E2584EE}"/>
              </a:ext>
            </a:extLst>
          </p:cNvPr>
          <p:cNvSpPr/>
          <p:nvPr/>
        </p:nvSpPr>
        <p:spPr>
          <a:xfrm>
            <a:off x="9174012" y="3225800"/>
            <a:ext cx="1917700" cy="1917700"/>
          </a:xfrm>
          <a:prstGeom prst="ellipse">
            <a:avLst/>
          </a:prstGeom>
          <a:solidFill>
            <a:srgbClr val="5BBE77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52A1BA3-7670-4FC8-A4B9-654089D6D43B}"/>
              </a:ext>
            </a:extLst>
          </p:cNvPr>
          <p:cNvCxnSpPr/>
          <p:nvPr/>
        </p:nvCxnSpPr>
        <p:spPr>
          <a:xfrm flipH="1" flipV="1">
            <a:off x="2016223" y="2717800"/>
            <a:ext cx="0" cy="508000"/>
          </a:xfrm>
          <a:prstGeom prst="line">
            <a:avLst/>
          </a:prstGeom>
          <a:noFill/>
          <a:ln w="12700" cap="flat" cmpd="sng" algn="ctr">
            <a:solidFill>
              <a:srgbClr val="2099D8"/>
            </a:solidFill>
            <a:prstDash val="solid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4F3C793-E3D6-4D2E-90B6-77275144F21F}"/>
              </a:ext>
            </a:extLst>
          </p:cNvPr>
          <p:cNvCxnSpPr/>
          <p:nvPr/>
        </p:nvCxnSpPr>
        <p:spPr>
          <a:xfrm flipH="1" flipV="1">
            <a:off x="4043409" y="2717800"/>
            <a:ext cx="0" cy="508000"/>
          </a:xfrm>
          <a:prstGeom prst="line">
            <a:avLst/>
          </a:prstGeom>
          <a:noFill/>
          <a:ln w="12700" cap="flat" cmpd="sng" algn="ctr">
            <a:solidFill>
              <a:srgbClr val="239CCE"/>
            </a:solidFill>
            <a:prstDash val="solid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F552445-D5C0-49C5-8ED5-96707DA8FAC8}"/>
              </a:ext>
            </a:extLst>
          </p:cNvPr>
          <p:cNvCxnSpPr/>
          <p:nvPr/>
        </p:nvCxnSpPr>
        <p:spPr>
          <a:xfrm flipH="1" flipV="1">
            <a:off x="6070597" y="2717800"/>
            <a:ext cx="0" cy="508000"/>
          </a:xfrm>
          <a:prstGeom prst="line">
            <a:avLst/>
          </a:prstGeom>
          <a:noFill/>
          <a:ln w="12700" cap="flat" cmpd="sng" algn="ctr">
            <a:solidFill>
              <a:srgbClr val="27A6C2"/>
            </a:solidFill>
            <a:prstDash val="solid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6DFE25B-DFCC-4738-A4C5-27A8543DF926}"/>
              </a:ext>
            </a:extLst>
          </p:cNvPr>
          <p:cNvCxnSpPr/>
          <p:nvPr/>
        </p:nvCxnSpPr>
        <p:spPr>
          <a:xfrm flipH="1" flipV="1">
            <a:off x="8097784" y="2717800"/>
            <a:ext cx="0" cy="508000"/>
          </a:xfrm>
          <a:prstGeom prst="line">
            <a:avLst/>
          </a:prstGeom>
          <a:noFill/>
          <a:ln w="12700" cap="flat" cmpd="sng" algn="ctr">
            <a:solidFill>
              <a:srgbClr val="5BBE77"/>
            </a:solidFill>
            <a:prstDash val="solid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8211469-3CA6-4EC8-B2E7-8330B3EB0F97}"/>
              </a:ext>
            </a:extLst>
          </p:cNvPr>
          <p:cNvCxnSpPr/>
          <p:nvPr/>
        </p:nvCxnSpPr>
        <p:spPr>
          <a:xfrm flipH="1" flipV="1">
            <a:off x="10124972" y="2717800"/>
            <a:ext cx="0" cy="508000"/>
          </a:xfrm>
          <a:prstGeom prst="line">
            <a:avLst/>
          </a:prstGeom>
          <a:noFill/>
          <a:ln w="12700" cap="flat" cmpd="sng" algn="ctr">
            <a:solidFill>
              <a:srgbClr val="7EC44E"/>
            </a:solidFill>
            <a:prstDash val="solid"/>
          </a:ln>
          <a:effectLst/>
        </p:spPr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665C487-9B97-4168-99DF-E86B1B649B80}"/>
              </a:ext>
            </a:extLst>
          </p:cNvPr>
          <p:cNvSpPr/>
          <p:nvPr/>
        </p:nvSpPr>
        <p:spPr>
          <a:xfrm>
            <a:off x="1007534" y="3810252"/>
            <a:ext cx="198581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fr-FR" sz="2000" dirty="0">
                <a:solidFill>
                  <a:schemeClr val="bg1"/>
                </a:solidFill>
                <a:latin typeface="Open Sans Light"/>
              </a:rPr>
              <a:t>Contexte du projet</a:t>
            </a:r>
            <a:endParaRPr lang="en-US" sz="2000" dirty="0">
              <a:solidFill>
                <a:schemeClr val="bg1"/>
              </a:solidFill>
              <a:latin typeface="Open Sans Ligh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577D7CF-D088-4DA7-8B63-AC5884B13BAE}"/>
              </a:ext>
            </a:extLst>
          </p:cNvPr>
          <p:cNvSpPr/>
          <p:nvPr/>
        </p:nvSpPr>
        <p:spPr>
          <a:xfrm>
            <a:off x="3076669" y="3861051"/>
            <a:ext cx="198581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fr-FR" sz="2000" dirty="0">
                <a:solidFill>
                  <a:schemeClr val="bg1"/>
                </a:solidFill>
              </a:rPr>
              <a:t>Conduite du Projet</a:t>
            </a:r>
            <a:endParaRPr lang="en-US" sz="2000" dirty="0">
              <a:solidFill>
                <a:schemeClr val="bg1"/>
              </a:solidFill>
              <a:latin typeface="Open Sans Ligh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F77C222-10A9-4001-914E-EB815C869DAC}"/>
              </a:ext>
            </a:extLst>
          </p:cNvPr>
          <p:cNvSpPr/>
          <p:nvPr/>
        </p:nvSpPr>
        <p:spPr>
          <a:xfrm>
            <a:off x="5171969" y="3810252"/>
            <a:ext cx="198581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fr-FR" sz="2000" dirty="0">
                <a:solidFill>
                  <a:schemeClr val="bg1"/>
                </a:solidFill>
                <a:latin typeface="Open Sans Light"/>
              </a:rPr>
              <a:t>Etude préliminaire</a:t>
            </a:r>
            <a:endParaRPr lang="en-US" sz="2000" dirty="0">
              <a:solidFill>
                <a:schemeClr val="bg1"/>
              </a:solidFill>
              <a:latin typeface="Open Sans Ligh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5D6166-9AC4-4873-A2C1-E3BC8429D72D}"/>
              </a:ext>
            </a:extLst>
          </p:cNvPr>
          <p:cNvSpPr/>
          <p:nvPr/>
        </p:nvSpPr>
        <p:spPr>
          <a:xfrm>
            <a:off x="7104877" y="3974368"/>
            <a:ext cx="1985813" cy="420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fr-FR" sz="2133" dirty="0">
                <a:solidFill>
                  <a:schemeClr val="bg1"/>
                </a:solidFill>
                <a:latin typeface="Open Sans Light"/>
              </a:rPr>
              <a:t>Conception</a:t>
            </a:r>
            <a:endParaRPr lang="en-US" sz="2133" dirty="0">
              <a:solidFill>
                <a:schemeClr val="bg1"/>
              </a:solidFill>
              <a:latin typeface="Open Sans Ligh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D4F96DF-A6B6-4CF5-8142-D6222197DCB6}"/>
              </a:ext>
            </a:extLst>
          </p:cNvPr>
          <p:cNvSpPr/>
          <p:nvPr/>
        </p:nvSpPr>
        <p:spPr>
          <a:xfrm>
            <a:off x="9147846" y="3810252"/>
            <a:ext cx="1985813" cy="420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fr-FR" sz="2133" dirty="0">
                <a:solidFill>
                  <a:schemeClr val="bg1"/>
                </a:solidFill>
                <a:latin typeface="Open Sans Light"/>
              </a:rPr>
              <a:t>Réalisation</a:t>
            </a:r>
            <a:endParaRPr lang="en-US" sz="2133" dirty="0">
              <a:solidFill>
                <a:schemeClr val="bg1"/>
              </a:solidFill>
              <a:latin typeface="Open Sans Light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A4634D0-7E63-4044-A572-FCB56FBF6623}"/>
              </a:ext>
            </a:extLst>
          </p:cNvPr>
          <p:cNvGrpSpPr/>
          <p:nvPr/>
        </p:nvGrpSpPr>
        <p:grpSpPr>
          <a:xfrm>
            <a:off x="952504" y="2311400"/>
            <a:ext cx="2127437" cy="406400"/>
            <a:chOff x="685800" y="1733550"/>
            <a:chExt cx="1595578" cy="304800"/>
          </a:xfrm>
        </p:grpSpPr>
        <p:sp>
          <p:nvSpPr>
            <p:cNvPr id="34" name="Chevron 91">
              <a:extLst>
                <a:ext uri="{FF2B5EF4-FFF2-40B4-BE49-F238E27FC236}">
                  <a16:creationId xmlns:a16="http://schemas.microsoft.com/office/drawing/2014/main" id="{7222F5CC-A425-4873-8C09-526B201D01F5}"/>
                </a:ext>
              </a:extLst>
            </p:cNvPr>
            <p:cNvSpPr/>
            <p:nvPr/>
          </p:nvSpPr>
          <p:spPr>
            <a:xfrm>
              <a:off x="685800" y="1733550"/>
              <a:ext cx="1595578" cy="304800"/>
            </a:xfrm>
            <a:prstGeom prst="chevron">
              <a:avLst>
                <a:gd name="adj" fmla="val 32323"/>
              </a:avLst>
            </a:prstGeom>
            <a:solidFill>
              <a:srgbClr val="2099D8"/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57565A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7946AED-1394-4339-AA6F-FC79444EAF00}"/>
                </a:ext>
              </a:extLst>
            </p:cNvPr>
            <p:cNvSpPr/>
            <p:nvPr/>
          </p:nvSpPr>
          <p:spPr>
            <a:xfrm>
              <a:off x="1440292" y="1833416"/>
              <a:ext cx="86594" cy="86594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Ligh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4402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688" y="2448734"/>
            <a:ext cx="10706099" cy="980266"/>
          </a:xfrm>
          <a:solidFill>
            <a:srgbClr val="C00000"/>
          </a:solidFill>
        </p:spPr>
        <p:txBody>
          <a:bodyPr anchor="ctr"/>
          <a:lstStyle/>
          <a:p>
            <a:r>
              <a:rPr lang="fr-FR" sz="3600" dirty="0">
                <a:solidFill>
                  <a:schemeClr val="bg1"/>
                </a:solidFill>
              </a:rPr>
              <a:t>Contexte de projet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2DB350-ECCE-49D2-9854-CE63BA543854}"/>
              </a:ext>
            </a:extLst>
          </p:cNvPr>
          <p:cNvCxnSpPr>
            <a:cxnSpLocks/>
          </p:cNvCxnSpPr>
          <p:nvPr/>
        </p:nvCxnSpPr>
        <p:spPr>
          <a:xfrm>
            <a:off x="606688" y="3521988"/>
            <a:ext cx="10706098" cy="0"/>
          </a:xfrm>
          <a:prstGeom prst="line">
            <a:avLst/>
          </a:prstGeom>
          <a:ln w="952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3004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C1AE2A6-4905-41BE-AF48-9FF6A74786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4585" y="5428453"/>
            <a:ext cx="3510406" cy="632645"/>
          </a:xfrm>
          <a:prstGeom prst="rect">
            <a:avLst/>
          </a:prstGeom>
        </p:spPr>
      </p:pic>
      <p:sp>
        <p:nvSpPr>
          <p:cNvPr id="10" name="Parallelogram 242">
            <a:extLst>
              <a:ext uri="{FF2B5EF4-FFF2-40B4-BE49-F238E27FC236}">
                <a16:creationId xmlns:a16="http://schemas.microsoft.com/office/drawing/2014/main" id="{10B5EF80-EB54-44D6-B08B-61FEDD7BC424}"/>
              </a:ext>
            </a:extLst>
          </p:cNvPr>
          <p:cNvSpPr/>
          <p:nvPr/>
        </p:nvSpPr>
        <p:spPr>
          <a:xfrm rot="5400000" flipV="1">
            <a:off x="9864228" y="3350835"/>
            <a:ext cx="1126908" cy="269817"/>
          </a:xfrm>
          <a:prstGeom prst="parallelogram">
            <a:avLst>
              <a:gd name="adj" fmla="val 66077"/>
            </a:avLst>
          </a:prstGeom>
          <a:solidFill>
            <a:srgbClr val="5BBE77">
              <a:lumMod val="5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2829A1-F9CC-44C3-9533-9ECFB8EF227F}"/>
              </a:ext>
            </a:extLst>
          </p:cNvPr>
          <p:cNvSpPr/>
          <p:nvPr/>
        </p:nvSpPr>
        <p:spPr>
          <a:xfrm>
            <a:off x="7726993" y="3959986"/>
            <a:ext cx="3250363" cy="2011634"/>
          </a:xfrm>
          <a:prstGeom prst="rect">
            <a:avLst/>
          </a:prstGeom>
          <a:solidFill>
            <a:srgbClr val="57565A">
              <a:alpha val="1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spcFirstLastPara="0" vert="horz" wrap="square" lIns="243840" tIns="243840" rIns="243840" bIns="243840" numCol="1" spcCol="1270" anchor="t" anchorCtr="0">
            <a:noAutofit/>
          </a:bodyPr>
          <a:lstStyle/>
          <a:p>
            <a:pPr lvl="0" defTabSz="888978">
              <a:lnSpc>
                <a:spcPct val="90000"/>
              </a:lnSpc>
              <a:spcBef>
                <a:spcPct val="0"/>
              </a:spcBef>
              <a:spcAft>
                <a:spcPts val="267"/>
              </a:spcAft>
            </a:pPr>
            <a:r>
              <a:rPr lang="fr-FR" sz="2133" kern="0" dirty="0">
                <a:solidFill>
                  <a:srgbClr val="57565A"/>
                </a:solidFill>
                <a:latin typeface="Open Sans Light"/>
              </a:rPr>
              <a:t>Regroupe les activités de Recherche et développement du group SG CIB</a:t>
            </a:r>
            <a:endParaRPr kumimoji="0" lang="en-US" sz="2133" b="0" i="0" u="none" strike="noStrike" kern="0" cap="none" spc="0" normalizeH="0" baseline="0" noProof="0" dirty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2325AB-FA8C-4FD0-8B1E-B539726EB1EC}"/>
              </a:ext>
            </a:extLst>
          </p:cNvPr>
          <p:cNvSpPr/>
          <p:nvPr/>
        </p:nvSpPr>
        <p:spPr>
          <a:xfrm>
            <a:off x="7312225" y="2907329"/>
            <a:ext cx="3250363" cy="947952"/>
          </a:xfrm>
          <a:prstGeom prst="rect">
            <a:avLst/>
          </a:prstGeom>
          <a:gradFill>
            <a:gsLst>
              <a:gs pos="0">
                <a:srgbClr val="5BBE77">
                  <a:lumMod val="75000"/>
                </a:srgbClr>
              </a:gs>
              <a:gs pos="32000">
                <a:srgbClr val="5BBE77"/>
              </a:gs>
            </a:gsLst>
            <a:lin ang="0" scaled="1"/>
          </a:gradFill>
          <a:ln w="25400" cap="flat" cmpd="sng" algn="ctr">
            <a:noFill/>
            <a:prstDash val="solid"/>
          </a:ln>
          <a:effectLst/>
        </p:spPr>
        <p:txBody>
          <a:bodyPr spcFirstLastPara="0" vert="horz" wrap="square" lIns="365760" tIns="304800" rIns="243840" bIns="304800" numCol="1" spcCol="1270" anchor="t" anchorCtr="0">
            <a:spAutoFit/>
          </a:bodyPr>
          <a:lstStyle/>
          <a:p>
            <a:pPr marL="0" marR="0" lvl="0" indent="0" defTabSz="888978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lang="fr-FR" sz="2400" kern="0" noProof="0" dirty="0">
                <a:solidFill>
                  <a:srgbClr val="FFFFFF"/>
                </a:solidFill>
                <a:latin typeface="Open Sans Light"/>
              </a:rPr>
              <a:t>Activité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3" name="Parallelogram 246">
            <a:extLst>
              <a:ext uri="{FF2B5EF4-FFF2-40B4-BE49-F238E27FC236}">
                <a16:creationId xmlns:a16="http://schemas.microsoft.com/office/drawing/2014/main" id="{C064DC2A-CAFC-4568-B5E5-AC56D5E5CF8D}"/>
              </a:ext>
            </a:extLst>
          </p:cNvPr>
          <p:cNvSpPr/>
          <p:nvPr/>
        </p:nvSpPr>
        <p:spPr>
          <a:xfrm rot="5400000" flipV="1">
            <a:off x="6883683" y="3157563"/>
            <a:ext cx="1126907" cy="269817"/>
          </a:xfrm>
          <a:prstGeom prst="parallelogram">
            <a:avLst>
              <a:gd name="adj" fmla="val 66077"/>
            </a:avLst>
          </a:prstGeom>
          <a:solidFill>
            <a:srgbClr val="27A6C2">
              <a:lumMod val="5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99982F-F5E7-4CEC-844D-B683660FE3E9}"/>
              </a:ext>
            </a:extLst>
          </p:cNvPr>
          <p:cNvSpPr/>
          <p:nvPr/>
        </p:nvSpPr>
        <p:spPr>
          <a:xfrm>
            <a:off x="1789139" y="4113444"/>
            <a:ext cx="2892456" cy="1704718"/>
          </a:xfrm>
          <a:prstGeom prst="rect">
            <a:avLst/>
          </a:prstGeom>
          <a:solidFill>
            <a:srgbClr val="57565A">
              <a:alpha val="1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spcFirstLastPara="0" vert="horz" wrap="square" lIns="243840" tIns="243840" rIns="243840" bIns="243840" numCol="1" spcCol="1270" anchor="t" anchorCtr="0">
            <a:noAutofit/>
          </a:bodyPr>
          <a:lstStyle/>
          <a:p>
            <a:pPr marL="0" marR="0" lvl="0" indent="0" defTabSz="888978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lang="fr-FR" sz="2133" kern="0" dirty="0">
                <a:solidFill>
                  <a:srgbClr val="57565A"/>
                </a:solidFill>
                <a:latin typeface="Open Sans Light"/>
              </a:rPr>
              <a:t>2014, Casablanca</a:t>
            </a:r>
            <a:endParaRPr kumimoji="0" lang="en-US" sz="2133" b="0" i="0" u="none" strike="noStrike" kern="0" cap="none" spc="0" normalizeH="0" baseline="0" noProof="0" dirty="0">
              <a:ln>
                <a:noFill/>
              </a:ln>
              <a:solidFill>
                <a:srgbClr val="57565A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5" name="Parallelogram 252">
            <a:extLst>
              <a:ext uri="{FF2B5EF4-FFF2-40B4-BE49-F238E27FC236}">
                <a16:creationId xmlns:a16="http://schemas.microsoft.com/office/drawing/2014/main" id="{DFFEF84E-AA09-489B-9CBE-1C58936C8ED7}"/>
              </a:ext>
            </a:extLst>
          </p:cNvPr>
          <p:cNvSpPr/>
          <p:nvPr/>
        </p:nvSpPr>
        <p:spPr>
          <a:xfrm rot="5400000" flipV="1">
            <a:off x="4268506" y="3415082"/>
            <a:ext cx="1126908" cy="269817"/>
          </a:xfrm>
          <a:prstGeom prst="parallelogram">
            <a:avLst>
              <a:gd name="adj" fmla="val 66077"/>
            </a:avLst>
          </a:prstGeom>
          <a:solidFill>
            <a:srgbClr val="2099D8">
              <a:lumMod val="5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E11FBC-F9AD-4B96-B251-9AFBAB1C6412}"/>
              </a:ext>
            </a:extLst>
          </p:cNvPr>
          <p:cNvSpPr/>
          <p:nvPr/>
        </p:nvSpPr>
        <p:spPr>
          <a:xfrm>
            <a:off x="1494686" y="3076014"/>
            <a:ext cx="3250363" cy="947952"/>
          </a:xfrm>
          <a:prstGeom prst="rect">
            <a:avLst/>
          </a:prstGeom>
          <a:solidFill>
            <a:srgbClr val="2099D8"/>
          </a:solidFill>
          <a:ln w="25400" cap="flat" cmpd="sng" algn="ctr">
            <a:noFill/>
            <a:prstDash val="solid"/>
          </a:ln>
          <a:effectLst/>
        </p:spPr>
        <p:txBody>
          <a:bodyPr spcFirstLastPara="0" vert="horz" wrap="square" lIns="243840" tIns="304800" rIns="243840" bIns="304800" numCol="1" spcCol="1270" anchor="t" anchorCtr="0">
            <a:spAutoFit/>
          </a:bodyPr>
          <a:lstStyle/>
          <a:p>
            <a:pPr marL="0" marR="0" lvl="0" indent="0" defTabSz="888978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267"/>
              </a:spcAft>
              <a:buClrTx/>
              <a:buSzTx/>
              <a:buFontTx/>
              <a:buNone/>
              <a:tabLst/>
              <a:defRPr/>
            </a:pPr>
            <a:r>
              <a:rPr lang="fr-FR" sz="2400" kern="0" dirty="0">
                <a:solidFill>
                  <a:srgbClr val="FFFFFF"/>
                </a:solidFill>
                <a:latin typeface="Open Sans Light"/>
              </a:rPr>
              <a:t>Création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4158FF-BB9A-42E1-8134-5D32CB917CCD}"/>
              </a:ext>
            </a:extLst>
          </p:cNvPr>
          <p:cNvSpPr/>
          <p:nvPr/>
        </p:nvSpPr>
        <p:spPr>
          <a:xfrm>
            <a:off x="545283" y="233151"/>
            <a:ext cx="10570129" cy="521858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14E3000-C9CC-4364-945D-12311A4F3D51}"/>
              </a:ext>
            </a:extLst>
          </p:cNvPr>
          <p:cNvSpPr txBox="1">
            <a:spLocks/>
          </p:cNvSpPr>
          <p:nvPr/>
        </p:nvSpPr>
        <p:spPr>
          <a:xfrm>
            <a:off x="693953" y="233151"/>
            <a:ext cx="3290818" cy="43693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Organisme d’accueil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29111D-709A-4948-960C-B220E390F508}"/>
              </a:ext>
            </a:extLst>
          </p:cNvPr>
          <p:cNvSpPr/>
          <p:nvPr/>
        </p:nvSpPr>
        <p:spPr>
          <a:xfrm>
            <a:off x="1377387" y="1377194"/>
            <a:ext cx="101857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CIDFont+F3"/>
                <a:ea typeface="Calibri" panose="020F0502020204030204" pitchFamily="34" charset="0"/>
                <a:cs typeface="CIDFont+F3"/>
              </a:rPr>
              <a:t>Société Générale </a:t>
            </a:r>
            <a:r>
              <a:rPr lang="fr-FR" dirty="0" err="1">
                <a:latin typeface="CIDFont+F3"/>
                <a:ea typeface="Calibri" panose="020F0502020204030204" pitchFamily="34" charset="0"/>
                <a:cs typeface="CIDFont+F3"/>
              </a:rPr>
              <a:t>Africa</a:t>
            </a:r>
            <a:r>
              <a:rPr lang="fr-FR" dirty="0">
                <a:latin typeface="CIDFont+F3"/>
                <a:ea typeface="Calibri" panose="020F0502020204030204" pitchFamily="34" charset="0"/>
                <a:cs typeface="CIDFont+F3"/>
              </a:rPr>
              <a:t> Technologies &amp; Services (SG ATS), filiale du groupe Société Générale </a:t>
            </a:r>
            <a:r>
              <a:rPr lang="fr-FR" dirty="0" err="1">
                <a:latin typeface="CIDFont+F3"/>
                <a:ea typeface="Calibri" panose="020F0502020204030204" pitchFamily="34" charset="0"/>
                <a:cs typeface="CIDFont+F3"/>
              </a:rPr>
              <a:t>Corporate</a:t>
            </a:r>
            <a:r>
              <a:rPr lang="fr-FR" dirty="0">
                <a:latin typeface="CIDFont+F3"/>
                <a:ea typeface="Calibri" panose="020F0502020204030204" pitchFamily="34" charset="0"/>
                <a:cs typeface="CIDFont+F3"/>
              </a:rPr>
              <a:t> &amp; Investment Banking.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34054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F79547-7213-4F6F-9006-661096FCB36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5942" y="1066802"/>
            <a:ext cx="9970316" cy="444616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6EFC2244-CEE7-48FA-AA74-99B9C6F3AE96}"/>
              </a:ext>
            </a:extLst>
          </p:cNvPr>
          <p:cNvSpPr/>
          <p:nvPr/>
        </p:nvSpPr>
        <p:spPr>
          <a:xfrm>
            <a:off x="1581324" y="2583808"/>
            <a:ext cx="444617" cy="226503"/>
          </a:xfrm>
          <a:prstGeom prst="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B11DC7D-DA86-42D3-80E3-D2380BDF04B6}"/>
              </a:ext>
            </a:extLst>
          </p:cNvPr>
          <p:cNvSpPr/>
          <p:nvPr/>
        </p:nvSpPr>
        <p:spPr>
          <a:xfrm>
            <a:off x="5243119" y="3849920"/>
            <a:ext cx="903215" cy="294241"/>
          </a:xfrm>
          <a:prstGeom prst="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0724260-2F0E-4205-8E2F-D5DB39A16CB7}"/>
              </a:ext>
            </a:extLst>
          </p:cNvPr>
          <p:cNvSpPr/>
          <p:nvPr/>
        </p:nvSpPr>
        <p:spPr>
          <a:xfrm>
            <a:off x="0" y="2340527"/>
            <a:ext cx="1501630" cy="713064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>
                <a:solidFill>
                  <a:schemeClr val="bg1"/>
                </a:solidFill>
              </a:rPr>
              <a:t>Départements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D5E2652-3DEB-4E85-82DF-B185E965FF61}"/>
              </a:ext>
            </a:extLst>
          </p:cNvPr>
          <p:cNvSpPr/>
          <p:nvPr/>
        </p:nvSpPr>
        <p:spPr>
          <a:xfrm>
            <a:off x="3280080" y="3606639"/>
            <a:ext cx="1728132" cy="713064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Divisions</a:t>
            </a:r>
            <a:endParaRPr lang="fr-FR" sz="120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755ADCE-4B5F-403E-9FB8-53EC130D8DE2}"/>
              </a:ext>
            </a:extLst>
          </p:cNvPr>
          <p:cNvSpPr/>
          <p:nvPr/>
        </p:nvSpPr>
        <p:spPr>
          <a:xfrm>
            <a:off x="3670809" y="4744747"/>
            <a:ext cx="1728132" cy="713064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Equipes</a:t>
            </a:r>
            <a:endParaRPr lang="fr-FR" sz="1200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FB99AD-2AEE-4B0E-9593-091263713B8C}"/>
              </a:ext>
            </a:extLst>
          </p:cNvPr>
          <p:cNvSpPr/>
          <p:nvPr/>
        </p:nvSpPr>
        <p:spPr>
          <a:xfrm>
            <a:off x="545283" y="233151"/>
            <a:ext cx="10570129" cy="538636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A1B6CE2F-BD39-4110-B9F4-FD8AEE9C8D0C}"/>
              </a:ext>
            </a:extLst>
          </p:cNvPr>
          <p:cNvSpPr txBox="1">
            <a:spLocks/>
          </p:cNvSpPr>
          <p:nvPr/>
        </p:nvSpPr>
        <p:spPr>
          <a:xfrm>
            <a:off x="693953" y="233151"/>
            <a:ext cx="3227455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Organisme d’accueil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7B4E73-954C-4572-9E46-7C855F7A7C66}"/>
              </a:ext>
            </a:extLst>
          </p:cNvPr>
          <p:cNvSpPr/>
          <p:nvPr/>
        </p:nvSpPr>
        <p:spPr>
          <a:xfrm>
            <a:off x="1501630" y="994372"/>
            <a:ext cx="9989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CIDFont+F3"/>
                <a:ea typeface="Calibri" panose="020F0502020204030204" pitchFamily="34" charset="0"/>
                <a:cs typeface="CIDFont+F3"/>
              </a:rPr>
              <a:t>SG ATS organigramme :</a:t>
            </a:r>
            <a:endParaRPr lang="fr-FR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1882ED-38E0-4753-BBB9-2030DB35FC30}"/>
              </a:ext>
            </a:extLst>
          </p:cNvPr>
          <p:cNvSpPr/>
          <p:nvPr/>
        </p:nvSpPr>
        <p:spPr>
          <a:xfrm>
            <a:off x="5491480" y="4744747"/>
            <a:ext cx="1112520" cy="84065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834815C-2B4E-4EC8-9F62-DAC20F47C32D}"/>
              </a:ext>
            </a:extLst>
          </p:cNvPr>
          <p:cNvSpPr/>
          <p:nvPr/>
        </p:nvSpPr>
        <p:spPr>
          <a:xfrm>
            <a:off x="5676558" y="5021760"/>
            <a:ext cx="838884" cy="286624"/>
          </a:xfrm>
          <a:prstGeom prst="rightArrow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353700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5" grpId="0" animBg="1"/>
      <p:bldP spid="14" grpId="0" animBg="1"/>
      <p:bldP spid="15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5164F9-7632-4FD1-B185-B74E220FBEF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789" y="2659310"/>
            <a:ext cx="6248417" cy="347304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4D87A3C-DF43-471A-829C-2A917E7F0513}"/>
              </a:ext>
            </a:extLst>
          </p:cNvPr>
          <p:cNvSpPr/>
          <p:nvPr/>
        </p:nvSpPr>
        <p:spPr>
          <a:xfrm>
            <a:off x="545283" y="233151"/>
            <a:ext cx="10570129" cy="538636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6901674-1FFF-4862-8D41-29422299F740}"/>
              </a:ext>
            </a:extLst>
          </p:cNvPr>
          <p:cNvSpPr txBox="1">
            <a:spLocks/>
          </p:cNvSpPr>
          <p:nvPr/>
        </p:nvSpPr>
        <p:spPr>
          <a:xfrm>
            <a:off x="693952" y="276978"/>
            <a:ext cx="5773959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Contexte général du projet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3B7B12-4EAF-4044-B7CE-C04B4CCF5E00}"/>
              </a:ext>
            </a:extLst>
          </p:cNvPr>
          <p:cNvSpPr/>
          <p:nvPr/>
        </p:nvSpPr>
        <p:spPr>
          <a:xfrm>
            <a:off x="1336645" y="990044"/>
            <a:ext cx="9518709" cy="671915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fr-FR" b="1" dirty="0">
                <a:latin typeface="CIDFont+F3"/>
                <a:ea typeface="Calibri" panose="020F0502020204030204" pitchFamily="34" charset="0"/>
                <a:cs typeface="Times New Roman" panose="02020603050405020304" pitchFamily="18" charset="0"/>
              </a:rPr>
              <a:t>Le Cloud </a:t>
            </a:r>
            <a:r>
              <a:rPr lang="fr-FR" b="1" dirty="0" err="1">
                <a:latin typeface="CIDFont+F3"/>
                <a:ea typeface="Calibri" panose="020F0502020204030204" pitchFamily="34" charset="0"/>
                <a:cs typeface="Times New Roman" panose="02020603050405020304" pitchFamily="18" charset="0"/>
              </a:rPr>
              <a:t>Computing</a:t>
            </a:r>
            <a:r>
              <a:rPr lang="fr-FR" dirty="0">
                <a:latin typeface="CIDFont+F3"/>
                <a:ea typeface="Calibri" panose="020F0502020204030204" pitchFamily="34" charset="0"/>
                <a:cs typeface="Times New Roman" panose="02020603050405020304" pitchFamily="18" charset="0"/>
              </a:rPr>
              <a:t> est la fourniture de services informatiques (serveurs, bases de données, gestion réseau, logiciels, et outils d’analyse) via Internet.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8D7A11-BB22-462E-A404-8D173F0A2C86}"/>
              </a:ext>
            </a:extLst>
          </p:cNvPr>
          <p:cNvSpPr/>
          <p:nvPr/>
        </p:nvSpPr>
        <p:spPr>
          <a:xfrm>
            <a:off x="1336644" y="1880216"/>
            <a:ext cx="9518709" cy="671915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fr-FR" dirty="0">
                <a:latin typeface="CIDFont+F3"/>
                <a:ea typeface="Calibri" panose="020F0502020204030204" pitchFamily="34" charset="0"/>
                <a:cs typeface="Times New Roman" panose="02020603050405020304" pitchFamily="18" charset="0"/>
              </a:rPr>
              <a:t>On paye en fonction de l’utilisation en réduisant ainsi les coûts d’exploitation, et on gère l’infrastructure plus efficacement.</a:t>
            </a:r>
            <a:endParaRPr lang="en-US" dirty="0">
              <a:latin typeface="CIDFont+F3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17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542A970-F36F-4E1F-91E3-6C27BAF8C3E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134" y="1677797"/>
            <a:ext cx="9076888" cy="433291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07D3A9F-8711-4DCD-A598-C3602BDCCF67}"/>
              </a:ext>
            </a:extLst>
          </p:cNvPr>
          <p:cNvSpPr/>
          <p:nvPr/>
        </p:nvSpPr>
        <p:spPr>
          <a:xfrm>
            <a:off x="545283" y="233151"/>
            <a:ext cx="10570129" cy="538636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DEFEBD8-D98B-4BDE-BAF0-0FE15EB5B1CF}"/>
              </a:ext>
            </a:extLst>
          </p:cNvPr>
          <p:cNvSpPr txBox="1">
            <a:spLocks/>
          </p:cNvSpPr>
          <p:nvPr/>
        </p:nvSpPr>
        <p:spPr>
          <a:xfrm>
            <a:off x="693952" y="276978"/>
            <a:ext cx="5320953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Contexte général du de projet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0148FE1-62A9-4F61-9019-8DC054512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1674" y="847289"/>
            <a:ext cx="10706099" cy="538636"/>
          </a:xfrm>
        </p:spPr>
        <p:txBody>
          <a:bodyPr/>
          <a:lstStyle/>
          <a:p>
            <a:pPr algn="l"/>
            <a:r>
              <a:rPr lang="fr-FR" sz="1800" cap="none" dirty="0">
                <a:latin typeface="CIDFont+F3"/>
              </a:rPr>
              <a:t>Les modèles d’utilisation des services Cloud :</a:t>
            </a:r>
          </a:p>
        </p:txBody>
      </p:sp>
    </p:spTree>
    <p:extLst>
      <p:ext uri="{BB962C8B-B14F-4D97-AF65-F5344CB8AC3E}">
        <p14:creationId xmlns:p14="http://schemas.microsoft.com/office/powerpoint/2010/main" val="822262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opologie et applications de service cloud">
            <a:extLst>
              <a:ext uri="{FF2B5EF4-FFF2-40B4-BE49-F238E27FC236}">
                <a16:creationId xmlns:a16="http://schemas.microsoft.com/office/drawing/2014/main" id="{08B9E565-2DD3-44B1-A4CF-8C726EB8E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928" y="2215533"/>
            <a:ext cx="7696197" cy="3181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5DA9D5C-03A3-4E18-905B-A698922ED4D5}"/>
              </a:ext>
            </a:extLst>
          </p:cNvPr>
          <p:cNvSpPr/>
          <p:nvPr/>
        </p:nvSpPr>
        <p:spPr>
          <a:xfrm>
            <a:off x="545283" y="233151"/>
            <a:ext cx="10570129" cy="538636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9ADF524-DBC9-4378-9FDB-BB4215EFB9A4}"/>
              </a:ext>
            </a:extLst>
          </p:cNvPr>
          <p:cNvSpPr txBox="1">
            <a:spLocks/>
          </p:cNvSpPr>
          <p:nvPr/>
        </p:nvSpPr>
        <p:spPr>
          <a:xfrm>
            <a:off x="693952" y="276978"/>
            <a:ext cx="540204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Contexte général du projet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02890FF-9AF9-4589-96A2-5E8542D89B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1674" y="847289"/>
            <a:ext cx="10706099" cy="538636"/>
          </a:xfrm>
        </p:spPr>
        <p:txBody>
          <a:bodyPr/>
          <a:lstStyle/>
          <a:p>
            <a:pPr algn="l"/>
            <a:r>
              <a:rPr lang="fr-FR" sz="1800" cap="none" dirty="0">
                <a:latin typeface="CIDFont+F3"/>
              </a:rPr>
              <a:t>La SG ATS utilise le mode d’exploitation PaaS pour le déploiement de ses services 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4A9D5F-46C5-472D-9879-7654C7783AAB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953" y="1460523"/>
            <a:ext cx="7533315" cy="436982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56684F1-53EB-4311-8838-AF4F9C4CE8C2}"/>
              </a:ext>
            </a:extLst>
          </p:cNvPr>
          <p:cNvSpPr/>
          <p:nvPr/>
        </p:nvSpPr>
        <p:spPr>
          <a:xfrm>
            <a:off x="5318620" y="2451683"/>
            <a:ext cx="2768367" cy="3181944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D6874E-75E8-425F-9CE3-B5428D36C039}"/>
              </a:ext>
            </a:extLst>
          </p:cNvPr>
          <p:cNvSpPr txBox="1"/>
          <p:nvPr/>
        </p:nvSpPr>
        <p:spPr>
          <a:xfrm>
            <a:off x="8615494" y="2057400"/>
            <a:ext cx="2032467" cy="5956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100" b="1" dirty="0">
                <a:solidFill>
                  <a:srgbClr val="FF0000"/>
                </a:solidFill>
              </a:rPr>
              <a:t>package de déploiement de service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0537016-E486-4DCC-AFD9-2AE0494E5EB7}"/>
              </a:ext>
            </a:extLst>
          </p:cNvPr>
          <p:cNvCxnSpPr>
            <a:cxnSpLocks/>
          </p:cNvCxnSpPr>
          <p:nvPr/>
        </p:nvCxnSpPr>
        <p:spPr>
          <a:xfrm flipH="1">
            <a:off x="8145711" y="2355209"/>
            <a:ext cx="469784" cy="29780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8927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7C871A2-0805-4CD2-8FD0-F141D723DCC9}"/>
              </a:ext>
            </a:extLst>
          </p:cNvPr>
          <p:cNvSpPr/>
          <p:nvPr/>
        </p:nvSpPr>
        <p:spPr>
          <a:xfrm>
            <a:off x="545283" y="233151"/>
            <a:ext cx="10570129" cy="538636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CB63E26-6886-40CB-9E59-8422A8E74FE2}"/>
              </a:ext>
            </a:extLst>
          </p:cNvPr>
          <p:cNvSpPr txBox="1">
            <a:spLocks/>
          </p:cNvSpPr>
          <p:nvPr/>
        </p:nvSpPr>
        <p:spPr>
          <a:xfrm>
            <a:off x="693952" y="276978"/>
            <a:ext cx="540204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Contexte général du projet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31143C7-6992-479B-920C-251863686F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387" y="1026476"/>
            <a:ext cx="10706099" cy="538636"/>
          </a:xfrm>
        </p:spPr>
        <p:txBody>
          <a:bodyPr/>
          <a:lstStyle/>
          <a:p>
            <a:pPr algn="l"/>
            <a:r>
              <a:rPr lang="fr-FR" sz="1800" b="1" cap="none" dirty="0">
                <a:latin typeface="CIDFont+F3"/>
              </a:rPr>
              <a:t>Concept d’auto </a:t>
            </a:r>
            <a:r>
              <a:rPr lang="fr-FR" sz="1800" b="1" cap="none" dirty="0" err="1">
                <a:latin typeface="CIDFont+F3"/>
              </a:rPr>
              <a:t>scaling</a:t>
            </a:r>
            <a:r>
              <a:rPr lang="fr-FR" sz="1800" b="1" cap="none" dirty="0">
                <a:latin typeface="CIDFont+F3"/>
              </a:rPr>
              <a:t> </a:t>
            </a:r>
            <a:r>
              <a:rPr lang="fr-FR" sz="1800" cap="none" dirty="0">
                <a:latin typeface="CIDFont+F3"/>
              </a:rPr>
              <a:t>: L’auto </a:t>
            </a:r>
            <a:r>
              <a:rPr lang="fr-FR" sz="1800" cap="none" dirty="0" err="1">
                <a:latin typeface="CIDFont+F3"/>
              </a:rPr>
              <a:t>scaling</a:t>
            </a:r>
            <a:r>
              <a:rPr lang="fr-FR" sz="1800" cap="none" dirty="0">
                <a:latin typeface="CIDFont+F3"/>
              </a:rPr>
              <a:t> est une méthode qui permet d’avoir le nombre de machines nécessaires pour gérer la charge d’une application.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9E05A7E-02CE-43FD-BC53-6A09885C00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491" y="3234206"/>
            <a:ext cx="7550371" cy="130038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3A2B38D-ABDD-410B-B8D6-A76690252D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9427" y="1673214"/>
            <a:ext cx="7404056" cy="1300387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7AF261CA-FCAA-4AF2-911F-B60DE23FE929}"/>
              </a:ext>
            </a:extLst>
          </p:cNvPr>
          <p:cNvSpPr/>
          <p:nvPr/>
        </p:nvSpPr>
        <p:spPr>
          <a:xfrm>
            <a:off x="1286737" y="2054090"/>
            <a:ext cx="1980227" cy="538636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Flux : 2 </a:t>
            </a:r>
            <a:r>
              <a:rPr lang="fr-FR" sz="1200" dirty="0" err="1"/>
              <a:t>req</a:t>
            </a:r>
            <a:r>
              <a:rPr lang="fr-FR" sz="1200" dirty="0"/>
              <a:t>/sec 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9E1C25F-E691-42E3-82E4-B82BDAFA3166}"/>
              </a:ext>
            </a:extLst>
          </p:cNvPr>
          <p:cNvSpPr/>
          <p:nvPr/>
        </p:nvSpPr>
        <p:spPr>
          <a:xfrm>
            <a:off x="1286737" y="3632146"/>
            <a:ext cx="1980227" cy="504507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Flux = 4 </a:t>
            </a:r>
            <a:r>
              <a:rPr lang="fr-FR" sz="1200" dirty="0" err="1"/>
              <a:t>req</a:t>
            </a:r>
            <a:r>
              <a:rPr lang="fr-FR" sz="1200" dirty="0"/>
              <a:t>/sec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171E4A1-AECB-4E61-BEDB-D7DA351E82EE}"/>
              </a:ext>
            </a:extLst>
          </p:cNvPr>
          <p:cNvCxnSpPr/>
          <p:nvPr/>
        </p:nvCxnSpPr>
        <p:spPr>
          <a:xfrm>
            <a:off x="2273417" y="2785145"/>
            <a:ext cx="0" cy="643855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9EE974E-7E88-4E2B-A775-58DE79ABBE85}"/>
              </a:ext>
            </a:extLst>
          </p:cNvPr>
          <p:cNvSpPr txBox="1"/>
          <p:nvPr/>
        </p:nvSpPr>
        <p:spPr>
          <a:xfrm>
            <a:off x="642255" y="2973601"/>
            <a:ext cx="2032467" cy="5956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100" b="1" dirty="0">
                <a:solidFill>
                  <a:srgbClr val="FF0000"/>
                </a:solidFill>
              </a:rPr>
              <a:t>Après 5min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371101F-5051-48A3-9B56-30E24EAC068C}"/>
              </a:ext>
            </a:extLst>
          </p:cNvPr>
          <p:cNvSpPr/>
          <p:nvPr/>
        </p:nvSpPr>
        <p:spPr>
          <a:xfrm>
            <a:off x="6845417" y="3380670"/>
            <a:ext cx="2474752" cy="124172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7A83EA-7BD5-4B29-95E3-4D81CB73392F}"/>
              </a:ext>
            </a:extLst>
          </p:cNvPr>
          <p:cNvSpPr txBox="1"/>
          <p:nvPr/>
        </p:nvSpPr>
        <p:spPr>
          <a:xfrm>
            <a:off x="7066559" y="3039673"/>
            <a:ext cx="2032467" cy="5956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100" b="1" dirty="0">
                <a:solidFill>
                  <a:srgbClr val="FF0000"/>
                </a:solidFill>
              </a:rPr>
              <a:t>Deux machines créées</a:t>
            </a:r>
          </a:p>
        </p:txBody>
      </p:sp>
    </p:spTree>
    <p:extLst>
      <p:ext uri="{BB962C8B-B14F-4D97-AF65-F5344CB8AC3E}">
        <p14:creationId xmlns:p14="http://schemas.microsoft.com/office/powerpoint/2010/main" val="193214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7" grpId="0"/>
      <p:bldP spid="33" grpId="0" animBg="1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7C871A2-0805-4CD2-8FD0-F141D723DCC9}"/>
              </a:ext>
            </a:extLst>
          </p:cNvPr>
          <p:cNvSpPr/>
          <p:nvPr/>
        </p:nvSpPr>
        <p:spPr>
          <a:xfrm>
            <a:off x="545283" y="233151"/>
            <a:ext cx="10570129" cy="538636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CB63E26-6886-40CB-9E59-8422A8E74FE2}"/>
              </a:ext>
            </a:extLst>
          </p:cNvPr>
          <p:cNvSpPr txBox="1">
            <a:spLocks/>
          </p:cNvSpPr>
          <p:nvPr/>
        </p:nvSpPr>
        <p:spPr>
          <a:xfrm>
            <a:off x="693952" y="276978"/>
            <a:ext cx="540204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Contexte général du de projet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31143C7-6992-479B-920C-251863686F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387" y="1026476"/>
            <a:ext cx="10706099" cy="538636"/>
          </a:xfrm>
        </p:spPr>
        <p:txBody>
          <a:bodyPr/>
          <a:lstStyle/>
          <a:p>
            <a:pPr algn="l"/>
            <a:r>
              <a:rPr lang="fr-FR" sz="1800" b="1" cap="none" dirty="0">
                <a:latin typeface="CIDFont+F3"/>
              </a:rPr>
              <a:t>Concept d’auto </a:t>
            </a:r>
            <a:r>
              <a:rPr lang="fr-FR" sz="1800" b="1" cap="none" dirty="0" err="1">
                <a:latin typeface="CIDFont+F3"/>
              </a:rPr>
              <a:t>scaling</a:t>
            </a:r>
            <a:r>
              <a:rPr lang="fr-FR" sz="1800" b="1" cap="none" dirty="0">
                <a:latin typeface="CIDFont+F3"/>
              </a:rPr>
              <a:t> </a:t>
            </a:r>
            <a:r>
              <a:rPr lang="fr-FR" sz="1800" cap="none" dirty="0">
                <a:latin typeface="CIDFont+F3"/>
              </a:rPr>
              <a:t>: L’auto </a:t>
            </a:r>
            <a:r>
              <a:rPr lang="fr-FR" sz="1800" cap="none" dirty="0" err="1">
                <a:latin typeface="CIDFont+F3"/>
              </a:rPr>
              <a:t>scaling</a:t>
            </a:r>
            <a:r>
              <a:rPr lang="fr-FR" sz="1800" cap="none" dirty="0">
                <a:latin typeface="CIDFont+F3"/>
              </a:rPr>
              <a:t> est une méthode qui permet d’avoir le nombre de machine nécessaires pour gérer la charge d’une application.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9E05A7E-02CE-43FD-BC53-6A09885C00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491" y="3234206"/>
            <a:ext cx="7550371" cy="130038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3A2B38D-ABDD-410B-B8D6-A76690252D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9427" y="1673214"/>
            <a:ext cx="7404056" cy="1300387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7AF261CA-FCAA-4AF2-911F-B60DE23FE929}"/>
              </a:ext>
            </a:extLst>
          </p:cNvPr>
          <p:cNvSpPr/>
          <p:nvPr/>
        </p:nvSpPr>
        <p:spPr>
          <a:xfrm>
            <a:off x="1286737" y="2054090"/>
            <a:ext cx="1980227" cy="538636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Flux : 2 </a:t>
            </a:r>
            <a:r>
              <a:rPr lang="fr-FR" sz="1200" dirty="0" err="1"/>
              <a:t>req</a:t>
            </a:r>
            <a:r>
              <a:rPr lang="fr-FR" sz="1200" dirty="0"/>
              <a:t>/sec 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9E1C25F-E691-42E3-82E4-B82BDAFA3166}"/>
              </a:ext>
            </a:extLst>
          </p:cNvPr>
          <p:cNvSpPr/>
          <p:nvPr/>
        </p:nvSpPr>
        <p:spPr>
          <a:xfrm>
            <a:off x="1286737" y="3632146"/>
            <a:ext cx="1980227" cy="504507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Flux = 4 </a:t>
            </a:r>
            <a:r>
              <a:rPr lang="fr-FR" sz="1200" dirty="0" err="1"/>
              <a:t>req</a:t>
            </a:r>
            <a:r>
              <a:rPr lang="fr-FR" sz="1200" dirty="0"/>
              <a:t>/sec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171E4A1-AECB-4E61-BEDB-D7DA351E82EE}"/>
              </a:ext>
            </a:extLst>
          </p:cNvPr>
          <p:cNvCxnSpPr/>
          <p:nvPr/>
        </p:nvCxnSpPr>
        <p:spPr>
          <a:xfrm>
            <a:off x="2273417" y="2785145"/>
            <a:ext cx="0" cy="643855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9EE974E-7E88-4E2B-A775-58DE79ABBE85}"/>
              </a:ext>
            </a:extLst>
          </p:cNvPr>
          <p:cNvSpPr txBox="1"/>
          <p:nvPr/>
        </p:nvSpPr>
        <p:spPr>
          <a:xfrm>
            <a:off x="642255" y="2973601"/>
            <a:ext cx="2032467" cy="5956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100" b="1" dirty="0">
                <a:solidFill>
                  <a:srgbClr val="FF0000"/>
                </a:solidFill>
              </a:rPr>
              <a:t>Après 5min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CF97C10-2554-4D09-9AE3-AFF6C46FB559}"/>
              </a:ext>
            </a:extLst>
          </p:cNvPr>
          <p:cNvSpPr/>
          <p:nvPr/>
        </p:nvSpPr>
        <p:spPr>
          <a:xfrm>
            <a:off x="1283303" y="5059672"/>
            <a:ext cx="1980227" cy="504507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Flux = 3 </a:t>
            </a:r>
            <a:r>
              <a:rPr lang="fr-FR" sz="1200" dirty="0" err="1"/>
              <a:t>req</a:t>
            </a:r>
            <a:r>
              <a:rPr lang="fr-FR" sz="1200" dirty="0"/>
              <a:t>/sec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5CD59E-FE31-4A3F-B98F-57DB3C14E4B5}"/>
              </a:ext>
            </a:extLst>
          </p:cNvPr>
          <p:cNvSpPr txBox="1"/>
          <p:nvPr/>
        </p:nvSpPr>
        <p:spPr>
          <a:xfrm>
            <a:off x="598137" y="4464054"/>
            <a:ext cx="2032467" cy="5956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100" b="1" dirty="0">
                <a:solidFill>
                  <a:srgbClr val="FF0000"/>
                </a:solidFill>
              </a:rPr>
              <a:t>Après 2min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C9CA585-FD3B-4F87-B70A-370B0FCC3B1B}"/>
              </a:ext>
            </a:extLst>
          </p:cNvPr>
          <p:cNvCxnSpPr/>
          <p:nvPr/>
        </p:nvCxnSpPr>
        <p:spPr>
          <a:xfrm>
            <a:off x="2266426" y="4275933"/>
            <a:ext cx="0" cy="643855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1958C67E-3C10-4282-B8F8-C5E65F28B1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491" y="4783663"/>
            <a:ext cx="7539995" cy="124172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E6256E5-DB9C-4ADA-80D9-2E52497CAE03}"/>
              </a:ext>
            </a:extLst>
          </p:cNvPr>
          <p:cNvSpPr txBox="1"/>
          <p:nvPr/>
        </p:nvSpPr>
        <p:spPr>
          <a:xfrm>
            <a:off x="9002065" y="4768862"/>
            <a:ext cx="2032467" cy="5956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100" b="1" dirty="0">
                <a:solidFill>
                  <a:srgbClr val="FF0000"/>
                </a:solidFill>
              </a:rPr>
              <a:t>1 Machine supprimée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46F8644-5FCB-4697-9B09-433EE675E9C6}"/>
              </a:ext>
            </a:extLst>
          </p:cNvPr>
          <p:cNvSpPr/>
          <p:nvPr/>
        </p:nvSpPr>
        <p:spPr>
          <a:xfrm>
            <a:off x="8154098" y="4919788"/>
            <a:ext cx="1166071" cy="117900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915399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688" y="2448734"/>
            <a:ext cx="10706099" cy="980266"/>
          </a:xfrm>
          <a:solidFill>
            <a:srgbClr val="C00000"/>
          </a:solidFill>
        </p:spPr>
        <p:txBody>
          <a:bodyPr anchor="ctr"/>
          <a:lstStyle/>
          <a:p>
            <a:r>
              <a:rPr lang="fr-FR" sz="3600" cap="none" dirty="0">
                <a:solidFill>
                  <a:schemeClr val="bg1"/>
                </a:solidFill>
              </a:rPr>
              <a:t>Conduite De Projet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2DB350-ECCE-49D2-9854-CE63BA543854}"/>
              </a:ext>
            </a:extLst>
          </p:cNvPr>
          <p:cNvCxnSpPr>
            <a:cxnSpLocks/>
          </p:cNvCxnSpPr>
          <p:nvPr/>
        </p:nvCxnSpPr>
        <p:spPr>
          <a:xfrm>
            <a:off x="606688" y="3521988"/>
            <a:ext cx="10706098" cy="0"/>
          </a:xfrm>
          <a:prstGeom prst="line">
            <a:avLst/>
          </a:prstGeom>
          <a:ln w="952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884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9CF591B-8915-4097-9B6A-F8CE4EBA1A93}"/>
              </a:ext>
            </a:extLst>
          </p:cNvPr>
          <p:cNvSpPr/>
          <p:nvPr/>
        </p:nvSpPr>
        <p:spPr>
          <a:xfrm>
            <a:off x="570450" y="241540"/>
            <a:ext cx="10570129" cy="538636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90222B8-631D-4878-810A-0B8018259644}"/>
              </a:ext>
            </a:extLst>
          </p:cNvPr>
          <p:cNvSpPr txBox="1">
            <a:spLocks/>
          </p:cNvSpPr>
          <p:nvPr/>
        </p:nvSpPr>
        <p:spPr>
          <a:xfrm>
            <a:off x="735898" y="241540"/>
            <a:ext cx="329081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Conduite De Projet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11D4A6-904E-499D-812E-7BE2295F3715}"/>
              </a:ext>
            </a:extLst>
          </p:cNvPr>
          <p:cNvSpPr/>
          <p:nvPr/>
        </p:nvSpPr>
        <p:spPr>
          <a:xfrm>
            <a:off x="1134627" y="999460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2400" dirty="0" err="1">
                <a:solidFill>
                  <a:srgbClr val="202122"/>
                </a:solidFill>
                <a:latin typeface="Arial" panose="020B0604020202020204" pitchFamily="34" charset="0"/>
              </a:rPr>
              <a:t>Extreme</a:t>
            </a:r>
            <a:r>
              <a:rPr lang="fr-FR" sz="2400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fr-FR" sz="2400" dirty="0" err="1">
                <a:solidFill>
                  <a:srgbClr val="202122"/>
                </a:solidFill>
                <a:latin typeface="Arial" panose="020B0604020202020204" pitchFamily="34" charset="0"/>
              </a:rPr>
              <a:t>programming</a:t>
            </a:r>
            <a:r>
              <a:rPr lang="fr-FR" sz="2400" dirty="0">
                <a:solidFill>
                  <a:srgbClr val="202122"/>
                </a:solidFill>
                <a:latin typeface="Arial" panose="020B0604020202020204" pitchFamily="34" charset="0"/>
              </a:rPr>
              <a:t> : XP</a:t>
            </a:r>
            <a:endParaRPr lang="fr-FR" sz="2400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D85BDA-992A-4743-B428-E4BB3B865D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578" y="1753998"/>
            <a:ext cx="8221212" cy="3350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143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6B2F91-8CED-46A7-9E69-F2C58C8DA0BA}"/>
              </a:ext>
            </a:extLst>
          </p:cNvPr>
          <p:cNvSpPr txBox="1"/>
          <p:nvPr/>
        </p:nvSpPr>
        <p:spPr>
          <a:xfrm>
            <a:off x="832931" y="925789"/>
            <a:ext cx="10706098" cy="14964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lvl="1"/>
            <a:r>
              <a:rPr lang="fr-FR" b="1" dirty="0"/>
              <a:t>Diagramme de Gantt partie 1: Pré suspension  </a:t>
            </a:r>
          </a:p>
          <a:p>
            <a:pPr lvl="1"/>
            <a:endParaRPr lang="fr-FR" b="1" dirty="0"/>
          </a:p>
          <a:p>
            <a:pPr lvl="1"/>
            <a:endParaRPr lang="fr-FR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693FD1-4678-4EE6-AE49-A3AC77C597A6}"/>
              </a:ext>
            </a:extLst>
          </p:cNvPr>
          <p:cNvSpPr/>
          <p:nvPr/>
        </p:nvSpPr>
        <p:spPr>
          <a:xfrm>
            <a:off x="570450" y="241540"/>
            <a:ext cx="10570129" cy="538636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2E2294-630C-4C7F-B802-FA20C7762DBA}"/>
              </a:ext>
            </a:extLst>
          </p:cNvPr>
          <p:cNvSpPr txBox="1">
            <a:spLocks/>
          </p:cNvSpPr>
          <p:nvPr/>
        </p:nvSpPr>
        <p:spPr>
          <a:xfrm>
            <a:off x="735898" y="241540"/>
            <a:ext cx="329081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Conduite De Projet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289BFB-5B92-4011-B1D5-3428DD7193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120" y="1342532"/>
            <a:ext cx="8803757" cy="47223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41A8BA1-2A9C-4E2C-95E0-5EED5AFC30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733" y="1898470"/>
            <a:ext cx="8083476" cy="2010799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7D28517-6D1D-4A88-ABF7-561EF766A2DD}"/>
              </a:ext>
            </a:extLst>
          </p:cNvPr>
          <p:cNvSpPr/>
          <p:nvPr/>
        </p:nvSpPr>
        <p:spPr>
          <a:xfrm>
            <a:off x="1727065" y="1910801"/>
            <a:ext cx="8591394" cy="179713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87208B-8823-4D29-A50E-01FA330B875D}"/>
              </a:ext>
            </a:extLst>
          </p:cNvPr>
          <p:cNvSpPr txBox="1"/>
          <p:nvPr/>
        </p:nvSpPr>
        <p:spPr>
          <a:xfrm>
            <a:off x="0" y="1761896"/>
            <a:ext cx="1539049" cy="297809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100" b="1" dirty="0">
                <a:solidFill>
                  <a:srgbClr val="FF0000"/>
                </a:solidFill>
              </a:rPr>
              <a:t>Démarrage de projet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D425161-2E59-413E-BE4D-BC09425EC5F2}"/>
              </a:ext>
            </a:extLst>
          </p:cNvPr>
          <p:cNvCxnSpPr>
            <a:cxnSpLocks/>
          </p:cNvCxnSpPr>
          <p:nvPr/>
        </p:nvCxnSpPr>
        <p:spPr>
          <a:xfrm>
            <a:off x="892611" y="2057084"/>
            <a:ext cx="670204" cy="38787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68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6B2F91-8CED-46A7-9E69-F2C58C8DA0BA}"/>
              </a:ext>
            </a:extLst>
          </p:cNvPr>
          <p:cNvSpPr txBox="1"/>
          <p:nvPr/>
        </p:nvSpPr>
        <p:spPr>
          <a:xfrm>
            <a:off x="832931" y="925789"/>
            <a:ext cx="10706098" cy="14964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lvl="1"/>
            <a:r>
              <a:rPr lang="fr-FR" b="1" dirty="0"/>
              <a:t>Diagramme de Gantt partie 1: Pré suspension</a:t>
            </a:r>
          </a:p>
          <a:p>
            <a:pPr lvl="1"/>
            <a:endParaRPr lang="fr-FR" b="1" dirty="0"/>
          </a:p>
          <a:p>
            <a:pPr lvl="1"/>
            <a:endParaRPr lang="fr-FR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693FD1-4678-4EE6-AE49-A3AC77C597A6}"/>
              </a:ext>
            </a:extLst>
          </p:cNvPr>
          <p:cNvSpPr/>
          <p:nvPr/>
        </p:nvSpPr>
        <p:spPr>
          <a:xfrm>
            <a:off x="570450" y="241540"/>
            <a:ext cx="10570129" cy="538636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2E2294-630C-4C7F-B802-FA20C7762DBA}"/>
              </a:ext>
            </a:extLst>
          </p:cNvPr>
          <p:cNvSpPr txBox="1">
            <a:spLocks/>
          </p:cNvSpPr>
          <p:nvPr/>
        </p:nvSpPr>
        <p:spPr>
          <a:xfrm>
            <a:off x="735898" y="241540"/>
            <a:ext cx="329081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Conduite De Projet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289BFB-5B92-4011-B1D5-3428DD7193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120" y="1342532"/>
            <a:ext cx="8803757" cy="4722323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7D28517-6D1D-4A88-ABF7-561EF766A2DD}"/>
              </a:ext>
            </a:extLst>
          </p:cNvPr>
          <p:cNvSpPr/>
          <p:nvPr/>
        </p:nvSpPr>
        <p:spPr>
          <a:xfrm>
            <a:off x="2004846" y="1910801"/>
            <a:ext cx="7350976" cy="179713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87208B-8823-4D29-A50E-01FA330B875D}"/>
              </a:ext>
            </a:extLst>
          </p:cNvPr>
          <p:cNvSpPr txBox="1"/>
          <p:nvPr/>
        </p:nvSpPr>
        <p:spPr>
          <a:xfrm>
            <a:off x="0" y="1761896"/>
            <a:ext cx="1873541" cy="297809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100" b="1" dirty="0">
                <a:solidFill>
                  <a:srgbClr val="FF0000"/>
                </a:solidFill>
              </a:rPr>
              <a:t>Construction du projet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D425161-2E59-413E-BE4D-BC09425EC5F2}"/>
              </a:ext>
            </a:extLst>
          </p:cNvPr>
          <p:cNvCxnSpPr>
            <a:cxnSpLocks/>
          </p:cNvCxnSpPr>
          <p:nvPr/>
        </p:nvCxnSpPr>
        <p:spPr>
          <a:xfrm>
            <a:off x="892611" y="2057084"/>
            <a:ext cx="670204" cy="38787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446A89B0-94E1-4C8B-9277-206BC2EDC7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582" y="1971412"/>
            <a:ext cx="7038363" cy="161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407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6B2F91-8CED-46A7-9E69-F2C58C8DA0BA}"/>
              </a:ext>
            </a:extLst>
          </p:cNvPr>
          <p:cNvSpPr txBox="1"/>
          <p:nvPr/>
        </p:nvSpPr>
        <p:spPr>
          <a:xfrm>
            <a:off x="832931" y="925789"/>
            <a:ext cx="10706098" cy="14964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lvl="1"/>
            <a:r>
              <a:rPr lang="fr-FR" b="1" dirty="0"/>
              <a:t>Diagramme de Gantt partie 1: Pré suspension</a:t>
            </a:r>
          </a:p>
          <a:p>
            <a:pPr lvl="1"/>
            <a:endParaRPr lang="fr-FR" b="1" dirty="0"/>
          </a:p>
          <a:p>
            <a:pPr lvl="1"/>
            <a:endParaRPr lang="fr-FR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693FD1-4678-4EE6-AE49-A3AC77C597A6}"/>
              </a:ext>
            </a:extLst>
          </p:cNvPr>
          <p:cNvSpPr/>
          <p:nvPr/>
        </p:nvSpPr>
        <p:spPr>
          <a:xfrm>
            <a:off x="570450" y="241540"/>
            <a:ext cx="10570129" cy="538636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2E2294-630C-4C7F-B802-FA20C7762DBA}"/>
              </a:ext>
            </a:extLst>
          </p:cNvPr>
          <p:cNvSpPr txBox="1">
            <a:spLocks/>
          </p:cNvSpPr>
          <p:nvPr/>
        </p:nvSpPr>
        <p:spPr>
          <a:xfrm>
            <a:off x="735898" y="241540"/>
            <a:ext cx="329081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Conduite De Projet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289BFB-5B92-4011-B1D5-3428DD7193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120" y="1342532"/>
            <a:ext cx="8803757" cy="472232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087208B-8823-4D29-A50E-01FA330B875D}"/>
              </a:ext>
            </a:extLst>
          </p:cNvPr>
          <p:cNvSpPr txBox="1"/>
          <p:nvPr/>
        </p:nvSpPr>
        <p:spPr>
          <a:xfrm>
            <a:off x="0" y="1761896"/>
            <a:ext cx="1977705" cy="297809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100" b="1" dirty="0">
                <a:solidFill>
                  <a:srgbClr val="FF0000"/>
                </a:solidFill>
              </a:rPr>
              <a:t>Développement du projet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D425161-2E59-413E-BE4D-BC09425EC5F2}"/>
              </a:ext>
            </a:extLst>
          </p:cNvPr>
          <p:cNvCxnSpPr>
            <a:cxnSpLocks/>
          </p:cNvCxnSpPr>
          <p:nvPr/>
        </p:nvCxnSpPr>
        <p:spPr>
          <a:xfrm>
            <a:off x="892611" y="2057084"/>
            <a:ext cx="670204" cy="38787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5A07AA7-D078-4653-AB17-B6325FF1B4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1390" y="2057084"/>
            <a:ext cx="7971130" cy="3718876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7D28517-6D1D-4A88-ABF7-561EF766A2DD}"/>
              </a:ext>
            </a:extLst>
          </p:cNvPr>
          <p:cNvSpPr/>
          <p:nvPr/>
        </p:nvSpPr>
        <p:spPr>
          <a:xfrm>
            <a:off x="2004846" y="2057084"/>
            <a:ext cx="8053554" cy="371887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1162958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DCF0FB1-102C-4F88-A93B-600AFF138A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496" y="1493240"/>
            <a:ext cx="7789952" cy="45382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6B2F91-8CED-46A7-9E69-F2C58C8DA0BA}"/>
              </a:ext>
            </a:extLst>
          </p:cNvPr>
          <p:cNvSpPr txBox="1"/>
          <p:nvPr/>
        </p:nvSpPr>
        <p:spPr>
          <a:xfrm>
            <a:off x="742951" y="915560"/>
            <a:ext cx="10706098" cy="460644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lvl="1"/>
            <a:r>
              <a:rPr lang="fr-FR" b="1" dirty="0"/>
              <a:t>Diagramme de Gantt partie 2 : Post suspension </a:t>
            </a:r>
          </a:p>
          <a:p>
            <a:pPr lvl="1"/>
            <a:endParaRPr lang="fr-FR" b="1" dirty="0"/>
          </a:p>
          <a:p>
            <a:pPr lvl="1"/>
            <a:endParaRPr lang="fr-FR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693FD1-4678-4EE6-AE49-A3AC77C597A6}"/>
              </a:ext>
            </a:extLst>
          </p:cNvPr>
          <p:cNvSpPr/>
          <p:nvPr/>
        </p:nvSpPr>
        <p:spPr>
          <a:xfrm>
            <a:off x="570450" y="241540"/>
            <a:ext cx="10570129" cy="538636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2E2294-630C-4C7F-B802-FA20C7762DBA}"/>
              </a:ext>
            </a:extLst>
          </p:cNvPr>
          <p:cNvSpPr txBox="1">
            <a:spLocks/>
          </p:cNvSpPr>
          <p:nvPr/>
        </p:nvSpPr>
        <p:spPr>
          <a:xfrm>
            <a:off x="735898" y="241540"/>
            <a:ext cx="329081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Conduite De Projet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D425161-2E59-413E-BE4D-BC09425EC5F2}"/>
              </a:ext>
            </a:extLst>
          </p:cNvPr>
          <p:cNvCxnSpPr>
            <a:cxnSpLocks/>
          </p:cNvCxnSpPr>
          <p:nvPr/>
        </p:nvCxnSpPr>
        <p:spPr>
          <a:xfrm>
            <a:off x="981512" y="1642143"/>
            <a:ext cx="679776" cy="61810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D4E71270-7019-4FF9-87E5-C07738A1F3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494" y="1393997"/>
            <a:ext cx="8298745" cy="4538215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7D28517-6D1D-4A88-ABF7-561EF766A2DD}"/>
              </a:ext>
            </a:extLst>
          </p:cNvPr>
          <p:cNvSpPr/>
          <p:nvPr/>
        </p:nvSpPr>
        <p:spPr>
          <a:xfrm>
            <a:off x="1622495" y="1308684"/>
            <a:ext cx="8505274" cy="4722772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87208B-8823-4D29-A50E-01FA330B875D}"/>
              </a:ext>
            </a:extLst>
          </p:cNvPr>
          <p:cNvSpPr txBox="1"/>
          <p:nvPr/>
        </p:nvSpPr>
        <p:spPr>
          <a:xfrm>
            <a:off x="56692" y="1245091"/>
            <a:ext cx="1873541" cy="297809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100" b="1" dirty="0">
                <a:solidFill>
                  <a:srgbClr val="FF0000"/>
                </a:solidFill>
              </a:rPr>
              <a:t>Suite de développement</a:t>
            </a:r>
          </a:p>
        </p:txBody>
      </p:sp>
    </p:spTree>
    <p:extLst>
      <p:ext uri="{BB962C8B-B14F-4D97-AF65-F5344CB8AC3E}">
        <p14:creationId xmlns:p14="http://schemas.microsoft.com/office/powerpoint/2010/main" val="2299833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688" y="2448734"/>
            <a:ext cx="10706099" cy="980266"/>
          </a:xfrm>
          <a:solidFill>
            <a:srgbClr val="C00000"/>
          </a:solidFill>
        </p:spPr>
        <p:txBody>
          <a:bodyPr anchor="ctr"/>
          <a:lstStyle/>
          <a:p>
            <a:r>
              <a:rPr lang="fr-FR" sz="3600" cap="none" dirty="0">
                <a:solidFill>
                  <a:schemeClr val="bg1"/>
                </a:solidFill>
              </a:rPr>
              <a:t>Etude Préliminaire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2DB350-ECCE-49D2-9854-CE63BA543854}"/>
              </a:ext>
            </a:extLst>
          </p:cNvPr>
          <p:cNvCxnSpPr>
            <a:cxnSpLocks/>
          </p:cNvCxnSpPr>
          <p:nvPr/>
        </p:nvCxnSpPr>
        <p:spPr>
          <a:xfrm>
            <a:off x="606688" y="3521988"/>
            <a:ext cx="10706098" cy="0"/>
          </a:xfrm>
          <a:prstGeom prst="line">
            <a:avLst/>
          </a:prstGeom>
          <a:ln w="952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774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D02FEE-9801-4442-B506-533992494F24}"/>
              </a:ext>
            </a:extLst>
          </p:cNvPr>
          <p:cNvSpPr/>
          <p:nvPr/>
        </p:nvSpPr>
        <p:spPr>
          <a:xfrm>
            <a:off x="293613" y="226902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C878262-A16B-4BAE-9A0E-F2913BA16CAC}"/>
              </a:ext>
            </a:extLst>
          </p:cNvPr>
          <p:cNvSpPr txBox="1">
            <a:spLocks/>
          </p:cNvSpPr>
          <p:nvPr/>
        </p:nvSpPr>
        <p:spPr>
          <a:xfrm>
            <a:off x="-94614" y="251597"/>
            <a:ext cx="636957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Description de l’existant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D1279B-8460-41BB-9AB7-98FC548C2B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671" y="1090569"/>
            <a:ext cx="10570129" cy="4798504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A2A7181-2777-443E-925D-CCDD796E86E1}"/>
              </a:ext>
            </a:extLst>
          </p:cNvPr>
          <p:cNvSpPr/>
          <p:nvPr/>
        </p:nvSpPr>
        <p:spPr>
          <a:xfrm>
            <a:off x="947956" y="1652630"/>
            <a:ext cx="2449585" cy="163585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A93C9E-3632-4CC8-A0A2-60A9A3754748}"/>
              </a:ext>
            </a:extLst>
          </p:cNvPr>
          <p:cNvCxnSpPr>
            <a:cxnSpLocks/>
          </p:cNvCxnSpPr>
          <p:nvPr/>
        </p:nvCxnSpPr>
        <p:spPr>
          <a:xfrm flipH="1" flipV="1">
            <a:off x="3523376" y="2822692"/>
            <a:ext cx="1024332" cy="46579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9D76AC15-FD39-4E0E-9AD0-54414BADAF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816" y="1645956"/>
            <a:ext cx="657225" cy="6572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8B083AA-7FE3-41A5-9D98-36F0CCA1F8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0953" y="4369222"/>
            <a:ext cx="1495425" cy="8667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D3F25C-6611-45BF-BCCD-86C46143513E}"/>
              </a:ext>
            </a:extLst>
          </p:cNvPr>
          <p:cNvSpPr txBox="1"/>
          <p:nvPr/>
        </p:nvSpPr>
        <p:spPr>
          <a:xfrm>
            <a:off x="3999600" y="3298148"/>
            <a:ext cx="1096216" cy="595618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1100" b="1" dirty="0">
                <a:solidFill>
                  <a:srgbClr val="FF0000"/>
                </a:solidFill>
              </a:rPr>
              <a:t>Elément qui nous intéresse</a:t>
            </a:r>
          </a:p>
        </p:txBody>
      </p:sp>
    </p:spTree>
    <p:extLst>
      <p:ext uri="{BB962C8B-B14F-4D97-AF65-F5344CB8AC3E}">
        <p14:creationId xmlns:p14="http://schemas.microsoft.com/office/powerpoint/2010/main" val="3557983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E8DF214-E6AD-416E-AB92-25BBB0C24BDF}"/>
              </a:ext>
            </a:extLst>
          </p:cNvPr>
          <p:cNvSpPr/>
          <p:nvPr/>
        </p:nvSpPr>
        <p:spPr>
          <a:xfrm>
            <a:off x="360725" y="251597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2D4EB3D-FCB2-4147-8884-8C1C2A5EDB21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544232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Description de l’existant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C7DB99-95AC-4541-A161-3D72C4FFF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35" y="1112981"/>
            <a:ext cx="9481381" cy="463203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86513B0-5F50-46AC-820D-DE017990D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958" y="2264734"/>
            <a:ext cx="6998941" cy="366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767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E8DF214-E6AD-416E-AB92-25BBB0C24BDF}"/>
              </a:ext>
            </a:extLst>
          </p:cNvPr>
          <p:cNvSpPr/>
          <p:nvPr/>
        </p:nvSpPr>
        <p:spPr>
          <a:xfrm>
            <a:off x="360725" y="251597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2D4EB3D-FCB2-4147-8884-8C1C2A5EDB21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544232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Description de l’existant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C7DB99-95AC-4541-A161-3D72C4FFF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270" y="1426129"/>
            <a:ext cx="9125023" cy="42853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052214-926E-4F85-8330-C7D6299C95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3370" y="2390862"/>
            <a:ext cx="7245291" cy="34730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FA756D-DD2B-4C8C-9C30-354F58FF15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18" y="1082181"/>
            <a:ext cx="4513277" cy="49919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0AB47A-D84E-4135-80DE-D2EBC9B7E2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265" y="2390862"/>
            <a:ext cx="3707933" cy="3041009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B57254CD-9AC5-4576-B162-0C4711542F2D}"/>
              </a:ext>
            </a:extLst>
          </p:cNvPr>
          <p:cNvSpPr/>
          <p:nvPr/>
        </p:nvSpPr>
        <p:spPr>
          <a:xfrm>
            <a:off x="5509549" y="3292925"/>
            <a:ext cx="2361236" cy="515146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161649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000EAA-3D18-447B-891A-6069A62EE130}"/>
              </a:ext>
            </a:extLst>
          </p:cNvPr>
          <p:cNvSpPr/>
          <p:nvPr/>
        </p:nvSpPr>
        <p:spPr>
          <a:xfrm>
            <a:off x="360725" y="251597"/>
            <a:ext cx="10939246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E9A49A-E761-462E-BA41-E94065D97B7A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544232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Problématique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7CFC3B-89D7-442D-A2FB-B0CBC53482B6}"/>
              </a:ext>
            </a:extLst>
          </p:cNvPr>
          <p:cNvSpPr txBox="1"/>
          <p:nvPr/>
        </p:nvSpPr>
        <p:spPr>
          <a:xfrm>
            <a:off x="1992380" y="4569750"/>
            <a:ext cx="7441035" cy="5668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36000" tIns="36000" rIns="36000" bIns="3600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dirty="0">
                <a:latin typeface="CIDFont+F3"/>
              </a:rPr>
              <a:t>Constat : Un cout très élevé 3000$/mois =&gt; manque d’</a:t>
            </a:r>
            <a:r>
              <a:rPr lang="fr-FR" dirty="0" err="1">
                <a:latin typeface="CIDFont+F3"/>
              </a:rPr>
              <a:t>optimalté</a:t>
            </a:r>
            <a:endParaRPr lang="fr-FR" dirty="0">
              <a:latin typeface="CIDFont+F3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fr-FR" sz="800" dirty="0"/>
          </a:p>
          <a:p>
            <a:r>
              <a:rPr lang="fr-FR" sz="800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522497-373A-4F92-827D-0C12FFCE9A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5855" y="3988615"/>
            <a:ext cx="1408231" cy="205228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EBAD4F8-2C3A-47A2-A38F-1D8CB471F615}"/>
              </a:ext>
            </a:extLst>
          </p:cNvPr>
          <p:cNvSpPr/>
          <p:nvPr/>
        </p:nvSpPr>
        <p:spPr>
          <a:xfrm>
            <a:off x="604680" y="988768"/>
            <a:ext cx="9518709" cy="671915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r>
              <a:rPr lang="fr-FR" dirty="0">
                <a:latin typeface="CIDFont+F3"/>
              </a:rPr>
              <a:t>La problématique du service de </a:t>
            </a:r>
            <a:r>
              <a:rPr lang="fr-FR" dirty="0" err="1">
                <a:latin typeface="CIDFont+F3"/>
              </a:rPr>
              <a:t>scaling</a:t>
            </a:r>
            <a:r>
              <a:rPr lang="fr-FR" dirty="0">
                <a:latin typeface="CIDFont+F3"/>
              </a:rPr>
              <a:t> existant réside dans le choix manuel des Configurations, fait par l’équipe </a:t>
            </a:r>
            <a:r>
              <a:rPr lang="fr-FR" dirty="0" err="1">
                <a:latin typeface="CIDFont+F3"/>
              </a:rPr>
              <a:t>CloudOps</a:t>
            </a:r>
            <a:r>
              <a:rPr lang="fr-FR" dirty="0">
                <a:latin typeface="CIDFont+F3"/>
              </a:rPr>
              <a:t>. Ce choix manuel cause les problèmes suivants 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A744B4-B78A-45A3-8AA3-B9CFEAFB9DDA}"/>
              </a:ext>
            </a:extLst>
          </p:cNvPr>
          <p:cNvSpPr/>
          <p:nvPr/>
        </p:nvSpPr>
        <p:spPr>
          <a:xfrm>
            <a:off x="953545" y="2038659"/>
            <a:ext cx="9518709" cy="369332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latin typeface="CIDFont+F3"/>
              </a:rPr>
              <a:t>Une configuration générée par l’être humain =&gt; aucun milieu de test avant la mise en production;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558E27-422A-4576-BB64-B6083A0502F3}"/>
              </a:ext>
            </a:extLst>
          </p:cNvPr>
          <p:cNvSpPr/>
          <p:nvPr/>
        </p:nvSpPr>
        <p:spPr>
          <a:xfrm>
            <a:off x="953545" y="2543064"/>
            <a:ext cx="9518709" cy="646331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latin typeface="CIDFont+F3"/>
              </a:rPr>
              <a:t>Une charge  non supportées par le services au cas d’une configuration minimale, et par conséquent un temps de réponse non satisfaisant pour le client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7E7F6A-6438-4E9F-9EBD-E83BD9012BEC}"/>
              </a:ext>
            </a:extLst>
          </p:cNvPr>
          <p:cNvSpPr/>
          <p:nvPr/>
        </p:nvSpPr>
        <p:spPr>
          <a:xfrm>
            <a:off x="953544" y="3324468"/>
            <a:ext cx="9518709" cy="923330"/>
          </a:xfrm>
          <a:prstGeom prst="rect">
            <a:avLst/>
          </a:prstGeom>
          <a:ln>
            <a:solidFill>
              <a:srgbClr val="4CA1F4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>
                <a:latin typeface="CIDFont+F3"/>
              </a:rPr>
              <a:t>Un coût de déploiement sur le cloud très élevé, au cas d’une configuration gourmande en terme de </a:t>
            </a:r>
            <a:r>
              <a:rPr lang="fr-FR" dirty="0" err="1">
                <a:latin typeface="CIDFont+F3"/>
              </a:rPr>
              <a:t>workers</a:t>
            </a:r>
            <a:r>
              <a:rPr lang="fr-FR" dirty="0">
                <a:latin typeface="CIDFont+F3"/>
              </a:rPr>
              <a:t>.</a:t>
            </a:r>
          </a:p>
          <a:p>
            <a:endParaRPr lang="fr-FR" dirty="0">
              <a:latin typeface="CIDFont+F3"/>
            </a:endParaRPr>
          </a:p>
        </p:txBody>
      </p:sp>
    </p:spTree>
    <p:extLst>
      <p:ext uri="{BB962C8B-B14F-4D97-AF65-F5344CB8AC3E}">
        <p14:creationId xmlns:p14="http://schemas.microsoft.com/office/powerpoint/2010/main" val="904670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  <p:bldP spid="7" grpId="0" animBg="1"/>
      <p:bldP spid="10" grpId="0" animBg="1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854991F-80A9-4E8B-A4A7-CF2AF20E4E70}"/>
              </a:ext>
            </a:extLst>
          </p:cNvPr>
          <p:cNvSpPr txBox="1"/>
          <p:nvPr/>
        </p:nvSpPr>
        <p:spPr>
          <a:xfrm>
            <a:off x="771017" y="1532901"/>
            <a:ext cx="8899003" cy="944878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dirty="0">
                <a:latin typeface="CIDFont+F3"/>
              </a:rPr>
              <a:t>Génération de Configuration minimale  =&gt; sous-estimation de la charge =&gt; un temps de réponse non satisfaisant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n-US" dirty="0"/>
          </a:p>
          <a:p>
            <a:pPr lvl="1"/>
            <a:endParaRPr lang="fr-FR" sz="1100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fr-FR" sz="1600" dirty="0"/>
          </a:p>
          <a:p>
            <a:r>
              <a:rPr lang="fr-FR" sz="1600" dirty="0"/>
              <a:t> </a:t>
            </a:r>
            <a:endParaRPr lang="fr-F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54A1AB-EA7E-4701-9394-B3685DE209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407" y="1151547"/>
            <a:ext cx="1497576" cy="11040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DE85A17-1BB2-4B06-A896-8A850C930254}"/>
              </a:ext>
            </a:extLst>
          </p:cNvPr>
          <p:cNvSpPr txBox="1"/>
          <p:nvPr/>
        </p:nvSpPr>
        <p:spPr>
          <a:xfrm>
            <a:off x="771017" y="2477778"/>
            <a:ext cx="8604200" cy="132735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lvl="1"/>
            <a:endParaRPr lang="en-US" dirty="0">
              <a:latin typeface="CIDFont+F3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dirty="0">
                <a:latin typeface="CIDFont+F3"/>
              </a:rPr>
              <a:t>Configuration très gourmande =&gt; Un coût de déploiement très élevé,</a:t>
            </a:r>
            <a:endParaRPr lang="fr-FR" sz="1100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fr-FR" sz="1600" dirty="0"/>
          </a:p>
          <a:p>
            <a:r>
              <a:rPr lang="fr-FR" sz="1600" dirty="0"/>
              <a:t> </a:t>
            </a:r>
            <a:endParaRPr lang="fr-FR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55619B-DD96-47CA-9292-2A9FC3FB12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6682" y="2477779"/>
            <a:ext cx="1851025" cy="132735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0000EAA-3D18-447B-891A-6069A62EE130}"/>
              </a:ext>
            </a:extLst>
          </p:cNvPr>
          <p:cNvSpPr/>
          <p:nvPr/>
        </p:nvSpPr>
        <p:spPr>
          <a:xfrm>
            <a:off x="360725" y="251597"/>
            <a:ext cx="10939246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E9A49A-E761-462E-BA41-E94065D97B7A}"/>
              </a:ext>
            </a:extLst>
          </p:cNvPr>
          <p:cNvSpPr txBox="1">
            <a:spLocks/>
          </p:cNvSpPr>
          <p:nvPr/>
        </p:nvSpPr>
        <p:spPr>
          <a:xfrm>
            <a:off x="-221809" y="251597"/>
            <a:ext cx="544232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Enjeux du projet 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CCF3A9F-1ADD-47ED-AB17-04FA8F0F32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4266" y="3805134"/>
            <a:ext cx="4302098" cy="216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315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76E6907-B92E-4BC7-96AF-2142B503118A}"/>
              </a:ext>
            </a:extLst>
          </p:cNvPr>
          <p:cNvSpPr/>
          <p:nvPr/>
        </p:nvSpPr>
        <p:spPr>
          <a:xfrm>
            <a:off x="360725" y="251597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6FAB43F-6E59-4313-BA21-A653AA6BF56E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544232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Solution proposée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143C38-9D89-4981-8023-FB7087E69C89}"/>
              </a:ext>
            </a:extLst>
          </p:cNvPr>
          <p:cNvSpPr txBox="1"/>
          <p:nvPr/>
        </p:nvSpPr>
        <p:spPr>
          <a:xfrm>
            <a:off x="1033297" y="1136053"/>
            <a:ext cx="8604200" cy="37394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r>
              <a:rPr lang="fr-FR" dirty="0">
                <a:latin typeface="CIDFont+F3"/>
              </a:rPr>
              <a:t>La création d’un simulateur de charge du service de </a:t>
            </a:r>
            <a:r>
              <a:rPr lang="fr-FR" dirty="0" err="1">
                <a:latin typeface="CIDFont+F3"/>
              </a:rPr>
              <a:t>Scaling</a:t>
            </a:r>
            <a:r>
              <a:rPr lang="fr-FR" dirty="0">
                <a:latin typeface="CIDFont+F3"/>
              </a:rPr>
              <a:t> dans le but de 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fr-FR" dirty="0">
              <a:latin typeface="CIDFont+F3"/>
            </a:endParaRPr>
          </a:p>
          <a:p>
            <a:pPr lvl="1"/>
            <a:r>
              <a:rPr lang="fr-FR" dirty="0">
                <a:latin typeface="CIDFont+F3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dirty="0">
              <a:latin typeface="CIDFont+F3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CIDFont+F3"/>
            </a:endParaRPr>
          </a:p>
          <a:p>
            <a:pPr lvl="1"/>
            <a:endParaRPr lang="fr-FR" sz="1100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fr-FR" sz="1600" dirty="0"/>
          </a:p>
          <a:p>
            <a:r>
              <a:rPr lang="fr-FR" sz="1600" dirty="0"/>
              <a:t> </a:t>
            </a:r>
            <a:endParaRPr lang="fr-FR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A380C4C-4771-43BE-B8FB-3BFF2C398AB0}"/>
              </a:ext>
            </a:extLst>
          </p:cNvPr>
          <p:cNvSpPr/>
          <p:nvPr/>
        </p:nvSpPr>
        <p:spPr>
          <a:xfrm>
            <a:off x="8539993" y="1686187"/>
            <a:ext cx="3087148" cy="1585798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latin typeface="CIDFont+F3"/>
              </a:rPr>
              <a:t>Simuler le fonctionnement du service de </a:t>
            </a:r>
            <a:r>
              <a:rPr lang="fr-FR" sz="1600" dirty="0" err="1">
                <a:latin typeface="CIDFont+F3"/>
              </a:rPr>
              <a:t>scaling</a:t>
            </a:r>
            <a:endParaRPr lang="fr-FR" sz="16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6BCA4B6-013F-4823-80A1-71F724C7146F}"/>
              </a:ext>
            </a:extLst>
          </p:cNvPr>
          <p:cNvSpPr/>
          <p:nvPr/>
        </p:nvSpPr>
        <p:spPr>
          <a:xfrm>
            <a:off x="1160080" y="3479231"/>
            <a:ext cx="2986035" cy="1894656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latin typeface="CIDFont+F3"/>
              </a:rPr>
              <a:t>Tester la configuration dans un milieu hors production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ACBE6A9-FE2C-432E-8E51-386BEBBE4F30}"/>
              </a:ext>
            </a:extLst>
          </p:cNvPr>
          <p:cNvSpPr/>
          <p:nvPr/>
        </p:nvSpPr>
        <p:spPr>
          <a:xfrm>
            <a:off x="8684761" y="3429001"/>
            <a:ext cx="2942379" cy="1944886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latin typeface="CIDFont+F3"/>
              </a:rPr>
              <a:t>Evaluer la qualité de déploiement de la configuration</a:t>
            </a:r>
            <a:endParaRPr lang="fr-FR" sz="16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8EE2340-57A1-404E-A7C9-CFC0F001F9B1}"/>
              </a:ext>
            </a:extLst>
          </p:cNvPr>
          <p:cNvSpPr/>
          <p:nvPr/>
        </p:nvSpPr>
        <p:spPr>
          <a:xfrm>
            <a:off x="1160080" y="1792970"/>
            <a:ext cx="3263064" cy="1479015"/>
          </a:xfrm>
          <a:prstGeom prst="ellipse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latin typeface="CIDFont+F3"/>
              </a:rPr>
              <a:t>Calculer les métriques Cloud relatives à une configuration</a:t>
            </a:r>
            <a:endParaRPr lang="fr-FR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A595D5-C6ED-4635-B2EE-A412ACDF9E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308" y="2325543"/>
            <a:ext cx="2187539" cy="230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669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" grpId="0" animBg="1"/>
      <p:bldP spid="20" grpId="0" animBg="1"/>
      <p:bldP spid="21" grpId="0" animBg="1"/>
      <p:bldP spid="2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76E6907-B92E-4BC7-96AF-2142B503118A}"/>
              </a:ext>
            </a:extLst>
          </p:cNvPr>
          <p:cNvSpPr/>
          <p:nvPr/>
        </p:nvSpPr>
        <p:spPr>
          <a:xfrm>
            <a:off x="360725" y="251597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6FAB43F-6E59-4313-BA21-A653AA6BF56E}"/>
              </a:ext>
            </a:extLst>
          </p:cNvPr>
          <p:cNvSpPr txBox="1">
            <a:spLocks/>
          </p:cNvSpPr>
          <p:nvPr/>
        </p:nvSpPr>
        <p:spPr>
          <a:xfrm>
            <a:off x="203462" y="296489"/>
            <a:ext cx="544232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Solution proposée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7B5BD1-3538-4096-99C6-4D0CD85AF6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124" y="1006679"/>
            <a:ext cx="9697672" cy="497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9968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688" y="2448734"/>
            <a:ext cx="10706099" cy="980266"/>
          </a:xfrm>
          <a:solidFill>
            <a:srgbClr val="C00000"/>
          </a:solidFill>
        </p:spPr>
        <p:txBody>
          <a:bodyPr anchor="ctr"/>
          <a:lstStyle/>
          <a:p>
            <a:r>
              <a:rPr lang="fr-FR" sz="3600" cap="none" dirty="0">
                <a:solidFill>
                  <a:schemeClr val="bg1"/>
                </a:solidFill>
              </a:rPr>
              <a:t>Spécifications générales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2DB350-ECCE-49D2-9854-CE63BA543854}"/>
              </a:ext>
            </a:extLst>
          </p:cNvPr>
          <p:cNvCxnSpPr>
            <a:cxnSpLocks/>
          </p:cNvCxnSpPr>
          <p:nvPr/>
        </p:nvCxnSpPr>
        <p:spPr>
          <a:xfrm>
            <a:off x="606688" y="3521988"/>
            <a:ext cx="10706098" cy="0"/>
          </a:xfrm>
          <a:prstGeom prst="line">
            <a:avLst/>
          </a:prstGeom>
          <a:ln w="952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05862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66EA67B-5793-4D7A-B06C-7349F3E89BFB}"/>
              </a:ext>
            </a:extLst>
          </p:cNvPr>
          <p:cNvSpPr/>
          <p:nvPr/>
        </p:nvSpPr>
        <p:spPr>
          <a:xfrm>
            <a:off x="532987" y="53925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80687D-3799-4AA9-965D-C8EA88E98FF1}"/>
              </a:ext>
            </a:extLst>
          </p:cNvPr>
          <p:cNvSpPr txBox="1">
            <a:spLocks/>
          </p:cNvSpPr>
          <p:nvPr/>
        </p:nvSpPr>
        <p:spPr>
          <a:xfrm>
            <a:off x="228629" y="78751"/>
            <a:ext cx="544232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Spécifications fonctionnelles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CD28FE-7A78-405B-89A4-3C18B62BC5B2}"/>
              </a:ext>
            </a:extLst>
          </p:cNvPr>
          <p:cNvSpPr txBox="1"/>
          <p:nvPr/>
        </p:nvSpPr>
        <p:spPr>
          <a:xfrm>
            <a:off x="767036" y="594692"/>
            <a:ext cx="10657927" cy="540767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noAutofit/>
          </a:bodyPr>
          <a:lstStyle/>
          <a:p>
            <a:endParaRPr lang="fr-FR" dirty="0">
              <a:latin typeface="CIDFont+F3"/>
            </a:endParaRPr>
          </a:p>
          <a:p>
            <a:r>
              <a:rPr lang="fr-FR" dirty="0">
                <a:latin typeface="CIDFont+F3"/>
              </a:rPr>
              <a:t>Diagramme de cas d’utilisations 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F507AD-2645-49DF-9D75-FF42BA46A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158" y="1283850"/>
            <a:ext cx="8899681" cy="492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6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93F28A7-1698-4822-9692-7177DA0F4795}"/>
              </a:ext>
            </a:extLst>
          </p:cNvPr>
          <p:cNvSpPr/>
          <p:nvPr/>
        </p:nvSpPr>
        <p:spPr>
          <a:xfrm>
            <a:off x="554252" y="23452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48D9C7E-F20D-437D-AC43-1318999D8ADF}"/>
              </a:ext>
            </a:extLst>
          </p:cNvPr>
          <p:cNvSpPr txBox="1">
            <a:spLocks/>
          </p:cNvSpPr>
          <p:nvPr/>
        </p:nvSpPr>
        <p:spPr>
          <a:xfrm>
            <a:off x="653673" y="234523"/>
            <a:ext cx="5442327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Spécifications non fonctionnelles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3790FE-8A50-42F3-9598-23D29C0A2B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609" y="1230167"/>
            <a:ext cx="9742634" cy="414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5312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688" y="2448734"/>
            <a:ext cx="10706099" cy="980266"/>
          </a:xfrm>
          <a:solidFill>
            <a:srgbClr val="C00000"/>
          </a:solidFill>
        </p:spPr>
        <p:txBody>
          <a:bodyPr anchor="ctr"/>
          <a:lstStyle/>
          <a:p>
            <a:r>
              <a:rPr lang="fr-FR" sz="3600" cap="none" dirty="0">
                <a:solidFill>
                  <a:schemeClr val="bg1"/>
                </a:solidFill>
              </a:rPr>
              <a:t>Conception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2DB350-ECCE-49D2-9854-CE63BA543854}"/>
              </a:ext>
            </a:extLst>
          </p:cNvPr>
          <p:cNvCxnSpPr>
            <a:cxnSpLocks/>
          </p:cNvCxnSpPr>
          <p:nvPr/>
        </p:nvCxnSpPr>
        <p:spPr>
          <a:xfrm>
            <a:off x="606688" y="3521988"/>
            <a:ext cx="10706098" cy="0"/>
          </a:xfrm>
          <a:prstGeom prst="line">
            <a:avLst/>
          </a:prstGeom>
          <a:ln w="952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65417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D0B7E8-2D5B-4AF1-9200-61618942C882}"/>
              </a:ext>
            </a:extLst>
          </p:cNvPr>
          <p:cNvSpPr txBox="1"/>
          <p:nvPr/>
        </p:nvSpPr>
        <p:spPr>
          <a:xfrm>
            <a:off x="926427" y="693895"/>
            <a:ext cx="10657927" cy="540767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noAutofit/>
          </a:bodyPr>
          <a:lstStyle/>
          <a:p>
            <a:endParaRPr lang="fr-FR" dirty="0">
              <a:latin typeface="CIDFont+F3"/>
            </a:endParaRPr>
          </a:p>
          <a:p>
            <a:r>
              <a:rPr lang="fr-FR" dirty="0">
                <a:latin typeface="CIDFont+F3"/>
              </a:rPr>
              <a:t>Diagramme de classes Métier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361305" y="24291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0" y="231843"/>
            <a:ext cx="44132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 Conception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A6BA0-8872-4873-8357-3739B26BC4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806" y="1437401"/>
            <a:ext cx="6957269" cy="47267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35E7AF-49A4-4352-9D78-20A4FBC615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337" y="1345226"/>
            <a:ext cx="2168014" cy="12317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6020480-C0C3-4A78-950E-DDE5D530CC7D}"/>
              </a:ext>
            </a:extLst>
          </p:cNvPr>
          <p:cNvSpPr/>
          <p:nvPr/>
        </p:nvSpPr>
        <p:spPr>
          <a:xfrm>
            <a:off x="4413278" y="1326837"/>
            <a:ext cx="2048073" cy="125008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849289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D0B7E8-2D5B-4AF1-9200-61618942C882}"/>
              </a:ext>
            </a:extLst>
          </p:cNvPr>
          <p:cNvSpPr txBox="1"/>
          <p:nvPr/>
        </p:nvSpPr>
        <p:spPr>
          <a:xfrm>
            <a:off x="926427" y="693895"/>
            <a:ext cx="10657927" cy="540767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noAutofit/>
          </a:bodyPr>
          <a:lstStyle/>
          <a:p>
            <a:endParaRPr lang="fr-FR" dirty="0">
              <a:latin typeface="CIDFont+F3"/>
            </a:endParaRPr>
          </a:p>
          <a:p>
            <a:r>
              <a:rPr lang="fr-FR" dirty="0">
                <a:latin typeface="CIDFont+F3"/>
              </a:rPr>
              <a:t>Diagramme de classes métiers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361305" y="24291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460726" y="242913"/>
            <a:ext cx="44132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Conception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A6BA0-8872-4873-8357-3739B26B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755" y="1434517"/>
            <a:ext cx="6957269" cy="47267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25989E-66A9-467E-88C6-6951F5976C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877" y="1404852"/>
            <a:ext cx="2257734" cy="16110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6020480-C0C3-4A78-950E-DDE5D530CC7D}"/>
              </a:ext>
            </a:extLst>
          </p:cNvPr>
          <p:cNvSpPr/>
          <p:nvPr/>
        </p:nvSpPr>
        <p:spPr>
          <a:xfrm>
            <a:off x="2365695" y="1434518"/>
            <a:ext cx="2197916" cy="15814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4343702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D0B7E8-2D5B-4AF1-9200-61618942C882}"/>
              </a:ext>
            </a:extLst>
          </p:cNvPr>
          <p:cNvSpPr txBox="1"/>
          <p:nvPr/>
        </p:nvSpPr>
        <p:spPr>
          <a:xfrm>
            <a:off x="926427" y="693895"/>
            <a:ext cx="10657927" cy="540767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noAutofit/>
          </a:bodyPr>
          <a:lstStyle/>
          <a:p>
            <a:endParaRPr lang="fr-FR" dirty="0">
              <a:latin typeface="CIDFont+F3"/>
            </a:endParaRPr>
          </a:p>
          <a:p>
            <a:r>
              <a:rPr lang="fr-FR" dirty="0">
                <a:latin typeface="CIDFont+F3"/>
              </a:rPr>
              <a:t>Diagramme de classes métiers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361305" y="24291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460726" y="242913"/>
            <a:ext cx="44132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Conception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A6BA0-8872-4873-8357-3739B26B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1162" y="1437401"/>
            <a:ext cx="7989675" cy="47267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EA2E1C-4634-4626-8F1E-0B9CF38A47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0642" y="916673"/>
            <a:ext cx="2873536" cy="19036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754E70-C62F-4BB5-B05E-798AC27481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391" y="3014793"/>
            <a:ext cx="2150024" cy="190363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6B64859-F68B-4BCA-A9FA-5B1F53FF47D0}"/>
              </a:ext>
            </a:extLst>
          </p:cNvPr>
          <p:cNvSpPr/>
          <p:nvPr/>
        </p:nvSpPr>
        <p:spPr>
          <a:xfrm>
            <a:off x="9116391" y="3014793"/>
            <a:ext cx="2150024" cy="19036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020480-C0C3-4A78-950E-DDE5D530CC7D}"/>
              </a:ext>
            </a:extLst>
          </p:cNvPr>
          <p:cNvSpPr/>
          <p:nvPr/>
        </p:nvSpPr>
        <p:spPr>
          <a:xfrm>
            <a:off x="7335892" y="1000237"/>
            <a:ext cx="2605062" cy="173457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17867628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D0B7E8-2D5B-4AF1-9200-61618942C882}"/>
              </a:ext>
            </a:extLst>
          </p:cNvPr>
          <p:cNvSpPr txBox="1"/>
          <p:nvPr/>
        </p:nvSpPr>
        <p:spPr>
          <a:xfrm>
            <a:off x="926427" y="693895"/>
            <a:ext cx="10657927" cy="540767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noAutofit/>
          </a:bodyPr>
          <a:lstStyle/>
          <a:p>
            <a:endParaRPr lang="fr-FR" dirty="0">
              <a:latin typeface="CIDFont+F3"/>
            </a:endParaRPr>
          </a:p>
          <a:p>
            <a:r>
              <a:rPr lang="fr-FR" dirty="0">
                <a:latin typeface="CIDFont+F3"/>
              </a:rPr>
              <a:t>Diagramme de classes métiers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361305" y="24291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460726" y="242913"/>
            <a:ext cx="44132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Analyse et Conception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A6BA0-8872-4873-8357-3739B26B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4080" y="1482756"/>
            <a:ext cx="7989675" cy="472670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8BC77E1-A25C-4F7C-8048-C85FF1C6E1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826" y="4697835"/>
            <a:ext cx="1641666" cy="140898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F98BB4E-97F3-4AD4-A0C2-E90D226536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2304" y="3984770"/>
            <a:ext cx="3015509" cy="200711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6020480-C0C3-4A78-950E-DDE5D530CC7D}"/>
              </a:ext>
            </a:extLst>
          </p:cNvPr>
          <p:cNvSpPr/>
          <p:nvPr/>
        </p:nvSpPr>
        <p:spPr>
          <a:xfrm>
            <a:off x="4513276" y="3984770"/>
            <a:ext cx="2860647" cy="192946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40CDC4-5EC9-4775-802C-6F63C65B94A0}"/>
              </a:ext>
            </a:extLst>
          </p:cNvPr>
          <p:cNvSpPr/>
          <p:nvPr/>
        </p:nvSpPr>
        <p:spPr>
          <a:xfrm>
            <a:off x="8397380" y="4697835"/>
            <a:ext cx="2222444" cy="146338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6251485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D0B7E8-2D5B-4AF1-9200-61618942C882}"/>
              </a:ext>
            </a:extLst>
          </p:cNvPr>
          <p:cNvSpPr txBox="1"/>
          <p:nvPr/>
        </p:nvSpPr>
        <p:spPr>
          <a:xfrm>
            <a:off x="926427" y="693895"/>
            <a:ext cx="10657927" cy="540767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noAutofit/>
          </a:bodyPr>
          <a:lstStyle/>
          <a:p>
            <a:endParaRPr lang="fr-FR" dirty="0">
              <a:latin typeface="CIDFont+F3"/>
            </a:endParaRPr>
          </a:p>
          <a:p>
            <a:r>
              <a:rPr lang="fr-FR" dirty="0">
                <a:latin typeface="CIDFont+F3"/>
              </a:rPr>
              <a:t>Diagramme de classes métiers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361305" y="24291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460726" y="242913"/>
            <a:ext cx="44132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Conception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A6BA0-8872-4873-8357-3739B26B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977" y="1437401"/>
            <a:ext cx="6957269" cy="47267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ED9338-CB2C-4EE0-8A37-216560A57B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839" y="2423510"/>
            <a:ext cx="3003687" cy="180984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6020480-C0C3-4A78-950E-DDE5D530CC7D}"/>
              </a:ext>
            </a:extLst>
          </p:cNvPr>
          <p:cNvSpPr/>
          <p:nvPr/>
        </p:nvSpPr>
        <p:spPr>
          <a:xfrm>
            <a:off x="1266738" y="2423510"/>
            <a:ext cx="2734811" cy="180984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7698717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D0B7E8-2D5B-4AF1-9200-61618942C882}"/>
              </a:ext>
            </a:extLst>
          </p:cNvPr>
          <p:cNvSpPr txBox="1"/>
          <p:nvPr/>
        </p:nvSpPr>
        <p:spPr>
          <a:xfrm>
            <a:off x="926427" y="693895"/>
            <a:ext cx="10657927" cy="540767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noAutofit/>
          </a:bodyPr>
          <a:lstStyle/>
          <a:p>
            <a:endParaRPr lang="fr-FR" dirty="0">
              <a:latin typeface="CIDFont+F3"/>
            </a:endParaRPr>
          </a:p>
          <a:p>
            <a:r>
              <a:rPr lang="fr-FR" dirty="0">
                <a:latin typeface="CIDFont+F3"/>
              </a:rPr>
              <a:t>Diagramme de classes métiers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361305" y="24291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460726" y="242913"/>
            <a:ext cx="44132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Analyse et Conception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A6BA0-8872-4873-8357-3739B26B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977" y="1437401"/>
            <a:ext cx="6957269" cy="47267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11A586-7A35-4071-A335-FEB3D332EB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301" y="3942826"/>
            <a:ext cx="2055488" cy="214889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6020480-C0C3-4A78-950E-DDE5D530CC7D}"/>
              </a:ext>
            </a:extLst>
          </p:cNvPr>
          <p:cNvSpPr/>
          <p:nvPr/>
        </p:nvSpPr>
        <p:spPr>
          <a:xfrm>
            <a:off x="3439301" y="3942826"/>
            <a:ext cx="2055488" cy="222128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2733566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D0B7E8-2D5B-4AF1-9200-61618942C882}"/>
              </a:ext>
            </a:extLst>
          </p:cNvPr>
          <p:cNvSpPr txBox="1"/>
          <p:nvPr/>
        </p:nvSpPr>
        <p:spPr>
          <a:xfrm>
            <a:off x="926427" y="693895"/>
            <a:ext cx="10657927" cy="540767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noAutofit/>
          </a:bodyPr>
          <a:lstStyle/>
          <a:p>
            <a:endParaRPr lang="fr-FR" dirty="0">
              <a:latin typeface="CIDFont+F3"/>
            </a:endParaRPr>
          </a:p>
          <a:p>
            <a:r>
              <a:rPr lang="fr-FR" dirty="0">
                <a:latin typeface="CIDFont+F3"/>
              </a:rPr>
              <a:t>Diagramme de classes métiers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361305" y="24291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460726" y="242913"/>
            <a:ext cx="44132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Conception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A6BA0-8872-4873-8357-3739B26B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977" y="1437401"/>
            <a:ext cx="6957269" cy="47267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43A2DE-FF28-4294-BDE0-F1828BEEF7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8101" y="2207058"/>
            <a:ext cx="2791815" cy="19173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260797D-DCE2-4AFE-9C80-8D52F57673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666" y="4091691"/>
            <a:ext cx="2592197" cy="213877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5510E62-6257-42B6-9B14-8550E2232B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8204" y="3800753"/>
            <a:ext cx="2110923" cy="141744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6020480-C0C3-4A78-950E-DDE5D530CC7D}"/>
              </a:ext>
            </a:extLst>
          </p:cNvPr>
          <p:cNvSpPr/>
          <p:nvPr/>
        </p:nvSpPr>
        <p:spPr>
          <a:xfrm>
            <a:off x="4051883" y="2273416"/>
            <a:ext cx="2718033" cy="18284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62F472-E0E1-4FFD-A3BB-F6F7E46DCA83}"/>
              </a:ext>
            </a:extLst>
          </p:cNvPr>
          <p:cNvSpPr/>
          <p:nvPr/>
        </p:nvSpPr>
        <p:spPr>
          <a:xfrm>
            <a:off x="7534735" y="3790708"/>
            <a:ext cx="2064392" cy="142748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6DF949-D3BB-47C0-B4EA-F205E5B9EF44}"/>
              </a:ext>
            </a:extLst>
          </p:cNvPr>
          <p:cNvSpPr/>
          <p:nvPr/>
        </p:nvSpPr>
        <p:spPr>
          <a:xfrm>
            <a:off x="4521666" y="4169229"/>
            <a:ext cx="2592197" cy="19948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0964285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79A6BA0-8872-4873-8357-3739B26B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734" y="1354821"/>
            <a:ext cx="6957269" cy="47267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D0B7E8-2D5B-4AF1-9200-61618942C882}"/>
              </a:ext>
            </a:extLst>
          </p:cNvPr>
          <p:cNvSpPr txBox="1"/>
          <p:nvPr/>
        </p:nvSpPr>
        <p:spPr>
          <a:xfrm>
            <a:off x="926427" y="693895"/>
            <a:ext cx="10657927" cy="540767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36000" rIns="36000" bIns="36000" rtlCol="0">
            <a:noAutofit/>
          </a:bodyPr>
          <a:lstStyle/>
          <a:p>
            <a:endParaRPr lang="fr-FR" dirty="0">
              <a:latin typeface="CIDFont+F3"/>
            </a:endParaRPr>
          </a:p>
          <a:p>
            <a:r>
              <a:rPr lang="fr-FR" dirty="0">
                <a:latin typeface="CIDFont+F3"/>
              </a:rPr>
              <a:t>Diagramme de classes métiers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686A9D-CDB1-4283-92AC-B1DC7F81E2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908" y="3688898"/>
            <a:ext cx="2571565" cy="193444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361305" y="24291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460726" y="242913"/>
            <a:ext cx="44132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Conception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020480-C0C3-4A78-950E-DDE5D530CC7D}"/>
              </a:ext>
            </a:extLst>
          </p:cNvPr>
          <p:cNvSpPr/>
          <p:nvPr/>
        </p:nvSpPr>
        <p:spPr>
          <a:xfrm>
            <a:off x="1753298" y="3688899"/>
            <a:ext cx="2315363" cy="181428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8477974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688" y="2448734"/>
            <a:ext cx="10706099" cy="980266"/>
          </a:xfrm>
          <a:solidFill>
            <a:srgbClr val="C00000"/>
          </a:solidFill>
        </p:spPr>
        <p:txBody>
          <a:bodyPr anchor="ctr"/>
          <a:lstStyle/>
          <a:p>
            <a:r>
              <a:rPr lang="fr-FR" sz="3600" dirty="0">
                <a:solidFill>
                  <a:schemeClr val="bg1"/>
                </a:solidFill>
              </a:rPr>
              <a:t>Réalisation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2DB350-ECCE-49D2-9854-CE63BA543854}"/>
              </a:ext>
            </a:extLst>
          </p:cNvPr>
          <p:cNvCxnSpPr>
            <a:cxnSpLocks/>
          </p:cNvCxnSpPr>
          <p:nvPr/>
        </p:nvCxnSpPr>
        <p:spPr>
          <a:xfrm>
            <a:off x="606688" y="3521988"/>
            <a:ext cx="10706098" cy="0"/>
          </a:xfrm>
          <a:prstGeom prst="line">
            <a:avLst/>
          </a:prstGeom>
          <a:ln w="952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7837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153024" y="257966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273022" y="302858"/>
            <a:ext cx="60769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Environnement de développement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D4FBAF-9A51-4862-9EF9-937F540A32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612" y="1667510"/>
            <a:ext cx="3402847" cy="1277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968E36-3E00-4C15-9B15-78BBD25D63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0242" y="1533478"/>
            <a:ext cx="2222500" cy="141134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27C8008-80B6-45C2-AA9B-583C600F1E35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036" y="3429000"/>
            <a:ext cx="2393264" cy="1761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9D91176-7D95-4483-A82E-218655846604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8089" y="3551237"/>
            <a:ext cx="4460875" cy="1517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2D8E60D-A91D-4271-8EF0-11ACD23B52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525" y="1462608"/>
            <a:ext cx="3182354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9065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273022" y="21307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-518892" y="257965"/>
            <a:ext cx="60769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Capture d’écran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F19B11-EC2F-4805-89D2-AE1035820ACE}"/>
              </a:ext>
            </a:extLst>
          </p:cNvPr>
          <p:cNvSpPr txBox="1"/>
          <p:nvPr/>
        </p:nvSpPr>
        <p:spPr>
          <a:xfrm>
            <a:off x="832931" y="925789"/>
            <a:ext cx="10706098" cy="408061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lvl="1"/>
            <a:r>
              <a:rPr lang="fr-FR" b="1" dirty="0" err="1"/>
              <a:t>Scéarion</a:t>
            </a:r>
            <a:r>
              <a:rPr lang="fr-FR" b="1" dirty="0"/>
              <a:t> : </a:t>
            </a:r>
            <a:r>
              <a:rPr lang="fr-FR" b="1" dirty="0" err="1"/>
              <a:t>get</a:t>
            </a:r>
            <a:r>
              <a:rPr lang="fr-FR" b="1" dirty="0"/>
              <a:t> </a:t>
            </a:r>
            <a:r>
              <a:rPr lang="fr-FR" b="1" dirty="0" err="1"/>
              <a:t>workers</a:t>
            </a:r>
            <a:r>
              <a:rPr lang="fr-FR" b="1" dirty="0"/>
              <a:t> &amp; Queue </a:t>
            </a:r>
            <a:r>
              <a:rPr lang="fr-FR" b="1" dirty="0" err="1"/>
              <a:t>Results</a:t>
            </a:r>
            <a:r>
              <a:rPr lang="fr-FR" b="1" dirty="0"/>
              <a:t> </a:t>
            </a:r>
          </a:p>
          <a:p>
            <a:pPr lvl="1"/>
            <a:endParaRPr lang="fr-FR" b="1" dirty="0"/>
          </a:p>
          <a:p>
            <a:pPr lvl="1"/>
            <a:endParaRPr lang="fr-FR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EDA4D7C-56A9-4D2E-BC8B-DFDEAB06B3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902" y="2656939"/>
            <a:ext cx="6803410" cy="327527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39C3151-B683-46A2-90D9-DAA1BE34A7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803" y="1631655"/>
            <a:ext cx="9778442" cy="72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2899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273022" y="21307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-518892" y="257965"/>
            <a:ext cx="60769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Capture d’écran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04E12D-BF4B-44C0-ACC3-D5A66268E4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31" y="1604513"/>
            <a:ext cx="4698715" cy="40460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082BC2D-1C77-4206-90A7-9B3F359D30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670" y="1604512"/>
            <a:ext cx="5451736" cy="38584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E315F9-7E9E-45ED-8F3C-F6C20E90FDD5}"/>
              </a:ext>
            </a:extLst>
          </p:cNvPr>
          <p:cNvSpPr txBox="1"/>
          <p:nvPr/>
        </p:nvSpPr>
        <p:spPr>
          <a:xfrm>
            <a:off x="832931" y="925789"/>
            <a:ext cx="10706098" cy="408061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lvl="1"/>
            <a:r>
              <a:rPr lang="fr-FR" b="1" dirty="0"/>
              <a:t>Inputs :</a:t>
            </a:r>
          </a:p>
          <a:p>
            <a:pPr lvl="1"/>
            <a:endParaRPr lang="fr-FR" b="1" dirty="0"/>
          </a:p>
          <a:p>
            <a:pPr lvl="1"/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7082014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273022" y="213073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-518892" y="257965"/>
            <a:ext cx="60769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Capture d’écran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62E7789-78C1-4F42-B3DD-86BF632A29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203" y="880896"/>
            <a:ext cx="7976948" cy="216607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88CC893-A11F-45E8-9828-2C9FFA6AE9FB}"/>
              </a:ext>
            </a:extLst>
          </p:cNvPr>
          <p:cNvSpPr txBox="1"/>
          <p:nvPr/>
        </p:nvSpPr>
        <p:spPr>
          <a:xfrm>
            <a:off x="832931" y="925789"/>
            <a:ext cx="10706098" cy="408061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lvl="1"/>
            <a:r>
              <a:rPr lang="fr-FR" b="1" dirty="0"/>
              <a:t>Outputs: </a:t>
            </a:r>
          </a:p>
          <a:p>
            <a:pPr lvl="1"/>
            <a:endParaRPr lang="fr-FR" b="1" dirty="0"/>
          </a:p>
          <a:p>
            <a:pPr lvl="1"/>
            <a:endParaRPr lang="fr-FR" b="1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994BE39-8ACC-42D6-A89F-1459CEAC12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203" y="3204987"/>
            <a:ext cx="7976948" cy="297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9100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ED2C16-5D04-4E0C-9CAC-BC768749737A}"/>
              </a:ext>
            </a:extLst>
          </p:cNvPr>
          <p:cNvSpPr/>
          <p:nvPr/>
        </p:nvSpPr>
        <p:spPr>
          <a:xfrm>
            <a:off x="151001" y="32474"/>
            <a:ext cx="10570129" cy="540767"/>
          </a:xfrm>
          <a:prstGeom prst="rect">
            <a:avLst/>
          </a:prstGeom>
          <a:solidFill>
            <a:srgbClr val="4CA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Asap Medium" panose="020F0604030102060203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81581-AF6E-423D-95CD-B656FCA4A5D8}"/>
              </a:ext>
            </a:extLst>
          </p:cNvPr>
          <p:cNvSpPr txBox="1">
            <a:spLocks/>
          </p:cNvSpPr>
          <p:nvPr/>
        </p:nvSpPr>
        <p:spPr>
          <a:xfrm>
            <a:off x="0" y="77366"/>
            <a:ext cx="4413278" cy="45098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en-GB" sz="3000" b="0" kern="1200" cap="all" baseline="0" noProof="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FR" cap="none" dirty="0">
                <a:solidFill>
                  <a:schemeClr val="bg1"/>
                </a:solidFill>
                <a:latin typeface="CIDFont+F3"/>
              </a:rPr>
              <a:t>Etat d’avancement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CFC3E7-4974-419B-B0D0-D8BB909E09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271" y="793432"/>
            <a:ext cx="5532729" cy="50956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EC1C72-6EE8-44B0-A5DB-228C70989C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65195"/>
            <a:ext cx="5321434" cy="5223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150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8D25-FCA8-40C3-89E9-976E28DCB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688" y="2448734"/>
            <a:ext cx="10706099" cy="980266"/>
          </a:xfrm>
          <a:solidFill>
            <a:srgbClr val="C00000"/>
          </a:solidFill>
        </p:spPr>
        <p:txBody>
          <a:bodyPr anchor="ctr"/>
          <a:lstStyle/>
          <a:p>
            <a:r>
              <a:rPr lang="fr-FR" sz="3600" dirty="0">
                <a:solidFill>
                  <a:schemeClr val="bg1"/>
                </a:solidFill>
              </a:rPr>
              <a:t>Merci pour votre attention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2DB350-ECCE-49D2-9854-CE63BA543854}"/>
              </a:ext>
            </a:extLst>
          </p:cNvPr>
          <p:cNvCxnSpPr>
            <a:cxnSpLocks/>
          </p:cNvCxnSpPr>
          <p:nvPr/>
        </p:nvCxnSpPr>
        <p:spPr>
          <a:xfrm>
            <a:off x="606688" y="3521988"/>
            <a:ext cx="10706098" cy="0"/>
          </a:xfrm>
          <a:prstGeom prst="line">
            <a:avLst/>
          </a:prstGeom>
          <a:ln w="952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5098939"/>
      </p:ext>
    </p:extLst>
  </p:cSld>
  <p:clrMapOvr>
    <a:masterClrMapping/>
  </p:clrMapOvr>
</p:sld>
</file>

<file path=ppt/theme/theme1.xml><?xml version="1.0" encoding="utf-8"?>
<a:theme xmlns:a="http://schemas.openxmlformats.org/drawingml/2006/main" name="SG CIB Multi-purpose Template 2011">
  <a:themeElements>
    <a:clrScheme name="SG CIB Theme Colours 2011">
      <a:dk1>
        <a:srgbClr val="000000"/>
      </a:dk1>
      <a:lt1>
        <a:srgbClr val="FFFFFF"/>
      </a:lt1>
      <a:dk2>
        <a:srgbClr val="AA8778"/>
      </a:dk2>
      <a:lt2>
        <a:srgbClr val="E1694B"/>
      </a:lt2>
      <a:accent1>
        <a:srgbClr val="BE574B"/>
      </a:accent1>
      <a:accent2>
        <a:srgbClr val="EF8341"/>
      </a:accent2>
      <a:accent3>
        <a:srgbClr val="EBAF47"/>
      </a:accent3>
      <a:accent4>
        <a:srgbClr val="709127"/>
      </a:accent4>
      <a:accent5>
        <a:srgbClr val="645E99"/>
      </a:accent5>
      <a:accent6>
        <a:srgbClr val="91929C"/>
      </a:accent6>
      <a:hlink>
        <a:srgbClr val="78236E"/>
      </a:hlink>
      <a:folHlink>
        <a:srgbClr val="91929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9050"/>
      </a:spPr>
      <a:bodyPr rtlCol="0" anchor="ctr"/>
      <a:lstStyle>
        <a:defPPr algn="ctr">
          <a:defRPr sz="12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tIns="36000" rIns="36000" bIns="36000" rtlCol="0">
        <a:noAutofit/>
      </a:bodyPr>
      <a:lstStyle>
        <a:defPPr>
          <a:defRPr sz="11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SG CIB Multi-purpose Template 2011</Template>
  <TotalTime>3532</TotalTime>
  <Words>1557</Words>
  <Application>Microsoft Office PowerPoint</Application>
  <PresentationFormat>Widescreen</PresentationFormat>
  <Paragraphs>236</Paragraphs>
  <Slides>43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Arial</vt:lpstr>
      <vt:lpstr>Asap Medium</vt:lpstr>
      <vt:lpstr>Calibri</vt:lpstr>
      <vt:lpstr>CIDFont+F3</vt:lpstr>
      <vt:lpstr>Open Sans Light</vt:lpstr>
      <vt:lpstr>Webdings</vt:lpstr>
      <vt:lpstr>Wingdings</vt:lpstr>
      <vt:lpstr>SG CIB Multi-purpose Template 2011</vt:lpstr>
      <vt:lpstr>Conception et réalisation d’un outil de Simulation de charge</vt:lpstr>
      <vt:lpstr>PowerPoint Presentation</vt:lpstr>
      <vt:lpstr>Contexte de projet</vt:lpstr>
      <vt:lpstr>PowerPoint Presentation</vt:lpstr>
      <vt:lpstr>PowerPoint Presentation</vt:lpstr>
      <vt:lpstr>PowerPoint Presentation</vt:lpstr>
      <vt:lpstr>Les modèles d’utilisation des services Cloud :</vt:lpstr>
      <vt:lpstr>La SG ATS utilise le mode d’exploitation PaaS pour le déploiement de ses services :</vt:lpstr>
      <vt:lpstr>Concept d’auto scaling : L’auto scaling est une méthode qui permet d’avoir le nombre de machines nécessaires pour gérer la charge d’une application.</vt:lpstr>
      <vt:lpstr>Concept d’auto scaling : L’auto scaling est une méthode qui permet d’avoir le nombre de machine nécessaires pour gérer la charge d’une application.</vt:lpstr>
      <vt:lpstr>Conduite De Projet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Etude Préliminaire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Spécifications générales</vt:lpstr>
      <vt:lpstr>PowerPoint Presentation</vt:lpstr>
      <vt:lpstr>PowerPoint Presentation</vt:lpstr>
      <vt:lpstr>Conception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Réalisation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Merci pour votre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Conception et réalisation d’un outil intelligent d’aide à la validation des développements</dc:title>
  <dc:creator>omar zwd</dc:creator>
  <cp:lastModifiedBy>omar zwd</cp:lastModifiedBy>
  <cp:revision>166</cp:revision>
  <dcterms:created xsi:type="dcterms:W3CDTF">2020-03-04T22:42:21Z</dcterms:created>
  <dcterms:modified xsi:type="dcterms:W3CDTF">2020-05-28T14:43:38Z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aaa69c8-0478-4e13-9e4c-38511e3b6774_Enabled">
    <vt:lpwstr>True</vt:lpwstr>
  </property>
  <property fmtid="{D5CDD505-2E9C-101B-9397-08002B2CF9AE}" pid="3" name="MSIP_Label_1aaa69c8-0478-4e13-9e4c-38511e3b6774_SiteId">
    <vt:lpwstr>c9a7d621-4bc4-4407-b730-f428e656aa9e</vt:lpwstr>
  </property>
  <property fmtid="{D5CDD505-2E9C-101B-9397-08002B2CF9AE}" pid="4" name="MSIP_Label_1aaa69c8-0478-4e13-9e4c-38511e3b6774_Owner">
    <vt:lpwstr>omar.zouaid@sgcib.com</vt:lpwstr>
  </property>
  <property fmtid="{D5CDD505-2E9C-101B-9397-08002B2CF9AE}" pid="5" name="MSIP_Label_1aaa69c8-0478-4e13-9e4c-38511e3b6774_SetDate">
    <vt:lpwstr>2020-03-05T15:30:16.9565067Z</vt:lpwstr>
  </property>
  <property fmtid="{D5CDD505-2E9C-101B-9397-08002B2CF9AE}" pid="6" name="MSIP_Label_1aaa69c8-0478-4e13-9e4c-38511e3b6774_Name">
    <vt:lpwstr>C0 - Public</vt:lpwstr>
  </property>
  <property fmtid="{D5CDD505-2E9C-101B-9397-08002B2CF9AE}" pid="7" name="MSIP_Label_1aaa69c8-0478-4e13-9e4c-38511e3b6774_Application">
    <vt:lpwstr>Microsoft Azure Information Protection</vt:lpwstr>
  </property>
  <property fmtid="{D5CDD505-2E9C-101B-9397-08002B2CF9AE}" pid="8" name="MSIP_Label_1aaa69c8-0478-4e13-9e4c-38511e3b6774_ActionId">
    <vt:lpwstr>941a2c68-0ece-4a5e-807b-2651b27a79ff</vt:lpwstr>
  </property>
  <property fmtid="{D5CDD505-2E9C-101B-9397-08002B2CF9AE}" pid="9" name="MSIP_Label_1aaa69c8-0478-4e13-9e4c-38511e3b6774_Extended_MSFT_Method">
    <vt:lpwstr>Manual</vt:lpwstr>
  </property>
  <property fmtid="{D5CDD505-2E9C-101B-9397-08002B2CF9AE}" pid="10" name="Sensitivity">
    <vt:lpwstr>C0 - Public</vt:lpwstr>
  </property>
</Properties>
</file>