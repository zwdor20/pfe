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4" r:id="rId2"/>
    <p:sldId id="259" r:id="rId3"/>
    <p:sldId id="758" r:id="rId4"/>
    <p:sldId id="314" r:id="rId5"/>
    <p:sldId id="750" r:id="rId6"/>
    <p:sldId id="753" r:id="rId7"/>
    <p:sldId id="759" r:id="rId8"/>
    <p:sldId id="752" r:id="rId9"/>
    <p:sldId id="754" r:id="rId10"/>
    <p:sldId id="755" r:id="rId11"/>
    <p:sldId id="756" r:id="rId12"/>
    <p:sldId id="757" r:id="rId13"/>
    <p:sldId id="760" r:id="rId14"/>
    <p:sldId id="721" r:id="rId15"/>
    <p:sldId id="762" r:id="rId16"/>
    <p:sldId id="764" r:id="rId17"/>
    <p:sldId id="765" r:id="rId18"/>
    <p:sldId id="732" r:id="rId19"/>
    <p:sldId id="748" r:id="rId20"/>
    <p:sldId id="7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DC84"/>
    <a:srgbClr val="D8909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2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E8674-8B41-4D2D-8ECA-4E64C05075E8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17040-22B7-4B1A-9D76-4FE332D413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303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77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5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555CE-4940-400D-960E-33C86334DA7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396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014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638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541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393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555CE-4940-400D-960E-33C86334DA7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68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6DAE-6B65-41B0-9C62-7E6CB199A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99819-3F83-4B4C-A020-DABBF9BB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2F50-0759-4BD7-A0C0-4D0D3C85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BC18-B202-420C-94F0-8CC65015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6603F-16BA-48AA-85EA-1F975807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77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B665-D9E5-46D3-990C-71FFE3E6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FDFDA-2BE6-4212-BE3A-874E6EA5C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8C240-E9B4-439A-B0DC-F69DDE25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ACE9-C498-471B-B215-0058D3C7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CA2D0-D85E-4F6F-A252-13EEC9BC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108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C31F-F7EC-4391-B7F5-7DAB3E1FD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87CF1-5C10-4465-A8B6-F2BD2D602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9110D-5FDB-4995-AC7A-BBF22ADE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2F30A-E0F1-4344-A63E-47267668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4F447-E114-4A52-AA02-F943F608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98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F84C-0E14-44FD-A51E-A44063DE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EF6B4-9E99-4679-9204-A8928CBF5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3A871-8D69-449B-9FE3-188190FBB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B3F74-A641-49F9-B14B-64E900BB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4315C-8EDC-45EC-AB1A-F6CF6F4F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9C376-750E-461C-888C-76F89EEF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01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0A0E8-B80F-4E82-B405-091519F7E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B83E7-429A-4718-B2FF-BA0DB3CB8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8ED02-BE49-4955-9827-3E620FA7E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7432AB-13CF-4545-A075-266E51321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855DE-047B-4B8C-BF95-5E725A518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D04782-F41A-4C59-8CF8-CF7D56448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6C163-5BC6-4570-AE5D-B57BDDB62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C7E752-1301-4B61-938E-9AC18A46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7646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E5C4-28BD-4DEA-B270-191F0EE9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401F1-0643-4E60-B591-983E32DD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F77AC-3C52-42A9-951F-77D283F5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E4316-9403-409E-9589-FF750D99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854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4CB001-5778-4928-A1B3-1CFEBD75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87C60-A222-4738-9952-97B401523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E94B0-A08F-434D-A91D-AF34B44E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5564-AECC-4340-A22A-97B4E9B12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66BB8-8043-4EC2-803D-3EEEC48F2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02C36-37BC-40EC-89CC-2CB5780CA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86563-4646-4AE5-9606-1D59CB7F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B824A-6FF9-425C-9ACC-03B6DE89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FC1F7-0560-4769-988C-249D070D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8144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9D46-70B4-4E2D-A906-3B2CA6C07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067AE-0D63-4913-B5AB-9C0EB50EB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8A094-E490-4164-880A-121D18FDE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D9D0A-61D9-49E1-AD64-0E4C9F46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175C1-860E-42A6-81A9-40C041EE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E0B7C-CCE0-45BE-9963-8B92B4DA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660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00174-0C6F-4FE2-9D3E-65CBBCFE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83BCA-CB42-4BDB-8061-F87E21ECC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7C59B-C5B3-439C-AE5C-FD38BF01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0DD8B-27CF-4078-9849-01238D46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43837-73E5-4B68-9FF2-CAB8F27E8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855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BD166E-B17B-4B41-9822-9017BE75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E9F8B-B5EA-470E-A2EC-D3A891533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D86A8-F860-4534-9BC1-67CBD528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D3301-A174-489F-BCE2-70A8A749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16C0D-A0D3-4DCA-B779-55638877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310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28CD1-B352-4A91-A4B4-B4D862BD6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A8991-AC62-4AC4-86C0-54417FF88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AA2AE-160A-4484-AD09-ADAB134EB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223F5-7D4F-49AF-830A-FF73CB589DBB}" type="datetimeFigureOut">
              <a:rPr lang="fr-FR" smtClean="0"/>
              <a:t>28/06/2020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0C8D8-8877-42BE-841A-17F91D452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497AF-B2CF-4F8F-8877-FAB80C4A0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543CB-15A5-4CD5-9B0F-CA42AD43E6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739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-2" y="2166011"/>
            <a:ext cx="12192002" cy="1362229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vert270" lIns="182880" rtlCol="0" anchor="ctr" anchorCtr="0"/>
          <a:lstStyle/>
          <a:p>
            <a:pPr algn="ctr" defTabSz="1219170"/>
            <a:endParaRPr lang="en-US" sz="3200" kern="0">
              <a:solidFill>
                <a:srgbClr val="FFFFFF"/>
              </a:solidFill>
              <a:latin typeface="Open Sans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426" y="360552"/>
            <a:ext cx="3980081" cy="7172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51" y="2034051"/>
            <a:ext cx="10926570" cy="1477328"/>
          </a:xfrm>
          <a:noFill/>
        </p:spPr>
        <p:txBody>
          <a:bodyPr wrap="square" lIns="243840" tIns="121920" rIns="243840" bIns="121920" rtlCol="0" anchor="b" anchorCtr="0">
            <a:spAutoFit/>
          </a:bodyPr>
          <a:lstStyle/>
          <a:p>
            <a:pPr defTabSz="1219170">
              <a:lnSpc>
                <a:spcPct val="100000"/>
              </a:lnSpc>
              <a:spcBef>
                <a:spcPts val="0"/>
              </a:spcBef>
            </a:pPr>
            <a:r>
              <a:rPr lang="fr-FR" sz="4000" b="1" kern="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Conception et réalisation d’un outil de Simulation de charge</a:t>
            </a:r>
            <a:endParaRPr lang="en-US" sz="4000" b="1" kern="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11000"/>
                  </a:prstClr>
                </a:outerShdw>
              </a:effectLst>
              <a:latin typeface="Open San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1848E-98AE-40D9-9B27-1549C9A1E73B}"/>
              </a:ext>
            </a:extLst>
          </p:cNvPr>
          <p:cNvSpPr txBox="1"/>
          <p:nvPr/>
        </p:nvSpPr>
        <p:spPr>
          <a:xfrm>
            <a:off x="1758544" y="5333699"/>
            <a:ext cx="2568427" cy="63055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Réalisé  par :</a:t>
            </a:r>
          </a:p>
          <a:p>
            <a:r>
              <a:rPr lang="fr-FR" sz="1600" dirty="0"/>
              <a:t>	M. </a:t>
            </a:r>
            <a:r>
              <a:rPr lang="fr-FR" sz="1600" dirty="0" err="1"/>
              <a:t>Zouaid</a:t>
            </a:r>
            <a:r>
              <a:rPr lang="fr-FR" sz="1600" dirty="0"/>
              <a:t> Omar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9C9B7-505A-49F2-A5AF-F09C76086DD6}"/>
              </a:ext>
            </a:extLst>
          </p:cNvPr>
          <p:cNvSpPr txBox="1"/>
          <p:nvPr/>
        </p:nvSpPr>
        <p:spPr>
          <a:xfrm>
            <a:off x="3396343" y="3866146"/>
            <a:ext cx="4548249" cy="539599"/>
          </a:xfrm>
          <a:prstGeom prst="rect">
            <a:avLst/>
          </a:prstGeom>
          <a:solidFill>
            <a:srgbClr val="C00000"/>
          </a:solidFill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Présentation de l’avancement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AF742-48D2-420A-96B9-78111A4D4EE5}"/>
              </a:ext>
            </a:extLst>
          </p:cNvPr>
          <p:cNvSpPr txBox="1"/>
          <p:nvPr/>
        </p:nvSpPr>
        <p:spPr>
          <a:xfrm>
            <a:off x="3396343" y="4444851"/>
            <a:ext cx="4548249" cy="432722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Le Vendredi 19 Juin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05C07-660C-4C97-90E0-10478DB7B2ED}"/>
              </a:ext>
            </a:extLst>
          </p:cNvPr>
          <p:cNvSpPr txBox="1"/>
          <p:nvPr/>
        </p:nvSpPr>
        <p:spPr>
          <a:xfrm>
            <a:off x="7474836" y="5333698"/>
            <a:ext cx="3826210" cy="92761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Encadré  par :</a:t>
            </a:r>
          </a:p>
          <a:p>
            <a:r>
              <a:rPr lang="fr-FR" sz="1600" dirty="0"/>
              <a:t>	M. Tarik </a:t>
            </a:r>
            <a:r>
              <a:rPr lang="fr-FR" sz="1600" dirty="0" err="1"/>
              <a:t>Douiyeh</a:t>
            </a:r>
            <a:r>
              <a:rPr lang="fr-F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489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9061254" y="2311400"/>
            <a:ext cx="2127437" cy="406400"/>
            <a:chOff x="6862622" y="1733550"/>
            <a:chExt cx="1595578" cy="304800"/>
          </a:xfrm>
        </p:grpSpPr>
        <p:sp>
          <p:nvSpPr>
            <p:cNvPr id="58" name="Chevron 57"/>
            <p:cNvSpPr/>
            <p:nvPr/>
          </p:nvSpPr>
          <p:spPr>
            <a:xfrm>
              <a:off x="6862622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5BBE77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7617114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7034066" y="2311400"/>
            <a:ext cx="2127437" cy="406400"/>
            <a:chOff x="5318416" y="1733550"/>
            <a:chExt cx="1595578" cy="304800"/>
          </a:xfrm>
        </p:grpSpPr>
        <p:sp>
          <p:nvSpPr>
            <p:cNvPr id="61" name="Chevron 60"/>
            <p:cNvSpPr/>
            <p:nvPr/>
          </p:nvSpPr>
          <p:spPr>
            <a:xfrm>
              <a:off x="5318416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5B7AB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6072908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006879" y="2311400"/>
            <a:ext cx="2127437" cy="406400"/>
            <a:chOff x="3774211" y="1733550"/>
            <a:chExt cx="1595578" cy="304800"/>
          </a:xfrm>
        </p:grpSpPr>
        <p:sp>
          <p:nvSpPr>
            <p:cNvPr id="64" name="Chevron 63"/>
            <p:cNvSpPr/>
            <p:nvPr/>
          </p:nvSpPr>
          <p:spPr>
            <a:xfrm>
              <a:off x="3774211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7A6C2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4528703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2979691" y="2311400"/>
            <a:ext cx="2127437" cy="406400"/>
            <a:chOff x="2230005" y="1733550"/>
            <a:chExt cx="1595578" cy="304800"/>
          </a:xfrm>
        </p:grpSpPr>
        <p:sp>
          <p:nvSpPr>
            <p:cNvPr id="67" name="Chevron 66"/>
            <p:cNvSpPr/>
            <p:nvPr/>
          </p:nvSpPr>
          <p:spPr>
            <a:xfrm>
              <a:off x="2230005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39CCE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2984497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sp>
        <p:nvSpPr>
          <p:cNvPr id="69" name="Title 1"/>
          <p:cNvSpPr txBox="1">
            <a:spLocks/>
          </p:cNvSpPr>
          <p:nvPr/>
        </p:nvSpPr>
        <p:spPr>
          <a:xfrm>
            <a:off x="914400" y="279961"/>
            <a:ext cx="10363200" cy="817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1219170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2800" kern="800" spc="-53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8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57565A"/>
                </a:solidFill>
                <a:latin typeface="Open Sans Light"/>
              </a:rPr>
              <a:t>Plan</a:t>
            </a:r>
            <a:endParaRPr kumimoji="0" lang="en-US" sz="3600" b="0" i="0" u="none" strike="noStrike" kern="800" cap="none" spc="-53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j-ea"/>
              <a:cs typeface="+mj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1065262" y="3225799"/>
            <a:ext cx="1917700" cy="1917700"/>
          </a:xfrm>
          <a:prstGeom prst="ellipse">
            <a:avLst/>
          </a:prstGeom>
          <a:solidFill>
            <a:srgbClr val="2099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3072920" y="3254255"/>
            <a:ext cx="1917700" cy="1917700"/>
          </a:xfrm>
          <a:prstGeom prst="ellipse">
            <a:avLst/>
          </a:prstGeom>
          <a:solidFill>
            <a:srgbClr val="239CC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5119637" y="3225800"/>
            <a:ext cx="1917700" cy="1917700"/>
          </a:xfrm>
          <a:prstGeom prst="ellipse">
            <a:avLst/>
          </a:prstGeom>
          <a:solidFill>
            <a:srgbClr val="27A6C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7146824" y="3225800"/>
            <a:ext cx="1917700" cy="1917700"/>
          </a:xfrm>
          <a:prstGeom prst="ellipse">
            <a:avLst/>
          </a:prstGeom>
          <a:solidFill>
            <a:srgbClr val="25B7AB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9174012" y="3225800"/>
            <a:ext cx="1917700" cy="1917700"/>
          </a:xfrm>
          <a:prstGeom prst="ellipse">
            <a:avLst/>
          </a:prstGeom>
          <a:solidFill>
            <a:srgbClr val="5BBE77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 flipH="1" flipV="1">
            <a:off x="2016223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099D8"/>
            </a:solidFill>
            <a:prstDash val="solid"/>
          </a:ln>
          <a:effectLst/>
        </p:spPr>
      </p:cxnSp>
      <p:cxnSp>
        <p:nvCxnSpPr>
          <p:cNvPr id="82" name="Straight Connector 81"/>
          <p:cNvCxnSpPr/>
          <p:nvPr/>
        </p:nvCxnSpPr>
        <p:spPr>
          <a:xfrm flipH="1" flipV="1">
            <a:off x="4043409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39CCE"/>
            </a:solidFill>
            <a:prstDash val="solid"/>
          </a:ln>
          <a:effectLst/>
        </p:spPr>
      </p:cxnSp>
      <p:cxnSp>
        <p:nvCxnSpPr>
          <p:cNvPr id="83" name="Straight Connector 82"/>
          <p:cNvCxnSpPr/>
          <p:nvPr/>
        </p:nvCxnSpPr>
        <p:spPr>
          <a:xfrm flipH="1" flipV="1">
            <a:off x="6070597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7A6C2"/>
            </a:solidFill>
            <a:prstDash val="solid"/>
          </a:ln>
          <a:effectLst/>
        </p:spPr>
      </p:cxnSp>
      <p:cxnSp>
        <p:nvCxnSpPr>
          <p:cNvPr id="84" name="Straight Connector 83"/>
          <p:cNvCxnSpPr/>
          <p:nvPr/>
        </p:nvCxnSpPr>
        <p:spPr>
          <a:xfrm flipH="1" flipV="1">
            <a:off x="8097784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5BBE77"/>
            </a:solidFill>
            <a:prstDash val="solid"/>
          </a:ln>
          <a:effectLst/>
        </p:spPr>
      </p:cxnSp>
      <p:cxnSp>
        <p:nvCxnSpPr>
          <p:cNvPr id="85" name="Straight Connector 84"/>
          <p:cNvCxnSpPr/>
          <p:nvPr/>
        </p:nvCxnSpPr>
        <p:spPr>
          <a:xfrm flipH="1" flipV="1">
            <a:off x="10124972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7EC44E"/>
            </a:solidFill>
            <a:prstDash val="solid"/>
          </a:ln>
          <a:effectLst/>
        </p:spPr>
      </p:cxnSp>
      <p:sp>
        <p:nvSpPr>
          <p:cNvPr id="86" name="Rectangle 85"/>
          <p:cNvSpPr/>
          <p:nvPr/>
        </p:nvSpPr>
        <p:spPr>
          <a:xfrm>
            <a:off x="1016392" y="3734959"/>
            <a:ext cx="19858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Définitions </a:t>
            </a:r>
          </a:p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&amp; </a:t>
            </a:r>
          </a:p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théorie 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56995" y="3822282"/>
            <a:ext cx="19858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Les composants clés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077976" y="3662347"/>
            <a:ext cx="19858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Inputs </a:t>
            </a:r>
          </a:p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&amp; </a:t>
            </a:r>
          </a:p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Outputs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122824" y="3817035"/>
            <a:ext cx="19858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dirty="0">
                <a:solidFill>
                  <a:schemeClr val="bg1"/>
                </a:solidFill>
                <a:latin typeface="Open Sans Light"/>
              </a:rPr>
              <a:t>Etat d’avancement</a:t>
            </a:r>
            <a:endParaRPr lang="en-US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172211" y="3964675"/>
            <a:ext cx="1985813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Démo</a:t>
            </a:r>
            <a:endParaRPr lang="en-US" sz="2133" dirty="0">
              <a:solidFill>
                <a:schemeClr val="bg1"/>
              </a:solidFill>
              <a:latin typeface="Open Sans Light"/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952504" y="2311400"/>
            <a:ext cx="2127437" cy="406400"/>
            <a:chOff x="685800" y="1733550"/>
            <a:chExt cx="1595578" cy="304800"/>
          </a:xfrm>
        </p:grpSpPr>
        <p:sp>
          <p:nvSpPr>
            <p:cNvPr id="92" name="Chevron 91"/>
            <p:cNvSpPr/>
            <p:nvPr/>
          </p:nvSpPr>
          <p:spPr>
            <a:xfrm>
              <a:off x="685800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099D8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93" name="Oval 92"/>
            <p:cNvSpPr/>
            <p:nvPr/>
          </p:nvSpPr>
          <p:spPr>
            <a:xfrm>
              <a:off x="1440292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sp useBgFill="1">
        <p:nvSpPr>
          <p:cNvPr id="109" name="Chevron 108"/>
          <p:cNvSpPr/>
          <p:nvPr/>
        </p:nvSpPr>
        <p:spPr bwMode="white">
          <a:xfrm>
            <a:off x="-1036580" y="2254806"/>
            <a:ext cx="2127437" cy="519589"/>
          </a:xfrm>
          <a:prstGeom prst="chevron">
            <a:avLst>
              <a:gd name="adj" fmla="val 32323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19/06/2019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1011" y="6356350"/>
            <a:ext cx="5779168" cy="365125"/>
          </a:xfrm>
        </p:spPr>
        <p:txBody>
          <a:bodyPr/>
          <a:lstStyle/>
          <a:p>
            <a:r>
              <a:rPr lang="fr-FR" dirty="0"/>
              <a:t>Conception et réalisation d’un outil intelligent d’aide à la validation des développements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9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Définitions &amp; théorie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13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015023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C’est quoi un logiciel simulateur 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1044851" y="1905170"/>
            <a:ext cx="9796064" cy="267765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/>
              <a:t>Un simulateur est un logiciel basé sur le processus de modélisation d'un phénomène réel avec un ensemble de formule mathématiques.</a:t>
            </a:r>
          </a:p>
          <a:p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/>
              <a:t>Il s'agit essentiellement d'un programme qui permet à l'utilisateur d'observer une opération par simulation sans réellement effectuer cette opération. 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642767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types de simulation 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1579945" y="1602225"/>
            <a:ext cx="8831482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b="1" dirty="0"/>
              <a:t>La simulation continue </a:t>
            </a:r>
            <a:r>
              <a:rPr lang="fr-FR" sz="2000" dirty="0"/>
              <a:t>fait référence à un modèle informatique d'un système physique contenu dans le temps.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520DD-3A20-4233-94DD-91A0DECF1EAD}"/>
              </a:ext>
            </a:extLst>
          </p:cNvPr>
          <p:cNvSpPr/>
          <p:nvPr/>
        </p:nvSpPr>
        <p:spPr>
          <a:xfrm>
            <a:off x="1579945" y="2782430"/>
            <a:ext cx="8831482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b="1" dirty="0"/>
              <a:t>La simulation d'événements discrets </a:t>
            </a:r>
            <a:r>
              <a:rPr lang="fr-FR" sz="2000" dirty="0"/>
              <a:t>modélise le fonctionnement d'un système comme une séquence discrète d'événements dans le temps. </a:t>
            </a:r>
          </a:p>
        </p:txBody>
      </p:sp>
    </p:spTree>
    <p:extLst>
      <p:ext uri="{BB962C8B-B14F-4D97-AF65-F5344CB8AC3E}">
        <p14:creationId xmlns:p14="http://schemas.microsoft.com/office/powerpoint/2010/main" val="164874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1006328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approches de la simulation d’évènements discrète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163121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Progression temporelle à incrément fixe </a:t>
            </a:r>
            <a:r>
              <a:rPr lang="fr-FR" sz="2000" dirty="0"/>
              <a:t>: le temps est divisé en petites tranches de temps et l'état du système est mis à jour en fonction de l'ensemble des événements qui se produisent dans la tranche du temps.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fr-FR" sz="2000" b="1" dirty="0"/>
              <a:t>Avantages : </a:t>
            </a:r>
            <a:r>
              <a:rPr lang="fr-FR" sz="2000" dirty="0"/>
              <a:t>Implémentation classique;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fr-FR" sz="2000" b="1" dirty="0"/>
              <a:t>Inconvénient : </a:t>
            </a:r>
            <a:r>
              <a:rPr lang="fr-FR" sz="2000" dirty="0"/>
              <a:t>lente;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27025-8BAF-478C-9B91-73AF0FB45D14}"/>
              </a:ext>
            </a:extLst>
          </p:cNvPr>
          <p:cNvSpPr/>
          <p:nvPr/>
        </p:nvSpPr>
        <p:spPr>
          <a:xfrm>
            <a:off x="520862" y="3377284"/>
            <a:ext cx="10150998" cy="163121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Progression temporelle du prochain événement</a:t>
            </a:r>
            <a:r>
              <a:rPr lang="fr-FR" sz="2000" dirty="0"/>
              <a:t>, Chaque événement se produit à un instant particulier et marque un changement d' état dans le système, ainsi le temps de simulation peut directement passer au temps d'occurrence du prochain événement.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fr-FR" sz="2000" b="1" dirty="0"/>
              <a:t>Avantages : </a:t>
            </a:r>
            <a:r>
              <a:rPr lang="fr-FR" sz="2000" dirty="0"/>
              <a:t>rapide, concise.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40979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pPr defTabSz="1219170"/>
            <a:r>
              <a:rPr lang="fr-FR" sz="3600" dirty="0">
                <a:solidFill>
                  <a:schemeClr val="bg1"/>
                </a:solidFill>
                <a:latin typeface="Open Sans Light"/>
              </a:rPr>
              <a:t>Les composants clés</a:t>
            </a:r>
            <a:endParaRPr lang="en-US" sz="3600" dirty="0">
              <a:solidFill>
                <a:schemeClr val="bg1"/>
              </a:solidFill>
              <a:latin typeface="Open Sans Ligh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82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11296" y="251596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-1115384" y="296489"/>
            <a:ext cx="9079434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de notre simulateur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1" y="1514728"/>
            <a:ext cx="10150998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Horloge </a:t>
            </a:r>
            <a:r>
              <a:rPr lang="fr-FR" sz="2000" dirty="0"/>
              <a:t>La simulation doit garder une trace du temps de simulation actuel, dans toutes les unités de mesure qui conviennent au système modélisé.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D62325-800D-48E2-8177-82AED5FDA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922" y="3437792"/>
            <a:ext cx="3288775" cy="19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89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14646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de notre simulateur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État </a:t>
            </a:r>
            <a:r>
              <a:rPr lang="fr-FR" sz="2000" dirty="0"/>
              <a:t>Un état du système est un ensemble de variables qui capture les propriétés qui avances du système à étudier et qui changent après chaque événement.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A91C7-2178-4307-A67D-3C71D9C4204F}"/>
              </a:ext>
            </a:extLst>
          </p:cNvPr>
          <p:cNvSpPr/>
          <p:nvPr/>
        </p:nvSpPr>
        <p:spPr>
          <a:xfrm>
            <a:off x="570290" y="2599577"/>
            <a:ext cx="10150998" cy="2246769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dirty="0"/>
              <a:t>Les variables d’état de notre simulateur sont les suivants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/>
              <a:t>La liste des requêtes;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/>
              <a:t>La Queue Cloud;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/>
              <a:t>La liste des </a:t>
            </a:r>
            <a:r>
              <a:rPr lang="fr-FR" sz="2000" dirty="0" err="1"/>
              <a:t>workers</a:t>
            </a:r>
            <a:r>
              <a:rPr lang="fr-FR" sz="2000" dirty="0"/>
              <a:t>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/>
              <a:t>Le temps;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375621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14646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de notre simulateur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20862" y="1289709"/>
            <a:ext cx="10150998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Liste des événements </a:t>
            </a:r>
            <a:r>
              <a:rPr lang="fr-FR" sz="2000" dirty="0"/>
              <a:t>La simulation conserve une liste d'événements de simulation. Ceci est appelé l' </a:t>
            </a:r>
            <a:r>
              <a:rPr lang="fr-FR" sz="2000" i="1" dirty="0"/>
              <a:t>ensemble d'événements en attente</a:t>
            </a:r>
            <a:r>
              <a:rPr lang="fr-FR" sz="20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F00F-A60E-44DC-A9E6-5639B8A6D723}"/>
              </a:ext>
            </a:extLst>
          </p:cNvPr>
          <p:cNvSpPr/>
          <p:nvPr/>
        </p:nvSpPr>
        <p:spPr>
          <a:xfrm>
            <a:off x="1907930" y="2599577"/>
            <a:ext cx="7860323" cy="3170099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000" dirty="0"/>
              <a:t>La liste des évènements susceptible de se produire au niveau de notre simulateur est la suivante :</a:t>
            </a:r>
          </a:p>
          <a:p>
            <a:endParaRPr lang="fr-FR" sz="20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 err="1"/>
              <a:t>Scaling</a:t>
            </a:r>
            <a:r>
              <a:rPr lang="fr-FR" sz="2000" dirty="0"/>
              <a:t> Up;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 err="1"/>
              <a:t>Scaling</a:t>
            </a:r>
            <a:r>
              <a:rPr lang="fr-FR" sz="2000" dirty="0"/>
              <a:t> Down;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 err="1"/>
              <a:t>Arrived</a:t>
            </a:r>
            <a:r>
              <a:rPr lang="fr-FR" sz="2000" dirty="0"/>
              <a:t> </a:t>
            </a:r>
            <a:r>
              <a:rPr lang="fr-FR" sz="2000" dirty="0" err="1"/>
              <a:t>Request</a:t>
            </a:r>
            <a:r>
              <a:rPr lang="fr-FR" sz="2000" dirty="0"/>
              <a:t>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 err="1"/>
              <a:t>Dequeue</a:t>
            </a:r>
            <a:r>
              <a:rPr lang="fr-FR" sz="2000" dirty="0"/>
              <a:t> time;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 err="1"/>
              <a:t>Launching</a:t>
            </a:r>
            <a:r>
              <a:rPr lang="fr-FR" sz="2000" dirty="0"/>
              <a:t> </a:t>
            </a:r>
            <a:r>
              <a:rPr lang="fr-FR" sz="2000" dirty="0" err="1"/>
              <a:t>Workers</a:t>
            </a:r>
            <a:r>
              <a:rPr lang="fr-FR" sz="2000" dirty="0"/>
              <a:t>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/>
              <a:t>End of simulation;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78912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14646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de notre simulateur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779856" y="2089809"/>
            <a:ext cx="10150998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Statistiques </a:t>
            </a:r>
            <a:r>
              <a:rPr lang="fr-FR" sz="2000" dirty="0"/>
              <a:t>La simulation garde généralement la trace des statistiques du système , qui quantifient les aspects intéressants.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220E-2195-46D3-B0F5-9C392BA925B1}"/>
              </a:ext>
            </a:extLst>
          </p:cNvPr>
          <p:cNvSpPr/>
          <p:nvPr/>
        </p:nvSpPr>
        <p:spPr>
          <a:xfrm>
            <a:off x="3086100" y="3645862"/>
            <a:ext cx="6172200" cy="1323439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dirty="0"/>
              <a:t>Les statistiques de notre simulateur sont les suivants 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/>
              <a:t>Etat des </a:t>
            </a:r>
            <a:r>
              <a:rPr lang="fr-FR" sz="2000" dirty="0" err="1"/>
              <a:t>workers</a:t>
            </a:r>
            <a:endParaRPr lang="fr-FR" sz="20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/>
              <a:t>Etat de la queue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fr-FR" sz="2000" dirty="0"/>
              <a:t>Cloud </a:t>
            </a:r>
            <a:r>
              <a:rPr lang="fr-FR" sz="2000" dirty="0" err="1"/>
              <a:t>metrics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40455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146462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composantes de notre simulateur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2652-9EBA-4373-892B-B976CC1EFBA5}"/>
              </a:ext>
            </a:extLst>
          </p:cNvPr>
          <p:cNvSpPr/>
          <p:nvPr/>
        </p:nvSpPr>
        <p:spPr>
          <a:xfrm>
            <a:off x="570290" y="1702947"/>
            <a:ext cx="10150998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 err="1"/>
              <a:t>Ending</a:t>
            </a:r>
            <a:r>
              <a:rPr lang="fr-FR" sz="2000" b="1" dirty="0"/>
              <a:t> condition </a:t>
            </a:r>
            <a:r>
              <a:rPr lang="fr-FR" sz="2000" dirty="0"/>
              <a:t>une simulation d'événement discret pourrait théoriquement s'exécuter indéfiniment. Le concepteur de simulation doit donc décider la fin de la simulation.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520DD-3A20-4233-94DD-91A0DECF1EAD}"/>
              </a:ext>
            </a:extLst>
          </p:cNvPr>
          <p:cNvSpPr/>
          <p:nvPr/>
        </p:nvSpPr>
        <p:spPr>
          <a:xfrm>
            <a:off x="2174631" y="3101655"/>
            <a:ext cx="7842738" cy="1477328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sz="2000" dirty="0"/>
              <a:t>Les conditions d’arrêt de notre simulateur sont les suivants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/>
              <a:t>File d’attente vide &amp; </a:t>
            </a:r>
            <a:r>
              <a:rPr lang="fr-FR" sz="2000" dirty="0" err="1"/>
              <a:t>workers</a:t>
            </a:r>
            <a:r>
              <a:rPr lang="fr-FR" sz="2000" dirty="0"/>
              <a:t> </a:t>
            </a:r>
            <a:r>
              <a:rPr lang="fr-FR" sz="2000" dirty="0" err="1"/>
              <a:t>Idle</a:t>
            </a:r>
            <a:r>
              <a:rPr lang="fr-FR" sz="2000" dirty="0"/>
              <a:t> &amp; état de </a:t>
            </a:r>
            <a:r>
              <a:rPr lang="fr-FR" sz="2000" dirty="0" err="1"/>
              <a:t>scaling</a:t>
            </a:r>
            <a:r>
              <a:rPr lang="fr-FR" sz="2000" dirty="0"/>
              <a:t> est stable;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/>
              <a:t>End of simulation time.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717551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pPr defTabSz="1219170"/>
            <a:r>
              <a:rPr lang="fr-FR" sz="3600" dirty="0">
                <a:solidFill>
                  <a:schemeClr val="bg1"/>
                </a:solidFill>
                <a:latin typeface="Open Sans Light"/>
              </a:rPr>
              <a:t>Inputs &amp; Outputs</a:t>
            </a:r>
            <a:endParaRPr lang="en-US" sz="3600" dirty="0">
              <a:solidFill>
                <a:schemeClr val="bg1"/>
              </a:solidFill>
              <a:latin typeface="Open Sans Ligh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4" y="251596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inputs :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71562-EF43-4048-8C6E-39A7810C080A}"/>
              </a:ext>
            </a:extLst>
          </p:cNvPr>
          <p:cNvSpPr/>
          <p:nvPr/>
        </p:nvSpPr>
        <p:spPr>
          <a:xfrm>
            <a:off x="1265684" y="2321353"/>
            <a:ext cx="8844416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b="1" dirty="0"/>
              <a:t>Un fichier de requêtes : </a:t>
            </a:r>
            <a:r>
              <a:rPr lang="fr-FR" sz="2000" dirty="0"/>
              <a:t>Un fichier csv composé de toutes les </a:t>
            </a:r>
            <a:r>
              <a:rPr lang="fr-FR" sz="2000" dirty="0" err="1"/>
              <a:t>requetes</a:t>
            </a:r>
            <a:r>
              <a:rPr lang="fr-FR" sz="2000" dirty="0"/>
              <a:t> qui vont se produire au cours de la simulation.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A1D58-DB8B-4437-AE38-0B4206189143}"/>
              </a:ext>
            </a:extLst>
          </p:cNvPr>
          <p:cNvSpPr/>
          <p:nvPr/>
        </p:nvSpPr>
        <p:spPr>
          <a:xfrm>
            <a:off x="1290398" y="3554650"/>
            <a:ext cx="8819701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b="1" dirty="0"/>
              <a:t>Un fichier de configuration de </a:t>
            </a:r>
            <a:r>
              <a:rPr lang="fr-FR" sz="2000" b="1" dirty="0" err="1"/>
              <a:t>Scaling</a:t>
            </a:r>
            <a:r>
              <a:rPr lang="fr-FR" sz="2000" b="1" dirty="0"/>
              <a:t> :  </a:t>
            </a:r>
            <a:r>
              <a:rPr lang="fr-FR" sz="2000" dirty="0"/>
              <a:t>Un fichier </a:t>
            </a:r>
            <a:r>
              <a:rPr lang="fr-FR" sz="2000" dirty="0" err="1"/>
              <a:t>Json</a:t>
            </a:r>
            <a:r>
              <a:rPr lang="fr-FR" sz="2000" dirty="0"/>
              <a:t> de configuration pour le service de </a:t>
            </a:r>
            <a:r>
              <a:rPr lang="fr-FR" sz="2000" dirty="0" err="1"/>
              <a:t>scaling</a:t>
            </a:r>
            <a:r>
              <a:rPr lang="fr-FR" sz="2000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58A8D8-7EE2-419C-A1CB-EB0E836C4E3C}"/>
              </a:ext>
            </a:extLst>
          </p:cNvPr>
          <p:cNvSpPr/>
          <p:nvPr/>
        </p:nvSpPr>
        <p:spPr>
          <a:xfrm>
            <a:off x="1290398" y="4787948"/>
            <a:ext cx="8819701" cy="707886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b="1" dirty="0"/>
              <a:t>Fichier de paramètres : </a:t>
            </a:r>
            <a:r>
              <a:rPr lang="fr-FR" sz="2000" dirty="0"/>
              <a:t>Un fichier </a:t>
            </a:r>
            <a:r>
              <a:rPr lang="fr-FR" sz="2000" dirty="0" err="1"/>
              <a:t>Json</a:t>
            </a:r>
            <a:r>
              <a:rPr lang="fr-FR" sz="2000" dirty="0"/>
              <a:t> qui contient les différentes </a:t>
            </a:r>
            <a:r>
              <a:rPr lang="fr-FR" sz="2000" dirty="0" err="1"/>
              <a:t>paramétres</a:t>
            </a:r>
            <a:r>
              <a:rPr lang="fr-FR" sz="2000" dirty="0"/>
              <a:t> de la simulation.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E9A52-0808-4305-B7CA-002E7F9448D2}"/>
              </a:ext>
            </a:extLst>
          </p:cNvPr>
          <p:cNvSpPr/>
          <p:nvPr/>
        </p:nvSpPr>
        <p:spPr>
          <a:xfrm>
            <a:off x="572091" y="1501463"/>
            <a:ext cx="9293879" cy="40011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fr-FR" sz="2000" dirty="0"/>
              <a:t>Les inputs de notre simulateur sont les suivants : </a:t>
            </a:r>
          </a:p>
        </p:txBody>
      </p:sp>
    </p:spTree>
    <p:extLst>
      <p:ext uri="{BB962C8B-B14F-4D97-AF65-F5344CB8AC3E}">
        <p14:creationId xmlns:p14="http://schemas.microsoft.com/office/powerpoint/2010/main" val="1215996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4" y="251596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703260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Outputs : </a:t>
            </a:r>
            <a:r>
              <a:rPr lang="fr-FR" cap="none" dirty="0" err="1">
                <a:solidFill>
                  <a:schemeClr val="bg1"/>
                </a:solidFill>
                <a:latin typeface="CIDFont+F3"/>
              </a:rPr>
              <a:t>Workers</a:t>
            </a:r>
            <a:r>
              <a:rPr lang="fr-FR" cap="none" dirty="0">
                <a:solidFill>
                  <a:schemeClr val="bg1"/>
                </a:solidFill>
                <a:latin typeface="CIDFont+F3"/>
              </a:rPr>
              <a:t> &amp; Queue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71562-EF43-4048-8C6E-39A7810C080A}"/>
              </a:ext>
            </a:extLst>
          </p:cNvPr>
          <p:cNvSpPr/>
          <p:nvPr/>
        </p:nvSpPr>
        <p:spPr>
          <a:xfrm>
            <a:off x="1916724" y="1859953"/>
            <a:ext cx="7737230" cy="1477328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b="1" dirty="0"/>
              <a:t>Etat des </a:t>
            </a:r>
            <a:r>
              <a:rPr lang="fr-FR" b="1" dirty="0" err="1"/>
              <a:t>workers</a:t>
            </a:r>
            <a:r>
              <a:rPr lang="fr-FR" b="1" dirty="0"/>
              <a:t>: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Calculer le running time;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Calculer le </a:t>
            </a:r>
            <a:r>
              <a:rPr lang="fr-FR" dirty="0" err="1"/>
              <a:t>Idle</a:t>
            </a:r>
            <a:r>
              <a:rPr lang="fr-FR" dirty="0"/>
              <a:t> time;</a:t>
            </a: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Récupérer la date de démarrage;</a:t>
            </a: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Récupérer la date d’éteinte ;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A1D58-DB8B-4437-AE38-0B4206189143}"/>
              </a:ext>
            </a:extLst>
          </p:cNvPr>
          <p:cNvSpPr/>
          <p:nvPr/>
        </p:nvSpPr>
        <p:spPr>
          <a:xfrm>
            <a:off x="1916724" y="3429000"/>
            <a:ext cx="7768003" cy="1200329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b="1" dirty="0"/>
              <a:t>Etat de la queue : 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Calculer le temps d’attente dans la queue;</a:t>
            </a: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Calculer le temps d’exécution totale;</a:t>
            </a: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Récupérer ID du </a:t>
            </a:r>
            <a:r>
              <a:rPr lang="fr-FR" dirty="0" err="1"/>
              <a:t>Worker</a:t>
            </a:r>
            <a:r>
              <a:rPr lang="fr-FR" dirty="0"/>
              <a:t> qui a exécuté la requête ;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893162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4" y="251596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680400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Outputs : </a:t>
            </a:r>
            <a:r>
              <a:rPr lang="fr-FR" cap="none" dirty="0" err="1">
                <a:solidFill>
                  <a:schemeClr val="bg1"/>
                </a:solidFill>
                <a:latin typeface="CIDFont+F3"/>
              </a:rPr>
              <a:t>Metrics</a:t>
            </a:r>
            <a:r>
              <a:rPr lang="fr-FR" cap="none" dirty="0">
                <a:solidFill>
                  <a:schemeClr val="bg1"/>
                </a:solidFill>
                <a:latin typeface="CIDFont+F3"/>
              </a:rPr>
              <a:t> Cloud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71562-EF43-4048-8C6E-39A7810C080A}"/>
              </a:ext>
            </a:extLst>
          </p:cNvPr>
          <p:cNvSpPr/>
          <p:nvPr/>
        </p:nvSpPr>
        <p:spPr>
          <a:xfrm>
            <a:off x="1528396" y="1734730"/>
            <a:ext cx="9135207" cy="3016210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Billings </a:t>
            </a:r>
            <a:r>
              <a:rPr lang="fr-FR" sz="2000" b="1" dirty="0" err="1">
                <a:solidFill>
                  <a:schemeClr val="accent1">
                    <a:lumMod val="75000"/>
                  </a:schemeClr>
                </a:solidFill>
              </a:rPr>
              <a:t>Metrics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:</a:t>
            </a:r>
          </a:p>
          <a:p>
            <a:pPr lvl="0"/>
            <a:endParaRPr lang="fr-FR" sz="1000" b="1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fr-FR" b="1" dirty="0" err="1"/>
              <a:t>Workers</a:t>
            </a:r>
            <a:r>
              <a:rPr lang="fr-FR" b="1" dirty="0"/>
              <a:t> </a:t>
            </a:r>
            <a:r>
              <a:rPr lang="fr-FR" b="1" dirty="0" err="1"/>
              <a:t>Cost</a:t>
            </a:r>
            <a:r>
              <a:rPr lang="fr-FR" b="1" dirty="0"/>
              <a:t> : </a:t>
            </a:r>
            <a:r>
              <a:rPr lang="fr-FR" dirty="0"/>
              <a:t> Le montant dû au fournisseur cloud pour l’allocation des </a:t>
            </a:r>
            <a:r>
              <a:rPr lang="fr-FR" dirty="0" err="1"/>
              <a:t>Workers</a:t>
            </a:r>
            <a:r>
              <a:rPr lang="fr-FR" dirty="0"/>
              <a:t>; </a:t>
            </a:r>
          </a:p>
          <a:p>
            <a:pPr lvl="1"/>
            <a:r>
              <a:rPr lang="fr-FR" dirty="0"/>
              <a:t> </a:t>
            </a:r>
            <a:endParaRPr lang="en-US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fr-FR" b="1" dirty="0" err="1"/>
              <a:t>Average</a:t>
            </a:r>
            <a:r>
              <a:rPr lang="fr-FR" b="1" dirty="0"/>
              <a:t> </a:t>
            </a:r>
            <a:r>
              <a:rPr lang="fr-FR" b="1" dirty="0" err="1"/>
              <a:t>Workers</a:t>
            </a:r>
            <a:r>
              <a:rPr lang="fr-FR" b="1" dirty="0"/>
              <a:t> </a:t>
            </a:r>
            <a:r>
              <a:rPr lang="fr-FR" b="1" dirty="0" err="1"/>
              <a:t>effeciency</a:t>
            </a:r>
            <a:r>
              <a:rPr lang="fr-FR" b="1" dirty="0"/>
              <a:t> :</a:t>
            </a:r>
            <a:r>
              <a:rPr lang="fr-FR" dirty="0"/>
              <a:t> La moyenne d’efficacité des </a:t>
            </a:r>
            <a:r>
              <a:rPr lang="fr-FR" dirty="0" err="1"/>
              <a:t>workers</a:t>
            </a:r>
            <a:r>
              <a:rPr lang="fr-FR" dirty="0"/>
              <a:t> ;</a:t>
            </a:r>
          </a:p>
          <a:p>
            <a:pPr lvl="1"/>
            <a:r>
              <a:rPr lang="fr-FR" dirty="0"/>
              <a:t> </a:t>
            </a:r>
            <a:endParaRPr lang="en-US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fr-FR" b="1" dirty="0" err="1"/>
              <a:t>Workers</a:t>
            </a:r>
            <a:r>
              <a:rPr lang="fr-FR" b="1" dirty="0"/>
              <a:t> Total </a:t>
            </a:r>
            <a:r>
              <a:rPr lang="fr-FR" b="1" dirty="0" err="1"/>
              <a:t>Idle</a:t>
            </a:r>
            <a:r>
              <a:rPr lang="fr-FR" b="1" dirty="0"/>
              <a:t> Time :</a:t>
            </a:r>
            <a:r>
              <a:rPr lang="fr-FR" dirty="0"/>
              <a:t> Le temps d’attente total des </a:t>
            </a:r>
            <a:r>
              <a:rPr lang="fr-FR" dirty="0" err="1"/>
              <a:t>workers</a:t>
            </a:r>
            <a:r>
              <a:rPr lang="fr-FR" dirty="0"/>
              <a:t> ;</a:t>
            </a:r>
          </a:p>
          <a:p>
            <a:pPr lvl="1"/>
            <a:endParaRPr lang="en-US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fr-FR" dirty="0"/>
              <a:t> </a:t>
            </a:r>
            <a:r>
              <a:rPr lang="fr-FR" b="1" dirty="0" err="1"/>
              <a:t>Additional</a:t>
            </a:r>
            <a:r>
              <a:rPr lang="fr-FR" b="1" dirty="0"/>
              <a:t> </a:t>
            </a:r>
            <a:r>
              <a:rPr lang="fr-FR" b="1" dirty="0" err="1"/>
              <a:t>Workers</a:t>
            </a:r>
            <a:r>
              <a:rPr lang="fr-FR" b="1" dirty="0"/>
              <a:t> </a:t>
            </a:r>
            <a:r>
              <a:rPr lang="fr-FR" b="1" dirty="0" err="1"/>
              <a:t>Cost</a:t>
            </a:r>
            <a:r>
              <a:rPr lang="fr-FR" b="1" dirty="0"/>
              <a:t> :</a:t>
            </a:r>
            <a:r>
              <a:rPr lang="fr-FR" dirty="0"/>
              <a:t> Le montant dû au fournisseur cloud pour l’allocation des </a:t>
            </a:r>
            <a:r>
              <a:rPr lang="fr-FR" dirty="0" err="1"/>
              <a:t>workers</a:t>
            </a:r>
            <a:r>
              <a:rPr lang="fr-FR" dirty="0"/>
              <a:t> durant le temps d’attente</a:t>
            </a:r>
            <a:r>
              <a:rPr lang="fr-FR" sz="1600" dirty="0"/>
              <a:t>,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30836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4" y="251596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680400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Les Outputs : </a:t>
            </a:r>
            <a:r>
              <a:rPr lang="fr-FR" cap="none" dirty="0" err="1">
                <a:solidFill>
                  <a:schemeClr val="bg1"/>
                </a:solidFill>
                <a:latin typeface="CIDFont+F3"/>
              </a:rPr>
              <a:t>Metrics</a:t>
            </a:r>
            <a:r>
              <a:rPr lang="fr-FR" cap="none" dirty="0">
                <a:solidFill>
                  <a:schemeClr val="bg1"/>
                </a:solidFill>
                <a:latin typeface="CIDFont+F3"/>
              </a:rPr>
              <a:t>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50A2D0-7055-412B-B33F-1F36AA1E209D}"/>
              </a:ext>
            </a:extLst>
          </p:cNvPr>
          <p:cNvSpPr/>
          <p:nvPr/>
        </p:nvSpPr>
        <p:spPr>
          <a:xfrm>
            <a:off x="1528396" y="1703356"/>
            <a:ext cx="9135207" cy="3970318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Performance </a:t>
            </a:r>
            <a:r>
              <a:rPr lang="fr-FR" sz="2000" b="1" dirty="0" err="1">
                <a:solidFill>
                  <a:schemeClr val="accent1">
                    <a:lumMod val="75000"/>
                  </a:schemeClr>
                </a:solidFill>
              </a:rPr>
              <a:t>Metrics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:</a:t>
            </a:r>
          </a:p>
          <a:p>
            <a:pPr lvl="0"/>
            <a:endParaRPr lang="fr-FR" sz="1600" b="1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fr-FR" b="1" dirty="0"/>
              <a:t>Service down Time :</a:t>
            </a:r>
            <a:r>
              <a:rPr lang="fr-FR" dirty="0"/>
              <a:t> </a:t>
            </a:r>
            <a:r>
              <a:rPr lang="en-US" dirty="0"/>
              <a:t> </a:t>
            </a:r>
            <a:r>
              <a:rPr lang="fr-FR" dirty="0"/>
              <a:t>Le temps durant lequel aucun </a:t>
            </a:r>
            <a:r>
              <a:rPr lang="fr-FR" dirty="0" err="1"/>
              <a:t>worker</a:t>
            </a:r>
            <a:r>
              <a:rPr lang="fr-FR" dirty="0"/>
              <a:t> n’était disponible,</a:t>
            </a:r>
          </a:p>
          <a:p>
            <a:pPr lvl="1"/>
            <a:endParaRPr lang="fr-FR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fr-FR" b="1" dirty="0" err="1"/>
              <a:t>Workers</a:t>
            </a:r>
            <a:r>
              <a:rPr lang="fr-FR" b="1" dirty="0"/>
              <a:t> </a:t>
            </a:r>
            <a:r>
              <a:rPr lang="fr-FR" b="1" dirty="0" err="1"/>
              <a:t>Unavailability</a:t>
            </a:r>
            <a:r>
              <a:rPr lang="fr-FR" b="1" dirty="0"/>
              <a:t> Percentage :</a:t>
            </a:r>
            <a:r>
              <a:rPr lang="fr-FR" dirty="0"/>
              <a:t> Le pourcentage du temps dans lequel les </a:t>
            </a:r>
            <a:r>
              <a:rPr lang="fr-FR" dirty="0" err="1"/>
              <a:t>Workers</a:t>
            </a:r>
            <a:r>
              <a:rPr lang="fr-FR" dirty="0"/>
              <a:t> étaient indisponible par rapport au temps de la simulation ;</a:t>
            </a:r>
          </a:p>
          <a:p>
            <a:pPr lvl="1"/>
            <a:endParaRPr lang="en-US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fr-FR" b="1" dirty="0" err="1"/>
              <a:t>Average</a:t>
            </a:r>
            <a:r>
              <a:rPr lang="fr-FR" b="1" dirty="0"/>
              <a:t> Queue Time :</a:t>
            </a:r>
            <a:r>
              <a:rPr lang="fr-FR" dirty="0"/>
              <a:t> La moyenne du temps d’attente des requêtes dans la queue;</a:t>
            </a:r>
          </a:p>
          <a:p>
            <a:pPr lvl="1"/>
            <a:endParaRPr lang="en-US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fr-FR" b="1" dirty="0"/>
              <a:t>Max Queue Time :</a:t>
            </a:r>
            <a:r>
              <a:rPr lang="fr-FR" dirty="0"/>
              <a:t> Le temps d’attente maximal d’une requête dans la queue;</a:t>
            </a:r>
          </a:p>
          <a:p>
            <a:pPr lvl="1"/>
            <a:endParaRPr lang="en-US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US" b="1" dirty="0"/>
              <a:t>Percentage of Request with Zero Queue Time :</a:t>
            </a:r>
            <a:r>
              <a:rPr lang="en-US" dirty="0"/>
              <a:t> </a:t>
            </a:r>
            <a:r>
              <a:rPr lang="fr-FR" dirty="0"/>
              <a:t>Percentage des requêtes avec Zéro queue time;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791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Etat d’avancement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586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3F28A7-1698-4822-9692-7177DA0F4795}"/>
              </a:ext>
            </a:extLst>
          </p:cNvPr>
          <p:cNvSpPr/>
          <p:nvPr/>
        </p:nvSpPr>
        <p:spPr>
          <a:xfrm>
            <a:off x="554252" y="23452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8D9C7E-F20D-437D-AC43-1318999D8ADF}"/>
              </a:ext>
            </a:extLst>
          </p:cNvPr>
          <p:cNvSpPr txBox="1">
            <a:spLocks/>
          </p:cNvSpPr>
          <p:nvPr/>
        </p:nvSpPr>
        <p:spPr>
          <a:xfrm>
            <a:off x="1304304" y="234523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fr-FR" cap="none" dirty="0">
                <a:solidFill>
                  <a:schemeClr val="bg1"/>
                </a:solidFill>
                <a:latin typeface="CIDFont+F3"/>
              </a:rPr>
              <a:t>Etat d’avancement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24C58AF6-AF59-4EBD-ABC3-E63920295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330312"/>
              </p:ext>
            </p:extLst>
          </p:nvPr>
        </p:nvGraphicFramePr>
        <p:xfrm>
          <a:off x="1458785" y="1173807"/>
          <a:ext cx="9274429" cy="4510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5284">
                  <a:extLst>
                    <a:ext uri="{9D8B030D-6E8A-4147-A177-3AD203B41FA5}">
                      <a16:colId xmlns:a16="http://schemas.microsoft.com/office/drawing/2014/main" val="2763454353"/>
                    </a:ext>
                  </a:extLst>
                </a:gridCol>
                <a:gridCol w="4799145">
                  <a:extLst>
                    <a:ext uri="{9D8B030D-6E8A-4147-A177-3AD203B41FA5}">
                      <a16:colId xmlns:a16="http://schemas.microsoft.com/office/drawing/2014/main" val="3263280934"/>
                    </a:ext>
                  </a:extLst>
                </a:gridCol>
              </a:tblGrid>
              <a:tr h="57846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livrables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98396"/>
                  </a:ext>
                </a:extLst>
              </a:tr>
              <a:tr h="3018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dirty="0"/>
                        <a:t>Premier livrable</a:t>
                      </a:r>
                    </a:p>
                  </a:txBody>
                  <a:tcPr anchor="ctr"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Traitement des requêtes simple avec un seul </a:t>
                      </a:r>
                      <a:r>
                        <a:rPr lang="fr-FR" dirty="0" err="1"/>
                        <a:t>task</a:t>
                      </a:r>
                      <a:r>
                        <a:rPr lang="fr-FR" dirty="0"/>
                        <a:t>;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Affichage d'état des </a:t>
                      </a:r>
                      <a:r>
                        <a:rPr lang="fr-FR" dirty="0" err="1"/>
                        <a:t>workers</a:t>
                      </a:r>
                      <a:r>
                        <a:rPr lang="fr-FR" dirty="0"/>
                        <a:t>;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Affichage d'état de la queue;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93414"/>
                  </a:ext>
                </a:extLst>
              </a:tr>
              <a:tr h="3018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dirty="0"/>
                        <a:t>Deuxième livrable</a:t>
                      </a:r>
                    </a:p>
                  </a:txBody>
                  <a:tcPr anchor="ctr">
                    <a:solidFill>
                      <a:srgbClr val="5BBE7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Benchmarking </a:t>
                      </a:r>
                      <a:r>
                        <a:rPr lang="fr-FR" dirty="0" err="1"/>
                        <a:t>metrics</a:t>
                      </a:r>
                      <a:r>
                        <a:rPr lang="fr-FR" dirty="0"/>
                        <a:t>;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Choix de </a:t>
                      </a:r>
                      <a:r>
                        <a:rPr lang="fr-FR" dirty="0" err="1"/>
                        <a:t>metrics</a:t>
                      </a:r>
                      <a:r>
                        <a:rPr lang="fr-FR" dirty="0"/>
                        <a:t> les plus signifiantes;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Implémenter le module </a:t>
                      </a:r>
                      <a:r>
                        <a:rPr lang="fr-FR" dirty="0" err="1"/>
                        <a:t>metrics</a:t>
                      </a:r>
                      <a:r>
                        <a:rPr lang="fr-FR" dirty="0"/>
                        <a:t> Cloud;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Affichage des </a:t>
                      </a:r>
                      <a:r>
                        <a:rPr lang="fr-FR" dirty="0" err="1"/>
                        <a:t>metrics</a:t>
                      </a:r>
                      <a:r>
                        <a:rPr lang="fr-FR" dirty="0"/>
                        <a:t> Cloud;</a:t>
                      </a:r>
                    </a:p>
                  </a:txBody>
                  <a:tcPr>
                    <a:solidFill>
                      <a:srgbClr val="5BB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312971"/>
                  </a:ext>
                </a:extLst>
              </a:tr>
              <a:tr h="4255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dirty="0"/>
                        <a:t>Troisième livrable</a:t>
                      </a:r>
                    </a:p>
                  </a:txBody>
                  <a:tcPr anchor="ctr">
                    <a:solidFill>
                      <a:srgbClr val="C9DC8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Traitement de graph </a:t>
                      </a:r>
                      <a:r>
                        <a:rPr lang="fr-FR" dirty="0" err="1"/>
                        <a:t>request</a:t>
                      </a:r>
                      <a:r>
                        <a:rPr lang="fr-FR" dirty="0"/>
                        <a:t>;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Améliorer de la performance (temps de simulation)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Faire des tests de validation;</a:t>
                      </a:r>
                    </a:p>
                  </a:txBody>
                  <a:tcPr>
                    <a:solidFill>
                      <a:srgbClr val="C9D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97978"/>
                  </a:ext>
                </a:extLst>
              </a:tr>
              <a:tr h="2733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dirty="0"/>
                        <a:t>Quatrième livrable</a:t>
                      </a:r>
                    </a:p>
                  </a:txBody>
                  <a:tcPr anchor="ctr">
                    <a:solidFill>
                      <a:srgbClr val="D8909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fr-FR" dirty="0"/>
                        <a:t>Comparaison de deux configurations</a:t>
                      </a:r>
                    </a:p>
                  </a:txBody>
                  <a:tcPr>
                    <a:solidFill>
                      <a:srgbClr val="D89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90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265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Démo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10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2199</TotalTime>
  <Words>876</Words>
  <Application>Microsoft Office PowerPoint</Application>
  <PresentationFormat>Widescreen</PresentationFormat>
  <Paragraphs>132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Asap Medium</vt:lpstr>
      <vt:lpstr>Calibri</vt:lpstr>
      <vt:lpstr>Calibri Light</vt:lpstr>
      <vt:lpstr>CIDFont+F3</vt:lpstr>
      <vt:lpstr>Courier New</vt:lpstr>
      <vt:lpstr>Open Sans Light</vt:lpstr>
      <vt:lpstr>Wingdings</vt:lpstr>
      <vt:lpstr>Office Theme</vt:lpstr>
      <vt:lpstr>Conception et réalisation d’un outil de Simulation de charge</vt:lpstr>
      <vt:lpstr>PowerPoint Presentation</vt:lpstr>
      <vt:lpstr>Définitions &amp; théorie </vt:lpstr>
      <vt:lpstr>PowerPoint Presentation</vt:lpstr>
      <vt:lpstr>PowerPoint Presentation</vt:lpstr>
      <vt:lpstr>PowerPoint Presentation</vt:lpstr>
      <vt:lpstr>Les composants clés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Inputs &amp; Outputs</vt:lpstr>
      <vt:lpstr>PowerPoint Presentation</vt:lpstr>
      <vt:lpstr>PowerPoint Presentation</vt:lpstr>
      <vt:lpstr>PowerPoint Presentation</vt:lpstr>
      <vt:lpstr>PowerPoint Presentation</vt:lpstr>
      <vt:lpstr>Etat d’avancement</vt:lpstr>
      <vt:lpstr>PowerPoint Presentation</vt:lpstr>
      <vt:lpstr>Démo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ZLaP</dc:creator>
  <cp:lastModifiedBy>ZLaP</cp:lastModifiedBy>
  <cp:revision>34</cp:revision>
  <dcterms:created xsi:type="dcterms:W3CDTF">2020-06-18T20:09:30Z</dcterms:created>
  <dcterms:modified xsi:type="dcterms:W3CDTF">2020-06-29T09:12:14Z</dcterms:modified>
</cp:coreProperties>
</file>