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4">
  <p:sldMasterIdLst>
    <p:sldMasterId id="2147483648" r:id="rId1"/>
  </p:sldMasterIdLst>
  <p:notesMasterIdLst>
    <p:notesMasterId r:id="rId31"/>
  </p:notesMasterIdLst>
  <p:sldIdLst>
    <p:sldId id="294" r:id="rId2"/>
    <p:sldId id="763" r:id="rId3"/>
    <p:sldId id="370" r:id="rId4"/>
    <p:sldId id="766" r:id="rId5"/>
    <p:sldId id="768" r:id="rId6"/>
    <p:sldId id="823" r:id="rId7"/>
    <p:sldId id="779" r:id="rId8"/>
    <p:sldId id="778" r:id="rId9"/>
    <p:sldId id="821" r:id="rId10"/>
    <p:sldId id="822" r:id="rId11"/>
    <p:sldId id="816" r:id="rId12"/>
    <p:sldId id="784" r:id="rId13"/>
    <p:sldId id="818" r:id="rId14"/>
    <p:sldId id="785" r:id="rId15"/>
    <p:sldId id="786" r:id="rId16"/>
    <p:sldId id="824" r:id="rId17"/>
    <p:sldId id="789" r:id="rId18"/>
    <p:sldId id="794" r:id="rId19"/>
    <p:sldId id="819" r:id="rId20"/>
    <p:sldId id="796" r:id="rId21"/>
    <p:sldId id="798" r:id="rId22"/>
    <p:sldId id="800" r:id="rId23"/>
    <p:sldId id="802" r:id="rId24"/>
    <p:sldId id="827" r:id="rId25"/>
    <p:sldId id="808" r:id="rId26"/>
    <p:sldId id="826" r:id="rId27"/>
    <p:sldId id="810" r:id="rId28"/>
    <p:sldId id="811" r:id="rId29"/>
    <p:sldId id="829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5597"/>
    <a:srgbClr val="4472C4"/>
    <a:srgbClr val="5B9BD5"/>
    <a:srgbClr val="FBDEBC"/>
    <a:srgbClr val="B8D5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448" autoAdjust="0"/>
    <p:restoredTop sz="75147" autoAdjust="0"/>
  </p:normalViewPr>
  <p:slideViewPr>
    <p:cSldViewPr snapToGrid="0">
      <p:cViewPr varScale="1">
        <p:scale>
          <a:sx n="91" d="100"/>
          <a:sy n="91" d="100"/>
        </p:scale>
        <p:origin x="2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BF9FB2-AB98-405E-8819-E60179C961FF}" type="datetimeFigureOut">
              <a:rPr lang="fr-FR" smtClean="0"/>
              <a:t>13/07/2020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F15C2D-7E79-432A-8A89-F05B5C691D0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89202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6B0659-C84A-4C94-9A37-1BE51DD4DB67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7737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0" i="1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96260-7886-4BB4-B3B1-63A7F95469D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4802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noProof="0" dirty="0"/>
              <a:t>1 -&gt; 3 1min5sec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96260-7886-4BB4-B3B1-63A7F95469D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7727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B5A0E7-F41C-416F-ABA3-7472EA70D9A6}" type="slidenum">
              <a:rPr lang="id-ID" smtClean="0"/>
              <a:t>4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6424678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endParaRPr lang="en-US" sz="1800" dirty="0">
              <a:effectLst/>
              <a:latin typeface="CIDFont+F3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B5A0E7-F41C-416F-ABA3-7472EA70D9A6}" type="slidenum">
              <a:rPr lang="id-ID" smtClean="0"/>
              <a:t>5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4399872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B5A0E7-F41C-416F-ABA3-7472EA70D9A6}" type="slidenum">
              <a:rPr lang="id-ID" smtClean="0"/>
              <a:t>6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8282784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fr-FR" sz="800" dirty="0">
                <a:solidFill>
                  <a:srgbClr val="202122"/>
                </a:solidFill>
                <a:latin typeface="Arial" panose="020B0604020202020204" pitchFamily="34" charset="0"/>
              </a:rPr>
              <a:t>- Comme </a:t>
            </a:r>
            <a:r>
              <a:rPr lang="fr-FR" sz="800" dirty="0" err="1">
                <a:solidFill>
                  <a:srgbClr val="202122"/>
                </a:solidFill>
                <a:latin typeface="Arial" panose="020B0604020202020204" pitchFamily="34" charset="0"/>
              </a:rPr>
              <a:t>methode</a:t>
            </a:r>
            <a:r>
              <a:rPr lang="fr-FR" sz="800" dirty="0">
                <a:solidFill>
                  <a:srgbClr val="202122"/>
                </a:solidFill>
                <a:latin typeface="Arial" panose="020B0604020202020204" pitchFamily="34" charset="0"/>
              </a:rPr>
              <a:t> de dev et gestion du projet on a utilisé l’</a:t>
            </a:r>
            <a:r>
              <a:rPr lang="fr-FR" sz="800" dirty="0" err="1">
                <a:solidFill>
                  <a:srgbClr val="202122"/>
                </a:solidFill>
                <a:latin typeface="Arial" panose="020B0604020202020204" pitchFamily="34" charset="0"/>
              </a:rPr>
              <a:t>extreme</a:t>
            </a:r>
            <a:r>
              <a:rPr lang="fr-FR" sz="800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  <a:r>
              <a:rPr lang="fr-FR" sz="800" dirty="0" err="1">
                <a:solidFill>
                  <a:srgbClr val="202122"/>
                </a:solidFill>
                <a:latin typeface="Arial" panose="020B0604020202020204" pitchFamily="34" charset="0"/>
              </a:rPr>
              <a:t>programing</a:t>
            </a:r>
            <a:r>
              <a:rPr lang="fr-FR" sz="800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  <a:r>
              <a:rPr lang="fr-FR" sz="800" dirty="0" err="1">
                <a:solidFill>
                  <a:srgbClr val="202122"/>
                </a:solidFill>
                <a:latin typeface="Arial" panose="020B0604020202020204" pitchFamily="34" charset="0"/>
              </a:rPr>
              <a:t>qu</a:t>
            </a:r>
            <a:r>
              <a:rPr lang="fr-FR" sz="800" dirty="0">
                <a:solidFill>
                  <a:srgbClr val="202122"/>
                </a:solidFill>
                <a:latin typeface="Arial" panose="020B0604020202020204" pitchFamily="34" charset="0"/>
              </a:rPr>
              <a:t> est une </a:t>
            </a:r>
            <a:r>
              <a:rPr lang="fr-FR" sz="800" dirty="0" err="1">
                <a:solidFill>
                  <a:srgbClr val="202122"/>
                </a:solidFill>
                <a:latin typeface="Arial" panose="020B0604020202020204" pitchFamily="34" charset="0"/>
              </a:rPr>
              <a:t>methode</a:t>
            </a:r>
            <a:r>
              <a:rPr lang="fr-FR" sz="800" dirty="0">
                <a:solidFill>
                  <a:srgbClr val="202122"/>
                </a:solidFill>
                <a:latin typeface="Arial" panose="020B0604020202020204" pitchFamily="34" charset="0"/>
              </a:rPr>
              <a:t> agile adopté au </a:t>
            </a:r>
            <a:r>
              <a:rPr lang="fr-FR" sz="800" dirty="0" err="1">
                <a:solidFill>
                  <a:srgbClr val="202122"/>
                </a:solidFill>
                <a:latin typeface="Arial" panose="020B0604020202020204" pitchFamily="34" charset="0"/>
              </a:rPr>
              <a:t>equipe</a:t>
            </a:r>
            <a:r>
              <a:rPr lang="fr-FR" sz="800" dirty="0">
                <a:solidFill>
                  <a:srgbClr val="202122"/>
                </a:solidFill>
                <a:latin typeface="Arial" panose="020B0604020202020204" pitchFamily="34" charset="0"/>
              </a:rPr>
              <a:t> réduite et au projet de changeants </a:t>
            </a:r>
            <a:endParaRPr lang="fr-FR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B5A0E7-F41C-416F-ABA3-7472EA70D9A6}" type="slidenum">
              <a:rPr lang="id-ID" smtClean="0"/>
              <a:t>7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1166623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/>
              <a:t>Mon projet est divisé en trois principale phase :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/>
              <a:t>	*phase de démarrage du projet où j’ai effectue les différentes formations de base pour que je puisse travailler sur mon sujet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/>
              <a:t>	*phase de construction du projet qui est composé de  :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/>
              <a:t>		- </a:t>
            </a:r>
            <a:r>
              <a:rPr lang="fr-FR" noProof="0" dirty="0" err="1"/>
              <a:t>etude</a:t>
            </a:r>
            <a:r>
              <a:rPr lang="fr-FR" noProof="0" dirty="0"/>
              <a:t> </a:t>
            </a:r>
            <a:r>
              <a:rPr lang="fr-FR" noProof="0" dirty="0" err="1"/>
              <a:t>preliminaire</a:t>
            </a:r>
            <a:r>
              <a:rPr lang="fr-FR" noProof="0" dirty="0"/>
              <a:t> qui a duré 10 jours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/>
              <a:t>		- puis une définition des </a:t>
            </a:r>
            <a:r>
              <a:rPr lang="fr-FR" noProof="0" dirty="0" err="1"/>
              <a:t>specifications</a:t>
            </a:r>
            <a:r>
              <a:rPr lang="fr-FR" noProof="0" dirty="0"/>
              <a:t> </a:t>
            </a:r>
            <a:r>
              <a:rPr lang="fr-FR" noProof="0" dirty="0" err="1"/>
              <a:t>fonctionnele</a:t>
            </a:r>
            <a:r>
              <a:rPr lang="fr-FR" noProof="0" dirty="0"/>
              <a:t> et technique de la solution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/>
              <a:t>		- puis les </a:t>
            </a:r>
            <a:r>
              <a:rPr lang="fr-FR" noProof="0" dirty="0" err="1"/>
              <a:t>itétartions</a:t>
            </a:r>
            <a:r>
              <a:rPr lang="fr-FR" noProof="0" dirty="0"/>
              <a:t> de </a:t>
            </a:r>
            <a:r>
              <a:rPr lang="fr-FR" noProof="0" dirty="0" err="1"/>
              <a:t>dévolppement</a:t>
            </a:r>
            <a:r>
              <a:rPr lang="fr-FR" noProof="0" dirty="0"/>
              <a:t> qu’on </a:t>
            </a:r>
            <a:r>
              <a:rPr lang="fr-FR" noProof="0" dirty="0" err="1"/>
              <a:t>duréé</a:t>
            </a:r>
            <a:r>
              <a:rPr lang="fr-FR" noProof="0" dirty="0"/>
              <a:t> 60 jours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/>
              <a:t>	*phase de clôture et la rédaction du rapport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B5A0E7-F41C-416F-ABA3-7472EA70D9A6}" type="slidenum">
              <a:rPr lang="id-ID" smtClean="0"/>
              <a:t>8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434086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B5A0E7-F41C-416F-ABA3-7472EA70D9A6}" type="slidenum">
              <a:rPr lang="id-ID" smtClean="0"/>
              <a:t>9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2272029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B5A0E7-F41C-416F-ABA3-7472EA70D9A6}" type="slidenum">
              <a:rPr lang="id-ID" smtClean="0"/>
              <a:t>10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871950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B5A0E7-F41C-416F-ABA3-7472EA70D9A6}" type="slidenum">
              <a:rPr lang="id-ID" smtClean="0"/>
              <a:t>11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0600547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B5A0E7-F41C-416F-ABA3-7472EA70D9A6}" type="slidenum">
              <a:rPr lang="id-ID" smtClean="0"/>
              <a:t>12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3712628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B5A0E7-F41C-416F-ABA3-7472EA70D9A6}" type="slidenum">
              <a:rPr lang="id-ID" smtClean="0"/>
              <a:t>13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8011283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B5A0E7-F41C-416F-ABA3-7472EA70D9A6}" type="slidenum">
              <a:rPr lang="id-ID" smtClean="0"/>
              <a:t>14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0134978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B5A0E7-F41C-416F-ABA3-7472EA70D9A6}" type="slidenum">
              <a:rPr lang="id-ID" smtClean="0"/>
              <a:t>15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2605368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B5A0E7-F41C-416F-ABA3-7472EA70D9A6}" type="slidenum">
              <a:rPr lang="id-ID" smtClean="0"/>
              <a:t>16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2397737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/>
              <a:t>On a un utilisateur qui veut tester une configuration </a:t>
            </a:r>
            <a:r>
              <a:rPr lang="fr-FR" noProof="0"/>
              <a:t>de caling </a:t>
            </a:r>
            <a:r>
              <a:rPr lang="fr-FR" noProof="0" dirty="0"/>
              <a:t>qui revient à faire :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B5A0E7-F41C-416F-ABA3-7472EA70D9A6}" type="slidenum">
              <a:rPr lang="id-ID" smtClean="0"/>
              <a:t>17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82052087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B5A0E7-F41C-416F-ABA3-7472EA70D9A6}" type="slidenum">
              <a:rPr lang="id-ID" smtClean="0"/>
              <a:t>18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55501045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B5A0E7-F41C-416F-ABA3-7472EA70D9A6}" type="slidenum">
              <a:rPr lang="id-ID" smtClean="0"/>
              <a:t>19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98084737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B5A0E7-F41C-416F-ABA3-7472EA70D9A6}" type="slidenum">
              <a:rPr lang="id-ID" smtClean="0"/>
              <a:t>20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9039501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/>
              <a:t>20 -&gt; 21 1:40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B5A0E7-F41C-416F-ABA3-7472EA70D9A6}" type="slidenum">
              <a:rPr lang="id-ID" smtClean="0"/>
              <a:t>21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08593225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B5A0E7-F41C-416F-ABA3-7472EA70D9A6}" type="slidenum">
              <a:rPr lang="id-ID" smtClean="0"/>
              <a:t>22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45556957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/>
              <a:t>Fichier de conf composé d’un max </a:t>
            </a:r>
            <a:r>
              <a:rPr lang="fr-FR" noProof="0" dirty="0" err="1"/>
              <a:t>worker</a:t>
            </a:r>
            <a:r>
              <a:rPr lang="fr-FR" noProof="0" dirty="0"/>
              <a:t>  qui est égale à 300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B5A0E7-F41C-416F-ABA3-7472EA70D9A6}" type="slidenum">
              <a:rPr lang="id-ID" smtClean="0"/>
              <a:t>23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72610749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22 -&gt; 24 46sec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F15C2D-7E79-432A-8A89-F05B5C691D05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719408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B5A0E7-F41C-416F-ABA3-7472EA70D9A6}" type="slidenum">
              <a:rPr lang="id-ID" smtClean="0"/>
              <a:t>25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01296599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B5A0E7-F41C-416F-ABA3-7472EA70D9A6}" type="slidenum">
              <a:rPr lang="id-ID" smtClean="0"/>
              <a:t>26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99127451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/>
              <a:t>25 -&gt; 26 50 sec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B5A0E7-F41C-416F-ABA3-7472EA70D9A6}" type="slidenum">
              <a:rPr lang="id-ID" smtClean="0"/>
              <a:t>27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13776229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F15C2D-7E79-432A-8A89-F05B5C691D05}" type="slidenum">
              <a:rPr lang="fr-FR" smtClean="0"/>
              <a:t>28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3696334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6B0659-C84A-4C94-9A37-1BE51DD4DB67}" type="slidenum">
              <a:rPr lang="fr-FR" smtClean="0"/>
              <a:t>29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57191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7DDAB-EE96-42B8-B52E-59A2328738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98EFFA-CFB3-4B5F-A049-480238DCB6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6B252-61C2-4518-9C1A-BFBF8CA60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C0A27-EB53-447F-9A1C-47AE3495A06C}" type="datetimeFigureOut">
              <a:rPr lang="fr-FR" smtClean="0"/>
              <a:t>13/07/2020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A7F4E7-AB19-46D3-9E9C-050B0F383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E67E4F-AC7B-4E89-A7C9-9C719EB44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37DA2-D3BC-4275-97B8-C89906DFD3B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2012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87C55-BAEF-4B11-97BF-BB0BCAA0D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316D34-5BBD-440A-8EB9-B79851DFA6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FA01AB-7244-473F-B649-9D8AE877F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C0A27-EB53-447F-9A1C-47AE3495A06C}" type="datetimeFigureOut">
              <a:rPr lang="fr-FR" smtClean="0"/>
              <a:t>13/07/2020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03D9F1-0C4D-4E79-93BF-6F4E2A91B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B0AEE1-C12C-460C-8AAE-C9BDB8FD8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37DA2-D3BC-4275-97B8-C89906DFD3B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0855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B2D20-63F9-4826-A4D8-ABCEE5996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8C6CF-0844-425D-B7B8-AA21C71EB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1F16AB-99D9-468D-ADC8-89F3A65CD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C0A27-EB53-447F-9A1C-47AE3495A06C}" type="datetimeFigureOut">
              <a:rPr lang="fr-FR" smtClean="0"/>
              <a:t>13/07/2020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681F21-3659-4A1C-8E13-B01B807CA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88DF1-927D-4630-9086-A8000687F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37DA2-D3BC-4275-97B8-C89906DFD3B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3162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3CE34-6ED2-47C4-A800-3121D27C6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390598-8245-4DD1-9C27-5C2DB4AEA5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1C8907-CB6D-4E7E-962C-0298367F7A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3A43CD-0273-4929-94D4-B8FDC2954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C0A27-EB53-447F-9A1C-47AE3495A06C}" type="datetimeFigureOut">
              <a:rPr lang="fr-FR" smtClean="0"/>
              <a:t>13/07/2020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A20311-C2B4-4652-8D0A-3866C2B39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909D53-4A58-4FBD-8F08-5A6AF5321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37DA2-D3BC-4275-97B8-C89906DFD3B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87334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A8EE7-DF05-45DD-B55B-B6E7001FF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6C8176-FA58-4E0D-8031-815B628DF4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377F8B-D21B-46E2-99F3-4A5AB0FBC6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A530BA-A110-4756-80D0-1F79FA94A0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1F5796-942D-41D5-85CE-D8150349BC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CFB987-24BF-4074-905E-F316EEE63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C0A27-EB53-447F-9A1C-47AE3495A06C}" type="datetimeFigureOut">
              <a:rPr lang="fr-FR" smtClean="0"/>
              <a:t>13/07/2020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C0D90C-547C-4650-A284-3317E107D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9769E5-CDCE-4400-886D-4604CE2E4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37DA2-D3BC-4275-97B8-C89906DFD3B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259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9E28C-EFF5-4B3A-9B8B-F9E981817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869A00-CB56-431C-8917-0CBF98CEA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C0A27-EB53-447F-9A1C-47AE3495A06C}" type="datetimeFigureOut">
              <a:rPr lang="fr-FR" smtClean="0"/>
              <a:t>13/07/2020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677217-0D2E-4D7B-A710-60D83CE89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21A836-1165-45B4-87A1-FBDAB08EF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37DA2-D3BC-4275-97B8-C89906DFD3B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28655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05D5F7-5771-40CC-A7BF-236257FC5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C0A27-EB53-447F-9A1C-47AE3495A06C}" type="datetimeFigureOut">
              <a:rPr lang="fr-FR" smtClean="0"/>
              <a:t>13/07/2020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48CE3C-621E-43AE-990E-E6BF29DE7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885987-9DA2-4093-ADF9-B75631017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37DA2-D3BC-4275-97B8-C89906DFD3B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66123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DEF2B-64FE-4A59-A227-344F44414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77FE7E-3E48-43EB-9C9F-9EE5CCFE38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08EB40-4BB6-4190-8F6A-E8E428F663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C7FD60-2B29-4D01-986A-A396A1E04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C0A27-EB53-447F-9A1C-47AE3495A06C}" type="datetimeFigureOut">
              <a:rPr lang="fr-FR" smtClean="0"/>
              <a:t>13/07/2020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BE54F9-DA1B-4003-88C7-7FC41DC69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2DA216-3CA2-4AE7-87AA-177EFE467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37DA2-D3BC-4275-97B8-C89906DFD3B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35100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E5836-0CA8-4D42-8093-B380D1169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252FC1-13DC-4FD8-A9A6-EC5560CD82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B46624-3081-4EEC-99A3-30AA50FFC1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68E5CD-7717-429B-84AD-4A87B7B31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C0A27-EB53-447F-9A1C-47AE3495A06C}" type="datetimeFigureOut">
              <a:rPr lang="fr-FR" smtClean="0"/>
              <a:t>13/07/2020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74FFF7-5F4D-41BA-9E94-AA3D9C842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FA26F3-4AB8-4529-91F7-243CC5C90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37DA2-D3BC-4275-97B8-C89906DFD3B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7456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A7385-5AA3-4BD5-A39D-074893E62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464483-3F96-4E98-AF35-A4B0826666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92A2D-EBD1-4DC5-9443-E6DCBCF03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C0A27-EB53-447F-9A1C-47AE3495A06C}" type="datetimeFigureOut">
              <a:rPr lang="fr-FR" smtClean="0"/>
              <a:t>13/07/2020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E64D67-2015-4ABE-8606-1DB36D033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318770-D163-45C8-B213-E71B338E2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37DA2-D3BC-4275-97B8-C89906DFD3B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6814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CA8C04-44F6-42E8-BE67-2AA4AEF991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DE870B-0D22-47E3-89A2-939CD4ADE8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2FAA5C-3592-4C01-826A-26279DABA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C0A27-EB53-447F-9A1C-47AE3495A06C}" type="datetimeFigureOut">
              <a:rPr lang="fr-FR" smtClean="0"/>
              <a:t>13/07/2020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752C1-1023-416E-A4E9-0EA9ECEBB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A61DA6-AD97-4F7A-B938-8DDB9EF02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37DA2-D3BC-4275-97B8-C89906DFD3B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0115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865B16-333D-4098-AB2D-76BC58452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C27401-C766-4327-9A36-C95E734114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88E17B-4397-4AAB-ACEF-C79615F3A1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FC0A27-EB53-447F-9A1C-47AE3495A06C}" type="datetimeFigureOut">
              <a:rPr lang="fr-FR" smtClean="0"/>
              <a:t>13/07/2020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213179-435A-4E35-9F58-32E9BEEA05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D69D2A-8473-4CCB-A26F-BAE63FD56C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D37DA2-D3BC-4275-97B8-C89906DFD3B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9895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jpg"/><Relationship Id="rId7" Type="http://schemas.openxmlformats.org/officeDocument/2006/relationships/image" Target="../media/image7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jpg"/><Relationship Id="rId4" Type="http://schemas.openxmlformats.org/officeDocument/2006/relationships/image" Target="../media/image14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jpg"/><Relationship Id="rId5" Type="http://schemas.openxmlformats.org/officeDocument/2006/relationships/image" Target="../media/image18.jpg"/><Relationship Id="rId4" Type="http://schemas.openxmlformats.org/officeDocument/2006/relationships/image" Target="../media/image17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jpeg"/><Relationship Id="rId4" Type="http://schemas.openxmlformats.org/officeDocument/2006/relationships/image" Target="../media/image33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444600" y="797061"/>
            <a:ext cx="10035285" cy="9079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fr-FR" sz="2400" b="1" dirty="0">
                <a:ln w="0"/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Projet de fin d’études</a:t>
            </a:r>
            <a:endParaRPr lang="fr-FR" sz="1100" b="1" dirty="0">
              <a:ln w="0"/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algn="ctr"/>
            <a:r>
              <a:rPr lang="fr-FR" sz="2400" b="1" dirty="0">
                <a:ln w="0"/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Pour l'obtention du diplôme d'Ingénieur d'État en informatique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-2" y="2300235"/>
            <a:ext cx="12192002" cy="136222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vert270" lIns="182880" rtlCol="0" anchor="ctr" anchorCtr="0"/>
          <a:lstStyle/>
          <a:p>
            <a:pPr algn="ctr" defTabSz="1219170"/>
            <a:endParaRPr lang="en-US" sz="3200" kern="0" dirty="0">
              <a:solidFill>
                <a:srgbClr val="FFFFFF"/>
              </a:solidFill>
              <a:latin typeface="Open Sans Light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1991" y="250153"/>
            <a:ext cx="2317749" cy="41770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9151" y="2176664"/>
            <a:ext cx="10926570" cy="1477328"/>
          </a:xfrm>
          <a:noFill/>
        </p:spPr>
        <p:txBody>
          <a:bodyPr wrap="square" lIns="243840" tIns="121920" rIns="243840" bIns="121920" rtlCol="0" anchor="b" anchorCtr="0">
            <a:spAutoFit/>
          </a:bodyPr>
          <a:lstStyle/>
          <a:p>
            <a:pPr defTabSz="1219170">
              <a:lnSpc>
                <a:spcPct val="100000"/>
              </a:lnSpc>
              <a:spcBef>
                <a:spcPts val="0"/>
              </a:spcBef>
            </a:pPr>
            <a:r>
              <a:rPr lang="fr-FR" sz="4000" b="1" kern="0" dirty="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11000"/>
                    </a:prstClr>
                  </a:outerShdw>
                </a:effectLst>
                <a:latin typeface="Open Sans Light"/>
                <a:ea typeface="+mn-ea"/>
                <a:cs typeface="+mn-cs"/>
              </a:rPr>
              <a:t>Conception et réalisation d’un outil de Simulation de service de </a:t>
            </a:r>
            <a:r>
              <a:rPr lang="fr-FR" sz="4000" b="1" kern="0" dirty="0" err="1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11000"/>
                    </a:prstClr>
                  </a:outerShdw>
                </a:effectLst>
                <a:latin typeface="Open Sans Light"/>
                <a:ea typeface="+mn-ea"/>
                <a:cs typeface="+mn-cs"/>
              </a:rPr>
              <a:t>Scaling</a:t>
            </a:r>
            <a:endParaRPr lang="en-US" sz="4000" b="1" kern="0" dirty="0">
              <a:solidFill>
                <a:schemeClr val="bg1"/>
              </a:solidFill>
              <a:effectLst>
                <a:outerShdw blurRad="50800" dist="38100" dir="8100000" algn="tr" rotWithShape="0">
                  <a:prstClr val="black">
                    <a:alpha val="11000"/>
                  </a:prstClr>
                </a:outerShdw>
              </a:effectLst>
              <a:latin typeface="Open Sans Light"/>
              <a:ea typeface="+mn-ea"/>
              <a:cs typeface="+mn-cs"/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971" y="198158"/>
            <a:ext cx="2751787" cy="52169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1D1848E-98AE-40D9-9B27-1549C9A1E73B}"/>
              </a:ext>
            </a:extLst>
          </p:cNvPr>
          <p:cNvSpPr txBox="1"/>
          <p:nvPr/>
        </p:nvSpPr>
        <p:spPr>
          <a:xfrm>
            <a:off x="2387718" y="4255462"/>
            <a:ext cx="2958620" cy="630553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r>
              <a:rPr lang="fr-FR" sz="2400" b="1" dirty="0"/>
              <a:t>Réalisé  par :</a:t>
            </a:r>
          </a:p>
          <a:p>
            <a:r>
              <a:rPr lang="fr-FR" sz="1600" dirty="0"/>
              <a:t>	</a:t>
            </a:r>
            <a:r>
              <a:rPr lang="fr-FR" sz="2000" dirty="0"/>
              <a:t>M. ZOUAID Omar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205C07-660C-4C97-90E0-10478DB7B2ED}"/>
              </a:ext>
            </a:extLst>
          </p:cNvPr>
          <p:cNvSpPr txBox="1"/>
          <p:nvPr/>
        </p:nvSpPr>
        <p:spPr>
          <a:xfrm>
            <a:off x="6845664" y="4289120"/>
            <a:ext cx="4837255" cy="1664543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r>
              <a:rPr lang="fr-FR" sz="2400" b="1" dirty="0"/>
              <a:t>Membres du Jury  :</a:t>
            </a:r>
          </a:p>
          <a:p>
            <a:pPr lvl="1"/>
            <a:r>
              <a:rPr lang="en-US" sz="2000" dirty="0"/>
              <a:t>Pr. RGHIOUI  </a:t>
            </a:r>
            <a:r>
              <a:rPr lang="en-US" sz="2000" dirty="0" err="1"/>
              <a:t>Anass</a:t>
            </a:r>
            <a:r>
              <a:rPr lang="en-US" sz="2000" dirty="0"/>
              <a:t> </a:t>
            </a:r>
            <a:r>
              <a:rPr lang="fr-FR" sz="2000" dirty="0"/>
              <a:t>- Président</a:t>
            </a:r>
          </a:p>
          <a:p>
            <a:pPr lvl="1"/>
            <a:r>
              <a:rPr lang="fr-FR" sz="2000" dirty="0"/>
              <a:t>Pr. GUENNOUN  Karim - Examinateur</a:t>
            </a:r>
          </a:p>
          <a:p>
            <a:pPr lvl="1"/>
            <a:r>
              <a:rPr lang="fr-FR" sz="2000" dirty="0"/>
              <a:t>Pr. ADDOU  Malika - Encadrante EHTP</a:t>
            </a:r>
          </a:p>
          <a:p>
            <a:pPr lvl="1"/>
            <a:r>
              <a:rPr lang="fr-FR" sz="2000" dirty="0"/>
              <a:t>M. DOUIYEH  Tarik - Encadrant SG ATS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208A59-990D-425D-B60D-CCFB6D4E5EB5}"/>
              </a:ext>
            </a:extLst>
          </p:cNvPr>
          <p:cNvSpPr txBox="1"/>
          <p:nvPr/>
        </p:nvSpPr>
        <p:spPr>
          <a:xfrm>
            <a:off x="3019337" y="6290510"/>
            <a:ext cx="6153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800" dirty="0"/>
              <a:t>Soutenu le Mardi </a:t>
            </a:r>
            <a:r>
              <a:rPr lang="fr-FR" dirty="0"/>
              <a:t>14</a:t>
            </a:r>
            <a:r>
              <a:rPr lang="fr-FR" sz="1800" dirty="0"/>
              <a:t> Juillet 2020</a:t>
            </a:r>
          </a:p>
        </p:txBody>
      </p:sp>
    </p:spTree>
    <p:extLst>
      <p:ext uri="{BB962C8B-B14F-4D97-AF65-F5344CB8AC3E}">
        <p14:creationId xmlns:p14="http://schemas.microsoft.com/office/powerpoint/2010/main" val="1324899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/>
          <p:cNvGrpSpPr/>
          <p:nvPr/>
        </p:nvGrpSpPr>
        <p:grpSpPr>
          <a:xfrm>
            <a:off x="3968813" y="3333980"/>
            <a:ext cx="4574526" cy="2923556"/>
            <a:chOff x="3178418" y="2703513"/>
            <a:chExt cx="2892697" cy="1827213"/>
          </a:xfrm>
          <a:solidFill>
            <a:schemeClr val="bg1">
              <a:lumMod val="85000"/>
            </a:schemeClr>
          </a:solidFill>
          <a:effectLst>
            <a:outerShdw blurRad="25400" dist="127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2" name="Freeform 8"/>
            <p:cNvSpPr>
              <a:spLocks/>
            </p:cNvSpPr>
            <p:nvPr/>
          </p:nvSpPr>
          <p:spPr bwMode="auto">
            <a:xfrm>
              <a:off x="3178418" y="3645571"/>
              <a:ext cx="2892697" cy="384155"/>
            </a:xfrm>
            <a:custGeom>
              <a:avLst/>
              <a:gdLst>
                <a:gd name="T0" fmla="*/ 1528 w 1542"/>
                <a:gd name="T1" fmla="*/ 88 h 229"/>
                <a:gd name="T2" fmla="*/ 1453 w 1542"/>
                <a:gd name="T3" fmla="*/ 14 h 229"/>
                <a:gd name="T4" fmla="*/ 1403 w 1542"/>
                <a:gd name="T5" fmla="*/ 14 h 229"/>
                <a:gd name="T6" fmla="*/ 1403 w 1542"/>
                <a:gd name="T7" fmla="*/ 65 h 229"/>
                <a:gd name="T8" fmla="*/ 1420 w 1542"/>
                <a:gd name="T9" fmla="*/ 83 h 229"/>
                <a:gd name="T10" fmla="*/ 124 w 1542"/>
                <a:gd name="T11" fmla="*/ 83 h 229"/>
                <a:gd name="T12" fmla="*/ 141 w 1542"/>
                <a:gd name="T13" fmla="*/ 65 h 229"/>
                <a:gd name="T14" fmla="*/ 141 w 1542"/>
                <a:gd name="T15" fmla="*/ 14 h 229"/>
                <a:gd name="T16" fmla="*/ 91 w 1542"/>
                <a:gd name="T17" fmla="*/ 14 h 229"/>
                <a:gd name="T18" fmla="*/ 14 w 1542"/>
                <a:gd name="T19" fmla="*/ 90 h 229"/>
                <a:gd name="T20" fmla="*/ 14 w 1542"/>
                <a:gd name="T21" fmla="*/ 141 h 229"/>
                <a:gd name="T22" fmla="*/ 89 w 1542"/>
                <a:gd name="T23" fmla="*/ 215 h 229"/>
                <a:gd name="T24" fmla="*/ 139 w 1542"/>
                <a:gd name="T25" fmla="*/ 215 h 229"/>
                <a:gd name="T26" fmla="*/ 139 w 1542"/>
                <a:gd name="T27" fmla="*/ 165 h 229"/>
                <a:gd name="T28" fmla="*/ 122 w 1542"/>
                <a:gd name="T29" fmla="*/ 147 h 229"/>
                <a:gd name="T30" fmla="*/ 1418 w 1542"/>
                <a:gd name="T31" fmla="*/ 147 h 229"/>
                <a:gd name="T32" fmla="*/ 1401 w 1542"/>
                <a:gd name="T33" fmla="*/ 165 h 229"/>
                <a:gd name="T34" fmla="*/ 1401 w 1542"/>
                <a:gd name="T35" fmla="*/ 215 h 229"/>
                <a:gd name="T36" fmla="*/ 1451 w 1542"/>
                <a:gd name="T37" fmla="*/ 215 h 229"/>
                <a:gd name="T38" fmla="*/ 1528 w 1542"/>
                <a:gd name="T39" fmla="*/ 139 h 229"/>
                <a:gd name="T40" fmla="*/ 1528 w 1542"/>
                <a:gd name="T41" fmla="*/ 88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542" h="229">
                  <a:moveTo>
                    <a:pt x="1528" y="88"/>
                  </a:moveTo>
                  <a:cubicBezTo>
                    <a:pt x="1453" y="14"/>
                    <a:pt x="1453" y="14"/>
                    <a:pt x="1453" y="14"/>
                  </a:cubicBezTo>
                  <a:cubicBezTo>
                    <a:pt x="1439" y="0"/>
                    <a:pt x="1417" y="0"/>
                    <a:pt x="1403" y="14"/>
                  </a:cubicBezTo>
                  <a:cubicBezTo>
                    <a:pt x="1389" y="28"/>
                    <a:pt x="1389" y="51"/>
                    <a:pt x="1403" y="65"/>
                  </a:cubicBezTo>
                  <a:cubicBezTo>
                    <a:pt x="1420" y="83"/>
                    <a:pt x="1420" y="83"/>
                    <a:pt x="1420" y="83"/>
                  </a:cubicBezTo>
                  <a:cubicBezTo>
                    <a:pt x="124" y="83"/>
                    <a:pt x="124" y="83"/>
                    <a:pt x="124" y="83"/>
                  </a:cubicBezTo>
                  <a:cubicBezTo>
                    <a:pt x="141" y="65"/>
                    <a:pt x="141" y="65"/>
                    <a:pt x="141" y="65"/>
                  </a:cubicBezTo>
                  <a:cubicBezTo>
                    <a:pt x="155" y="51"/>
                    <a:pt x="155" y="28"/>
                    <a:pt x="141" y="14"/>
                  </a:cubicBezTo>
                  <a:cubicBezTo>
                    <a:pt x="127" y="0"/>
                    <a:pt x="105" y="0"/>
                    <a:pt x="91" y="14"/>
                  </a:cubicBezTo>
                  <a:cubicBezTo>
                    <a:pt x="14" y="90"/>
                    <a:pt x="14" y="90"/>
                    <a:pt x="14" y="90"/>
                  </a:cubicBezTo>
                  <a:cubicBezTo>
                    <a:pt x="0" y="104"/>
                    <a:pt x="0" y="127"/>
                    <a:pt x="14" y="141"/>
                  </a:cubicBezTo>
                  <a:cubicBezTo>
                    <a:pt x="89" y="215"/>
                    <a:pt x="89" y="215"/>
                    <a:pt x="89" y="215"/>
                  </a:cubicBezTo>
                  <a:cubicBezTo>
                    <a:pt x="103" y="229"/>
                    <a:pt x="125" y="229"/>
                    <a:pt x="139" y="215"/>
                  </a:cubicBezTo>
                  <a:cubicBezTo>
                    <a:pt x="153" y="201"/>
                    <a:pt x="153" y="179"/>
                    <a:pt x="139" y="165"/>
                  </a:cubicBezTo>
                  <a:cubicBezTo>
                    <a:pt x="122" y="147"/>
                    <a:pt x="122" y="147"/>
                    <a:pt x="122" y="147"/>
                  </a:cubicBezTo>
                  <a:cubicBezTo>
                    <a:pt x="1418" y="147"/>
                    <a:pt x="1418" y="147"/>
                    <a:pt x="1418" y="147"/>
                  </a:cubicBezTo>
                  <a:cubicBezTo>
                    <a:pt x="1401" y="165"/>
                    <a:pt x="1401" y="165"/>
                    <a:pt x="1401" y="165"/>
                  </a:cubicBezTo>
                  <a:cubicBezTo>
                    <a:pt x="1387" y="179"/>
                    <a:pt x="1387" y="201"/>
                    <a:pt x="1401" y="215"/>
                  </a:cubicBezTo>
                  <a:cubicBezTo>
                    <a:pt x="1415" y="229"/>
                    <a:pt x="1437" y="229"/>
                    <a:pt x="1451" y="215"/>
                  </a:cubicBezTo>
                  <a:cubicBezTo>
                    <a:pt x="1528" y="139"/>
                    <a:pt x="1528" y="139"/>
                    <a:pt x="1528" y="139"/>
                  </a:cubicBezTo>
                  <a:cubicBezTo>
                    <a:pt x="1542" y="125"/>
                    <a:pt x="1542" y="102"/>
                    <a:pt x="1528" y="8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3" name="Oval 9"/>
            <p:cNvSpPr>
              <a:spLocks noChangeArrowheads="1"/>
            </p:cNvSpPr>
            <p:nvPr/>
          </p:nvSpPr>
          <p:spPr bwMode="auto">
            <a:xfrm>
              <a:off x="3703637" y="2703513"/>
              <a:ext cx="1921437" cy="1827213"/>
            </a:xfrm>
            <a:prstGeom prst="ellipse">
              <a:avLst/>
            </a:prstGeom>
            <a:grpFill/>
            <a:ln>
              <a:noFill/>
            </a:ln>
            <a:effectLst>
              <a:outerShdw blurRad="38100" dir="13500000" sy="23000" kx="1200000" algn="br" rotWithShape="0">
                <a:prstClr val="black">
                  <a:alpha val="2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54" name="Oval 10"/>
          <p:cNvSpPr>
            <a:spLocks noChangeArrowheads="1"/>
          </p:cNvSpPr>
          <p:nvPr/>
        </p:nvSpPr>
        <p:spPr bwMode="auto">
          <a:xfrm>
            <a:off x="5081286" y="3561869"/>
            <a:ext cx="2473454" cy="2451627"/>
          </a:xfrm>
          <a:prstGeom prst="ellipse">
            <a:avLst/>
          </a:prstGeom>
          <a:solidFill>
            <a:srgbClr val="FFFEF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5" name="Oval 11"/>
          <p:cNvSpPr>
            <a:spLocks noChangeArrowheads="1"/>
          </p:cNvSpPr>
          <p:nvPr/>
        </p:nvSpPr>
        <p:spPr bwMode="auto">
          <a:xfrm>
            <a:off x="8855311" y="4342743"/>
            <a:ext cx="1128870" cy="1189827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7" name="Oval 14"/>
          <p:cNvSpPr>
            <a:spLocks noChangeArrowheads="1"/>
          </p:cNvSpPr>
          <p:nvPr/>
        </p:nvSpPr>
        <p:spPr bwMode="auto">
          <a:xfrm>
            <a:off x="3252060" y="2262396"/>
            <a:ext cx="1243075" cy="1189828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0" name="Oval 16"/>
          <p:cNvSpPr>
            <a:spLocks noChangeArrowheads="1"/>
          </p:cNvSpPr>
          <p:nvPr/>
        </p:nvSpPr>
        <p:spPr bwMode="auto">
          <a:xfrm>
            <a:off x="2611944" y="4342743"/>
            <a:ext cx="1007165" cy="102662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89" name="TextBox 88"/>
          <p:cNvSpPr txBox="1"/>
          <p:nvPr/>
        </p:nvSpPr>
        <p:spPr>
          <a:xfrm>
            <a:off x="509632" y="3694353"/>
            <a:ext cx="2737162" cy="369332"/>
          </a:xfrm>
          <a:prstGeom prst="rect">
            <a:avLst/>
          </a:prstGeom>
          <a:noFill/>
        </p:spPr>
        <p:txBody>
          <a:bodyPr wrap="square" numCol="1" spcCol="640080" rtlCol="0">
            <a:spAutoFit/>
          </a:bodyPr>
          <a:lstStyle/>
          <a:p>
            <a:r>
              <a:rPr lang="en-US" dirty="0" err="1">
                <a:solidFill>
                  <a:srgbClr val="4472C4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Flexibilité</a:t>
            </a:r>
            <a:r>
              <a:rPr lang="en-US" dirty="0">
                <a:solidFill>
                  <a:srgbClr val="4472C4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/</a:t>
            </a:r>
            <a:r>
              <a:rPr lang="en-US" dirty="0" err="1">
                <a:solidFill>
                  <a:srgbClr val="4472C4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Perfrmance</a:t>
            </a:r>
            <a:endParaRPr lang="en-US" dirty="0">
              <a:solidFill>
                <a:srgbClr val="4472C4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1184720" y="1757972"/>
            <a:ext cx="2243740" cy="369332"/>
          </a:xfrm>
          <a:prstGeom prst="rect">
            <a:avLst/>
          </a:prstGeom>
          <a:noFill/>
        </p:spPr>
        <p:txBody>
          <a:bodyPr wrap="square" numCol="1" spcCol="640080" rtlCol="0">
            <a:spAutoFit/>
          </a:bodyPr>
          <a:lstStyle/>
          <a:p>
            <a:r>
              <a:rPr lang="fr-FR" dirty="0">
                <a:solidFill>
                  <a:srgbClr val="4472C4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La mise à l’échelle 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627011" y="3855767"/>
            <a:ext cx="2564989" cy="369332"/>
          </a:xfrm>
          <a:prstGeom prst="rect">
            <a:avLst/>
          </a:prstGeom>
          <a:noFill/>
        </p:spPr>
        <p:txBody>
          <a:bodyPr wrap="square" numCol="1" spcCol="640080" rtlCol="0">
            <a:spAutoFit/>
          </a:bodyPr>
          <a:lstStyle/>
          <a:p>
            <a:r>
              <a:rPr lang="en-US" dirty="0">
                <a:solidFill>
                  <a:srgbClr val="4472C4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Satisfaction Client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474404" y="236804"/>
            <a:ext cx="3243191" cy="523220"/>
          </a:xfrm>
          <a:prstGeom prst="rect">
            <a:avLst/>
          </a:prstGeom>
          <a:noFill/>
        </p:spPr>
        <p:txBody>
          <a:bodyPr wrap="square" numCol="1" spcCol="274320" rtlCol="0">
            <a:spAutoFit/>
          </a:bodyPr>
          <a:lstStyle/>
          <a:p>
            <a:pPr algn="ctr"/>
            <a:r>
              <a:rPr lang="en-US" sz="2800" b="1" dirty="0" err="1">
                <a:solidFill>
                  <a:srgbClr val="4472C4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Problématique</a:t>
            </a:r>
            <a:endParaRPr lang="en-US" sz="2800" b="1" dirty="0">
              <a:solidFill>
                <a:srgbClr val="4472C4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9CC2684-E9DA-4DCC-B38A-4C70B4D4DE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2779" y="4531527"/>
            <a:ext cx="630586" cy="63058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1C5075B-7F18-4E53-B882-62CEAC38E2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8460" y="2515257"/>
            <a:ext cx="849719" cy="724935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F39AC938-1835-45E2-A9B0-E17DB31F4CC1}"/>
              </a:ext>
            </a:extLst>
          </p:cNvPr>
          <p:cNvSpPr txBox="1"/>
          <p:nvPr/>
        </p:nvSpPr>
        <p:spPr>
          <a:xfrm>
            <a:off x="7259994" y="1336575"/>
            <a:ext cx="1576364" cy="369332"/>
          </a:xfrm>
          <a:prstGeom prst="rect">
            <a:avLst/>
          </a:prstGeom>
          <a:noFill/>
        </p:spPr>
        <p:txBody>
          <a:bodyPr wrap="square" numCol="1" spcCol="640080" rtlCol="0">
            <a:spAutoFit/>
          </a:bodyPr>
          <a:lstStyle/>
          <a:p>
            <a:r>
              <a:rPr lang="fr-FR" dirty="0">
                <a:solidFill>
                  <a:srgbClr val="4472C4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Efficacité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92E6382-4695-4649-A816-D46D87528751}"/>
              </a:ext>
            </a:extLst>
          </p:cNvPr>
          <p:cNvSpPr txBox="1"/>
          <p:nvPr/>
        </p:nvSpPr>
        <p:spPr>
          <a:xfrm>
            <a:off x="8855311" y="1729797"/>
            <a:ext cx="3163768" cy="369332"/>
          </a:xfrm>
          <a:prstGeom prst="rect">
            <a:avLst/>
          </a:prstGeom>
          <a:noFill/>
        </p:spPr>
        <p:txBody>
          <a:bodyPr wrap="square" numCol="1" spcCol="640080" rtlCol="0">
            <a:spAutoFit/>
          </a:bodyPr>
          <a:lstStyle/>
          <a:p>
            <a:r>
              <a:rPr lang="fr-FR" dirty="0">
                <a:solidFill>
                  <a:srgbClr val="4472C4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Optimisation des charges</a:t>
            </a:r>
          </a:p>
        </p:txBody>
      </p:sp>
      <p:sp>
        <p:nvSpPr>
          <p:cNvPr id="26" name="Freeform 7">
            <a:extLst>
              <a:ext uri="{FF2B5EF4-FFF2-40B4-BE49-F238E27FC236}">
                <a16:creationId xmlns:a16="http://schemas.microsoft.com/office/drawing/2014/main" id="{B08E4824-5B6A-442B-8128-993E722F9382}"/>
              </a:ext>
            </a:extLst>
          </p:cNvPr>
          <p:cNvSpPr>
            <a:spLocks/>
          </p:cNvSpPr>
          <p:nvPr/>
        </p:nvSpPr>
        <p:spPr bwMode="auto">
          <a:xfrm rot="2463565">
            <a:off x="5958060" y="2650942"/>
            <a:ext cx="693175" cy="779090"/>
          </a:xfrm>
          <a:custGeom>
            <a:avLst/>
            <a:gdLst>
              <a:gd name="T0" fmla="*/ 119 w 295"/>
              <a:gd name="T1" fmla="*/ 71 h 294"/>
              <a:gd name="T2" fmla="*/ 144 w 295"/>
              <a:gd name="T3" fmla="*/ 71 h 294"/>
              <a:gd name="T4" fmla="*/ 180 w 295"/>
              <a:gd name="T5" fmla="*/ 35 h 294"/>
              <a:gd name="T6" fmla="*/ 144 w 295"/>
              <a:gd name="T7" fmla="*/ 0 h 294"/>
              <a:gd name="T8" fmla="*/ 36 w 295"/>
              <a:gd name="T9" fmla="*/ 0 h 294"/>
              <a:gd name="T10" fmla="*/ 0 w 295"/>
              <a:gd name="T11" fmla="*/ 35 h 294"/>
              <a:gd name="T12" fmla="*/ 0 w 295"/>
              <a:gd name="T13" fmla="*/ 140 h 294"/>
              <a:gd name="T14" fmla="*/ 36 w 295"/>
              <a:gd name="T15" fmla="*/ 176 h 294"/>
              <a:gd name="T16" fmla="*/ 72 w 295"/>
              <a:gd name="T17" fmla="*/ 140 h 294"/>
              <a:gd name="T18" fmla="*/ 72 w 295"/>
              <a:gd name="T19" fmla="*/ 115 h 294"/>
              <a:gd name="T20" fmla="*/ 251 w 295"/>
              <a:gd name="T21" fmla="*/ 294 h 294"/>
              <a:gd name="T22" fmla="*/ 295 w 295"/>
              <a:gd name="T23" fmla="*/ 248 h 294"/>
              <a:gd name="T24" fmla="*/ 119 w 295"/>
              <a:gd name="T25" fmla="*/ 71 h 2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95" h="294">
                <a:moveTo>
                  <a:pt x="119" y="71"/>
                </a:moveTo>
                <a:cubicBezTo>
                  <a:pt x="144" y="71"/>
                  <a:pt x="144" y="71"/>
                  <a:pt x="144" y="71"/>
                </a:cubicBezTo>
                <a:cubicBezTo>
                  <a:pt x="164" y="71"/>
                  <a:pt x="180" y="55"/>
                  <a:pt x="180" y="35"/>
                </a:cubicBezTo>
                <a:cubicBezTo>
                  <a:pt x="180" y="16"/>
                  <a:pt x="164" y="0"/>
                  <a:pt x="144" y="0"/>
                </a:cubicBezTo>
                <a:cubicBezTo>
                  <a:pt x="36" y="0"/>
                  <a:pt x="36" y="0"/>
                  <a:pt x="36" y="0"/>
                </a:cubicBezTo>
                <a:cubicBezTo>
                  <a:pt x="16" y="0"/>
                  <a:pt x="0" y="16"/>
                  <a:pt x="0" y="35"/>
                </a:cubicBezTo>
                <a:cubicBezTo>
                  <a:pt x="0" y="140"/>
                  <a:pt x="0" y="140"/>
                  <a:pt x="0" y="140"/>
                </a:cubicBezTo>
                <a:cubicBezTo>
                  <a:pt x="0" y="160"/>
                  <a:pt x="16" y="176"/>
                  <a:pt x="36" y="176"/>
                </a:cubicBezTo>
                <a:cubicBezTo>
                  <a:pt x="56" y="176"/>
                  <a:pt x="72" y="160"/>
                  <a:pt x="72" y="140"/>
                </a:cubicBezTo>
                <a:cubicBezTo>
                  <a:pt x="72" y="115"/>
                  <a:pt x="72" y="115"/>
                  <a:pt x="72" y="115"/>
                </a:cubicBezTo>
                <a:cubicBezTo>
                  <a:pt x="251" y="294"/>
                  <a:pt x="251" y="294"/>
                  <a:pt x="251" y="294"/>
                </a:cubicBezTo>
                <a:cubicBezTo>
                  <a:pt x="295" y="248"/>
                  <a:pt x="295" y="248"/>
                  <a:pt x="295" y="248"/>
                </a:cubicBezTo>
                <a:lnTo>
                  <a:pt x="119" y="71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8" name="Freeform 7">
            <a:extLst>
              <a:ext uri="{FF2B5EF4-FFF2-40B4-BE49-F238E27FC236}">
                <a16:creationId xmlns:a16="http://schemas.microsoft.com/office/drawing/2014/main" id="{4F7663EC-8287-4767-B1D3-20C7B516ED5A}"/>
              </a:ext>
            </a:extLst>
          </p:cNvPr>
          <p:cNvSpPr>
            <a:spLocks/>
          </p:cNvSpPr>
          <p:nvPr/>
        </p:nvSpPr>
        <p:spPr bwMode="auto">
          <a:xfrm rot="5619229">
            <a:off x="7421557" y="3421212"/>
            <a:ext cx="693175" cy="779090"/>
          </a:xfrm>
          <a:custGeom>
            <a:avLst/>
            <a:gdLst>
              <a:gd name="T0" fmla="*/ 119 w 295"/>
              <a:gd name="T1" fmla="*/ 71 h 294"/>
              <a:gd name="T2" fmla="*/ 144 w 295"/>
              <a:gd name="T3" fmla="*/ 71 h 294"/>
              <a:gd name="T4" fmla="*/ 180 w 295"/>
              <a:gd name="T5" fmla="*/ 35 h 294"/>
              <a:gd name="T6" fmla="*/ 144 w 295"/>
              <a:gd name="T7" fmla="*/ 0 h 294"/>
              <a:gd name="T8" fmla="*/ 36 w 295"/>
              <a:gd name="T9" fmla="*/ 0 h 294"/>
              <a:gd name="T10" fmla="*/ 0 w 295"/>
              <a:gd name="T11" fmla="*/ 35 h 294"/>
              <a:gd name="T12" fmla="*/ 0 w 295"/>
              <a:gd name="T13" fmla="*/ 140 h 294"/>
              <a:gd name="T14" fmla="*/ 36 w 295"/>
              <a:gd name="T15" fmla="*/ 176 h 294"/>
              <a:gd name="T16" fmla="*/ 72 w 295"/>
              <a:gd name="T17" fmla="*/ 140 h 294"/>
              <a:gd name="T18" fmla="*/ 72 w 295"/>
              <a:gd name="T19" fmla="*/ 115 h 294"/>
              <a:gd name="T20" fmla="*/ 251 w 295"/>
              <a:gd name="T21" fmla="*/ 294 h 294"/>
              <a:gd name="T22" fmla="*/ 295 w 295"/>
              <a:gd name="T23" fmla="*/ 248 h 294"/>
              <a:gd name="T24" fmla="*/ 119 w 295"/>
              <a:gd name="T25" fmla="*/ 71 h 2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95" h="294">
                <a:moveTo>
                  <a:pt x="119" y="71"/>
                </a:moveTo>
                <a:cubicBezTo>
                  <a:pt x="144" y="71"/>
                  <a:pt x="144" y="71"/>
                  <a:pt x="144" y="71"/>
                </a:cubicBezTo>
                <a:cubicBezTo>
                  <a:pt x="164" y="71"/>
                  <a:pt x="180" y="55"/>
                  <a:pt x="180" y="35"/>
                </a:cubicBezTo>
                <a:cubicBezTo>
                  <a:pt x="180" y="16"/>
                  <a:pt x="164" y="0"/>
                  <a:pt x="144" y="0"/>
                </a:cubicBezTo>
                <a:cubicBezTo>
                  <a:pt x="36" y="0"/>
                  <a:pt x="36" y="0"/>
                  <a:pt x="36" y="0"/>
                </a:cubicBezTo>
                <a:cubicBezTo>
                  <a:pt x="16" y="0"/>
                  <a:pt x="0" y="16"/>
                  <a:pt x="0" y="35"/>
                </a:cubicBezTo>
                <a:cubicBezTo>
                  <a:pt x="0" y="140"/>
                  <a:pt x="0" y="140"/>
                  <a:pt x="0" y="140"/>
                </a:cubicBezTo>
                <a:cubicBezTo>
                  <a:pt x="0" y="160"/>
                  <a:pt x="16" y="176"/>
                  <a:pt x="36" y="176"/>
                </a:cubicBezTo>
                <a:cubicBezTo>
                  <a:pt x="56" y="176"/>
                  <a:pt x="72" y="160"/>
                  <a:pt x="72" y="140"/>
                </a:cubicBezTo>
                <a:cubicBezTo>
                  <a:pt x="72" y="115"/>
                  <a:pt x="72" y="115"/>
                  <a:pt x="72" y="115"/>
                </a:cubicBezTo>
                <a:cubicBezTo>
                  <a:pt x="251" y="294"/>
                  <a:pt x="251" y="294"/>
                  <a:pt x="251" y="294"/>
                </a:cubicBezTo>
                <a:cubicBezTo>
                  <a:pt x="295" y="248"/>
                  <a:pt x="295" y="248"/>
                  <a:pt x="295" y="248"/>
                </a:cubicBezTo>
                <a:lnTo>
                  <a:pt x="119" y="71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9" name="Freeform 7">
            <a:extLst>
              <a:ext uri="{FF2B5EF4-FFF2-40B4-BE49-F238E27FC236}">
                <a16:creationId xmlns:a16="http://schemas.microsoft.com/office/drawing/2014/main" id="{3C092A3D-4875-4A3C-8D6E-6CA5BCABBBAB}"/>
              </a:ext>
            </a:extLst>
          </p:cNvPr>
          <p:cNvSpPr>
            <a:spLocks/>
          </p:cNvSpPr>
          <p:nvPr/>
        </p:nvSpPr>
        <p:spPr bwMode="auto">
          <a:xfrm rot="20987299">
            <a:off x="4609509" y="3367571"/>
            <a:ext cx="693175" cy="779090"/>
          </a:xfrm>
          <a:custGeom>
            <a:avLst/>
            <a:gdLst>
              <a:gd name="T0" fmla="*/ 119 w 295"/>
              <a:gd name="T1" fmla="*/ 71 h 294"/>
              <a:gd name="T2" fmla="*/ 144 w 295"/>
              <a:gd name="T3" fmla="*/ 71 h 294"/>
              <a:gd name="T4" fmla="*/ 180 w 295"/>
              <a:gd name="T5" fmla="*/ 35 h 294"/>
              <a:gd name="T6" fmla="*/ 144 w 295"/>
              <a:gd name="T7" fmla="*/ 0 h 294"/>
              <a:gd name="T8" fmla="*/ 36 w 295"/>
              <a:gd name="T9" fmla="*/ 0 h 294"/>
              <a:gd name="T10" fmla="*/ 0 w 295"/>
              <a:gd name="T11" fmla="*/ 35 h 294"/>
              <a:gd name="T12" fmla="*/ 0 w 295"/>
              <a:gd name="T13" fmla="*/ 140 h 294"/>
              <a:gd name="T14" fmla="*/ 36 w 295"/>
              <a:gd name="T15" fmla="*/ 176 h 294"/>
              <a:gd name="T16" fmla="*/ 72 w 295"/>
              <a:gd name="T17" fmla="*/ 140 h 294"/>
              <a:gd name="T18" fmla="*/ 72 w 295"/>
              <a:gd name="T19" fmla="*/ 115 h 294"/>
              <a:gd name="T20" fmla="*/ 251 w 295"/>
              <a:gd name="T21" fmla="*/ 294 h 294"/>
              <a:gd name="T22" fmla="*/ 295 w 295"/>
              <a:gd name="T23" fmla="*/ 248 h 294"/>
              <a:gd name="T24" fmla="*/ 119 w 295"/>
              <a:gd name="T25" fmla="*/ 71 h 2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95" h="294">
                <a:moveTo>
                  <a:pt x="119" y="71"/>
                </a:moveTo>
                <a:cubicBezTo>
                  <a:pt x="144" y="71"/>
                  <a:pt x="144" y="71"/>
                  <a:pt x="144" y="71"/>
                </a:cubicBezTo>
                <a:cubicBezTo>
                  <a:pt x="164" y="71"/>
                  <a:pt x="180" y="55"/>
                  <a:pt x="180" y="35"/>
                </a:cubicBezTo>
                <a:cubicBezTo>
                  <a:pt x="180" y="16"/>
                  <a:pt x="164" y="0"/>
                  <a:pt x="144" y="0"/>
                </a:cubicBezTo>
                <a:cubicBezTo>
                  <a:pt x="36" y="0"/>
                  <a:pt x="36" y="0"/>
                  <a:pt x="36" y="0"/>
                </a:cubicBezTo>
                <a:cubicBezTo>
                  <a:pt x="16" y="0"/>
                  <a:pt x="0" y="16"/>
                  <a:pt x="0" y="35"/>
                </a:cubicBezTo>
                <a:cubicBezTo>
                  <a:pt x="0" y="140"/>
                  <a:pt x="0" y="140"/>
                  <a:pt x="0" y="140"/>
                </a:cubicBezTo>
                <a:cubicBezTo>
                  <a:pt x="0" y="160"/>
                  <a:pt x="16" y="176"/>
                  <a:pt x="36" y="176"/>
                </a:cubicBezTo>
                <a:cubicBezTo>
                  <a:pt x="56" y="176"/>
                  <a:pt x="72" y="160"/>
                  <a:pt x="72" y="140"/>
                </a:cubicBezTo>
                <a:cubicBezTo>
                  <a:pt x="72" y="115"/>
                  <a:pt x="72" y="115"/>
                  <a:pt x="72" y="115"/>
                </a:cubicBezTo>
                <a:cubicBezTo>
                  <a:pt x="251" y="294"/>
                  <a:pt x="251" y="294"/>
                  <a:pt x="251" y="294"/>
                </a:cubicBezTo>
                <a:cubicBezTo>
                  <a:pt x="295" y="248"/>
                  <a:pt x="295" y="248"/>
                  <a:pt x="295" y="248"/>
                </a:cubicBezTo>
                <a:lnTo>
                  <a:pt x="119" y="71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A641220-04B4-402E-96CC-1A66BC16FF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0978" y="4712432"/>
            <a:ext cx="485775" cy="485775"/>
          </a:xfrm>
          <a:prstGeom prst="rect">
            <a:avLst/>
          </a:prstGeom>
        </p:spPr>
      </p:pic>
      <p:sp>
        <p:nvSpPr>
          <p:cNvPr id="37" name="Oval 14">
            <a:extLst>
              <a:ext uri="{FF2B5EF4-FFF2-40B4-BE49-F238E27FC236}">
                <a16:creationId xmlns:a16="http://schemas.microsoft.com/office/drawing/2014/main" id="{85C2336C-AC45-40BC-B951-BEB797F71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2524" y="1249452"/>
            <a:ext cx="1243075" cy="1189828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B33514-FCFC-4689-B9E3-248D7C076E9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0855" y="1427666"/>
            <a:ext cx="739959" cy="739959"/>
          </a:xfrm>
          <a:prstGeom prst="rect">
            <a:avLst/>
          </a:prstGeom>
        </p:spPr>
      </p:pic>
      <p:sp>
        <p:nvSpPr>
          <p:cNvPr id="38" name="Oval 14">
            <a:extLst>
              <a:ext uri="{FF2B5EF4-FFF2-40B4-BE49-F238E27FC236}">
                <a16:creationId xmlns:a16="http://schemas.microsoft.com/office/drawing/2014/main" id="{D07F7499-36ED-47BB-A4A0-CBE32B276A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38795" y="2199231"/>
            <a:ext cx="1198950" cy="1258741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B6DB96-5321-443A-BA4D-26E9C00DB16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1775" y="2433492"/>
            <a:ext cx="777241" cy="777241"/>
          </a:xfrm>
          <a:prstGeom prst="rect">
            <a:avLst/>
          </a:prstGeom>
        </p:spPr>
      </p:pic>
      <p:pic>
        <p:nvPicPr>
          <p:cNvPr id="1026" name="Picture 2" descr="A Primer on Cloud Computing. Cloud computing is defined as: | by ...">
            <a:extLst>
              <a:ext uri="{FF2B5EF4-FFF2-40B4-BE49-F238E27FC236}">
                <a16:creationId xmlns:a16="http://schemas.microsoft.com/office/drawing/2014/main" id="{256E8111-CBE3-4345-8ADA-F92BFEBA06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4691" y="3791137"/>
            <a:ext cx="2029595" cy="2009242"/>
          </a:xfrm>
          <a:prstGeom prst="ellipse">
            <a:avLst/>
          </a:prstGeom>
          <a:ln w="63500" cap="rnd">
            <a:solidFill>
              <a:schemeClr val="bg2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4115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57" grpId="0" animBg="1"/>
      <p:bldP spid="60" grpId="0" animBg="1"/>
      <p:bldP spid="89" grpId="0"/>
      <p:bldP spid="91" grpId="0"/>
      <p:bldP spid="92" grpId="0"/>
      <p:bldP spid="24" grpId="0"/>
      <p:bldP spid="25" grpId="0"/>
      <p:bldP spid="37" grpId="0" animBg="1"/>
      <p:bldP spid="3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Freeform 9"/>
          <p:cNvSpPr>
            <a:spLocks/>
          </p:cNvSpPr>
          <p:nvPr/>
        </p:nvSpPr>
        <p:spPr bwMode="auto">
          <a:xfrm>
            <a:off x="642550" y="510221"/>
            <a:ext cx="2571750" cy="5714479"/>
          </a:xfrm>
          <a:custGeom>
            <a:avLst/>
            <a:gdLst>
              <a:gd name="T0" fmla="*/ 1275 w 1275"/>
              <a:gd name="T1" fmla="*/ 1277 h 2553"/>
              <a:gd name="T2" fmla="*/ 0 w 1275"/>
              <a:gd name="T3" fmla="*/ 0 h 2553"/>
              <a:gd name="T4" fmla="*/ 0 w 1275"/>
              <a:gd name="T5" fmla="*/ 2553 h 2553"/>
              <a:gd name="T6" fmla="*/ 1275 w 1275"/>
              <a:gd name="T7" fmla="*/ 1277 h 25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275" h="2553">
                <a:moveTo>
                  <a:pt x="1275" y="1277"/>
                </a:moveTo>
                <a:cubicBezTo>
                  <a:pt x="1275" y="573"/>
                  <a:pt x="703" y="1"/>
                  <a:pt x="0" y="0"/>
                </a:cubicBezTo>
                <a:cubicBezTo>
                  <a:pt x="0" y="2553"/>
                  <a:pt x="0" y="2553"/>
                  <a:pt x="0" y="2553"/>
                </a:cubicBezTo>
                <a:cubicBezTo>
                  <a:pt x="703" y="2552"/>
                  <a:pt x="1275" y="1980"/>
                  <a:pt x="1275" y="1277"/>
                </a:cubicBezTo>
                <a:close/>
              </a:path>
            </a:pathLst>
          </a:custGeom>
          <a:solidFill>
            <a:srgbClr val="2F5597"/>
          </a:solidFill>
          <a:ln>
            <a:solidFill>
              <a:schemeClr val="bg1"/>
            </a:solidFill>
          </a:ln>
          <a:effectLst>
            <a:innerShdw blurRad="50800" dist="50800">
              <a:prstClr val="black">
                <a:alpha val="50000"/>
              </a:prstClr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0" name="Freeform 59"/>
          <p:cNvSpPr>
            <a:spLocks/>
          </p:cNvSpPr>
          <p:nvPr/>
        </p:nvSpPr>
        <p:spPr bwMode="auto">
          <a:xfrm>
            <a:off x="643344" y="498147"/>
            <a:ext cx="2570163" cy="5714479"/>
          </a:xfrm>
          <a:custGeom>
            <a:avLst/>
            <a:gdLst>
              <a:gd name="T0" fmla="*/ 915 w 1294"/>
              <a:gd name="T1" fmla="*/ 380 h 2592"/>
              <a:gd name="T2" fmla="*/ 0 w 1294"/>
              <a:gd name="T3" fmla="*/ 0 h 2592"/>
              <a:gd name="T4" fmla="*/ 0 w 1294"/>
              <a:gd name="T5" fmla="*/ 20 h 2592"/>
              <a:gd name="T6" fmla="*/ 1275 w 1294"/>
              <a:gd name="T7" fmla="*/ 1296 h 2592"/>
              <a:gd name="T8" fmla="*/ 0 w 1294"/>
              <a:gd name="T9" fmla="*/ 2572 h 2592"/>
              <a:gd name="T10" fmla="*/ 0 w 1294"/>
              <a:gd name="T11" fmla="*/ 2592 h 2592"/>
              <a:gd name="T12" fmla="*/ 915 w 1294"/>
              <a:gd name="T13" fmla="*/ 2212 h 2592"/>
              <a:gd name="T14" fmla="*/ 1294 w 1294"/>
              <a:gd name="T15" fmla="*/ 1296 h 2592"/>
              <a:gd name="T16" fmla="*/ 915 w 1294"/>
              <a:gd name="T17" fmla="*/ 380 h 25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94" h="2592">
                <a:moveTo>
                  <a:pt x="915" y="380"/>
                </a:moveTo>
                <a:cubicBezTo>
                  <a:pt x="670" y="135"/>
                  <a:pt x="346" y="0"/>
                  <a:pt x="0" y="0"/>
                </a:cubicBezTo>
                <a:cubicBezTo>
                  <a:pt x="0" y="20"/>
                  <a:pt x="0" y="20"/>
                  <a:pt x="0" y="20"/>
                </a:cubicBezTo>
                <a:cubicBezTo>
                  <a:pt x="703" y="21"/>
                  <a:pt x="1275" y="593"/>
                  <a:pt x="1275" y="1296"/>
                </a:cubicBezTo>
                <a:cubicBezTo>
                  <a:pt x="1275" y="1999"/>
                  <a:pt x="703" y="2571"/>
                  <a:pt x="0" y="2572"/>
                </a:cubicBezTo>
                <a:cubicBezTo>
                  <a:pt x="0" y="2592"/>
                  <a:pt x="0" y="2592"/>
                  <a:pt x="0" y="2592"/>
                </a:cubicBezTo>
                <a:cubicBezTo>
                  <a:pt x="346" y="2592"/>
                  <a:pt x="670" y="2457"/>
                  <a:pt x="915" y="2212"/>
                </a:cubicBezTo>
                <a:cubicBezTo>
                  <a:pt x="1159" y="1968"/>
                  <a:pt x="1294" y="1642"/>
                  <a:pt x="1294" y="1296"/>
                </a:cubicBezTo>
                <a:cubicBezTo>
                  <a:pt x="1294" y="950"/>
                  <a:pt x="1159" y="624"/>
                  <a:pt x="915" y="380"/>
                </a:cubicBezTo>
                <a:close/>
              </a:path>
            </a:pathLst>
          </a:custGeom>
          <a:solidFill>
            <a:srgbClr val="2F559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61" name="Group 60"/>
          <p:cNvGrpSpPr/>
          <p:nvPr/>
        </p:nvGrpSpPr>
        <p:grpSpPr>
          <a:xfrm>
            <a:off x="1673412" y="697588"/>
            <a:ext cx="548640" cy="548640"/>
            <a:chOff x="1905000" y="941070"/>
            <a:chExt cx="548640" cy="548640"/>
          </a:xfrm>
        </p:grpSpPr>
        <p:sp>
          <p:nvSpPr>
            <p:cNvPr id="64" name="Oval 63"/>
            <p:cNvSpPr/>
            <p:nvPr/>
          </p:nvSpPr>
          <p:spPr>
            <a:xfrm>
              <a:off x="1905000" y="941070"/>
              <a:ext cx="548640" cy="54864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6" name="Oval 65"/>
            <p:cNvSpPr/>
            <p:nvPr/>
          </p:nvSpPr>
          <p:spPr>
            <a:xfrm>
              <a:off x="1996440" y="1032510"/>
              <a:ext cx="365760" cy="36576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74" name="Straight Connector 73"/>
          <p:cNvCxnSpPr/>
          <p:nvPr/>
        </p:nvCxnSpPr>
        <p:spPr>
          <a:xfrm>
            <a:off x="2222052" y="971908"/>
            <a:ext cx="899160" cy="0"/>
          </a:xfrm>
          <a:prstGeom prst="line">
            <a:avLst/>
          </a:prstGeom>
          <a:ln w="25400">
            <a:solidFill>
              <a:schemeClr val="tx1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5" name="Group 74"/>
          <p:cNvGrpSpPr/>
          <p:nvPr/>
        </p:nvGrpSpPr>
        <p:grpSpPr>
          <a:xfrm>
            <a:off x="2322396" y="1425266"/>
            <a:ext cx="548640" cy="548640"/>
            <a:chOff x="2225040" y="1891030"/>
            <a:chExt cx="548640" cy="548640"/>
          </a:xfrm>
          <a:solidFill>
            <a:schemeClr val="bg1"/>
          </a:solidFill>
        </p:grpSpPr>
        <p:sp>
          <p:nvSpPr>
            <p:cNvPr id="76" name="Oval 75"/>
            <p:cNvSpPr/>
            <p:nvPr/>
          </p:nvSpPr>
          <p:spPr>
            <a:xfrm>
              <a:off x="2225040" y="1891030"/>
              <a:ext cx="548640" cy="548640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7" name="Oval 76"/>
            <p:cNvSpPr/>
            <p:nvPr/>
          </p:nvSpPr>
          <p:spPr>
            <a:xfrm>
              <a:off x="2316480" y="1982470"/>
              <a:ext cx="365760" cy="365760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78" name="Straight Connector 77"/>
          <p:cNvCxnSpPr/>
          <p:nvPr/>
        </p:nvCxnSpPr>
        <p:spPr>
          <a:xfrm>
            <a:off x="2871036" y="1699586"/>
            <a:ext cx="899160" cy="0"/>
          </a:xfrm>
          <a:prstGeom prst="line">
            <a:avLst/>
          </a:prstGeom>
          <a:ln w="25400">
            <a:solidFill>
              <a:schemeClr val="tx1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9" name="Group 78"/>
          <p:cNvGrpSpPr/>
          <p:nvPr/>
        </p:nvGrpSpPr>
        <p:grpSpPr>
          <a:xfrm>
            <a:off x="2779596" y="2145198"/>
            <a:ext cx="548640" cy="548640"/>
            <a:chOff x="2209800" y="2840990"/>
            <a:chExt cx="548640" cy="548640"/>
          </a:xfrm>
          <a:solidFill>
            <a:schemeClr val="bg1"/>
          </a:solidFill>
        </p:grpSpPr>
        <p:sp>
          <p:nvSpPr>
            <p:cNvPr id="80" name="Oval 79"/>
            <p:cNvSpPr/>
            <p:nvPr/>
          </p:nvSpPr>
          <p:spPr>
            <a:xfrm>
              <a:off x="2209800" y="2840990"/>
              <a:ext cx="548640" cy="548640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1" name="Oval 80"/>
            <p:cNvSpPr/>
            <p:nvPr/>
          </p:nvSpPr>
          <p:spPr>
            <a:xfrm>
              <a:off x="2301240" y="2932430"/>
              <a:ext cx="365760" cy="365760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82" name="Straight Connector 81"/>
          <p:cNvCxnSpPr/>
          <p:nvPr/>
        </p:nvCxnSpPr>
        <p:spPr>
          <a:xfrm>
            <a:off x="3328236" y="2419518"/>
            <a:ext cx="899160" cy="0"/>
          </a:xfrm>
          <a:prstGeom prst="line">
            <a:avLst/>
          </a:prstGeom>
          <a:ln w="25400">
            <a:solidFill>
              <a:schemeClr val="tx1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3" name="Group 82"/>
          <p:cNvGrpSpPr/>
          <p:nvPr/>
        </p:nvGrpSpPr>
        <p:grpSpPr>
          <a:xfrm>
            <a:off x="3000006" y="3066196"/>
            <a:ext cx="548640" cy="548640"/>
            <a:chOff x="1828800" y="3790950"/>
            <a:chExt cx="548640" cy="548640"/>
          </a:xfrm>
          <a:solidFill>
            <a:schemeClr val="bg1"/>
          </a:solidFill>
        </p:grpSpPr>
        <p:sp>
          <p:nvSpPr>
            <p:cNvPr id="90" name="Oval 89"/>
            <p:cNvSpPr/>
            <p:nvPr/>
          </p:nvSpPr>
          <p:spPr>
            <a:xfrm>
              <a:off x="1828800" y="3790950"/>
              <a:ext cx="548640" cy="548640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1" name="Oval 90"/>
            <p:cNvSpPr/>
            <p:nvPr/>
          </p:nvSpPr>
          <p:spPr>
            <a:xfrm>
              <a:off x="1920240" y="3882390"/>
              <a:ext cx="365760" cy="365760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92" name="Straight Connector 91"/>
          <p:cNvCxnSpPr/>
          <p:nvPr/>
        </p:nvCxnSpPr>
        <p:spPr>
          <a:xfrm>
            <a:off x="3548646" y="3340516"/>
            <a:ext cx="899160" cy="0"/>
          </a:xfrm>
          <a:prstGeom prst="line">
            <a:avLst/>
          </a:prstGeom>
          <a:ln w="25400">
            <a:solidFill>
              <a:schemeClr val="tx1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3583666" y="779163"/>
            <a:ext cx="3351147" cy="369332"/>
          </a:xfrm>
          <a:prstGeom prst="rect">
            <a:avLst/>
          </a:prstGeom>
          <a:noFill/>
        </p:spPr>
        <p:txBody>
          <a:bodyPr wrap="square" numCol="1" spcCol="640080" rtlCol="0">
            <a:spAutoFit/>
          </a:bodyPr>
          <a:lstStyle/>
          <a:p>
            <a:pPr>
              <a:buClr>
                <a:srgbClr val="4472C4"/>
              </a:buClr>
              <a:buSzPct val="200000"/>
            </a:pPr>
            <a:r>
              <a:rPr lang="fr-FR" b="1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  C</a:t>
            </a:r>
            <a:r>
              <a:rPr lang="en-US" b="1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ONTEXTE DU PROJET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566071" y="1531718"/>
            <a:ext cx="4011759" cy="369332"/>
          </a:xfrm>
          <a:prstGeom prst="rect">
            <a:avLst/>
          </a:prstGeom>
          <a:noFill/>
        </p:spPr>
        <p:txBody>
          <a:bodyPr wrap="square" numCol="1" spcCol="640080" rtlCol="0">
            <a:spAutoFit/>
          </a:bodyPr>
          <a:lstStyle/>
          <a:p>
            <a:pPr>
              <a:buClr>
                <a:srgbClr val="A5A5A5"/>
              </a:buClr>
              <a:buSzPct val="200000"/>
            </a:pPr>
            <a:r>
              <a:rPr lang="en-US" b="1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CONDUITE DU PROJET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129668" y="2244880"/>
            <a:ext cx="2850983" cy="646331"/>
          </a:xfrm>
          <a:prstGeom prst="rect">
            <a:avLst/>
          </a:prstGeom>
          <a:noFill/>
        </p:spPr>
        <p:txBody>
          <a:bodyPr wrap="square" numCol="1" spcCol="640080" rtlCol="0">
            <a:spAutoFit/>
          </a:bodyPr>
          <a:lstStyle/>
          <a:p>
            <a:pPr>
              <a:buClr>
                <a:srgbClr val="FFC000"/>
              </a:buClr>
              <a:buSzPct val="200000"/>
            </a:pPr>
            <a:r>
              <a:rPr lang="fr-FR" b="1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ÉTUDE PRÉLIMINAIRE</a:t>
            </a:r>
            <a:endParaRPr lang="en-US" b="1" dirty="0"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>
              <a:buClr>
                <a:srgbClr val="FFC000"/>
              </a:buClr>
              <a:buSzPct val="200000"/>
            </a:pPr>
            <a:endParaRPr lang="en-US" b="1" dirty="0"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1093594" y="2918571"/>
            <a:ext cx="12202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000" dirty="0">
                <a:solidFill>
                  <a:schemeClr val="bg1">
                    <a:lumMod val="9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Plan</a:t>
            </a:r>
            <a:endParaRPr lang="en-US" sz="4000" dirty="0">
              <a:solidFill>
                <a:schemeClr val="bg1">
                  <a:lumMod val="9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118" name="Freeform 36"/>
          <p:cNvSpPr>
            <a:spLocks/>
          </p:cNvSpPr>
          <p:nvPr/>
        </p:nvSpPr>
        <p:spPr bwMode="auto">
          <a:xfrm flipH="1">
            <a:off x="7407581" y="3879850"/>
            <a:ext cx="4038600" cy="2978150"/>
          </a:xfrm>
          <a:custGeom>
            <a:avLst/>
            <a:gdLst>
              <a:gd name="T0" fmla="*/ 0 w 5760"/>
              <a:gd name="T1" fmla="*/ 0 h 2144"/>
              <a:gd name="T2" fmla="*/ 0 w 5760"/>
              <a:gd name="T3" fmla="*/ 2144 h 2144"/>
              <a:gd name="T4" fmla="*/ 5760 w 5760"/>
              <a:gd name="T5" fmla="*/ 2144 h 2144"/>
              <a:gd name="T6" fmla="*/ 0 w 5760"/>
              <a:gd name="T7" fmla="*/ 0 h 2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760" h="2144">
                <a:moveTo>
                  <a:pt x="0" y="0"/>
                </a:moveTo>
                <a:lnTo>
                  <a:pt x="0" y="2144"/>
                </a:lnTo>
                <a:lnTo>
                  <a:pt x="5760" y="2144"/>
                </a:lnTo>
                <a:lnTo>
                  <a:pt x="0" y="0"/>
                </a:lnTo>
                <a:close/>
              </a:path>
            </a:pathLst>
          </a:custGeom>
          <a:solidFill>
            <a:srgbClr val="2F559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D8D86293-73AA-46CB-8DBE-B5FD1653FBA8}"/>
              </a:ext>
            </a:extLst>
          </p:cNvPr>
          <p:cNvGrpSpPr/>
          <p:nvPr/>
        </p:nvGrpSpPr>
        <p:grpSpPr>
          <a:xfrm>
            <a:off x="2763022" y="3971294"/>
            <a:ext cx="548640" cy="548640"/>
            <a:chOff x="1828800" y="3790950"/>
            <a:chExt cx="548640" cy="548640"/>
          </a:xfrm>
          <a:solidFill>
            <a:schemeClr val="bg1"/>
          </a:solidFill>
        </p:grpSpPr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7FD6BD97-8B8E-4F9C-96AD-6697C6F62AB0}"/>
                </a:ext>
              </a:extLst>
            </p:cNvPr>
            <p:cNvSpPr/>
            <p:nvPr/>
          </p:nvSpPr>
          <p:spPr>
            <a:xfrm>
              <a:off x="1828800" y="3790950"/>
              <a:ext cx="548640" cy="548640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91DB6EEF-361C-46BD-8DC3-1E07A5C410D1}"/>
                </a:ext>
              </a:extLst>
            </p:cNvPr>
            <p:cNvSpPr/>
            <p:nvPr/>
          </p:nvSpPr>
          <p:spPr>
            <a:xfrm>
              <a:off x="1920240" y="3882390"/>
              <a:ext cx="365760" cy="365760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BC071BFB-32D0-4B45-B03E-0341E763A894}"/>
              </a:ext>
            </a:extLst>
          </p:cNvPr>
          <p:cNvCxnSpPr/>
          <p:nvPr/>
        </p:nvCxnSpPr>
        <p:spPr>
          <a:xfrm>
            <a:off x="3311662" y="4245614"/>
            <a:ext cx="899160" cy="0"/>
          </a:xfrm>
          <a:prstGeom prst="line">
            <a:avLst/>
          </a:prstGeom>
          <a:ln w="25400">
            <a:solidFill>
              <a:schemeClr val="tx1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54C4A331-FAD7-4821-A558-EBDF591841F5}"/>
              </a:ext>
            </a:extLst>
          </p:cNvPr>
          <p:cNvSpPr txBox="1"/>
          <p:nvPr/>
        </p:nvSpPr>
        <p:spPr>
          <a:xfrm>
            <a:off x="5436117" y="3142127"/>
            <a:ext cx="3316377" cy="369332"/>
          </a:xfrm>
          <a:prstGeom prst="rect">
            <a:avLst/>
          </a:prstGeom>
          <a:noFill/>
        </p:spPr>
        <p:txBody>
          <a:bodyPr wrap="square" numCol="1" spcCol="640080" rtlCol="0">
            <a:spAutoFit/>
          </a:bodyPr>
          <a:lstStyle/>
          <a:p>
            <a:pPr>
              <a:buClr>
                <a:srgbClr val="FFC000"/>
              </a:buClr>
              <a:buSzPct val="200000"/>
            </a:pPr>
            <a:r>
              <a:rPr lang="en-US" b="1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SPÉCIFICATION GÉNÉRALES</a:t>
            </a:r>
          </a:p>
        </p:txBody>
      </p: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ABE5F8DB-4C8D-4DFF-920A-0FF16D264DBF}"/>
              </a:ext>
            </a:extLst>
          </p:cNvPr>
          <p:cNvGrpSpPr/>
          <p:nvPr/>
        </p:nvGrpSpPr>
        <p:grpSpPr>
          <a:xfrm>
            <a:off x="2392416" y="4804710"/>
            <a:ext cx="548640" cy="548640"/>
            <a:chOff x="1828800" y="3790950"/>
            <a:chExt cx="548640" cy="548640"/>
          </a:xfrm>
          <a:solidFill>
            <a:schemeClr val="bg1"/>
          </a:solidFill>
        </p:grpSpPr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83F7BC96-1E86-4133-8715-FDAF6B0419E3}"/>
                </a:ext>
              </a:extLst>
            </p:cNvPr>
            <p:cNvSpPr/>
            <p:nvPr/>
          </p:nvSpPr>
          <p:spPr>
            <a:xfrm>
              <a:off x="1828800" y="3790950"/>
              <a:ext cx="548640" cy="548640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B5119D32-081A-41D2-8B68-29447B65A848}"/>
                </a:ext>
              </a:extLst>
            </p:cNvPr>
            <p:cNvSpPr/>
            <p:nvPr/>
          </p:nvSpPr>
          <p:spPr>
            <a:xfrm>
              <a:off x="1920240" y="3882390"/>
              <a:ext cx="365760" cy="365760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ED27C544-AB31-4375-B1D2-73E04776B605}"/>
              </a:ext>
            </a:extLst>
          </p:cNvPr>
          <p:cNvCxnSpPr/>
          <p:nvPr/>
        </p:nvCxnSpPr>
        <p:spPr>
          <a:xfrm>
            <a:off x="2934738" y="5079030"/>
            <a:ext cx="899160" cy="0"/>
          </a:xfrm>
          <a:prstGeom prst="line">
            <a:avLst/>
          </a:prstGeom>
          <a:ln w="25400">
            <a:solidFill>
              <a:schemeClr val="tx1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TextBox 143">
            <a:extLst>
              <a:ext uri="{FF2B5EF4-FFF2-40B4-BE49-F238E27FC236}">
                <a16:creationId xmlns:a16="http://schemas.microsoft.com/office/drawing/2014/main" id="{0329A905-0BEA-42F8-B053-6CE60AF8238A}"/>
              </a:ext>
            </a:extLst>
          </p:cNvPr>
          <p:cNvSpPr txBox="1"/>
          <p:nvPr/>
        </p:nvSpPr>
        <p:spPr>
          <a:xfrm>
            <a:off x="4852613" y="4074518"/>
            <a:ext cx="3438673" cy="369332"/>
          </a:xfrm>
          <a:prstGeom prst="rect">
            <a:avLst/>
          </a:prstGeom>
          <a:noFill/>
        </p:spPr>
        <p:txBody>
          <a:bodyPr wrap="square" numCol="1" spcCol="640080" rtlCol="0">
            <a:spAutoFit/>
          </a:bodyPr>
          <a:lstStyle/>
          <a:p>
            <a:pPr>
              <a:buClr>
                <a:srgbClr val="5B9BD5"/>
              </a:buClr>
              <a:buSzPct val="200000"/>
            </a:pPr>
            <a:r>
              <a:rPr lang="fr-FR" b="1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ANALYSE ET CONCEPTION</a:t>
            </a:r>
            <a:endParaRPr lang="en-US" b="1" dirty="0"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163E82C4-D954-41E4-9E0B-ADF99E2CF74B}"/>
              </a:ext>
            </a:extLst>
          </p:cNvPr>
          <p:cNvSpPr txBox="1"/>
          <p:nvPr/>
        </p:nvSpPr>
        <p:spPr>
          <a:xfrm>
            <a:off x="4447806" y="4946612"/>
            <a:ext cx="1890162" cy="369332"/>
          </a:xfrm>
          <a:prstGeom prst="rect">
            <a:avLst/>
          </a:prstGeom>
          <a:noFill/>
        </p:spPr>
        <p:txBody>
          <a:bodyPr wrap="square" numCol="1" spcCol="640080" rtlCol="0">
            <a:spAutoFit/>
          </a:bodyPr>
          <a:lstStyle/>
          <a:p>
            <a:pPr>
              <a:buClr>
                <a:srgbClr val="7F6000"/>
              </a:buClr>
              <a:buSzPct val="200000"/>
            </a:pPr>
            <a:r>
              <a:rPr lang="en-US" b="1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RÉALISATION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D7095CFE-BDC5-4455-8F12-13BE1FFDD288}"/>
              </a:ext>
            </a:extLst>
          </p:cNvPr>
          <p:cNvGrpSpPr/>
          <p:nvPr/>
        </p:nvGrpSpPr>
        <p:grpSpPr>
          <a:xfrm>
            <a:off x="1747753" y="5546703"/>
            <a:ext cx="548640" cy="548640"/>
            <a:chOff x="1828800" y="3790950"/>
            <a:chExt cx="548640" cy="548640"/>
          </a:xfrm>
          <a:solidFill>
            <a:schemeClr val="bg1"/>
          </a:solidFill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A24D7F32-6E2E-401A-8CAD-521C13B79ED6}"/>
                </a:ext>
              </a:extLst>
            </p:cNvPr>
            <p:cNvSpPr/>
            <p:nvPr/>
          </p:nvSpPr>
          <p:spPr>
            <a:xfrm>
              <a:off x="1828800" y="3790950"/>
              <a:ext cx="548640" cy="548640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D4AAEF69-4DA3-4A18-8CD0-665F2A5A5155}"/>
                </a:ext>
              </a:extLst>
            </p:cNvPr>
            <p:cNvSpPr/>
            <p:nvPr/>
          </p:nvSpPr>
          <p:spPr>
            <a:xfrm>
              <a:off x="1920240" y="3882390"/>
              <a:ext cx="365760" cy="365760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A136799-65EB-42F0-8FEA-C9684E6270A9}"/>
              </a:ext>
            </a:extLst>
          </p:cNvPr>
          <p:cNvCxnSpPr/>
          <p:nvPr/>
        </p:nvCxnSpPr>
        <p:spPr>
          <a:xfrm>
            <a:off x="2290075" y="5821023"/>
            <a:ext cx="899160" cy="0"/>
          </a:xfrm>
          <a:prstGeom prst="line">
            <a:avLst/>
          </a:prstGeom>
          <a:ln w="25400">
            <a:solidFill>
              <a:schemeClr val="tx1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D28B8604-B040-4658-9C5D-88985909BF3B}"/>
              </a:ext>
            </a:extLst>
          </p:cNvPr>
          <p:cNvSpPr txBox="1"/>
          <p:nvPr/>
        </p:nvSpPr>
        <p:spPr>
          <a:xfrm>
            <a:off x="3620990" y="5636357"/>
            <a:ext cx="1890162" cy="369332"/>
          </a:xfrm>
          <a:prstGeom prst="rect">
            <a:avLst/>
          </a:prstGeom>
          <a:noFill/>
        </p:spPr>
        <p:txBody>
          <a:bodyPr wrap="square" numCol="1" spcCol="640080" rtlCol="0">
            <a:spAutoFit/>
          </a:bodyPr>
          <a:lstStyle/>
          <a:p>
            <a:pPr>
              <a:buClr>
                <a:srgbClr val="7030A0"/>
              </a:buClr>
              <a:buSzPct val="200000"/>
            </a:pPr>
            <a:r>
              <a:rPr lang="fr-FR" b="1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fr-FR" b="1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CONCLUSION</a:t>
            </a:r>
            <a:endParaRPr lang="en-US" b="1" dirty="0"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9322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/>
      <p:bldP spid="94" grpId="0"/>
      <p:bldP spid="105" grpId="0"/>
      <p:bldP spid="113" grpId="0"/>
      <p:bldP spid="58" grpId="0"/>
      <p:bldP spid="144" grpId="0"/>
      <p:bldP spid="151" grpId="0"/>
      <p:bldP spid="4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72">
            <a:extLst>
              <a:ext uri="{FF2B5EF4-FFF2-40B4-BE49-F238E27FC236}">
                <a16:creationId xmlns:a16="http://schemas.microsoft.com/office/drawing/2014/main" id="{DBC89666-CEA1-4BFE-A7F3-BA30895DF237}"/>
              </a:ext>
            </a:extLst>
          </p:cNvPr>
          <p:cNvSpPr/>
          <p:nvPr/>
        </p:nvSpPr>
        <p:spPr>
          <a:xfrm flipV="1">
            <a:off x="0" y="634208"/>
            <a:ext cx="1934083" cy="606032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-2921" y="619576"/>
            <a:ext cx="1934083" cy="686729"/>
          </a:xfrm>
          <a:prstGeom prst="rect">
            <a:avLst/>
          </a:prstGeom>
          <a:ln>
            <a:solidFill>
              <a:srgbClr val="4472C4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Rectangle 41"/>
          <p:cNvSpPr/>
          <p:nvPr/>
        </p:nvSpPr>
        <p:spPr>
          <a:xfrm>
            <a:off x="0" y="-18689"/>
            <a:ext cx="9321206" cy="6141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62" name="Shape 222"/>
          <p:cNvSpPr/>
          <p:nvPr/>
        </p:nvSpPr>
        <p:spPr>
          <a:xfrm>
            <a:off x="682388" y="163467"/>
            <a:ext cx="4741083" cy="287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>
              <a:lnSpc>
                <a:spcPct val="90000"/>
              </a:lnSpc>
              <a:defRPr sz="11100">
                <a:solidFill>
                  <a:srgbClr val="FFFFFF"/>
                </a:solidFill>
                <a:latin typeface="+mn-lt"/>
                <a:ea typeface="+mn-ea"/>
                <a:cs typeface="+mn-cs"/>
                <a:sym typeface="Montserrat Semi Bold"/>
              </a:defRPr>
            </a:lvl1pPr>
          </a:lstStyle>
          <a:p>
            <a:r>
              <a:rPr lang="en-GB" sz="1800" b="1" dirty="0">
                <a:latin typeface="Asap Medium" panose="020F0604030102060203" pitchFamily="34" charset="0"/>
              </a:rPr>
              <a:t>CONTEXTE DU PROJET</a:t>
            </a:r>
            <a:endParaRPr lang="id-ID" sz="1800" b="1" dirty="0">
              <a:latin typeface="Asap Medium" panose="020F0604030102060203" pitchFamily="34" charset="0"/>
            </a:endParaRPr>
          </a:p>
        </p:txBody>
      </p:sp>
      <p:sp>
        <p:nvSpPr>
          <p:cNvPr id="63" name="Shape 223"/>
          <p:cNvSpPr/>
          <p:nvPr/>
        </p:nvSpPr>
        <p:spPr>
          <a:xfrm>
            <a:off x="110246" y="84459"/>
            <a:ext cx="431835" cy="431835"/>
          </a:xfrm>
          <a:prstGeom prst="ellipse">
            <a:avLst/>
          </a:prstGeom>
          <a:solidFill>
            <a:srgbClr val="FFFFFF"/>
          </a:solidFill>
          <a:ln w="3175">
            <a:solidFill>
              <a:srgbClr val="A6AAA9"/>
            </a:solidFill>
          </a:ln>
        </p:spPr>
        <p:txBody>
          <a:bodyPr lIns="14288" tIns="14288" rIns="14288" bIns="14288" anchor="ctr"/>
          <a:lstStyle/>
          <a:p>
            <a:endParaRPr sz="1500" b="1">
              <a:latin typeface="Asap Medium" panose="020F0604030102060203" pitchFamily="34" charset="0"/>
            </a:endParaRPr>
          </a:p>
        </p:txBody>
      </p:sp>
      <p:sp>
        <p:nvSpPr>
          <p:cNvPr id="64" name="Shape 222"/>
          <p:cNvSpPr/>
          <p:nvPr/>
        </p:nvSpPr>
        <p:spPr>
          <a:xfrm>
            <a:off x="90194" y="159992"/>
            <a:ext cx="492801" cy="315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>
              <a:lnSpc>
                <a:spcPct val="90000"/>
              </a:lnSpc>
              <a:defRPr sz="11100">
                <a:solidFill>
                  <a:srgbClr val="FFFFFF"/>
                </a:solidFill>
                <a:latin typeface="+mn-lt"/>
                <a:ea typeface="+mn-ea"/>
                <a:cs typeface="+mn-cs"/>
                <a:sym typeface="Montserrat Semi Bold"/>
              </a:defRPr>
            </a:lvl1pPr>
          </a:lstStyle>
          <a:p>
            <a:pPr algn="ctr"/>
            <a:r>
              <a:rPr lang="en-GB" sz="2000" b="1" dirty="0">
                <a:solidFill>
                  <a:schemeClr val="accent1"/>
                </a:solidFill>
                <a:latin typeface="Asap Medium" panose="020F0604030102060203" pitchFamily="34" charset="0"/>
              </a:rPr>
              <a:t>I</a:t>
            </a:r>
            <a:endParaRPr lang="id-ID" sz="1600" b="1" dirty="0">
              <a:solidFill>
                <a:schemeClr val="accent1"/>
              </a:solidFill>
              <a:latin typeface="Asap Medium" panose="020F0604030102060203" pitchFamily="34" charset="0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9431452" y="-4"/>
            <a:ext cx="258830" cy="6141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68" name="Shape 259"/>
          <p:cNvSpPr txBox="1">
            <a:spLocks/>
          </p:cNvSpPr>
          <p:nvPr/>
        </p:nvSpPr>
        <p:spPr>
          <a:xfrm>
            <a:off x="-48195" y="869244"/>
            <a:ext cx="2091536" cy="200398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200" b="1" dirty="0" err="1">
                <a:solidFill>
                  <a:srgbClr val="2F5597"/>
                </a:solidFill>
                <a:latin typeface="Asap Medium" panose="020F0604030102060203" pitchFamily="34" charset="0"/>
              </a:rPr>
              <a:t>Organisme</a:t>
            </a:r>
            <a:r>
              <a:rPr lang="id-ID" sz="1200" b="1" dirty="0">
                <a:solidFill>
                  <a:srgbClr val="2F5597"/>
                </a:solidFill>
                <a:latin typeface="Asap Medium" panose="020F0604030102060203" pitchFamily="34" charset="0"/>
              </a:rPr>
              <a:t> </a:t>
            </a:r>
            <a:r>
              <a:rPr lang="en-US" sz="1200" b="1" dirty="0">
                <a:solidFill>
                  <a:srgbClr val="2F5597"/>
                </a:solidFill>
                <a:latin typeface="Asap Medium" panose="020F0604030102060203" pitchFamily="34" charset="0"/>
              </a:rPr>
              <a:t>d</a:t>
            </a:r>
            <a:r>
              <a:rPr lang="id-ID" sz="1200" b="1" dirty="0">
                <a:solidFill>
                  <a:srgbClr val="2F5597"/>
                </a:solidFill>
                <a:latin typeface="Asap Medium" panose="020F0604030102060203" pitchFamily="34" charset="0"/>
              </a:rPr>
              <a:t>’</a:t>
            </a:r>
            <a:r>
              <a:rPr lang="en-US" sz="1200" b="1" dirty="0" err="1">
                <a:solidFill>
                  <a:srgbClr val="2F5597"/>
                </a:solidFill>
                <a:latin typeface="Asap Medium" panose="020F0604030102060203" pitchFamily="34" charset="0"/>
              </a:rPr>
              <a:t>accueil</a:t>
            </a:r>
            <a:endParaRPr lang="id-ID" sz="1200" b="1" dirty="0">
              <a:solidFill>
                <a:srgbClr val="2F5597"/>
              </a:solidFill>
              <a:latin typeface="Asap Medium" panose="020F0604030102060203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9059637" y="6309345"/>
            <a:ext cx="2743200" cy="365125"/>
          </a:xfrm>
        </p:spPr>
        <p:txBody>
          <a:bodyPr/>
          <a:lstStyle/>
          <a:p>
            <a:fld id="{2476CA8B-E376-4C73-9B78-83D007D77E53}" type="slidenum">
              <a:rPr lang="id-ID" smtClean="0">
                <a:solidFill>
                  <a:srgbClr val="FF0000"/>
                </a:solidFill>
                <a:latin typeface="Asap Medium" panose="020F0604030102060203" pitchFamily="34" charset="0"/>
              </a:rPr>
              <a:t>4</a:t>
            </a:fld>
            <a:endParaRPr lang="id-ID" dirty="0">
              <a:solidFill>
                <a:srgbClr val="FF0000"/>
              </a:solidFill>
              <a:latin typeface="Asap Medium" panose="020F0604030102060203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ECCB045-FE19-4561-8017-9B40A020F357}"/>
              </a:ext>
            </a:extLst>
          </p:cNvPr>
          <p:cNvSpPr/>
          <p:nvPr/>
        </p:nvSpPr>
        <p:spPr>
          <a:xfrm>
            <a:off x="9813810" y="0"/>
            <a:ext cx="258830" cy="61414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3DE1CC4-1551-4828-A800-63DD77E86870}"/>
              </a:ext>
            </a:extLst>
          </p:cNvPr>
          <p:cNvSpPr/>
          <p:nvPr/>
        </p:nvSpPr>
        <p:spPr>
          <a:xfrm>
            <a:off x="10196168" y="-8069"/>
            <a:ext cx="258830" cy="61414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 dirty="0">
              <a:latin typeface="Asap Medium" panose="020F0604030102060203" pitchFamily="34" charset="0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304A858-F1EF-46C2-9C41-A25FCE3D9A94}"/>
              </a:ext>
            </a:extLst>
          </p:cNvPr>
          <p:cNvSpPr/>
          <p:nvPr/>
        </p:nvSpPr>
        <p:spPr>
          <a:xfrm>
            <a:off x="11392272" y="-5"/>
            <a:ext cx="258830" cy="614149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72A7319-31A7-490B-9740-279F48E96737}"/>
              </a:ext>
            </a:extLst>
          </p:cNvPr>
          <p:cNvSpPr/>
          <p:nvPr/>
        </p:nvSpPr>
        <p:spPr>
          <a:xfrm>
            <a:off x="10578526" y="-8069"/>
            <a:ext cx="258830" cy="61414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5ECA0C6-ECC9-4278-AE73-EBF82C6F8067}"/>
              </a:ext>
            </a:extLst>
          </p:cNvPr>
          <p:cNvSpPr/>
          <p:nvPr/>
        </p:nvSpPr>
        <p:spPr>
          <a:xfrm>
            <a:off x="10985399" y="-8070"/>
            <a:ext cx="258830" cy="614149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27" name="Shape 259"/>
          <p:cNvSpPr txBox="1">
            <a:spLocks/>
          </p:cNvSpPr>
          <p:nvPr/>
        </p:nvSpPr>
        <p:spPr>
          <a:xfrm>
            <a:off x="-114689" y="1575873"/>
            <a:ext cx="2091536" cy="200398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200" b="1" dirty="0" err="1">
                <a:solidFill>
                  <a:schemeClr val="bg1"/>
                </a:solidFill>
                <a:latin typeface="Asap Medium" panose="020F0604030102060203" pitchFamily="34" charset="0"/>
              </a:rPr>
              <a:t>Thème</a:t>
            </a:r>
            <a:endParaRPr lang="id-ID" sz="1200" b="1" dirty="0">
              <a:solidFill>
                <a:schemeClr val="bg1"/>
              </a:solidFill>
              <a:latin typeface="Asap Medium" panose="020F0604030102060203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6F933B9-BC36-4F7E-9D15-A63685F93884}"/>
              </a:ext>
            </a:extLst>
          </p:cNvPr>
          <p:cNvSpPr txBox="1"/>
          <p:nvPr/>
        </p:nvSpPr>
        <p:spPr>
          <a:xfrm>
            <a:off x="5164394" y="1765347"/>
            <a:ext cx="37795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Société Générale Africa Technologies &amp; Services</a:t>
            </a:r>
            <a:endParaRPr lang="en-US" sz="14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A8C09D31-97F0-4F39-8108-407F77118A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7886" y="1102371"/>
            <a:ext cx="3510406" cy="632645"/>
          </a:xfrm>
          <a:prstGeom prst="rect">
            <a:avLst/>
          </a:prstGeom>
        </p:spPr>
      </p:pic>
      <p:sp>
        <p:nvSpPr>
          <p:cNvPr id="32" name="Parallelogram 242">
            <a:extLst>
              <a:ext uri="{FF2B5EF4-FFF2-40B4-BE49-F238E27FC236}">
                <a16:creationId xmlns:a16="http://schemas.microsoft.com/office/drawing/2014/main" id="{F915161F-8530-4D46-8ACF-A7A3D9E29EF9}"/>
              </a:ext>
            </a:extLst>
          </p:cNvPr>
          <p:cNvSpPr/>
          <p:nvPr/>
        </p:nvSpPr>
        <p:spPr>
          <a:xfrm rot="5400000" flipV="1">
            <a:off x="10550029" y="3350835"/>
            <a:ext cx="1126908" cy="269817"/>
          </a:xfrm>
          <a:prstGeom prst="parallelogram">
            <a:avLst>
              <a:gd name="adj" fmla="val 66077"/>
            </a:avLst>
          </a:prstGeom>
          <a:solidFill>
            <a:srgbClr val="5BBE77">
              <a:lumMod val="50000"/>
            </a:srgbClr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 Light"/>
              <a:ea typeface="+mn-ea"/>
              <a:cs typeface="+mn-c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74BB863-7AE2-43A5-A6EA-314D9F174D53}"/>
              </a:ext>
            </a:extLst>
          </p:cNvPr>
          <p:cNvSpPr/>
          <p:nvPr/>
        </p:nvSpPr>
        <p:spPr>
          <a:xfrm>
            <a:off x="7664755" y="3947422"/>
            <a:ext cx="3916904" cy="1779888"/>
          </a:xfrm>
          <a:prstGeom prst="rect">
            <a:avLst/>
          </a:prstGeom>
          <a:solidFill>
            <a:srgbClr val="57565A">
              <a:alpha val="1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spcFirstLastPara="0" vert="horz" wrap="square" lIns="243840" tIns="243840" rIns="243840" bIns="243840" numCol="1" spcCol="1270" anchor="t" anchorCtr="0">
            <a:noAutofit/>
          </a:bodyPr>
          <a:lstStyle/>
          <a:p>
            <a:pPr lvl="0" algn="just" defTabSz="888978">
              <a:lnSpc>
                <a:spcPct val="90000"/>
              </a:lnSpc>
              <a:spcBef>
                <a:spcPct val="0"/>
              </a:spcBef>
              <a:spcAft>
                <a:spcPts val="267"/>
              </a:spcAft>
            </a:pPr>
            <a:r>
              <a:rPr lang="fr-FR" sz="2000" kern="0" dirty="0">
                <a:solidFill>
                  <a:srgbClr val="57565A"/>
                </a:solidFill>
                <a:latin typeface="Open Sans Light"/>
              </a:rPr>
              <a:t>Regroupe les services de R&amp;D des activités de marché de finance du groupe Société Générale.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57565A"/>
              </a:solidFill>
              <a:effectLst/>
              <a:uLnTx/>
              <a:uFillTx/>
              <a:latin typeface="Open Sans Light"/>
              <a:ea typeface="+mn-ea"/>
              <a:cs typeface="+mn-cs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E64578A-4C30-4B9D-A60F-3479082E7F12}"/>
              </a:ext>
            </a:extLst>
          </p:cNvPr>
          <p:cNvSpPr/>
          <p:nvPr/>
        </p:nvSpPr>
        <p:spPr>
          <a:xfrm>
            <a:off x="7998026" y="2907329"/>
            <a:ext cx="3250363" cy="947952"/>
          </a:xfrm>
          <a:prstGeom prst="rect">
            <a:avLst/>
          </a:prstGeom>
          <a:gradFill>
            <a:gsLst>
              <a:gs pos="0">
                <a:srgbClr val="5BBE77">
                  <a:lumMod val="75000"/>
                </a:srgbClr>
              </a:gs>
              <a:gs pos="32000">
                <a:srgbClr val="5BBE77"/>
              </a:gs>
            </a:gsLst>
            <a:lin ang="0" scaled="1"/>
          </a:gradFill>
          <a:ln w="25400" cap="flat" cmpd="sng" algn="ctr">
            <a:noFill/>
            <a:prstDash val="solid"/>
          </a:ln>
          <a:effectLst/>
        </p:spPr>
        <p:txBody>
          <a:bodyPr spcFirstLastPara="0" vert="horz" wrap="square" lIns="365760" tIns="304800" rIns="243840" bIns="304800" numCol="1" spcCol="1270" anchor="t" anchorCtr="0">
            <a:spAutoFit/>
          </a:bodyPr>
          <a:lstStyle/>
          <a:p>
            <a:pPr marL="0" marR="0" lvl="0" indent="0" algn="ctr" defTabSz="888978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267"/>
              </a:spcAft>
              <a:buClrTx/>
              <a:buSzTx/>
              <a:buFontTx/>
              <a:buNone/>
              <a:tabLst/>
              <a:defRPr/>
            </a:pPr>
            <a:r>
              <a:rPr lang="fr-FR" sz="2400" kern="0" noProof="0" dirty="0">
                <a:solidFill>
                  <a:srgbClr val="FFFFFF"/>
                </a:solidFill>
                <a:latin typeface="Open Sans Light"/>
              </a:rPr>
              <a:t>Activité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+mn-ea"/>
              <a:cs typeface="+mn-cs"/>
            </a:endParaRPr>
          </a:p>
        </p:txBody>
      </p:sp>
      <p:sp>
        <p:nvSpPr>
          <p:cNvPr id="39" name="Parallelogram 246">
            <a:extLst>
              <a:ext uri="{FF2B5EF4-FFF2-40B4-BE49-F238E27FC236}">
                <a16:creationId xmlns:a16="http://schemas.microsoft.com/office/drawing/2014/main" id="{B52527B5-F98A-4CD1-9A32-9A3DF8CDB586}"/>
              </a:ext>
            </a:extLst>
          </p:cNvPr>
          <p:cNvSpPr/>
          <p:nvPr/>
        </p:nvSpPr>
        <p:spPr>
          <a:xfrm rot="5400000" flipV="1">
            <a:off x="7569476" y="3157917"/>
            <a:ext cx="1126907" cy="269817"/>
          </a:xfrm>
          <a:prstGeom prst="parallelogram">
            <a:avLst>
              <a:gd name="adj" fmla="val 66077"/>
            </a:avLst>
          </a:prstGeom>
          <a:solidFill>
            <a:srgbClr val="27A6C2">
              <a:lumMod val="50000"/>
            </a:srgbClr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 Light"/>
              <a:ea typeface="+mn-ea"/>
              <a:cs typeface="+mn-cs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771030D-1A5E-413F-AD01-CED4D3AE9427}"/>
              </a:ext>
            </a:extLst>
          </p:cNvPr>
          <p:cNvSpPr/>
          <p:nvPr/>
        </p:nvSpPr>
        <p:spPr>
          <a:xfrm>
            <a:off x="2918567" y="3985007"/>
            <a:ext cx="2892456" cy="1704718"/>
          </a:xfrm>
          <a:prstGeom prst="rect">
            <a:avLst/>
          </a:prstGeom>
          <a:solidFill>
            <a:srgbClr val="57565A">
              <a:alpha val="1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spcFirstLastPara="0" vert="horz" wrap="square" lIns="243840" tIns="243840" rIns="243840" bIns="243840" numCol="1" spcCol="1270" anchor="t" anchorCtr="0">
            <a:noAutofit/>
          </a:bodyPr>
          <a:lstStyle/>
          <a:p>
            <a:pPr marL="0" marR="0" lvl="0" indent="0" algn="ctr" defTabSz="888978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267"/>
              </a:spcAft>
              <a:buClrTx/>
              <a:buSzTx/>
              <a:buFontTx/>
              <a:buNone/>
              <a:tabLst/>
              <a:defRPr/>
            </a:pPr>
            <a:r>
              <a:rPr lang="fr-FR" sz="2133" kern="0" dirty="0">
                <a:solidFill>
                  <a:srgbClr val="57565A"/>
                </a:solidFill>
                <a:latin typeface="Open Sans Light"/>
              </a:rPr>
              <a:t>2014, Casablanca</a:t>
            </a:r>
            <a:endParaRPr kumimoji="0" lang="en-US" sz="2133" b="0" i="0" u="none" strike="noStrike" kern="0" cap="none" spc="0" normalizeH="0" baseline="0" noProof="0" dirty="0">
              <a:ln>
                <a:noFill/>
              </a:ln>
              <a:solidFill>
                <a:srgbClr val="57565A"/>
              </a:solidFill>
              <a:effectLst/>
              <a:uLnTx/>
              <a:uFillTx/>
              <a:latin typeface="Open Sans Light"/>
              <a:ea typeface="+mn-ea"/>
              <a:cs typeface="+mn-cs"/>
            </a:endParaRPr>
          </a:p>
        </p:txBody>
      </p:sp>
      <p:sp>
        <p:nvSpPr>
          <p:cNvPr id="41" name="Parallelogram 252">
            <a:extLst>
              <a:ext uri="{FF2B5EF4-FFF2-40B4-BE49-F238E27FC236}">
                <a16:creationId xmlns:a16="http://schemas.microsoft.com/office/drawing/2014/main" id="{310F2C92-FA47-4B12-82F6-9541F0C2210F}"/>
              </a:ext>
            </a:extLst>
          </p:cNvPr>
          <p:cNvSpPr/>
          <p:nvPr/>
        </p:nvSpPr>
        <p:spPr>
          <a:xfrm rot="5400000" flipV="1">
            <a:off x="5226866" y="3415082"/>
            <a:ext cx="1126908" cy="269817"/>
          </a:xfrm>
          <a:prstGeom prst="parallelogram">
            <a:avLst>
              <a:gd name="adj" fmla="val 66077"/>
            </a:avLst>
          </a:prstGeom>
          <a:solidFill>
            <a:srgbClr val="2099D8">
              <a:lumMod val="50000"/>
            </a:srgbClr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 Light"/>
              <a:ea typeface="+mn-ea"/>
              <a:cs typeface="+mn-cs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E961B2C-2482-4E50-9E33-6438A260F4A6}"/>
              </a:ext>
            </a:extLst>
          </p:cNvPr>
          <p:cNvSpPr/>
          <p:nvPr/>
        </p:nvSpPr>
        <p:spPr>
          <a:xfrm>
            <a:off x="2669624" y="2878441"/>
            <a:ext cx="3255606" cy="947952"/>
          </a:xfrm>
          <a:prstGeom prst="rect">
            <a:avLst/>
          </a:prstGeom>
          <a:solidFill>
            <a:srgbClr val="2099D8"/>
          </a:solidFill>
          <a:ln w="25400" cap="flat" cmpd="sng" algn="ctr">
            <a:noFill/>
            <a:prstDash val="solid"/>
          </a:ln>
          <a:effectLst/>
        </p:spPr>
        <p:txBody>
          <a:bodyPr spcFirstLastPara="0" vert="horz" wrap="square" lIns="243840" tIns="304800" rIns="243840" bIns="304800" numCol="1" spcCol="1270" anchor="t" anchorCtr="0">
            <a:spAutoFit/>
          </a:bodyPr>
          <a:lstStyle/>
          <a:p>
            <a:pPr marL="0" marR="0" lvl="0" indent="0" algn="ctr" defTabSz="888978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267"/>
              </a:spcAft>
              <a:buClrTx/>
              <a:buSzTx/>
              <a:buFontTx/>
              <a:buNone/>
              <a:tabLst/>
              <a:defRPr/>
            </a:pPr>
            <a:r>
              <a:rPr lang="fr-FR" sz="2400" kern="0" dirty="0">
                <a:solidFill>
                  <a:srgbClr val="FFFFFF"/>
                </a:solidFill>
                <a:latin typeface="Open Sans Light"/>
              </a:rPr>
              <a:t>Création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+mn-ea"/>
              <a:cs typeface="+mn-cs"/>
            </a:endParaRPr>
          </a:p>
        </p:txBody>
      </p:sp>
      <p:sp>
        <p:nvSpPr>
          <p:cNvPr id="44" name="Parallelogram 252">
            <a:extLst>
              <a:ext uri="{FF2B5EF4-FFF2-40B4-BE49-F238E27FC236}">
                <a16:creationId xmlns:a16="http://schemas.microsoft.com/office/drawing/2014/main" id="{F33369F1-4725-4B22-80E8-A8B097432687}"/>
              </a:ext>
            </a:extLst>
          </p:cNvPr>
          <p:cNvSpPr/>
          <p:nvPr/>
        </p:nvSpPr>
        <p:spPr>
          <a:xfrm rot="5400000" flipV="1">
            <a:off x="2241078" y="3128031"/>
            <a:ext cx="1126908" cy="269817"/>
          </a:xfrm>
          <a:prstGeom prst="parallelogram">
            <a:avLst>
              <a:gd name="adj" fmla="val 66077"/>
            </a:avLst>
          </a:prstGeom>
          <a:solidFill>
            <a:srgbClr val="2099D8">
              <a:lumMod val="50000"/>
            </a:srgbClr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8657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animBg="1"/>
      <p:bldP spid="3" grpId="0" animBg="1"/>
      <p:bldP spid="68" grpId="0"/>
      <p:bldP spid="27" grpId="0"/>
      <p:bldP spid="30" grpId="0"/>
      <p:bldP spid="32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3" grpId="0" animBg="1"/>
      <p:bldP spid="4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F04F85CF-0639-47C3-906A-789105687414}"/>
              </a:ext>
            </a:extLst>
          </p:cNvPr>
          <p:cNvSpPr/>
          <p:nvPr/>
        </p:nvSpPr>
        <p:spPr>
          <a:xfrm>
            <a:off x="5491480" y="5234729"/>
            <a:ext cx="1112520" cy="350667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dirty="0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C817E224-BF2B-40D4-A8BD-C9DE3C2912EA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4616" y="1001233"/>
            <a:ext cx="10106943" cy="5508624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Rectangle 41"/>
          <p:cNvSpPr/>
          <p:nvPr/>
        </p:nvSpPr>
        <p:spPr>
          <a:xfrm>
            <a:off x="0" y="-18689"/>
            <a:ext cx="9321206" cy="6141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62" name="Shape 222"/>
          <p:cNvSpPr/>
          <p:nvPr/>
        </p:nvSpPr>
        <p:spPr>
          <a:xfrm>
            <a:off x="682388" y="163467"/>
            <a:ext cx="4741083" cy="287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>
              <a:lnSpc>
                <a:spcPct val="90000"/>
              </a:lnSpc>
              <a:defRPr sz="11100">
                <a:solidFill>
                  <a:srgbClr val="FFFFFF"/>
                </a:solidFill>
                <a:latin typeface="+mn-lt"/>
                <a:ea typeface="+mn-ea"/>
                <a:cs typeface="+mn-cs"/>
                <a:sym typeface="Montserrat Semi Bold"/>
              </a:defRPr>
            </a:lvl1pPr>
          </a:lstStyle>
          <a:p>
            <a:r>
              <a:rPr lang="en-GB" sz="1800" b="1" dirty="0">
                <a:latin typeface="Asap Medium" panose="020F0604030102060203" pitchFamily="34" charset="0"/>
              </a:rPr>
              <a:t>CONTEXTE DU PROJET</a:t>
            </a:r>
            <a:endParaRPr lang="id-ID" sz="1800" b="1" dirty="0">
              <a:latin typeface="Asap Medium" panose="020F0604030102060203" pitchFamily="34" charset="0"/>
            </a:endParaRPr>
          </a:p>
        </p:txBody>
      </p:sp>
      <p:sp>
        <p:nvSpPr>
          <p:cNvPr id="63" name="Shape 223"/>
          <p:cNvSpPr/>
          <p:nvPr/>
        </p:nvSpPr>
        <p:spPr>
          <a:xfrm>
            <a:off x="110246" y="84459"/>
            <a:ext cx="431835" cy="431835"/>
          </a:xfrm>
          <a:prstGeom prst="ellipse">
            <a:avLst/>
          </a:prstGeom>
          <a:solidFill>
            <a:srgbClr val="FFFFFF"/>
          </a:solidFill>
          <a:ln w="3175">
            <a:solidFill>
              <a:srgbClr val="A6AAA9"/>
            </a:solidFill>
          </a:ln>
        </p:spPr>
        <p:txBody>
          <a:bodyPr lIns="14288" tIns="14288" rIns="14288" bIns="14288" anchor="ctr"/>
          <a:lstStyle/>
          <a:p>
            <a:endParaRPr sz="1500" b="1">
              <a:latin typeface="Asap Medium" panose="020F0604030102060203" pitchFamily="34" charset="0"/>
            </a:endParaRPr>
          </a:p>
        </p:txBody>
      </p:sp>
      <p:sp>
        <p:nvSpPr>
          <p:cNvPr id="64" name="Shape 222"/>
          <p:cNvSpPr/>
          <p:nvPr/>
        </p:nvSpPr>
        <p:spPr>
          <a:xfrm>
            <a:off x="90194" y="159992"/>
            <a:ext cx="492801" cy="315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>
              <a:lnSpc>
                <a:spcPct val="90000"/>
              </a:lnSpc>
              <a:defRPr sz="11100">
                <a:solidFill>
                  <a:srgbClr val="FFFFFF"/>
                </a:solidFill>
                <a:latin typeface="+mn-lt"/>
                <a:ea typeface="+mn-ea"/>
                <a:cs typeface="+mn-cs"/>
                <a:sym typeface="Montserrat Semi Bold"/>
              </a:defRPr>
            </a:lvl1pPr>
          </a:lstStyle>
          <a:p>
            <a:pPr algn="ctr"/>
            <a:r>
              <a:rPr lang="en-GB" sz="2000" b="1" dirty="0">
                <a:solidFill>
                  <a:schemeClr val="accent1"/>
                </a:solidFill>
                <a:latin typeface="Asap Medium" panose="020F0604030102060203" pitchFamily="34" charset="0"/>
              </a:rPr>
              <a:t>I</a:t>
            </a:r>
            <a:endParaRPr lang="id-ID" sz="1600" b="1" dirty="0">
              <a:solidFill>
                <a:schemeClr val="accent1"/>
              </a:solidFill>
              <a:latin typeface="Asap Medium" panose="020F0604030102060203" pitchFamily="34" charset="0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9431452" y="-4"/>
            <a:ext cx="258830" cy="6141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9059637" y="6309345"/>
            <a:ext cx="2743200" cy="365125"/>
          </a:xfrm>
        </p:spPr>
        <p:txBody>
          <a:bodyPr/>
          <a:lstStyle/>
          <a:p>
            <a:fld id="{2476CA8B-E376-4C73-9B78-83D007D77E53}" type="slidenum">
              <a:rPr lang="id-ID" smtClean="0">
                <a:solidFill>
                  <a:srgbClr val="FF0000"/>
                </a:solidFill>
                <a:latin typeface="Asap Medium" panose="020F0604030102060203" pitchFamily="34" charset="0"/>
              </a:rPr>
              <a:t>5</a:t>
            </a:fld>
            <a:endParaRPr lang="id-ID" dirty="0">
              <a:solidFill>
                <a:srgbClr val="FF0000"/>
              </a:solidFill>
              <a:latin typeface="Asap Medium" panose="020F0604030102060203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ECCB045-FE19-4561-8017-9B40A020F357}"/>
              </a:ext>
            </a:extLst>
          </p:cNvPr>
          <p:cNvSpPr/>
          <p:nvPr/>
        </p:nvSpPr>
        <p:spPr>
          <a:xfrm>
            <a:off x="9813810" y="0"/>
            <a:ext cx="258830" cy="61414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3DE1CC4-1551-4828-A800-63DD77E86870}"/>
              </a:ext>
            </a:extLst>
          </p:cNvPr>
          <p:cNvSpPr/>
          <p:nvPr/>
        </p:nvSpPr>
        <p:spPr>
          <a:xfrm>
            <a:off x="10196168" y="-8069"/>
            <a:ext cx="258830" cy="61414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 dirty="0">
              <a:latin typeface="Asap Medium" panose="020F0604030102060203" pitchFamily="34" charset="0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304A858-F1EF-46C2-9C41-A25FCE3D9A94}"/>
              </a:ext>
            </a:extLst>
          </p:cNvPr>
          <p:cNvSpPr/>
          <p:nvPr/>
        </p:nvSpPr>
        <p:spPr>
          <a:xfrm>
            <a:off x="11392272" y="-5"/>
            <a:ext cx="258830" cy="614149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72A7319-31A7-490B-9740-279F48E96737}"/>
              </a:ext>
            </a:extLst>
          </p:cNvPr>
          <p:cNvSpPr/>
          <p:nvPr/>
        </p:nvSpPr>
        <p:spPr>
          <a:xfrm>
            <a:off x="10578526" y="-8069"/>
            <a:ext cx="258830" cy="61414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5ECA0C6-ECC9-4278-AE73-EBF82C6F8067}"/>
              </a:ext>
            </a:extLst>
          </p:cNvPr>
          <p:cNvSpPr/>
          <p:nvPr/>
        </p:nvSpPr>
        <p:spPr>
          <a:xfrm>
            <a:off x="10985399" y="-8070"/>
            <a:ext cx="258830" cy="614149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51" name="Arrow: Right 50">
            <a:extLst>
              <a:ext uri="{FF2B5EF4-FFF2-40B4-BE49-F238E27FC236}">
                <a16:creationId xmlns:a16="http://schemas.microsoft.com/office/drawing/2014/main" id="{4F234771-5A7B-47DF-BFB8-EC22ACF1F8AA}"/>
              </a:ext>
            </a:extLst>
          </p:cNvPr>
          <p:cNvSpPr/>
          <p:nvPr/>
        </p:nvSpPr>
        <p:spPr>
          <a:xfrm rot="2754947">
            <a:off x="3287904" y="1924645"/>
            <a:ext cx="609459" cy="243366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dirty="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8945455E-17AF-4655-8152-D513A2B68E7F}"/>
              </a:ext>
            </a:extLst>
          </p:cNvPr>
          <p:cNvSpPr/>
          <p:nvPr/>
        </p:nvSpPr>
        <p:spPr>
          <a:xfrm>
            <a:off x="2193630" y="1063375"/>
            <a:ext cx="1584294" cy="713064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chemeClr val="tx1"/>
                </a:solidFill>
              </a:rPr>
              <a:t>Sections</a:t>
            </a:r>
            <a:endParaRPr lang="fr-FR" sz="1200" dirty="0">
              <a:solidFill>
                <a:schemeClr val="tx1"/>
              </a:solidFill>
            </a:endParaRPr>
          </a:p>
        </p:txBody>
      </p:sp>
      <p:sp>
        <p:nvSpPr>
          <p:cNvPr id="55" name="Arrow: Right 54">
            <a:extLst>
              <a:ext uri="{FF2B5EF4-FFF2-40B4-BE49-F238E27FC236}">
                <a16:creationId xmlns:a16="http://schemas.microsoft.com/office/drawing/2014/main" id="{E509FDD8-8B53-4F06-BC33-1EA9D77C9632}"/>
              </a:ext>
            </a:extLst>
          </p:cNvPr>
          <p:cNvSpPr/>
          <p:nvPr/>
        </p:nvSpPr>
        <p:spPr>
          <a:xfrm>
            <a:off x="5310586" y="4444986"/>
            <a:ext cx="698959" cy="214242"/>
          </a:xfrm>
          <a:prstGeom prst="rightArrow">
            <a:avLst/>
          </a:prstGeom>
          <a:solidFill>
            <a:srgbClr val="FBDEBC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dirty="0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5101F0D1-7105-4143-88DB-0C2DA291362E}"/>
              </a:ext>
            </a:extLst>
          </p:cNvPr>
          <p:cNvSpPr/>
          <p:nvPr/>
        </p:nvSpPr>
        <p:spPr>
          <a:xfrm>
            <a:off x="3173944" y="4181419"/>
            <a:ext cx="1728132" cy="713064"/>
          </a:xfrm>
          <a:prstGeom prst="ellipse">
            <a:avLst/>
          </a:prstGeom>
          <a:solidFill>
            <a:srgbClr val="FBDEBC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chemeClr val="tx1"/>
                </a:solidFill>
              </a:rPr>
              <a:t>Divisions</a:t>
            </a:r>
            <a:endParaRPr lang="fr-FR" sz="1200" dirty="0">
              <a:solidFill>
                <a:schemeClr val="tx1"/>
              </a:solidFill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31B0B435-906D-4409-ABCE-2D7AF1B1A4F6}"/>
              </a:ext>
            </a:extLst>
          </p:cNvPr>
          <p:cNvSpPr/>
          <p:nvPr/>
        </p:nvSpPr>
        <p:spPr>
          <a:xfrm>
            <a:off x="2309878" y="5703246"/>
            <a:ext cx="1728132" cy="563841"/>
          </a:xfrm>
          <a:prstGeom prst="ellipse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chemeClr val="accent1">
                    <a:lumMod val="75000"/>
                  </a:schemeClr>
                </a:solidFill>
              </a:rPr>
              <a:t>Equipe</a:t>
            </a:r>
            <a:r>
              <a:rPr lang="fr-FR" sz="1200" b="1" dirty="0">
                <a:solidFill>
                  <a:schemeClr val="bg1"/>
                </a:solidFill>
              </a:rPr>
              <a:t>s</a:t>
            </a:r>
            <a:endParaRPr lang="fr-FR" sz="1200" dirty="0">
              <a:solidFill>
                <a:schemeClr val="bg1"/>
              </a:solidFill>
            </a:endParaRPr>
          </a:p>
        </p:txBody>
      </p:sp>
      <p:sp>
        <p:nvSpPr>
          <p:cNvPr id="65" name="Arrow: Right 64">
            <a:extLst>
              <a:ext uri="{FF2B5EF4-FFF2-40B4-BE49-F238E27FC236}">
                <a16:creationId xmlns:a16="http://schemas.microsoft.com/office/drawing/2014/main" id="{EB1901E1-226C-4747-B705-22376E034C1F}"/>
              </a:ext>
            </a:extLst>
          </p:cNvPr>
          <p:cNvSpPr/>
          <p:nvPr/>
        </p:nvSpPr>
        <p:spPr>
          <a:xfrm>
            <a:off x="4442626" y="5945628"/>
            <a:ext cx="689691" cy="183377"/>
          </a:xfrm>
          <a:prstGeom prst="rightArrow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BEC2B4F-392E-4C29-99B4-582D5DE707E0}"/>
              </a:ext>
            </a:extLst>
          </p:cNvPr>
          <p:cNvSpPr/>
          <p:nvPr/>
        </p:nvSpPr>
        <p:spPr>
          <a:xfrm flipV="1">
            <a:off x="0" y="634208"/>
            <a:ext cx="1934083" cy="606032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8E5CAD3-237C-40BC-86B5-11214F701C73}"/>
              </a:ext>
            </a:extLst>
          </p:cNvPr>
          <p:cNvSpPr/>
          <p:nvPr/>
        </p:nvSpPr>
        <p:spPr>
          <a:xfrm>
            <a:off x="-2921" y="619576"/>
            <a:ext cx="1934083" cy="686729"/>
          </a:xfrm>
          <a:prstGeom prst="rect">
            <a:avLst/>
          </a:prstGeom>
          <a:ln>
            <a:solidFill>
              <a:srgbClr val="4472C4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Shape 259">
            <a:extLst>
              <a:ext uri="{FF2B5EF4-FFF2-40B4-BE49-F238E27FC236}">
                <a16:creationId xmlns:a16="http://schemas.microsoft.com/office/drawing/2014/main" id="{087C5E15-20FA-475F-8E1A-41704F387959}"/>
              </a:ext>
            </a:extLst>
          </p:cNvPr>
          <p:cNvSpPr txBox="1">
            <a:spLocks/>
          </p:cNvSpPr>
          <p:nvPr/>
        </p:nvSpPr>
        <p:spPr>
          <a:xfrm>
            <a:off x="-48195" y="869244"/>
            <a:ext cx="2091536" cy="200398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200" b="1" dirty="0" err="1">
                <a:solidFill>
                  <a:srgbClr val="2F5597"/>
                </a:solidFill>
                <a:latin typeface="Asap Medium" panose="020F0604030102060203" pitchFamily="34" charset="0"/>
              </a:rPr>
              <a:t>Organisme</a:t>
            </a:r>
            <a:r>
              <a:rPr lang="id-ID" sz="1200" b="1" dirty="0">
                <a:solidFill>
                  <a:srgbClr val="2F5597"/>
                </a:solidFill>
                <a:latin typeface="Asap Medium" panose="020F0604030102060203" pitchFamily="34" charset="0"/>
              </a:rPr>
              <a:t> </a:t>
            </a:r>
            <a:r>
              <a:rPr lang="en-US" sz="1200" b="1" dirty="0">
                <a:solidFill>
                  <a:srgbClr val="2F5597"/>
                </a:solidFill>
                <a:latin typeface="Asap Medium" panose="020F0604030102060203" pitchFamily="34" charset="0"/>
              </a:rPr>
              <a:t>d</a:t>
            </a:r>
            <a:r>
              <a:rPr lang="id-ID" sz="1200" b="1" dirty="0">
                <a:solidFill>
                  <a:srgbClr val="2F5597"/>
                </a:solidFill>
                <a:latin typeface="Asap Medium" panose="020F0604030102060203" pitchFamily="34" charset="0"/>
              </a:rPr>
              <a:t>’</a:t>
            </a:r>
            <a:r>
              <a:rPr lang="en-US" sz="1200" b="1" dirty="0" err="1">
                <a:solidFill>
                  <a:srgbClr val="2F5597"/>
                </a:solidFill>
                <a:latin typeface="Asap Medium" panose="020F0604030102060203" pitchFamily="34" charset="0"/>
              </a:rPr>
              <a:t>accueil</a:t>
            </a:r>
            <a:endParaRPr lang="id-ID" sz="1200" b="1" dirty="0">
              <a:solidFill>
                <a:srgbClr val="2F5597"/>
              </a:solidFill>
              <a:latin typeface="Asap Medium" panose="020F0604030102060203" pitchFamily="34" charset="0"/>
            </a:endParaRPr>
          </a:p>
        </p:txBody>
      </p:sp>
      <p:sp>
        <p:nvSpPr>
          <p:cNvPr id="29" name="Shape 259">
            <a:extLst>
              <a:ext uri="{FF2B5EF4-FFF2-40B4-BE49-F238E27FC236}">
                <a16:creationId xmlns:a16="http://schemas.microsoft.com/office/drawing/2014/main" id="{30EBB68B-2D41-444E-82C1-5C1900D09EF8}"/>
              </a:ext>
            </a:extLst>
          </p:cNvPr>
          <p:cNvSpPr txBox="1">
            <a:spLocks/>
          </p:cNvSpPr>
          <p:nvPr/>
        </p:nvSpPr>
        <p:spPr>
          <a:xfrm>
            <a:off x="-114689" y="1575873"/>
            <a:ext cx="2091536" cy="200398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200" b="1" dirty="0" err="1">
                <a:solidFill>
                  <a:schemeClr val="bg1"/>
                </a:solidFill>
                <a:latin typeface="Asap Medium" panose="020F0604030102060203" pitchFamily="34" charset="0"/>
              </a:rPr>
              <a:t>Thème</a:t>
            </a:r>
            <a:endParaRPr lang="id-ID" sz="1200" b="1" dirty="0">
              <a:solidFill>
                <a:schemeClr val="bg1"/>
              </a:solidFill>
              <a:latin typeface="Asap Medium" panose="020F06040301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0180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52" grpId="0" animBg="1"/>
      <p:bldP spid="55" grpId="0" animBg="1"/>
      <p:bldP spid="59" grpId="0" animBg="1"/>
      <p:bldP spid="60" grpId="0" animBg="1"/>
      <p:bldP spid="6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8778487" y="6309339"/>
            <a:ext cx="2743200" cy="365125"/>
          </a:xfrm>
        </p:spPr>
        <p:txBody>
          <a:bodyPr/>
          <a:lstStyle/>
          <a:p>
            <a:fld id="{2476CA8B-E376-4C73-9B78-83D007D77E53}" type="slidenum">
              <a:rPr lang="id-ID" smtClean="0">
                <a:solidFill>
                  <a:srgbClr val="FF0000"/>
                </a:solidFill>
                <a:latin typeface="Asap Medium" panose="020F0604030102060203" pitchFamily="34" charset="0"/>
              </a:rPr>
              <a:t>6</a:t>
            </a:fld>
            <a:endParaRPr lang="id-ID" dirty="0">
              <a:solidFill>
                <a:srgbClr val="FF0000"/>
              </a:solidFill>
              <a:latin typeface="Asap Medium" panose="020F0604030102060203" pitchFamily="34" charset="0"/>
            </a:endParaRPr>
          </a:p>
        </p:txBody>
      </p:sp>
      <p:sp>
        <p:nvSpPr>
          <p:cNvPr id="19" name="Freeform 20">
            <a:extLst>
              <a:ext uri="{FF2B5EF4-FFF2-40B4-BE49-F238E27FC236}">
                <a16:creationId xmlns:a16="http://schemas.microsoft.com/office/drawing/2014/main" id="{1148935F-B828-44A8-8910-632AC5E87E7B}"/>
              </a:ext>
            </a:extLst>
          </p:cNvPr>
          <p:cNvSpPr>
            <a:spLocks/>
          </p:cNvSpPr>
          <p:nvPr/>
        </p:nvSpPr>
        <p:spPr bwMode="auto">
          <a:xfrm>
            <a:off x="9575667" y="6080932"/>
            <a:ext cx="1820863" cy="46038"/>
          </a:xfrm>
          <a:custGeom>
            <a:avLst/>
            <a:gdLst>
              <a:gd name="T0" fmla="*/ 1147 w 1147"/>
              <a:gd name="T1" fmla="*/ 29 h 29"/>
              <a:gd name="T2" fmla="*/ 0 w 1147"/>
              <a:gd name="T3" fmla="*/ 29 h 29"/>
              <a:gd name="T4" fmla="*/ 0 w 1147"/>
              <a:gd name="T5" fmla="*/ 0 h 29"/>
              <a:gd name="T6" fmla="*/ 1147 w 1147"/>
              <a:gd name="T7" fmla="*/ 0 h 29"/>
              <a:gd name="T8" fmla="*/ 1147 w 1147"/>
              <a:gd name="T9" fmla="*/ 29 h 29"/>
              <a:gd name="T10" fmla="*/ 1147 w 1147"/>
              <a:gd name="T11" fmla="*/ 29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7" h="29">
                <a:moveTo>
                  <a:pt x="1147" y="29"/>
                </a:moveTo>
                <a:lnTo>
                  <a:pt x="0" y="29"/>
                </a:lnTo>
                <a:lnTo>
                  <a:pt x="0" y="0"/>
                </a:lnTo>
                <a:lnTo>
                  <a:pt x="1147" y="0"/>
                </a:lnTo>
                <a:lnTo>
                  <a:pt x="1147" y="29"/>
                </a:lnTo>
                <a:lnTo>
                  <a:pt x="1147" y="29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127A461-E3BE-4429-9220-6854B2BE9A2E}"/>
              </a:ext>
            </a:extLst>
          </p:cNvPr>
          <p:cNvGrpSpPr/>
          <p:nvPr/>
        </p:nvGrpSpPr>
        <p:grpSpPr>
          <a:xfrm rot="2012591">
            <a:off x="5708954" y="1538112"/>
            <a:ext cx="103188" cy="450850"/>
            <a:chOff x="5218906" y="1053163"/>
            <a:chExt cx="103188" cy="450850"/>
          </a:xfrm>
          <a:solidFill>
            <a:schemeClr val="accent2"/>
          </a:solidFill>
        </p:grpSpPr>
        <p:sp>
          <p:nvSpPr>
            <p:cNvPr id="22" name="Oval 32">
              <a:extLst>
                <a:ext uri="{FF2B5EF4-FFF2-40B4-BE49-F238E27FC236}">
                  <a16:creationId xmlns:a16="http://schemas.microsoft.com/office/drawing/2014/main" id="{128CF504-A848-4E3B-B8B1-5A5A1A9B34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8906" y="1053163"/>
              <a:ext cx="103188" cy="1047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33">
              <a:extLst>
                <a:ext uri="{FF2B5EF4-FFF2-40B4-BE49-F238E27FC236}">
                  <a16:creationId xmlns:a16="http://schemas.microsoft.com/office/drawing/2014/main" id="{586CAACF-9BC4-4F37-9C88-ACD8939C01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58593" y="1150000"/>
              <a:ext cx="25400" cy="354013"/>
            </a:xfrm>
            <a:custGeom>
              <a:avLst/>
              <a:gdLst>
                <a:gd name="T0" fmla="*/ 16 w 16"/>
                <a:gd name="T1" fmla="*/ 223 h 223"/>
                <a:gd name="T2" fmla="*/ 0 w 16"/>
                <a:gd name="T3" fmla="*/ 223 h 223"/>
                <a:gd name="T4" fmla="*/ 0 w 16"/>
                <a:gd name="T5" fmla="*/ 0 h 223"/>
                <a:gd name="T6" fmla="*/ 16 w 16"/>
                <a:gd name="T7" fmla="*/ 0 h 223"/>
                <a:gd name="T8" fmla="*/ 16 w 16"/>
                <a:gd name="T9" fmla="*/ 223 h 223"/>
                <a:gd name="T10" fmla="*/ 16 w 16"/>
                <a:gd name="T11" fmla="*/ 223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" h="223">
                  <a:moveTo>
                    <a:pt x="16" y="223"/>
                  </a:moveTo>
                  <a:lnTo>
                    <a:pt x="0" y="223"/>
                  </a:lnTo>
                  <a:lnTo>
                    <a:pt x="0" y="0"/>
                  </a:lnTo>
                  <a:lnTo>
                    <a:pt x="16" y="0"/>
                  </a:lnTo>
                  <a:lnTo>
                    <a:pt x="16" y="223"/>
                  </a:lnTo>
                  <a:lnTo>
                    <a:pt x="16" y="2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23F54D6-579C-48A3-8198-DCEB62FE66A9}"/>
              </a:ext>
            </a:extLst>
          </p:cNvPr>
          <p:cNvGrpSpPr/>
          <p:nvPr/>
        </p:nvGrpSpPr>
        <p:grpSpPr>
          <a:xfrm flipH="1">
            <a:off x="6713719" y="5325925"/>
            <a:ext cx="450850" cy="104775"/>
            <a:chOff x="2726531" y="3690000"/>
            <a:chExt cx="450850" cy="104775"/>
          </a:xfrm>
          <a:solidFill>
            <a:schemeClr val="accent5"/>
          </a:solidFill>
        </p:grpSpPr>
        <p:sp>
          <p:nvSpPr>
            <p:cNvPr id="26" name="Oval 38">
              <a:extLst>
                <a:ext uri="{FF2B5EF4-FFF2-40B4-BE49-F238E27FC236}">
                  <a16:creationId xmlns:a16="http://schemas.microsoft.com/office/drawing/2014/main" id="{47F2E551-6374-4D7D-B560-A5946B86ED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606" y="3690000"/>
              <a:ext cx="104775" cy="1047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39">
              <a:extLst>
                <a:ext uri="{FF2B5EF4-FFF2-40B4-BE49-F238E27FC236}">
                  <a16:creationId xmlns:a16="http://schemas.microsoft.com/office/drawing/2014/main" id="{CD46FF15-E113-42AC-8A09-7461D68699D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6531" y="3731275"/>
              <a:ext cx="352425" cy="25400"/>
            </a:xfrm>
            <a:custGeom>
              <a:avLst/>
              <a:gdLst>
                <a:gd name="T0" fmla="*/ 222 w 222"/>
                <a:gd name="T1" fmla="*/ 16 h 16"/>
                <a:gd name="T2" fmla="*/ 0 w 222"/>
                <a:gd name="T3" fmla="*/ 16 h 16"/>
                <a:gd name="T4" fmla="*/ 0 w 222"/>
                <a:gd name="T5" fmla="*/ 0 h 16"/>
                <a:gd name="T6" fmla="*/ 222 w 222"/>
                <a:gd name="T7" fmla="*/ 0 h 16"/>
                <a:gd name="T8" fmla="*/ 222 w 222"/>
                <a:gd name="T9" fmla="*/ 16 h 16"/>
                <a:gd name="T10" fmla="*/ 222 w 222"/>
                <a:gd name="T11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2" h="16">
                  <a:moveTo>
                    <a:pt x="222" y="16"/>
                  </a:moveTo>
                  <a:lnTo>
                    <a:pt x="0" y="16"/>
                  </a:lnTo>
                  <a:lnTo>
                    <a:pt x="0" y="0"/>
                  </a:lnTo>
                  <a:lnTo>
                    <a:pt x="222" y="0"/>
                  </a:lnTo>
                  <a:lnTo>
                    <a:pt x="222" y="16"/>
                  </a:lnTo>
                  <a:lnTo>
                    <a:pt x="22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AA44943-4A5C-481F-8F5D-1821EC69F0E0}"/>
              </a:ext>
            </a:extLst>
          </p:cNvPr>
          <p:cNvGrpSpPr/>
          <p:nvPr/>
        </p:nvGrpSpPr>
        <p:grpSpPr>
          <a:xfrm rot="10800000" flipV="1">
            <a:off x="2822361" y="1583155"/>
            <a:ext cx="103188" cy="450850"/>
            <a:chOff x="2518568" y="1053163"/>
            <a:chExt cx="103188" cy="450850"/>
          </a:xfrm>
          <a:solidFill>
            <a:schemeClr val="accent1"/>
          </a:solidFill>
        </p:grpSpPr>
        <p:sp>
          <p:nvSpPr>
            <p:cNvPr id="30" name="Oval 47">
              <a:extLst>
                <a:ext uri="{FF2B5EF4-FFF2-40B4-BE49-F238E27FC236}">
                  <a16:creationId xmlns:a16="http://schemas.microsoft.com/office/drawing/2014/main" id="{412C5BE2-DFD2-4588-8897-12C23E3E03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8568" y="1053163"/>
              <a:ext cx="103188" cy="1047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1" name="Freeform 49">
              <a:extLst>
                <a:ext uri="{FF2B5EF4-FFF2-40B4-BE49-F238E27FC236}">
                  <a16:creationId xmlns:a16="http://schemas.microsoft.com/office/drawing/2014/main" id="{B3EFB0E6-2A89-4B97-9E47-112B08D4C4D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6668" y="1150000"/>
              <a:ext cx="26988" cy="354013"/>
            </a:xfrm>
            <a:custGeom>
              <a:avLst/>
              <a:gdLst>
                <a:gd name="T0" fmla="*/ 17 w 17"/>
                <a:gd name="T1" fmla="*/ 223 h 223"/>
                <a:gd name="T2" fmla="*/ 0 w 17"/>
                <a:gd name="T3" fmla="*/ 223 h 223"/>
                <a:gd name="T4" fmla="*/ 0 w 17"/>
                <a:gd name="T5" fmla="*/ 0 h 223"/>
                <a:gd name="T6" fmla="*/ 17 w 17"/>
                <a:gd name="T7" fmla="*/ 0 h 223"/>
                <a:gd name="T8" fmla="*/ 17 w 17"/>
                <a:gd name="T9" fmla="*/ 223 h 223"/>
                <a:gd name="T10" fmla="*/ 17 w 17"/>
                <a:gd name="T11" fmla="*/ 223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" h="223">
                  <a:moveTo>
                    <a:pt x="17" y="223"/>
                  </a:moveTo>
                  <a:lnTo>
                    <a:pt x="0" y="223"/>
                  </a:lnTo>
                  <a:lnTo>
                    <a:pt x="0" y="0"/>
                  </a:lnTo>
                  <a:lnTo>
                    <a:pt x="17" y="0"/>
                  </a:lnTo>
                  <a:lnTo>
                    <a:pt x="17" y="223"/>
                  </a:lnTo>
                  <a:lnTo>
                    <a:pt x="17" y="2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09B2F7B9-A9EC-4DA9-A868-E3DCE6D24B46}"/>
              </a:ext>
            </a:extLst>
          </p:cNvPr>
          <p:cNvGrpSpPr/>
          <p:nvPr/>
        </p:nvGrpSpPr>
        <p:grpSpPr>
          <a:xfrm>
            <a:off x="2687231" y="1782857"/>
            <a:ext cx="373063" cy="374650"/>
            <a:chOff x="2383631" y="1437338"/>
            <a:chExt cx="373063" cy="374650"/>
          </a:xfrm>
          <a:solidFill>
            <a:schemeClr val="accent1"/>
          </a:solidFill>
        </p:grpSpPr>
        <p:sp>
          <p:nvSpPr>
            <p:cNvPr id="33" name="Oval 46">
              <a:extLst>
                <a:ext uri="{FF2B5EF4-FFF2-40B4-BE49-F238E27FC236}">
                  <a16:creationId xmlns:a16="http://schemas.microsoft.com/office/drawing/2014/main" id="{A3A3F5E8-82B5-498B-9D42-2E2AEFB393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2693" y="1557194"/>
              <a:ext cx="134938" cy="13493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4" name="Freeform 48">
              <a:extLst>
                <a:ext uri="{FF2B5EF4-FFF2-40B4-BE49-F238E27FC236}">
                  <a16:creationId xmlns:a16="http://schemas.microsoft.com/office/drawing/2014/main" id="{D7D5F9B6-BC16-41A3-A281-245685247A6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35225" y="1490519"/>
              <a:ext cx="269875" cy="268288"/>
            </a:xfrm>
            <a:custGeom>
              <a:avLst/>
              <a:gdLst>
                <a:gd name="T0" fmla="*/ 70 w 140"/>
                <a:gd name="T1" fmla="*/ 139 h 139"/>
                <a:gd name="T2" fmla="*/ 0 w 140"/>
                <a:gd name="T3" fmla="*/ 69 h 139"/>
                <a:gd name="T4" fmla="*/ 70 w 140"/>
                <a:gd name="T5" fmla="*/ 0 h 139"/>
                <a:gd name="T6" fmla="*/ 140 w 140"/>
                <a:gd name="T7" fmla="*/ 69 h 139"/>
                <a:gd name="T8" fmla="*/ 70 w 140"/>
                <a:gd name="T9" fmla="*/ 139 h 139"/>
                <a:gd name="T10" fmla="*/ 70 w 140"/>
                <a:gd name="T11" fmla="*/ 13 h 139"/>
                <a:gd name="T12" fmla="*/ 14 w 140"/>
                <a:gd name="T13" fmla="*/ 69 h 139"/>
                <a:gd name="T14" fmla="*/ 70 w 140"/>
                <a:gd name="T15" fmla="*/ 126 h 139"/>
                <a:gd name="T16" fmla="*/ 126 w 140"/>
                <a:gd name="T17" fmla="*/ 69 h 139"/>
                <a:gd name="T18" fmla="*/ 70 w 140"/>
                <a:gd name="T19" fmla="*/ 1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0" h="139">
                  <a:moveTo>
                    <a:pt x="70" y="139"/>
                  </a:moveTo>
                  <a:cubicBezTo>
                    <a:pt x="32" y="139"/>
                    <a:pt x="0" y="108"/>
                    <a:pt x="0" y="69"/>
                  </a:cubicBezTo>
                  <a:cubicBezTo>
                    <a:pt x="0" y="31"/>
                    <a:pt x="32" y="0"/>
                    <a:pt x="70" y="0"/>
                  </a:cubicBezTo>
                  <a:cubicBezTo>
                    <a:pt x="108" y="0"/>
                    <a:pt x="140" y="31"/>
                    <a:pt x="140" y="69"/>
                  </a:cubicBezTo>
                  <a:cubicBezTo>
                    <a:pt x="140" y="108"/>
                    <a:pt x="108" y="139"/>
                    <a:pt x="70" y="139"/>
                  </a:cubicBezTo>
                  <a:close/>
                  <a:moveTo>
                    <a:pt x="70" y="13"/>
                  </a:moveTo>
                  <a:cubicBezTo>
                    <a:pt x="39" y="13"/>
                    <a:pt x="14" y="38"/>
                    <a:pt x="14" y="69"/>
                  </a:cubicBezTo>
                  <a:cubicBezTo>
                    <a:pt x="14" y="100"/>
                    <a:pt x="39" y="126"/>
                    <a:pt x="70" y="126"/>
                  </a:cubicBezTo>
                  <a:cubicBezTo>
                    <a:pt x="101" y="126"/>
                    <a:pt x="126" y="100"/>
                    <a:pt x="126" y="69"/>
                  </a:cubicBezTo>
                  <a:cubicBezTo>
                    <a:pt x="126" y="38"/>
                    <a:pt x="101" y="13"/>
                    <a:pt x="70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5" name="Freeform 50">
              <a:extLst>
                <a:ext uri="{FF2B5EF4-FFF2-40B4-BE49-F238E27FC236}">
                  <a16:creationId xmlns:a16="http://schemas.microsoft.com/office/drawing/2014/main" id="{50A62DFB-78C4-4F96-93B2-FEC687B6C29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3631" y="1437338"/>
              <a:ext cx="373063" cy="374650"/>
            </a:xfrm>
            <a:custGeom>
              <a:avLst/>
              <a:gdLst>
                <a:gd name="T0" fmla="*/ 97 w 194"/>
                <a:gd name="T1" fmla="*/ 194 h 194"/>
                <a:gd name="T2" fmla="*/ 0 w 194"/>
                <a:gd name="T3" fmla="*/ 97 h 194"/>
                <a:gd name="T4" fmla="*/ 97 w 194"/>
                <a:gd name="T5" fmla="*/ 0 h 194"/>
                <a:gd name="T6" fmla="*/ 194 w 194"/>
                <a:gd name="T7" fmla="*/ 97 h 194"/>
                <a:gd name="T8" fmla="*/ 97 w 194"/>
                <a:gd name="T9" fmla="*/ 194 h 194"/>
                <a:gd name="T10" fmla="*/ 97 w 194"/>
                <a:gd name="T11" fmla="*/ 4 h 194"/>
                <a:gd name="T12" fmla="*/ 4 w 194"/>
                <a:gd name="T13" fmla="*/ 97 h 194"/>
                <a:gd name="T14" fmla="*/ 97 w 194"/>
                <a:gd name="T15" fmla="*/ 190 h 194"/>
                <a:gd name="T16" fmla="*/ 190 w 194"/>
                <a:gd name="T17" fmla="*/ 97 h 194"/>
                <a:gd name="T18" fmla="*/ 97 w 194"/>
                <a:gd name="T19" fmla="*/ 4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4" h="194">
                  <a:moveTo>
                    <a:pt x="97" y="194"/>
                  </a:moveTo>
                  <a:cubicBezTo>
                    <a:pt x="44" y="194"/>
                    <a:pt x="0" y="151"/>
                    <a:pt x="0" y="97"/>
                  </a:cubicBezTo>
                  <a:cubicBezTo>
                    <a:pt x="0" y="44"/>
                    <a:pt x="44" y="0"/>
                    <a:pt x="97" y="0"/>
                  </a:cubicBezTo>
                  <a:cubicBezTo>
                    <a:pt x="150" y="0"/>
                    <a:pt x="194" y="44"/>
                    <a:pt x="194" y="97"/>
                  </a:cubicBezTo>
                  <a:cubicBezTo>
                    <a:pt x="194" y="151"/>
                    <a:pt x="150" y="194"/>
                    <a:pt x="97" y="194"/>
                  </a:cubicBezTo>
                  <a:close/>
                  <a:moveTo>
                    <a:pt x="97" y="4"/>
                  </a:moveTo>
                  <a:cubicBezTo>
                    <a:pt x="46" y="4"/>
                    <a:pt x="4" y="46"/>
                    <a:pt x="4" y="97"/>
                  </a:cubicBezTo>
                  <a:cubicBezTo>
                    <a:pt x="4" y="149"/>
                    <a:pt x="46" y="190"/>
                    <a:pt x="97" y="190"/>
                  </a:cubicBezTo>
                  <a:cubicBezTo>
                    <a:pt x="148" y="190"/>
                    <a:pt x="190" y="149"/>
                    <a:pt x="190" y="97"/>
                  </a:cubicBezTo>
                  <a:cubicBezTo>
                    <a:pt x="190" y="46"/>
                    <a:pt x="148" y="4"/>
                    <a:pt x="9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DB45093-6B82-48AC-B09F-B27A134E708C}"/>
              </a:ext>
            </a:extLst>
          </p:cNvPr>
          <p:cNvGrpSpPr/>
          <p:nvPr/>
        </p:nvGrpSpPr>
        <p:grpSpPr>
          <a:xfrm>
            <a:off x="5463144" y="1746587"/>
            <a:ext cx="373063" cy="374650"/>
            <a:chOff x="5083968" y="1437338"/>
            <a:chExt cx="373063" cy="374650"/>
          </a:xfrm>
          <a:solidFill>
            <a:schemeClr val="accent2"/>
          </a:solidFill>
        </p:grpSpPr>
        <p:sp>
          <p:nvSpPr>
            <p:cNvPr id="37" name="Oval 30">
              <a:extLst>
                <a:ext uri="{FF2B5EF4-FFF2-40B4-BE49-F238E27FC236}">
                  <a16:creationId xmlns:a16="http://schemas.microsoft.com/office/drawing/2014/main" id="{932FF027-B604-42DD-B5E6-ADB998A0C8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3030" y="1557194"/>
              <a:ext cx="134938" cy="13493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8" name="Freeform 31">
              <a:extLst>
                <a:ext uri="{FF2B5EF4-FFF2-40B4-BE49-F238E27FC236}">
                  <a16:creationId xmlns:a16="http://schemas.microsoft.com/office/drawing/2014/main" id="{1C8C8C85-AD65-4030-ACF0-9A3794EA86B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35562" y="1490519"/>
              <a:ext cx="269875" cy="268288"/>
            </a:xfrm>
            <a:custGeom>
              <a:avLst/>
              <a:gdLst>
                <a:gd name="T0" fmla="*/ 70 w 140"/>
                <a:gd name="T1" fmla="*/ 139 h 139"/>
                <a:gd name="T2" fmla="*/ 0 w 140"/>
                <a:gd name="T3" fmla="*/ 69 h 139"/>
                <a:gd name="T4" fmla="*/ 70 w 140"/>
                <a:gd name="T5" fmla="*/ 0 h 139"/>
                <a:gd name="T6" fmla="*/ 140 w 140"/>
                <a:gd name="T7" fmla="*/ 69 h 139"/>
                <a:gd name="T8" fmla="*/ 70 w 140"/>
                <a:gd name="T9" fmla="*/ 139 h 139"/>
                <a:gd name="T10" fmla="*/ 70 w 140"/>
                <a:gd name="T11" fmla="*/ 13 h 139"/>
                <a:gd name="T12" fmla="*/ 14 w 140"/>
                <a:gd name="T13" fmla="*/ 69 h 139"/>
                <a:gd name="T14" fmla="*/ 70 w 140"/>
                <a:gd name="T15" fmla="*/ 126 h 139"/>
                <a:gd name="T16" fmla="*/ 126 w 140"/>
                <a:gd name="T17" fmla="*/ 69 h 139"/>
                <a:gd name="T18" fmla="*/ 70 w 140"/>
                <a:gd name="T19" fmla="*/ 1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0" h="139">
                  <a:moveTo>
                    <a:pt x="70" y="139"/>
                  </a:moveTo>
                  <a:cubicBezTo>
                    <a:pt x="31" y="139"/>
                    <a:pt x="0" y="108"/>
                    <a:pt x="0" y="69"/>
                  </a:cubicBezTo>
                  <a:cubicBezTo>
                    <a:pt x="0" y="31"/>
                    <a:pt x="31" y="0"/>
                    <a:pt x="70" y="0"/>
                  </a:cubicBezTo>
                  <a:cubicBezTo>
                    <a:pt x="108" y="0"/>
                    <a:pt x="140" y="31"/>
                    <a:pt x="140" y="69"/>
                  </a:cubicBezTo>
                  <a:cubicBezTo>
                    <a:pt x="140" y="108"/>
                    <a:pt x="108" y="139"/>
                    <a:pt x="70" y="139"/>
                  </a:cubicBezTo>
                  <a:close/>
                  <a:moveTo>
                    <a:pt x="70" y="13"/>
                  </a:moveTo>
                  <a:cubicBezTo>
                    <a:pt x="39" y="13"/>
                    <a:pt x="14" y="38"/>
                    <a:pt x="14" y="69"/>
                  </a:cubicBezTo>
                  <a:cubicBezTo>
                    <a:pt x="14" y="100"/>
                    <a:pt x="39" y="126"/>
                    <a:pt x="70" y="126"/>
                  </a:cubicBezTo>
                  <a:cubicBezTo>
                    <a:pt x="101" y="126"/>
                    <a:pt x="126" y="100"/>
                    <a:pt x="126" y="69"/>
                  </a:cubicBezTo>
                  <a:cubicBezTo>
                    <a:pt x="126" y="38"/>
                    <a:pt x="101" y="13"/>
                    <a:pt x="70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9" name="Freeform 51">
              <a:extLst>
                <a:ext uri="{FF2B5EF4-FFF2-40B4-BE49-F238E27FC236}">
                  <a16:creationId xmlns:a16="http://schemas.microsoft.com/office/drawing/2014/main" id="{1A7872FA-6164-4AA8-83F0-A0DB0D636BF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83968" y="1437338"/>
              <a:ext cx="373063" cy="374650"/>
            </a:xfrm>
            <a:custGeom>
              <a:avLst/>
              <a:gdLst>
                <a:gd name="T0" fmla="*/ 97 w 194"/>
                <a:gd name="T1" fmla="*/ 194 h 194"/>
                <a:gd name="T2" fmla="*/ 0 w 194"/>
                <a:gd name="T3" fmla="*/ 97 h 194"/>
                <a:gd name="T4" fmla="*/ 97 w 194"/>
                <a:gd name="T5" fmla="*/ 0 h 194"/>
                <a:gd name="T6" fmla="*/ 194 w 194"/>
                <a:gd name="T7" fmla="*/ 97 h 194"/>
                <a:gd name="T8" fmla="*/ 97 w 194"/>
                <a:gd name="T9" fmla="*/ 194 h 194"/>
                <a:gd name="T10" fmla="*/ 97 w 194"/>
                <a:gd name="T11" fmla="*/ 4 h 194"/>
                <a:gd name="T12" fmla="*/ 4 w 194"/>
                <a:gd name="T13" fmla="*/ 97 h 194"/>
                <a:gd name="T14" fmla="*/ 97 w 194"/>
                <a:gd name="T15" fmla="*/ 190 h 194"/>
                <a:gd name="T16" fmla="*/ 190 w 194"/>
                <a:gd name="T17" fmla="*/ 97 h 194"/>
                <a:gd name="T18" fmla="*/ 97 w 194"/>
                <a:gd name="T19" fmla="*/ 4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4" h="194">
                  <a:moveTo>
                    <a:pt x="97" y="194"/>
                  </a:moveTo>
                  <a:cubicBezTo>
                    <a:pt x="43" y="194"/>
                    <a:pt x="0" y="151"/>
                    <a:pt x="0" y="97"/>
                  </a:cubicBezTo>
                  <a:cubicBezTo>
                    <a:pt x="0" y="44"/>
                    <a:pt x="43" y="0"/>
                    <a:pt x="97" y="0"/>
                  </a:cubicBezTo>
                  <a:cubicBezTo>
                    <a:pt x="150" y="0"/>
                    <a:pt x="194" y="44"/>
                    <a:pt x="194" y="97"/>
                  </a:cubicBezTo>
                  <a:cubicBezTo>
                    <a:pt x="194" y="151"/>
                    <a:pt x="150" y="194"/>
                    <a:pt x="97" y="194"/>
                  </a:cubicBezTo>
                  <a:close/>
                  <a:moveTo>
                    <a:pt x="97" y="4"/>
                  </a:moveTo>
                  <a:cubicBezTo>
                    <a:pt x="46" y="4"/>
                    <a:pt x="4" y="46"/>
                    <a:pt x="4" y="97"/>
                  </a:cubicBezTo>
                  <a:cubicBezTo>
                    <a:pt x="4" y="149"/>
                    <a:pt x="46" y="190"/>
                    <a:pt x="97" y="190"/>
                  </a:cubicBezTo>
                  <a:cubicBezTo>
                    <a:pt x="148" y="190"/>
                    <a:pt x="190" y="149"/>
                    <a:pt x="190" y="97"/>
                  </a:cubicBezTo>
                  <a:cubicBezTo>
                    <a:pt x="190" y="46"/>
                    <a:pt x="148" y="4"/>
                    <a:pt x="9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23B57E7-6F04-41D0-8231-206B6E443849}"/>
              </a:ext>
            </a:extLst>
          </p:cNvPr>
          <p:cNvGrpSpPr/>
          <p:nvPr/>
        </p:nvGrpSpPr>
        <p:grpSpPr>
          <a:xfrm>
            <a:off x="9452799" y="5594496"/>
            <a:ext cx="104775" cy="449263"/>
            <a:chOff x="4844256" y="3947175"/>
            <a:chExt cx="104775" cy="449263"/>
          </a:xfrm>
          <a:solidFill>
            <a:schemeClr val="accent6"/>
          </a:solidFill>
        </p:grpSpPr>
        <p:sp>
          <p:nvSpPr>
            <p:cNvPr id="41" name="Oval 53">
              <a:extLst>
                <a:ext uri="{FF2B5EF4-FFF2-40B4-BE49-F238E27FC236}">
                  <a16:creationId xmlns:a16="http://schemas.microsoft.com/office/drawing/2014/main" id="{E870C16F-024C-4DF5-945C-BE59FDD6E1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4256" y="3947175"/>
              <a:ext cx="104775" cy="1047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3" name="Freeform 54">
              <a:extLst>
                <a:ext uri="{FF2B5EF4-FFF2-40B4-BE49-F238E27FC236}">
                  <a16:creationId xmlns:a16="http://schemas.microsoft.com/office/drawing/2014/main" id="{1038953B-8571-49FA-8B53-0FD2DFF3086A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5531" y="4044013"/>
              <a:ext cx="25400" cy="352425"/>
            </a:xfrm>
            <a:custGeom>
              <a:avLst/>
              <a:gdLst>
                <a:gd name="T0" fmla="*/ 16 w 16"/>
                <a:gd name="T1" fmla="*/ 222 h 222"/>
                <a:gd name="T2" fmla="*/ 0 w 16"/>
                <a:gd name="T3" fmla="*/ 222 h 222"/>
                <a:gd name="T4" fmla="*/ 0 w 16"/>
                <a:gd name="T5" fmla="*/ 0 h 222"/>
                <a:gd name="T6" fmla="*/ 16 w 16"/>
                <a:gd name="T7" fmla="*/ 0 h 222"/>
                <a:gd name="T8" fmla="*/ 16 w 16"/>
                <a:gd name="T9" fmla="*/ 222 h 222"/>
                <a:gd name="T10" fmla="*/ 16 w 16"/>
                <a:gd name="T11" fmla="*/ 222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" h="222">
                  <a:moveTo>
                    <a:pt x="16" y="222"/>
                  </a:moveTo>
                  <a:lnTo>
                    <a:pt x="0" y="222"/>
                  </a:lnTo>
                  <a:lnTo>
                    <a:pt x="0" y="0"/>
                  </a:lnTo>
                  <a:lnTo>
                    <a:pt x="16" y="0"/>
                  </a:lnTo>
                  <a:lnTo>
                    <a:pt x="16" y="222"/>
                  </a:lnTo>
                  <a:lnTo>
                    <a:pt x="16" y="2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BF39D855-2A14-4671-B03D-A0B2EC7721B4}"/>
              </a:ext>
            </a:extLst>
          </p:cNvPr>
          <p:cNvGrpSpPr/>
          <p:nvPr/>
        </p:nvGrpSpPr>
        <p:grpSpPr>
          <a:xfrm>
            <a:off x="9317860" y="5918345"/>
            <a:ext cx="374650" cy="374650"/>
            <a:chOff x="4709318" y="4271025"/>
            <a:chExt cx="374650" cy="374650"/>
          </a:xfrm>
          <a:solidFill>
            <a:schemeClr val="accent6"/>
          </a:solidFill>
        </p:grpSpPr>
        <p:sp>
          <p:nvSpPr>
            <p:cNvPr id="45" name="Oval 28">
              <a:extLst>
                <a:ext uri="{FF2B5EF4-FFF2-40B4-BE49-F238E27FC236}">
                  <a16:creationId xmlns:a16="http://schemas.microsoft.com/office/drawing/2014/main" id="{CF7AF602-82C4-45B5-A8DF-925F950A36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29174" y="4390881"/>
              <a:ext cx="134938" cy="13493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6" name="Freeform 29">
              <a:extLst>
                <a:ext uri="{FF2B5EF4-FFF2-40B4-BE49-F238E27FC236}">
                  <a16:creationId xmlns:a16="http://schemas.microsoft.com/office/drawing/2014/main" id="{2191F67C-DD5F-4B3A-AC7E-4744317365D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762499" y="4324206"/>
              <a:ext cx="268288" cy="268288"/>
            </a:xfrm>
            <a:custGeom>
              <a:avLst/>
              <a:gdLst>
                <a:gd name="T0" fmla="*/ 69 w 139"/>
                <a:gd name="T1" fmla="*/ 139 h 139"/>
                <a:gd name="T2" fmla="*/ 0 w 139"/>
                <a:gd name="T3" fmla="*/ 70 h 139"/>
                <a:gd name="T4" fmla="*/ 69 w 139"/>
                <a:gd name="T5" fmla="*/ 0 h 139"/>
                <a:gd name="T6" fmla="*/ 139 w 139"/>
                <a:gd name="T7" fmla="*/ 70 h 139"/>
                <a:gd name="T8" fmla="*/ 69 w 139"/>
                <a:gd name="T9" fmla="*/ 139 h 139"/>
                <a:gd name="T10" fmla="*/ 69 w 139"/>
                <a:gd name="T11" fmla="*/ 13 h 139"/>
                <a:gd name="T12" fmla="*/ 13 w 139"/>
                <a:gd name="T13" fmla="*/ 70 h 139"/>
                <a:gd name="T14" fmla="*/ 69 w 139"/>
                <a:gd name="T15" fmla="*/ 126 h 139"/>
                <a:gd name="T16" fmla="*/ 126 w 139"/>
                <a:gd name="T17" fmla="*/ 70 h 139"/>
                <a:gd name="T18" fmla="*/ 69 w 139"/>
                <a:gd name="T19" fmla="*/ 1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9" h="139">
                  <a:moveTo>
                    <a:pt x="69" y="139"/>
                  </a:moveTo>
                  <a:cubicBezTo>
                    <a:pt x="31" y="139"/>
                    <a:pt x="0" y="108"/>
                    <a:pt x="0" y="70"/>
                  </a:cubicBezTo>
                  <a:cubicBezTo>
                    <a:pt x="0" y="31"/>
                    <a:pt x="31" y="0"/>
                    <a:pt x="69" y="0"/>
                  </a:cubicBezTo>
                  <a:cubicBezTo>
                    <a:pt x="108" y="0"/>
                    <a:pt x="139" y="31"/>
                    <a:pt x="139" y="70"/>
                  </a:cubicBezTo>
                  <a:cubicBezTo>
                    <a:pt x="139" y="108"/>
                    <a:pt x="108" y="139"/>
                    <a:pt x="69" y="139"/>
                  </a:cubicBezTo>
                  <a:close/>
                  <a:moveTo>
                    <a:pt x="69" y="13"/>
                  </a:moveTo>
                  <a:cubicBezTo>
                    <a:pt x="38" y="13"/>
                    <a:pt x="13" y="39"/>
                    <a:pt x="13" y="70"/>
                  </a:cubicBezTo>
                  <a:cubicBezTo>
                    <a:pt x="13" y="101"/>
                    <a:pt x="38" y="126"/>
                    <a:pt x="69" y="126"/>
                  </a:cubicBezTo>
                  <a:cubicBezTo>
                    <a:pt x="100" y="126"/>
                    <a:pt x="126" y="101"/>
                    <a:pt x="126" y="70"/>
                  </a:cubicBezTo>
                  <a:cubicBezTo>
                    <a:pt x="126" y="39"/>
                    <a:pt x="100" y="13"/>
                    <a:pt x="69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7" name="Freeform 57">
              <a:extLst>
                <a:ext uri="{FF2B5EF4-FFF2-40B4-BE49-F238E27FC236}">
                  <a16:creationId xmlns:a16="http://schemas.microsoft.com/office/drawing/2014/main" id="{E6DAE99B-9010-411A-B073-9EB4B9D9DD0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709318" y="4271025"/>
              <a:ext cx="374650" cy="374650"/>
            </a:xfrm>
            <a:custGeom>
              <a:avLst/>
              <a:gdLst>
                <a:gd name="T0" fmla="*/ 97 w 194"/>
                <a:gd name="T1" fmla="*/ 194 h 194"/>
                <a:gd name="T2" fmla="*/ 0 w 194"/>
                <a:gd name="T3" fmla="*/ 97 h 194"/>
                <a:gd name="T4" fmla="*/ 97 w 194"/>
                <a:gd name="T5" fmla="*/ 0 h 194"/>
                <a:gd name="T6" fmla="*/ 194 w 194"/>
                <a:gd name="T7" fmla="*/ 97 h 194"/>
                <a:gd name="T8" fmla="*/ 97 w 194"/>
                <a:gd name="T9" fmla="*/ 194 h 194"/>
                <a:gd name="T10" fmla="*/ 97 w 194"/>
                <a:gd name="T11" fmla="*/ 4 h 194"/>
                <a:gd name="T12" fmla="*/ 4 w 194"/>
                <a:gd name="T13" fmla="*/ 97 h 194"/>
                <a:gd name="T14" fmla="*/ 97 w 194"/>
                <a:gd name="T15" fmla="*/ 190 h 194"/>
                <a:gd name="T16" fmla="*/ 190 w 194"/>
                <a:gd name="T17" fmla="*/ 97 h 194"/>
                <a:gd name="T18" fmla="*/ 97 w 194"/>
                <a:gd name="T19" fmla="*/ 4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4" h="194">
                  <a:moveTo>
                    <a:pt x="97" y="194"/>
                  </a:moveTo>
                  <a:cubicBezTo>
                    <a:pt x="44" y="194"/>
                    <a:pt x="0" y="150"/>
                    <a:pt x="0" y="97"/>
                  </a:cubicBezTo>
                  <a:cubicBezTo>
                    <a:pt x="0" y="43"/>
                    <a:pt x="44" y="0"/>
                    <a:pt x="97" y="0"/>
                  </a:cubicBezTo>
                  <a:cubicBezTo>
                    <a:pt x="151" y="0"/>
                    <a:pt x="194" y="43"/>
                    <a:pt x="194" y="97"/>
                  </a:cubicBezTo>
                  <a:cubicBezTo>
                    <a:pt x="194" y="150"/>
                    <a:pt x="151" y="194"/>
                    <a:pt x="97" y="194"/>
                  </a:cubicBezTo>
                  <a:close/>
                  <a:moveTo>
                    <a:pt x="97" y="4"/>
                  </a:moveTo>
                  <a:cubicBezTo>
                    <a:pt x="46" y="4"/>
                    <a:pt x="4" y="45"/>
                    <a:pt x="4" y="97"/>
                  </a:cubicBezTo>
                  <a:cubicBezTo>
                    <a:pt x="4" y="148"/>
                    <a:pt x="46" y="190"/>
                    <a:pt x="97" y="190"/>
                  </a:cubicBezTo>
                  <a:cubicBezTo>
                    <a:pt x="149" y="190"/>
                    <a:pt x="190" y="148"/>
                    <a:pt x="190" y="97"/>
                  </a:cubicBezTo>
                  <a:cubicBezTo>
                    <a:pt x="190" y="45"/>
                    <a:pt x="149" y="4"/>
                    <a:pt x="9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865914BC-5D38-49B3-95A4-6A2F42309D82}"/>
              </a:ext>
            </a:extLst>
          </p:cNvPr>
          <p:cNvGrpSpPr/>
          <p:nvPr/>
        </p:nvGrpSpPr>
        <p:grpSpPr>
          <a:xfrm>
            <a:off x="6939294" y="5196045"/>
            <a:ext cx="374650" cy="374650"/>
            <a:chOff x="2405856" y="3553475"/>
            <a:chExt cx="374650" cy="374650"/>
          </a:xfrm>
          <a:solidFill>
            <a:schemeClr val="accent5"/>
          </a:solidFill>
        </p:grpSpPr>
        <p:sp>
          <p:nvSpPr>
            <p:cNvPr id="49" name="Oval 36">
              <a:extLst>
                <a:ext uri="{FF2B5EF4-FFF2-40B4-BE49-F238E27FC236}">
                  <a16:creationId xmlns:a16="http://schemas.microsoft.com/office/drawing/2014/main" id="{C528B898-62E0-4D76-B129-088475E405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25712" y="3673331"/>
              <a:ext cx="134938" cy="13493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0" name="Freeform 37">
              <a:extLst>
                <a:ext uri="{FF2B5EF4-FFF2-40B4-BE49-F238E27FC236}">
                  <a16:creationId xmlns:a16="http://schemas.microsoft.com/office/drawing/2014/main" id="{662EADDE-19D7-4A10-B7AA-97C5C91C0D7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59037" y="3606656"/>
              <a:ext cx="268288" cy="268288"/>
            </a:xfrm>
            <a:custGeom>
              <a:avLst/>
              <a:gdLst>
                <a:gd name="T0" fmla="*/ 70 w 139"/>
                <a:gd name="T1" fmla="*/ 139 h 139"/>
                <a:gd name="T2" fmla="*/ 0 w 139"/>
                <a:gd name="T3" fmla="*/ 70 h 139"/>
                <a:gd name="T4" fmla="*/ 70 w 139"/>
                <a:gd name="T5" fmla="*/ 0 h 139"/>
                <a:gd name="T6" fmla="*/ 139 w 139"/>
                <a:gd name="T7" fmla="*/ 70 h 139"/>
                <a:gd name="T8" fmla="*/ 70 w 139"/>
                <a:gd name="T9" fmla="*/ 139 h 139"/>
                <a:gd name="T10" fmla="*/ 70 w 139"/>
                <a:gd name="T11" fmla="*/ 13 h 139"/>
                <a:gd name="T12" fmla="*/ 13 w 139"/>
                <a:gd name="T13" fmla="*/ 70 h 139"/>
                <a:gd name="T14" fmla="*/ 70 w 139"/>
                <a:gd name="T15" fmla="*/ 126 h 139"/>
                <a:gd name="T16" fmla="*/ 126 w 139"/>
                <a:gd name="T17" fmla="*/ 70 h 139"/>
                <a:gd name="T18" fmla="*/ 70 w 139"/>
                <a:gd name="T19" fmla="*/ 1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9" h="139">
                  <a:moveTo>
                    <a:pt x="70" y="139"/>
                  </a:moveTo>
                  <a:cubicBezTo>
                    <a:pt x="31" y="139"/>
                    <a:pt x="0" y="108"/>
                    <a:pt x="0" y="70"/>
                  </a:cubicBezTo>
                  <a:cubicBezTo>
                    <a:pt x="0" y="31"/>
                    <a:pt x="31" y="0"/>
                    <a:pt x="70" y="0"/>
                  </a:cubicBezTo>
                  <a:cubicBezTo>
                    <a:pt x="108" y="0"/>
                    <a:pt x="139" y="31"/>
                    <a:pt x="139" y="70"/>
                  </a:cubicBezTo>
                  <a:cubicBezTo>
                    <a:pt x="139" y="108"/>
                    <a:pt x="108" y="139"/>
                    <a:pt x="70" y="139"/>
                  </a:cubicBezTo>
                  <a:close/>
                  <a:moveTo>
                    <a:pt x="70" y="13"/>
                  </a:moveTo>
                  <a:cubicBezTo>
                    <a:pt x="38" y="13"/>
                    <a:pt x="13" y="39"/>
                    <a:pt x="13" y="70"/>
                  </a:cubicBezTo>
                  <a:cubicBezTo>
                    <a:pt x="13" y="101"/>
                    <a:pt x="38" y="126"/>
                    <a:pt x="70" y="126"/>
                  </a:cubicBezTo>
                  <a:cubicBezTo>
                    <a:pt x="101" y="126"/>
                    <a:pt x="126" y="101"/>
                    <a:pt x="126" y="70"/>
                  </a:cubicBezTo>
                  <a:cubicBezTo>
                    <a:pt x="126" y="39"/>
                    <a:pt x="101" y="13"/>
                    <a:pt x="70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1" name="Freeform 58">
              <a:extLst>
                <a:ext uri="{FF2B5EF4-FFF2-40B4-BE49-F238E27FC236}">
                  <a16:creationId xmlns:a16="http://schemas.microsoft.com/office/drawing/2014/main" id="{DCE9E193-1B29-4DCF-9FBE-6B5F120003C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05856" y="3553475"/>
              <a:ext cx="374650" cy="374650"/>
            </a:xfrm>
            <a:custGeom>
              <a:avLst/>
              <a:gdLst>
                <a:gd name="T0" fmla="*/ 97 w 194"/>
                <a:gd name="T1" fmla="*/ 194 h 194"/>
                <a:gd name="T2" fmla="*/ 0 w 194"/>
                <a:gd name="T3" fmla="*/ 97 h 194"/>
                <a:gd name="T4" fmla="*/ 97 w 194"/>
                <a:gd name="T5" fmla="*/ 0 h 194"/>
                <a:gd name="T6" fmla="*/ 194 w 194"/>
                <a:gd name="T7" fmla="*/ 97 h 194"/>
                <a:gd name="T8" fmla="*/ 97 w 194"/>
                <a:gd name="T9" fmla="*/ 194 h 194"/>
                <a:gd name="T10" fmla="*/ 97 w 194"/>
                <a:gd name="T11" fmla="*/ 4 h 194"/>
                <a:gd name="T12" fmla="*/ 4 w 194"/>
                <a:gd name="T13" fmla="*/ 97 h 194"/>
                <a:gd name="T14" fmla="*/ 97 w 194"/>
                <a:gd name="T15" fmla="*/ 190 h 194"/>
                <a:gd name="T16" fmla="*/ 190 w 194"/>
                <a:gd name="T17" fmla="*/ 97 h 194"/>
                <a:gd name="T18" fmla="*/ 97 w 194"/>
                <a:gd name="T19" fmla="*/ 4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4" h="194">
                  <a:moveTo>
                    <a:pt x="97" y="194"/>
                  </a:moveTo>
                  <a:cubicBezTo>
                    <a:pt x="43" y="194"/>
                    <a:pt x="0" y="150"/>
                    <a:pt x="0" y="97"/>
                  </a:cubicBezTo>
                  <a:cubicBezTo>
                    <a:pt x="0" y="43"/>
                    <a:pt x="43" y="0"/>
                    <a:pt x="97" y="0"/>
                  </a:cubicBezTo>
                  <a:cubicBezTo>
                    <a:pt x="150" y="0"/>
                    <a:pt x="194" y="43"/>
                    <a:pt x="194" y="97"/>
                  </a:cubicBezTo>
                  <a:cubicBezTo>
                    <a:pt x="194" y="150"/>
                    <a:pt x="150" y="194"/>
                    <a:pt x="97" y="194"/>
                  </a:cubicBezTo>
                  <a:close/>
                  <a:moveTo>
                    <a:pt x="97" y="4"/>
                  </a:moveTo>
                  <a:cubicBezTo>
                    <a:pt x="45" y="4"/>
                    <a:pt x="4" y="45"/>
                    <a:pt x="4" y="97"/>
                  </a:cubicBezTo>
                  <a:cubicBezTo>
                    <a:pt x="4" y="148"/>
                    <a:pt x="45" y="190"/>
                    <a:pt x="97" y="190"/>
                  </a:cubicBezTo>
                  <a:cubicBezTo>
                    <a:pt x="148" y="190"/>
                    <a:pt x="190" y="148"/>
                    <a:pt x="190" y="97"/>
                  </a:cubicBezTo>
                  <a:cubicBezTo>
                    <a:pt x="190" y="45"/>
                    <a:pt x="148" y="4"/>
                    <a:pt x="9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9E615F11-2A20-4C3D-B38D-EF59F19F53FD}"/>
              </a:ext>
            </a:extLst>
          </p:cNvPr>
          <p:cNvSpPr txBox="1"/>
          <p:nvPr/>
        </p:nvSpPr>
        <p:spPr>
          <a:xfrm>
            <a:off x="5686750" y="1069642"/>
            <a:ext cx="3787783" cy="461665"/>
          </a:xfrm>
          <a:prstGeom prst="rect">
            <a:avLst/>
          </a:prstGeom>
          <a:noFill/>
        </p:spPr>
        <p:txBody>
          <a:bodyPr wrap="square" numCol="1" spcCol="640080" rtlCol="0">
            <a:spAutoFit/>
          </a:bodyPr>
          <a:lstStyle/>
          <a:p>
            <a:pPr algn="ctr"/>
            <a:r>
              <a:rPr lang="fr-FR" sz="2400" dirty="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Optimisation de charge</a:t>
            </a:r>
            <a:endParaRPr lang="fr-FR" sz="1050" dirty="0"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F6F2144-3719-46E7-852D-F4DB4102490A}"/>
              </a:ext>
            </a:extLst>
          </p:cNvPr>
          <p:cNvSpPr txBox="1"/>
          <p:nvPr/>
        </p:nvSpPr>
        <p:spPr>
          <a:xfrm>
            <a:off x="3115586" y="2477100"/>
            <a:ext cx="3423847" cy="461665"/>
          </a:xfrm>
          <a:prstGeom prst="rect">
            <a:avLst/>
          </a:prstGeom>
          <a:noFill/>
        </p:spPr>
        <p:txBody>
          <a:bodyPr wrap="square" numCol="1" spcCol="640080" rtlCol="0">
            <a:spAutoFit/>
          </a:bodyPr>
          <a:lstStyle/>
          <a:p>
            <a:r>
              <a:rPr lang="fr-FR" sz="2400" dirty="0">
                <a:solidFill>
                  <a:schemeClr val="accent3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Service de </a:t>
            </a:r>
            <a:r>
              <a:rPr lang="fr-FR" sz="2400" dirty="0" err="1">
                <a:solidFill>
                  <a:schemeClr val="accent3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Scaling</a:t>
            </a:r>
            <a:endParaRPr lang="fr-FR" sz="1050" dirty="0">
              <a:solidFill>
                <a:schemeClr val="accent3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466638A-C706-4849-931E-7DA2D09CF27A}"/>
              </a:ext>
            </a:extLst>
          </p:cNvPr>
          <p:cNvSpPr txBox="1"/>
          <p:nvPr/>
        </p:nvSpPr>
        <p:spPr>
          <a:xfrm>
            <a:off x="7248271" y="4708963"/>
            <a:ext cx="4884022" cy="830997"/>
          </a:xfrm>
          <a:prstGeom prst="rect">
            <a:avLst/>
          </a:prstGeom>
          <a:noFill/>
        </p:spPr>
        <p:txBody>
          <a:bodyPr wrap="square" numCol="1" spcCol="640080" rtlCol="0">
            <a:spAutoFit/>
          </a:bodyPr>
          <a:lstStyle/>
          <a:p>
            <a:pPr algn="ctr"/>
            <a:r>
              <a:rPr lang="fr-FR" sz="2400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Mise en test de la configuration de </a:t>
            </a:r>
            <a:r>
              <a:rPr lang="fr-FR" sz="2400" dirty="0" err="1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Scaling</a:t>
            </a:r>
            <a:endParaRPr lang="en-US" sz="1050" dirty="0"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60" name="Freeform 25">
            <a:extLst>
              <a:ext uri="{FF2B5EF4-FFF2-40B4-BE49-F238E27FC236}">
                <a16:creationId xmlns:a16="http://schemas.microsoft.com/office/drawing/2014/main" id="{4168EC46-3AD2-434F-9905-0AC15ED774D9}"/>
              </a:ext>
            </a:extLst>
          </p:cNvPr>
          <p:cNvSpPr>
            <a:spLocks/>
          </p:cNvSpPr>
          <p:nvPr/>
        </p:nvSpPr>
        <p:spPr bwMode="auto">
          <a:xfrm flipV="1">
            <a:off x="3066585" y="1912501"/>
            <a:ext cx="2396559" cy="50114"/>
          </a:xfrm>
          <a:custGeom>
            <a:avLst/>
            <a:gdLst>
              <a:gd name="T0" fmla="*/ 1548 w 1548"/>
              <a:gd name="T1" fmla="*/ 29 h 29"/>
              <a:gd name="T2" fmla="*/ 0 w 1548"/>
              <a:gd name="T3" fmla="*/ 29 h 29"/>
              <a:gd name="T4" fmla="*/ 0 w 1548"/>
              <a:gd name="T5" fmla="*/ 0 h 29"/>
              <a:gd name="T6" fmla="*/ 1548 w 1548"/>
              <a:gd name="T7" fmla="*/ 0 h 29"/>
              <a:gd name="T8" fmla="*/ 1548 w 1548"/>
              <a:gd name="T9" fmla="*/ 29 h 29"/>
              <a:gd name="T10" fmla="*/ 1548 w 1548"/>
              <a:gd name="T11" fmla="*/ 29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548" h="29">
                <a:moveTo>
                  <a:pt x="1548" y="29"/>
                </a:moveTo>
                <a:lnTo>
                  <a:pt x="0" y="29"/>
                </a:lnTo>
                <a:lnTo>
                  <a:pt x="0" y="0"/>
                </a:lnTo>
                <a:lnTo>
                  <a:pt x="1548" y="0"/>
                </a:lnTo>
                <a:lnTo>
                  <a:pt x="1548" y="29"/>
                </a:lnTo>
                <a:lnTo>
                  <a:pt x="1548" y="2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1" name="Freeform 24">
            <a:extLst>
              <a:ext uri="{FF2B5EF4-FFF2-40B4-BE49-F238E27FC236}">
                <a16:creationId xmlns:a16="http://schemas.microsoft.com/office/drawing/2014/main" id="{4DBF5E13-CA5A-43D7-A0F8-9F3F13B9B686}"/>
              </a:ext>
            </a:extLst>
          </p:cNvPr>
          <p:cNvSpPr>
            <a:spLocks/>
          </p:cNvSpPr>
          <p:nvPr/>
        </p:nvSpPr>
        <p:spPr bwMode="auto">
          <a:xfrm>
            <a:off x="5680256" y="1912502"/>
            <a:ext cx="1484313" cy="590550"/>
          </a:xfrm>
          <a:custGeom>
            <a:avLst/>
            <a:gdLst>
              <a:gd name="T0" fmla="*/ 747 w 770"/>
              <a:gd name="T1" fmla="*/ 306 h 306"/>
              <a:gd name="T2" fmla="*/ 405 w 770"/>
              <a:gd name="T3" fmla="*/ 24 h 306"/>
              <a:gd name="T4" fmla="*/ 0 w 770"/>
              <a:gd name="T5" fmla="*/ 24 h 306"/>
              <a:gd name="T6" fmla="*/ 0 w 770"/>
              <a:gd name="T7" fmla="*/ 0 h 306"/>
              <a:gd name="T8" fmla="*/ 405 w 770"/>
              <a:gd name="T9" fmla="*/ 0 h 306"/>
              <a:gd name="T10" fmla="*/ 642 w 770"/>
              <a:gd name="T11" fmla="*/ 87 h 306"/>
              <a:gd name="T12" fmla="*/ 770 w 770"/>
              <a:gd name="T13" fmla="*/ 301 h 306"/>
              <a:gd name="T14" fmla="*/ 747 w 770"/>
              <a:gd name="T15" fmla="*/ 306 h 3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770" h="306">
                <a:moveTo>
                  <a:pt x="747" y="306"/>
                </a:moveTo>
                <a:cubicBezTo>
                  <a:pt x="713" y="143"/>
                  <a:pt x="569" y="24"/>
                  <a:pt x="405" y="24"/>
                </a:cubicBezTo>
                <a:cubicBezTo>
                  <a:pt x="0" y="24"/>
                  <a:pt x="0" y="24"/>
                  <a:pt x="0" y="24"/>
                </a:cubicBezTo>
                <a:cubicBezTo>
                  <a:pt x="0" y="0"/>
                  <a:pt x="0" y="0"/>
                  <a:pt x="0" y="0"/>
                </a:cubicBezTo>
                <a:cubicBezTo>
                  <a:pt x="405" y="0"/>
                  <a:pt x="405" y="0"/>
                  <a:pt x="405" y="0"/>
                </a:cubicBezTo>
                <a:cubicBezTo>
                  <a:pt x="490" y="0"/>
                  <a:pt x="574" y="31"/>
                  <a:pt x="642" y="87"/>
                </a:cubicBezTo>
                <a:cubicBezTo>
                  <a:pt x="707" y="142"/>
                  <a:pt x="753" y="218"/>
                  <a:pt x="770" y="301"/>
                </a:cubicBezTo>
                <a:cubicBezTo>
                  <a:pt x="747" y="306"/>
                  <a:pt x="747" y="306"/>
                  <a:pt x="747" y="30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5" name="Freeform 21">
            <a:extLst>
              <a:ext uri="{FF2B5EF4-FFF2-40B4-BE49-F238E27FC236}">
                <a16:creationId xmlns:a16="http://schemas.microsoft.com/office/drawing/2014/main" id="{87BDFE03-3A97-4973-AEDF-5CEDF16E3DEC}"/>
              </a:ext>
            </a:extLst>
          </p:cNvPr>
          <p:cNvSpPr>
            <a:spLocks/>
          </p:cNvSpPr>
          <p:nvPr/>
        </p:nvSpPr>
        <p:spPr bwMode="auto">
          <a:xfrm>
            <a:off x="7114605" y="5543794"/>
            <a:ext cx="2197100" cy="627063"/>
          </a:xfrm>
          <a:custGeom>
            <a:avLst/>
            <a:gdLst>
              <a:gd name="T0" fmla="*/ 1140 w 1140"/>
              <a:gd name="T1" fmla="*/ 325 h 325"/>
              <a:gd name="T2" fmla="*/ 369 w 1140"/>
              <a:gd name="T3" fmla="*/ 325 h 325"/>
              <a:gd name="T4" fmla="*/ 0 w 1140"/>
              <a:gd name="T5" fmla="*/ 4 h 325"/>
              <a:gd name="T6" fmla="*/ 24 w 1140"/>
              <a:gd name="T7" fmla="*/ 0 h 325"/>
              <a:gd name="T8" fmla="*/ 369 w 1140"/>
              <a:gd name="T9" fmla="*/ 301 h 325"/>
              <a:gd name="T10" fmla="*/ 1140 w 1140"/>
              <a:gd name="T11" fmla="*/ 301 h 325"/>
              <a:gd name="T12" fmla="*/ 1140 w 1140"/>
              <a:gd name="T13" fmla="*/ 325 h 3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40" h="325">
                <a:moveTo>
                  <a:pt x="1140" y="325"/>
                </a:moveTo>
                <a:cubicBezTo>
                  <a:pt x="369" y="325"/>
                  <a:pt x="369" y="325"/>
                  <a:pt x="369" y="325"/>
                </a:cubicBezTo>
                <a:cubicBezTo>
                  <a:pt x="184" y="325"/>
                  <a:pt x="26" y="187"/>
                  <a:pt x="0" y="4"/>
                </a:cubicBezTo>
                <a:cubicBezTo>
                  <a:pt x="24" y="0"/>
                  <a:pt x="24" y="0"/>
                  <a:pt x="24" y="0"/>
                </a:cubicBezTo>
                <a:cubicBezTo>
                  <a:pt x="48" y="172"/>
                  <a:pt x="196" y="301"/>
                  <a:pt x="369" y="301"/>
                </a:cubicBezTo>
                <a:cubicBezTo>
                  <a:pt x="1140" y="301"/>
                  <a:pt x="1140" y="301"/>
                  <a:pt x="1140" y="301"/>
                </a:cubicBezTo>
                <a:cubicBezTo>
                  <a:pt x="1140" y="325"/>
                  <a:pt x="1140" y="325"/>
                  <a:pt x="1140" y="325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6CA13666-EA76-4AFA-8C55-51057FD23503}"/>
              </a:ext>
            </a:extLst>
          </p:cNvPr>
          <p:cNvSpPr/>
          <p:nvPr/>
        </p:nvSpPr>
        <p:spPr>
          <a:xfrm>
            <a:off x="0" y="-18689"/>
            <a:ext cx="9321206" cy="6141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80" name="Shape 222">
            <a:extLst>
              <a:ext uri="{FF2B5EF4-FFF2-40B4-BE49-F238E27FC236}">
                <a16:creationId xmlns:a16="http://schemas.microsoft.com/office/drawing/2014/main" id="{B74F7BD8-84CD-43EE-9BD8-EDAF22E0DCA3}"/>
              </a:ext>
            </a:extLst>
          </p:cNvPr>
          <p:cNvSpPr/>
          <p:nvPr/>
        </p:nvSpPr>
        <p:spPr>
          <a:xfrm>
            <a:off x="682388" y="163467"/>
            <a:ext cx="4741083" cy="287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>
              <a:lnSpc>
                <a:spcPct val="90000"/>
              </a:lnSpc>
              <a:defRPr sz="11100">
                <a:solidFill>
                  <a:srgbClr val="FFFFFF"/>
                </a:solidFill>
                <a:latin typeface="+mn-lt"/>
                <a:ea typeface="+mn-ea"/>
                <a:cs typeface="+mn-cs"/>
                <a:sym typeface="Montserrat Semi Bold"/>
              </a:defRPr>
            </a:lvl1pPr>
          </a:lstStyle>
          <a:p>
            <a:r>
              <a:rPr lang="en-GB" sz="1800" b="1" dirty="0">
                <a:latin typeface="Asap Medium" panose="020F0604030102060203" pitchFamily="34" charset="0"/>
              </a:rPr>
              <a:t>CONTEXTE DU PROJET</a:t>
            </a:r>
            <a:endParaRPr lang="id-ID" sz="1800" b="1" dirty="0">
              <a:latin typeface="Asap Medium" panose="020F0604030102060203" pitchFamily="34" charset="0"/>
            </a:endParaRPr>
          </a:p>
        </p:txBody>
      </p:sp>
      <p:sp>
        <p:nvSpPr>
          <p:cNvPr id="81" name="Shape 223">
            <a:extLst>
              <a:ext uri="{FF2B5EF4-FFF2-40B4-BE49-F238E27FC236}">
                <a16:creationId xmlns:a16="http://schemas.microsoft.com/office/drawing/2014/main" id="{A0A78775-4A12-4469-8E1D-DAF9C1E6AA9A}"/>
              </a:ext>
            </a:extLst>
          </p:cNvPr>
          <p:cNvSpPr/>
          <p:nvPr/>
        </p:nvSpPr>
        <p:spPr>
          <a:xfrm>
            <a:off x="110246" y="84459"/>
            <a:ext cx="431835" cy="431835"/>
          </a:xfrm>
          <a:prstGeom prst="ellipse">
            <a:avLst/>
          </a:prstGeom>
          <a:solidFill>
            <a:srgbClr val="FFFFFF"/>
          </a:solidFill>
          <a:ln w="3175">
            <a:solidFill>
              <a:srgbClr val="A6AAA9"/>
            </a:solidFill>
          </a:ln>
        </p:spPr>
        <p:txBody>
          <a:bodyPr lIns="14288" tIns="14288" rIns="14288" bIns="14288" anchor="ctr"/>
          <a:lstStyle/>
          <a:p>
            <a:endParaRPr sz="1500" b="1">
              <a:latin typeface="Asap Medium" panose="020F0604030102060203" pitchFamily="34" charset="0"/>
            </a:endParaRPr>
          </a:p>
        </p:txBody>
      </p:sp>
      <p:sp>
        <p:nvSpPr>
          <p:cNvPr id="82" name="Shape 222">
            <a:extLst>
              <a:ext uri="{FF2B5EF4-FFF2-40B4-BE49-F238E27FC236}">
                <a16:creationId xmlns:a16="http://schemas.microsoft.com/office/drawing/2014/main" id="{9C94A9ED-C702-4B9F-9F49-30E2C50A423D}"/>
              </a:ext>
            </a:extLst>
          </p:cNvPr>
          <p:cNvSpPr/>
          <p:nvPr/>
        </p:nvSpPr>
        <p:spPr>
          <a:xfrm>
            <a:off x="90194" y="159992"/>
            <a:ext cx="492801" cy="315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>
              <a:lnSpc>
                <a:spcPct val="90000"/>
              </a:lnSpc>
              <a:defRPr sz="11100">
                <a:solidFill>
                  <a:srgbClr val="FFFFFF"/>
                </a:solidFill>
                <a:latin typeface="+mn-lt"/>
                <a:ea typeface="+mn-ea"/>
                <a:cs typeface="+mn-cs"/>
                <a:sym typeface="Montserrat Semi Bold"/>
              </a:defRPr>
            </a:lvl1pPr>
          </a:lstStyle>
          <a:p>
            <a:pPr algn="ctr"/>
            <a:r>
              <a:rPr lang="en-GB" sz="2000" b="1" dirty="0">
                <a:solidFill>
                  <a:schemeClr val="accent1"/>
                </a:solidFill>
                <a:latin typeface="Asap Medium" panose="020F0604030102060203" pitchFamily="34" charset="0"/>
              </a:rPr>
              <a:t>I</a:t>
            </a:r>
            <a:endParaRPr lang="id-ID" sz="1600" b="1" dirty="0">
              <a:solidFill>
                <a:schemeClr val="accent1"/>
              </a:solidFill>
              <a:latin typeface="Asap Medium" panose="020F0604030102060203" pitchFamily="34" charset="0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503BE561-552B-483B-9270-F3005C5C1ED5}"/>
              </a:ext>
            </a:extLst>
          </p:cNvPr>
          <p:cNvSpPr/>
          <p:nvPr/>
        </p:nvSpPr>
        <p:spPr>
          <a:xfrm>
            <a:off x="9431452" y="-4"/>
            <a:ext cx="258830" cy="6141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FA678841-CC47-4F0E-BA49-85E5882DCAA4}"/>
              </a:ext>
            </a:extLst>
          </p:cNvPr>
          <p:cNvSpPr/>
          <p:nvPr/>
        </p:nvSpPr>
        <p:spPr>
          <a:xfrm>
            <a:off x="9813810" y="0"/>
            <a:ext cx="258830" cy="61414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2A3A34C6-DA5C-45EB-B509-C804D307638A}"/>
              </a:ext>
            </a:extLst>
          </p:cNvPr>
          <p:cNvSpPr/>
          <p:nvPr/>
        </p:nvSpPr>
        <p:spPr>
          <a:xfrm>
            <a:off x="10196168" y="-8069"/>
            <a:ext cx="258830" cy="61414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 dirty="0">
              <a:latin typeface="Asap Medium" panose="020F0604030102060203" pitchFamily="34" charset="0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44953721-D4D0-42F7-953B-88C2CB4F1045}"/>
              </a:ext>
            </a:extLst>
          </p:cNvPr>
          <p:cNvSpPr/>
          <p:nvPr/>
        </p:nvSpPr>
        <p:spPr>
          <a:xfrm>
            <a:off x="11392272" y="-5"/>
            <a:ext cx="258830" cy="614149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A2C603B6-0B1C-4424-9E22-86AE3D0451B8}"/>
              </a:ext>
            </a:extLst>
          </p:cNvPr>
          <p:cNvSpPr/>
          <p:nvPr/>
        </p:nvSpPr>
        <p:spPr>
          <a:xfrm>
            <a:off x="10578526" y="-8069"/>
            <a:ext cx="258830" cy="61414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66FCE099-55E4-45D8-9036-F6B76207E712}"/>
              </a:ext>
            </a:extLst>
          </p:cNvPr>
          <p:cNvSpPr/>
          <p:nvPr/>
        </p:nvSpPr>
        <p:spPr>
          <a:xfrm>
            <a:off x="10985399" y="-8070"/>
            <a:ext cx="258830" cy="614149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E1AFFEE-3F50-4DB0-9681-9526AA412703}"/>
              </a:ext>
            </a:extLst>
          </p:cNvPr>
          <p:cNvSpPr txBox="1"/>
          <p:nvPr/>
        </p:nvSpPr>
        <p:spPr>
          <a:xfrm>
            <a:off x="2074227" y="1085827"/>
            <a:ext cx="3686097" cy="461665"/>
          </a:xfrm>
          <a:prstGeom prst="rect">
            <a:avLst/>
          </a:prstGeom>
          <a:noFill/>
        </p:spPr>
        <p:txBody>
          <a:bodyPr wrap="square" numCol="1" spcCol="640080" rtlCol="0">
            <a:spAutoFit/>
          </a:bodyPr>
          <a:lstStyle/>
          <a:p>
            <a:r>
              <a:rPr lang="fr-FR" sz="2400" dirty="0">
                <a:solidFill>
                  <a:schemeClr val="accent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Gestion d’architecture</a:t>
            </a:r>
            <a:endParaRPr lang="fr-FR" sz="1050" dirty="0"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91" name="Freeform 20">
            <a:extLst>
              <a:ext uri="{FF2B5EF4-FFF2-40B4-BE49-F238E27FC236}">
                <a16:creationId xmlns:a16="http://schemas.microsoft.com/office/drawing/2014/main" id="{69194FBE-5D25-4CB4-9D9C-BADEFC61C57A}"/>
              </a:ext>
            </a:extLst>
          </p:cNvPr>
          <p:cNvSpPr>
            <a:spLocks/>
          </p:cNvSpPr>
          <p:nvPr/>
        </p:nvSpPr>
        <p:spPr bwMode="auto">
          <a:xfrm rot="16200000" flipV="1">
            <a:off x="6619866" y="3309376"/>
            <a:ext cx="1028291" cy="61114"/>
          </a:xfrm>
          <a:custGeom>
            <a:avLst/>
            <a:gdLst>
              <a:gd name="T0" fmla="*/ 1147 w 1147"/>
              <a:gd name="T1" fmla="*/ 29 h 29"/>
              <a:gd name="T2" fmla="*/ 0 w 1147"/>
              <a:gd name="T3" fmla="*/ 29 h 29"/>
              <a:gd name="T4" fmla="*/ 0 w 1147"/>
              <a:gd name="T5" fmla="*/ 0 h 29"/>
              <a:gd name="T6" fmla="*/ 1147 w 1147"/>
              <a:gd name="T7" fmla="*/ 0 h 29"/>
              <a:gd name="T8" fmla="*/ 1147 w 1147"/>
              <a:gd name="T9" fmla="*/ 29 h 29"/>
              <a:gd name="T10" fmla="*/ 1147 w 1147"/>
              <a:gd name="T11" fmla="*/ 29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7" h="29">
                <a:moveTo>
                  <a:pt x="1147" y="29"/>
                </a:moveTo>
                <a:lnTo>
                  <a:pt x="0" y="29"/>
                </a:lnTo>
                <a:lnTo>
                  <a:pt x="0" y="0"/>
                </a:lnTo>
                <a:lnTo>
                  <a:pt x="1147" y="0"/>
                </a:lnTo>
                <a:lnTo>
                  <a:pt x="1147" y="29"/>
                </a:lnTo>
                <a:lnTo>
                  <a:pt x="1147" y="29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124D9271-F618-4AB9-9272-0504417004F5}"/>
              </a:ext>
            </a:extLst>
          </p:cNvPr>
          <p:cNvGrpSpPr/>
          <p:nvPr/>
        </p:nvGrpSpPr>
        <p:grpSpPr>
          <a:xfrm rot="16200000">
            <a:off x="6856627" y="2434994"/>
            <a:ext cx="103188" cy="450850"/>
            <a:chOff x="5218906" y="1053163"/>
            <a:chExt cx="103188" cy="450850"/>
          </a:xfrm>
          <a:solidFill>
            <a:schemeClr val="accent3">
              <a:lumMod val="75000"/>
            </a:schemeClr>
          </a:solidFill>
        </p:grpSpPr>
        <p:sp>
          <p:nvSpPr>
            <p:cNvPr id="93" name="Oval 32">
              <a:extLst>
                <a:ext uri="{FF2B5EF4-FFF2-40B4-BE49-F238E27FC236}">
                  <a16:creationId xmlns:a16="http://schemas.microsoft.com/office/drawing/2014/main" id="{97B42DF7-256A-4A6D-9536-C96108F3D5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8906" y="1053163"/>
              <a:ext cx="103188" cy="1047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4" name="Freeform 33">
              <a:extLst>
                <a:ext uri="{FF2B5EF4-FFF2-40B4-BE49-F238E27FC236}">
                  <a16:creationId xmlns:a16="http://schemas.microsoft.com/office/drawing/2014/main" id="{22AEAA87-D925-42C4-B2E3-F5CA8D4CECB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58593" y="1150000"/>
              <a:ext cx="25400" cy="354013"/>
            </a:xfrm>
            <a:custGeom>
              <a:avLst/>
              <a:gdLst>
                <a:gd name="T0" fmla="*/ 16 w 16"/>
                <a:gd name="T1" fmla="*/ 223 h 223"/>
                <a:gd name="T2" fmla="*/ 0 w 16"/>
                <a:gd name="T3" fmla="*/ 223 h 223"/>
                <a:gd name="T4" fmla="*/ 0 w 16"/>
                <a:gd name="T5" fmla="*/ 0 h 223"/>
                <a:gd name="T6" fmla="*/ 16 w 16"/>
                <a:gd name="T7" fmla="*/ 0 h 223"/>
                <a:gd name="T8" fmla="*/ 16 w 16"/>
                <a:gd name="T9" fmla="*/ 223 h 223"/>
                <a:gd name="T10" fmla="*/ 16 w 16"/>
                <a:gd name="T11" fmla="*/ 223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" h="223">
                  <a:moveTo>
                    <a:pt x="16" y="223"/>
                  </a:moveTo>
                  <a:lnTo>
                    <a:pt x="0" y="223"/>
                  </a:lnTo>
                  <a:lnTo>
                    <a:pt x="0" y="0"/>
                  </a:lnTo>
                  <a:lnTo>
                    <a:pt x="16" y="0"/>
                  </a:lnTo>
                  <a:lnTo>
                    <a:pt x="16" y="223"/>
                  </a:lnTo>
                  <a:lnTo>
                    <a:pt x="16" y="2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BCF82518-7FEE-48C0-ABD5-868971037452}"/>
              </a:ext>
            </a:extLst>
          </p:cNvPr>
          <p:cNvGrpSpPr/>
          <p:nvPr/>
        </p:nvGrpSpPr>
        <p:grpSpPr>
          <a:xfrm>
            <a:off x="6940088" y="2470689"/>
            <a:ext cx="373063" cy="374650"/>
            <a:chOff x="5083968" y="1437338"/>
            <a:chExt cx="373063" cy="374650"/>
          </a:xfrm>
          <a:solidFill>
            <a:schemeClr val="accent3">
              <a:lumMod val="75000"/>
            </a:schemeClr>
          </a:solidFill>
        </p:grpSpPr>
        <p:sp>
          <p:nvSpPr>
            <p:cNvPr id="96" name="Oval 30">
              <a:extLst>
                <a:ext uri="{FF2B5EF4-FFF2-40B4-BE49-F238E27FC236}">
                  <a16:creationId xmlns:a16="http://schemas.microsoft.com/office/drawing/2014/main" id="{78E1F6D7-E546-4E9C-9AD7-17E02FC066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3030" y="1557194"/>
              <a:ext cx="134938" cy="13493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7" name="Freeform 31">
              <a:extLst>
                <a:ext uri="{FF2B5EF4-FFF2-40B4-BE49-F238E27FC236}">
                  <a16:creationId xmlns:a16="http://schemas.microsoft.com/office/drawing/2014/main" id="{75BD5C84-A9BF-4254-963E-8BF476C6D1C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35562" y="1490519"/>
              <a:ext cx="269875" cy="268288"/>
            </a:xfrm>
            <a:custGeom>
              <a:avLst/>
              <a:gdLst>
                <a:gd name="T0" fmla="*/ 70 w 140"/>
                <a:gd name="T1" fmla="*/ 139 h 139"/>
                <a:gd name="T2" fmla="*/ 0 w 140"/>
                <a:gd name="T3" fmla="*/ 69 h 139"/>
                <a:gd name="T4" fmla="*/ 70 w 140"/>
                <a:gd name="T5" fmla="*/ 0 h 139"/>
                <a:gd name="T6" fmla="*/ 140 w 140"/>
                <a:gd name="T7" fmla="*/ 69 h 139"/>
                <a:gd name="T8" fmla="*/ 70 w 140"/>
                <a:gd name="T9" fmla="*/ 139 h 139"/>
                <a:gd name="T10" fmla="*/ 70 w 140"/>
                <a:gd name="T11" fmla="*/ 13 h 139"/>
                <a:gd name="T12" fmla="*/ 14 w 140"/>
                <a:gd name="T13" fmla="*/ 69 h 139"/>
                <a:gd name="T14" fmla="*/ 70 w 140"/>
                <a:gd name="T15" fmla="*/ 126 h 139"/>
                <a:gd name="T16" fmla="*/ 126 w 140"/>
                <a:gd name="T17" fmla="*/ 69 h 139"/>
                <a:gd name="T18" fmla="*/ 70 w 140"/>
                <a:gd name="T19" fmla="*/ 1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0" h="139">
                  <a:moveTo>
                    <a:pt x="70" y="139"/>
                  </a:moveTo>
                  <a:cubicBezTo>
                    <a:pt x="31" y="139"/>
                    <a:pt x="0" y="108"/>
                    <a:pt x="0" y="69"/>
                  </a:cubicBezTo>
                  <a:cubicBezTo>
                    <a:pt x="0" y="31"/>
                    <a:pt x="31" y="0"/>
                    <a:pt x="70" y="0"/>
                  </a:cubicBezTo>
                  <a:cubicBezTo>
                    <a:pt x="108" y="0"/>
                    <a:pt x="140" y="31"/>
                    <a:pt x="140" y="69"/>
                  </a:cubicBezTo>
                  <a:cubicBezTo>
                    <a:pt x="140" y="108"/>
                    <a:pt x="108" y="139"/>
                    <a:pt x="70" y="139"/>
                  </a:cubicBezTo>
                  <a:close/>
                  <a:moveTo>
                    <a:pt x="70" y="13"/>
                  </a:moveTo>
                  <a:cubicBezTo>
                    <a:pt x="39" y="13"/>
                    <a:pt x="14" y="38"/>
                    <a:pt x="14" y="69"/>
                  </a:cubicBezTo>
                  <a:cubicBezTo>
                    <a:pt x="14" y="100"/>
                    <a:pt x="39" y="126"/>
                    <a:pt x="70" y="126"/>
                  </a:cubicBezTo>
                  <a:cubicBezTo>
                    <a:pt x="101" y="126"/>
                    <a:pt x="126" y="100"/>
                    <a:pt x="126" y="69"/>
                  </a:cubicBezTo>
                  <a:cubicBezTo>
                    <a:pt x="126" y="38"/>
                    <a:pt x="101" y="13"/>
                    <a:pt x="70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8" name="Freeform 51">
              <a:extLst>
                <a:ext uri="{FF2B5EF4-FFF2-40B4-BE49-F238E27FC236}">
                  <a16:creationId xmlns:a16="http://schemas.microsoft.com/office/drawing/2014/main" id="{FF99F20E-0610-4712-8780-BB147C1C846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83968" y="1437338"/>
              <a:ext cx="373063" cy="374650"/>
            </a:xfrm>
            <a:custGeom>
              <a:avLst/>
              <a:gdLst>
                <a:gd name="T0" fmla="*/ 97 w 194"/>
                <a:gd name="T1" fmla="*/ 194 h 194"/>
                <a:gd name="T2" fmla="*/ 0 w 194"/>
                <a:gd name="T3" fmla="*/ 97 h 194"/>
                <a:gd name="T4" fmla="*/ 97 w 194"/>
                <a:gd name="T5" fmla="*/ 0 h 194"/>
                <a:gd name="T6" fmla="*/ 194 w 194"/>
                <a:gd name="T7" fmla="*/ 97 h 194"/>
                <a:gd name="T8" fmla="*/ 97 w 194"/>
                <a:gd name="T9" fmla="*/ 194 h 194"/>
                <a:gd name="T10" fmla="*/ 97 w 194"/>
                <a:gd name="T11" fmla="*/ 4 h 194"/>
                <a:gd name="T12" fmla="*/ 4 w 194"/>
                <a:gd name="T13" fmla="*/ 97 h 194"/>
                <a:gd name="T14" fmla="*/ 97 w 194"/>
                <a:gd name="T15" fmla="*/ 190 h 194"/>
                <a:gd name="T16" fmla="*/ 190 w 194"/>
                <a:gd name="T17" fmla="*/ 97 h 194"/>
                <a:gd name="T18" fmla="*/ 97 w 194"/>
                <a:gd name="T19" fmla="*/ 4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4" h="194">
                  <a:moveTo>
                    <a:pt x="97" y="194"/>
                  </a:moveTo>
                  <a:cubicBezTo>
                    <a:pt x="43" y="194"/>
                    <a:pt x="0" y="151"/>
                    <a:pt x="0" y="97"/>
                  </a:cubicBezTo>
                  <a:cubicBezTo>
                    <a:pt x="0" y="44"/>
                    <a:pt x="43" y="0"/>
                    <a:pt x="97" y="0"/>
                  </a:cubicBezTo>
                  <a:cubicBezTo>
                    <a:pt x="150" y="0"/>
                    <a:pt x="194" y="44"/>
                    <a:pt x="194" y="97"/>
                  </a:cubicBezTo>
                  <a:cubicBezTo>
                    <a:pt x="194" y="151"/>
                    <a:pt x="150" y="194"/>
                    <a:pt x="97" y="194"/>
                  </a:cubicBezTo>
                  <a:close/>
                  <a:moveTo>
                    <a:pt x="97" y="4"/>
                  </a:moveTo>
                  <a:cubicBezTo>
                    <a:pt x="46" y="4"/>
                    <a:pt x="4" y="46"/>
                    <a:pt x="4" y="97"/>
                  </a:cubicBezTo>
                  <a:cubicBezTo>
                    <a:pt x="4" y="149"/>
                    <a:pt x="46" y="190"/>
                    <a:pt x="97" y="190"/>
                  </a:cubicBezTo>
                  <a:cubicBezTo>
                    <a:pt x="148" y="190"/>
                    <a:pt x="190" y="149"/>
                    <a:pt x="190" y="97"/>
                  </a:cubicBezTo>
                  <a:cubicBezTo>
                    <a:pt x="190" y="46"/>
                    <a:pt x="148" y="4"/>
                    <a:pt x="9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99" name="Freeform 20">
            <a:extLst>
              <a:ext uri="{FF2B5EF4-FFF2-40B4-BE49-F238E27FC236}">
                <a16:creationId xmlns:a16="http://schemas.microsoft.com/office/drawing/2014/main" id="{B4115E71-5374-4779-9714-5EEB5E1D899C}"/>
              </a:ext>
            </a:extLst>
          </p:cNvPr>
          <p:cNvSpPr>
            <a:spLocks/>
          </p:cNvSpPr>
          <p:nvPr/>
        </p:nvSpPr>
        <p:spPr bwMode="auto">
          <a:xfrm rot="16200000" flipV="1">
            <a:off x="6623624" y="4674908"/>
            <a:ext cx="1028291" cy="68111"/>
          </a:xfrm>
          <a:custGeom>
            <a:avLst/>
            <a:gdLst>
              <a:gd name="T0" fmla="*/ 1147 w 1147"/>
              <a:gd name="T1" fmla="*/ 29 h 29"/>
              <a:gd name="T2" fmla="*/ 0 w 1147"/>
              <a:gd name="T3" fmla="*/ 29 h 29"/>
              <a:gd name="T4" fmla="*/ 0 w 1147"/>
              <a:gd name="T5" fmla="*/ 0 h 29"/>
              <a:gd name="T6" fmla="*/ 1147 w 1147"/>
              <a:gd name="T7" fmla="*/ 0 h 29"/>
              <a:gd name="T8" fmla="*/ 1147 w 1147"/>
              <a:gd name="T9" fmla="*/ 29 h 29"/>
              <a:gd name="T10" fmla="*/ 1147 w 1147"/>
              <a:gd name="T11" fmla="*/ 29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7" h="29">
                <a:moveTo>
                  <a:pt x="1147" y="29"/>
                </a:moveTo>
                <a:lnTo>
                  <a:pt x="0" y="29"/>
                </a:lnTo>
                <a:lnTo>
                  <a:pt x="0" y="0"/>
                </a:lnTo>
                <a:lnTo>
                  <a:pt x="1147" y="0"/>
                </a:lnTo>
                <a:lnTo>
                  <a:pt x="1147" y="29"/>
                </a:lnTo>
                <a:lnTo>
                  <a:pt x="1147" y="29"/>
                </a:lnTo>
                <a:close/>
              </a:path>
            </a:pathLst>
          </a:custGeom>
          <a:solidFill>
            <a:srgbClr val="7030A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A5EDEAB8-4064-4C00-B5B8-9DB99B63622B}"/>
              </a:ext>
            </a:extLst>
          </p:cNvPr>
          <p:cNvGrpSpPr/>
          <p:nvPr/>
        </p:nvGrpSpPr>
        <p:grpSpPr>
          <a:xfrm rot="16200000">
            <a:off x="6856886" y="3804025"/>
            <a:ext cx="103188" cy="450850"/>
            <a:chOff x="5218906" y="1053163"/>
            <a:chExt cx="103188" cy="450850"/>
          </a:xfrm>
          <a:solidFill>
            <a:srgbClr val="7030A0"/>
          </a:solidFill>
        </p:grpSpPr>
        <p:sp>
          <p:nvSpPr>
            <p:cNvPr id="101" name="Oval 32">
              <a:extLst>
                <a:ext uri="{FF2B5EF4-FFF2-40B4-BE49-F238E27FC236}">
                  <a16:creationId xmlns:a16="http://schemas.microsoft.com/office/drawing/2014/main" id="{4980DBC2-3424-48F1-8ADE-4FDF46B005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8906" y="1053163"/>
              <a:ext cx="103188" cy="1047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2" name="Freeform 33">
              <a:extLst>
                <a:ext uri="{FF2B5EF4-FFF2-40B4-BE49-F238E27FC236}">
                  <a16:creationId xmlns:a16="http://schemas.microsoft.com/office/drawing/2014/main" id="{3755A18B-90BA-45E0-BAE1-F69DF029F23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58593" y="1150000"/>
              <a:ext cx="25400" cy="354013"/>
            </a:xfrm>
            <a:custGeom>
              <a:avLst/>
              <a:gdLst>
                <a:gd name="T0" fmla="*/ 16 w 16"/>
                <a:gd name="T1" fmla="*/ 223 h 223"/>
                <a:gd name="T2" fmla="*/ 0 w 16"/>
                <a:gd name="T3" fmla="*/ 223 h 223"/>
                <a:gd name="T4" fmla="*/ 0 w 16"/>
                <a:gd name="T5" fmla="*/ 0 h 223"/>
                <a:gd name="T6" fmla="*/ 16 w 16"/>
                <a:gd name="T7" fmla="*/ 0 h 223"/>
                <a:gd name="T8" fmla="*/ 16 w 16"/>
                <a:gd name="T9" fmla="*/ 223 h 223"/>
                <a:gd name="T10" fmla="*/ 16 w 16"/>
                <a:gd name="T11" fmla="*/ 223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" h="223">
                  <a:moveTo>
                    <a:pt x="16" y="223"/>
                  </a:moveTo>
                  <a:lnTo>
                    <a:pt x="0" y="223"/>
                  </a:lnTo>
                  <a:lnTo>
                    <a:pt x="0" y="0"/>
                  </a:lnTo>
                  <a:lnTo>
                    <a:pt x="16" y="0"/>
                  </a:lnTo>
                  <a:lnTo>
                    <a:pt x="16" y="223"/>
                  </a:lnTo>
                  <a:lnTo>
                    <a:pt x="16" y="2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00080682-DE5C-4F40-ACFA-06A322150AF5}"/>
              </a:ext>
            </a:extLst>
          </p:cNvPr>
          <p:cNvGrpSpPr/>
          <p:nvPr/>
        </p:nvGrpSpPr>
        <p:grpSpPr>
          <a:xfrm>
            <a:off x="6940347" y="3839720"/>
            <a:ext cx="373063" cy="374650"/>
            <a:chOff x="5083968" y="1437338"/>
            <a:chExt cx="373063" cy="374650"/>
          </a:xfrm>
          <a:solidFill>
            <a:srgbClr val="7030A0"/>
          </a:solidFill>
        </p:grpSpPr>
        <p:sp>
          <p:nvSpPr>
            <p:cNvPr id="104" name="Oval 30">
              <a:extLst>
                <a:ext uri="{FF2B5EF4-FFF2-40B4-BE49-F238E27FC236}">
                  <a16:creationId xmlns:a16="http://schemas.microsoft.com/office/drawing/2014/main" id="{B9813812-E455-42DC-B4E9-3AB831DD4C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3030" y="1557194"/>
              <a:ext cx="134938" cy="13493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5" name="Freeform 31">
              <a:extLst>
                <a:ext uri="{FF2B5EF4-FFF2-40B4-BE49-F238E27FC236}">
                  <a16:creationId xmlns:a16="http://schemas.microsoft.com/office/drawing/2014/main" id="{F8B27533-9493-432A-BE3E-5700B7283AF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35562" y="1490519"/>
              <a:ext cx="269875" cy="268288"/>
            </a:xfrm>
            <a:custGeom>
              <a:avLst/>
              <a:gdLst>
                <a:gd name="T0" fmla="*/ 70 w 140"/>
                <a:gd name="T1" fmla="*/ 139 h 139"/>
                <a:gd name="T2" fmla="*/ 0 w 140"/>
                <a:gd name="T3" fmla="*/ 69 h 139"/>
                <a:gd name="T4" fmla="*/ 70 w 140"/>
                <a:gd name="T5" fmla="*/ 0 h 139"/>
                <a:gd name="T6" fmla="*/ 140 w 140"/>
                <a:gd name="T7" fmla="*/ 69 h 139"/>
                <a:gd name="T8" fmla="*/ 70 w 140"/>
                <a:gd name="T9" fmla="*/ 139 h 139"/>
                <a:gd name="T10" fmla="*/ 70 w 140"/>
                <a:gd name="T11" fmla="*/ 13 h 139"/>
                <a:gd name="T12" fmla="*/ 14 w 140"/>
                <a:gd name="T13" fmla="*/ 69 h 139"/>
                <a:gd name="T14" fmla="*/ 70 w 140"/>
                <a:gd name="T15" fmla="*/ 126 h 139"/>
                <a:gd name="T16" fmla="*/ 126 w 140"/>
                <a:gd name="T17" fmla="*/ 69 h 139"/>
                <a:gd name="T18" fmla="*/ 70 w 140"/>
                <a:gd name="T19" fmla="*/ 1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0" h="139">
                  <a:moveTo>
                    <a:pt x="70" y="139"/>
                  </a:moveTo>
                  <a:cubicBezTo>
                    <a:pt x="31" y="139"/>
                    <a:pt x="0" y="108"/>
                    <a:pt x="0" y="69"/>
                  </a:cubicBezTo>
                  <a:cubicBezTo>
                    <a:pt x="0" y="31"/>
                    <a:pt x="31" y="0"/>
                    <a:pt x="70" y="0"/>
                  </a:cubicBezTo>
                  <a:cubicBezTo>
                    <a:pt x="108" y="0"/>
                    <a:pt x="140" y="31"/>
                    <a:pt x="140" y="69"/>
                  </a:cubicBezTo>
                  <a:cubicBezTo>
                    <a:pt x="140" y="108"/>
                    <a:pt x="108" y="139"/>
                    <a:pt x="70" y="139"/>
                  </a:cubicBezTo>
                  <a:close/>
                  <a:moveTo>
                    <a:pt x="70" y="13"/>
                  </a:moveTo>
                  <a:cubicBezTo>
                    <a:pt x="39" y="13"/>
                    <a:pt x="14" y="38"/>
                    <a:pt x="14" y="69"/>
                  </a:cubicBezTo>
                  <a:cubicBezTo>
                    <a:pt x="14" y="100"/>
                    <a:pt x="39" y="126"/>
                    <a:pt x="70" y="126"/>
                  </a:cubicBezTo>
                  <a:cubicBezTo>
                    <a:pt x="101" y="126"/>
                    <a:pt x="126" y="100"/>
                    <a:pt x="126" y="69"/>
                  </a:cubicBezTo>
                  <a:cubicBezTo>
                    <a:pt x="126" y="38"/>
                    <a:pt x="101" y="13"/>
                    <a:pt x="70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6" name="Freeform 51">
              <a:extLst>
                <a:ext uri="{FF2B5EF4-FFF2-40B4-BE49-F238E27FC236}">
                  <a16:creationId xmlns:a16="http://schemas.microsoft.com/office/drawing/2014/main" id="{71166BBC-B351-4BEF-A28B-3EAED890FB6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83968" y="1437338"/>
              <a:ext cx="373063" cy="374650"/>
            </a:xfrm>
            <a:custGeom>
              <a:avLst/>
              <a:gdLst>
                <a:gd name="T0" fmla="*/ 97 w 194"/>
                <a:gd name="T1" fmla="*/ 194 h 194"/>
                <a:gd name="T2" fmla="*/ 0 w 194"/>
                <a:gd name="T3" fmla="*/ 97 h 194"/>
                <a:gd name="T4" fmla="*/ 97 w 194"/>
                <a:gd name="T5" fmla="*/ 0 h 194"/>
                <a:gd name="T6" fmla="*/ 194 w 194"/>
                <a:gd name="T7" fmla="*/ 97 h 194"/>
                <a:gd name="T8" fmla="*/ 97 w 194"/>
                <a:gd name="T9" fmla="*/ 194 h 194"/>
                <a:gd name="T10" fmla="*/ 97 w 194"/>
                <a:gd name="T11" fmla="*/ 4 h 194"/>
                <a:gd name="T12" fmla="*/ 4 w 194"/>
                <a:gd name="T13" fmla="*/ 97 h 194"/>
                <a:gd name="T14" fmla="*/ 97 w 194"/>
                <a:gd name="T15" fmla="*/ 190 h 194"/>
                <a:gd name="T16" fmla="*/ 190 w 194"/>
                <a:gd name="T17" fmla="*/ 97 h 194"/>
                <a:gd name="T18" fmla="*/ 97 w 194"/>
                <a:gd name="T19" fmla="*/ 4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4" h="194">
                  <a:moveTo>
                    <a:pt x="97" y="194"/>
                  </a:moveTo>
                  <a:cubicBezTo>
                    <a:pt x="43" y="194"/>
                    <a:pt x="0" y="151"/>
                    <a:pt x="0" y="97"/>
                  </a:cubicBezTo>
                  <a:cubicBezTo>
                    <a:pt x="0" y="44"/>
                    <a:pt x="43" y="0"/>
                    <a:pt x="97" y="0"/>
                  </a:cubicBezTo>
                  <a:cubicBezTo>
                    <a:pt x="150" y="0"/>
                    <a:pt x="194" y="44"/>
                    <a:pt x="194" y="97"/>
                  </a:cubicBezTo>
                  <a:cubicBezTo>
                    <a:pt x="194" y="151"/>
                    <a:pt x="150" y="194"/>
                    <a:pt x="97" y="194"/>
                  </a:cubicBezTo>
                  <a:close/>
                  <a:moveTo>
                    <a:pt x="97" y="4"/>
                  </a:moveTo>
                  <a:cubicBezTo>
                    <a:pt x="46" y="4"/>
                    <a:pt x="4" y="46"/>
                    <a:pt x="4" y="97"/>
                  </a:cubicBezTo>
                  <a:cubicBezTo>
                    <a:pt x="4" y="149"/>
                    <a:pt x="46" y="190"/>
                    <a:pt x="97" y="190"/>
                  </a:cubicBezTo>
                  <a:cubicBezTo>
                    <a:pt x="148" y="190"/>
                    <a:pt x="190" y="149"/>
                    <a:pt x="190" y="97"/>
                  </a:cubicBezTo>
                  <a:cubicBezTo>
                    <a:pt x="190" y="46"/>
                    <a:pt x="148" y="4"/>
                    <a:pt x="9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07" name="TextBox 106">
            <a:extLst>
              <a:ext uri="{FF2B5EF4-FFF2-40B4-BE49-F238E27FC236}">
                <a16:creationId xmlns:a16="http://schemas.microsoft.com/office/drawing/2014/main" id="{7A83E2F2-AB30-41C3-AC04-258D836C04EC}"/>
              </a:ext>
            </a:extLst>
          </p:cNvPr>
          <p:cNvSpPr txBox="1"/>
          <p:nvPr/>
        </p:nvSpPr>
        <p:spPr>
          <a:xfrm>
            <a:off x="2422721" y="3796212"/>
            <a:ext cx="4283254" cy="461665"/>
          </a:xfrm>
          <a:prstGeom prst="rect">
            <a:avLst/>
          </a:prstGeom>
          <a:noFill/>
        </p:spPr>
        <p:txBody>
          <a:bodyPr wrap="square" numCol="1" spcCol="640080" rtlCol="0">
            <a:spAutoFit/>
          </a:bodyPr>
          <a:lstStyle/>
          <a:p>
            <a:r>
              <a:rPr lang="fr-FR" sz="2400" dirty="0">
                <a:solidFill>
                  <a:srgbClr val="7030A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Configuration de </a:t>
            </a:r>
            <a:r>
              <a:rPr lang="fr-FR" sz="2400" dirty="0" err="1">
                <a:solidFill>
                  <a:srgbClr val="7030A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Scaling</a:t>
            </a:r>
            <a:endParaRPr lang="fr-FR" sz="1050" dirty="0">
              <a:solidFill>
                <a:srgbClr val="7030A0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BAFD4B23-E347-439C-9177-A3B14206F5AA}"/>
              </a:ext>
            </a:extLst>
          </p:cNvPr>
          <p:cNvSpPr txBox="1"/>
          <p:nvPr/>
        </p:nvSpPr>
        <p:spPr>
          <a:xfrm>
            <a:off x="2541337" y="5139842"/>
            <a:ext cx="4283254" cy="461665"/>
          </a:xfrm>
          <a:prstGeom prst="rect">
            <a:avLst/>
          </a:prstGeom>
          <a:noFill/>
        </p:spPr>
        <p:txBody>
          <a:bodyPr wrap="square" numCol="1" spcCol="640080" rtlCol="0">
            <a:spAutoFit/>
          </a:bodyPr>
          <a:lstStyle/>
          <a:p>
            <a:r>
              <a:rPr lang="fr-FR" sz="2400" dirty="0">
                <a:solidFill>
                  <a:srgbClr val="5B9BD5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Qualité de déploiement</a:t>
            </a:r>
            <a:endParaRPr lang="fr-FR" sz="1050" dirty="0">
              <a:solidFill>
                <a:srgbClr val="5B9BD5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4401982F-6E2A-4F32-A094-BC5088A9B89E}"/>
              </a:ext>
            </a:extLst>
          </p:cNvPr>
          <p:cNvSpPr/>
          <p:nvPr/>
        </p:nvSpPr>
        <p:spPr>
          <a:xfrm flipV="1">
            <a:off x="0" y="634208"/>
            <a:ext cx="1934083" cy="606032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1228FF75-B2F9-42DD-BC10-2BA4E0A5AA3D}"/>
              </a:ext>
            </a:extLst>
          </p:cNvPr>
          <p:cNvSpPr/>
          <p:nvPr/>
        </p:nvSpPr>
        <p:spPr>
          <a:xfrm>
            <a:off x="11944" y="1314652"/>
            <a:ext cx="1934083" cy="686729"/>
          </a:xfrm>
          <a:prstGeom prst="rect">
            <a:avLst/>
          </a:prstGeom>
          <a:ln>
            <a:solidFill>
              <a:srgbClr val="4472C4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3" name="Shape 259">
            <a:extLst>
              <a:ext uri="{FF2B5EF4-FFF2-40B4-BE49-F238E27FC236}">
                <a16:creationId xmlns:a16="http://schemas.microsoft.com/office/drawing/2014/main" id="{4915A1F3-2E89-4F15-A101-884478629297}"/>
              </a:ext>
            </a:extLst>
          </p:cNvPr>
          <p:cNvSpPr txBox="1">
            <a:spLocks/>
          </p:cNvSpPr>
          <p:nvPr/>
        </p:nvSpPr>
        <p:spPr>
          <a:xfrm>
            <a:off x="-48195" y="869244"/>
            <a:ext cx="2091536" cy="200398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200" b="1" dirty="0" err="1">
                <a:solidFill>
                  <a:schemeClr val="bg1"/>
                </a:solidFill>
                <a:latin typeface="Asap Medium" panose="020F0604030102060203" pitchFamily="34" charset="0"/>
              </a:rPr>
              <a:t>Organisme</a:t>
            </a:r>
            <a:r>
              <a:rPr lang="id-ID" sz="1200" b="1" dirty="0">
                <a:solidFill>
                  <a:schemeClr val="bg1"/>
                </a:solidFill>
                <a:latin typeface="Asap Medium" panose="020F0604030102060203" pitchFamily="34" charset="0"/>
              </a:rPr>
              <a:t> </a:t>
            </a:r>
            <a:r>
              <a:rPr lang="en-US" sz="1200" b="1" dirty="0">
                <a:solidFill>
                  <a:schemeClr val="bg1"/>
                </a:solidFill>
                <a:latin typeface="Asap Medium" panose="020F0604030102060203" pitchFamily="34" charset="0"/>
              </a:rPr>
              <a:t>d</a:t>
            </a:r>
            <a:r>
              <a:rPr lang="id-ID" sz="1200" b="1" dirty="0">
                <a:solidFill>
                  <a:schemeClr val="bg1"/>
                </a:solidFill>
                <a:latin typeface="Asap Medium" panose="020F0604030102060203" pitchFamily="34" charset="0"/>
              </a:rPr>
              <a:t>’</a:t>
            </a:r>
            <a:r>
              <a:rPr lang="en-US" sz="1200" b="1" dirty="0" err="1">
                <a:solidFill>
                  <a:schemeClr val="bg1"/>
                </a:solidFill>
                <a:latin typeface="Asap Medium" panose="020F0604030102060203" pitchFamily="34" charset="0"/>
              </a:rPr>
              <a:t>accueil</a:t>
            </a:r>
            <a:endParaRPr lang="id-ID" sz="1200" b="1" dirty="0">
              <a:solidFill>
                <a:schemeClr val="bg1"/>
              </a:solidFill>
              <a:latin typeface="Asap Medium" panose="020F0604030102060203" pitchFamily="34" charset="0"/>
            </a:endParaRPr>
          </a:p>
        </p:txBody>
      </p:sp>
      <p:sp>
        <p:nvSpPr>
          <p:cNvPr id="74" name="Shape 259">
            <a:extLst>
              <a:ext uri="{FF2B5EF4-FFF2-40B4-BE49-F238E27FC236}">
                <a16:creationId xmlns:a16="http://schemas.microsoft.com/office/drawing/2014/main" id="{24BA488B-3A39-44A8-8020-E7E113866C4C}"/>
              </a:ext>
            </a:extLst>
          </p:cNvPr>
          <p:cNvSpPr txBox="1">
            <a:spLocks/>
          </p:cNvSpPr>
          <p:nvPr/>
        </p:nvSpPr>
        <p:spPr>
          <a:xfrm>
            <a:off x="-114689" y="1575873"/>
            <a:ext cx="2091536" cy="200398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200" b="1" dirty="0" err="1">
                <a:solidFill>
                  <a:srgbClr val="2F5597"/>
                </a:solidFill>
                <a:latin typeface="Asap Medium" panose="020F0604030102060203" pitchFamily="34" charset="0"/>
              </a:rPr>
              <a:t>Thème</a:t>
            </a:r>
            <a:endParaRPr lang="id-ID" sz="1200" b="1" dirty="0">
              <a:solidFill>
                <a:srgbClr val="2F5597"/>
              </a:solidFill>
              <a:latin typeface="Asap Medium" panose="020F06040301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9369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7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7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7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7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7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7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7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7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7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7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7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7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7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52" grpId="0"/>
      <p:bldP spid="55" grpId="0"/>
      <p:bldP spid="59" grpId="0"/>
      <p:bldP spid="60" grpId="0" animBg="1"/>
      <p:bldP spid="61" grpId="0" animBg="1"/>
      <p:bldP spid="65" grpId="0" animBg="1"/>
      <p:bldP spid="89" grpId="0"/>
      <p:bldP spid="91" grpId="0" animBg="1"/>
      <p:bldP spid="99" grpId="0" animBg="1"/>
      <p:bldP spid="107" grpId="0"/>
      <p:bldP spid="10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72">
            <a:extLst>
              <a:ext uri="{FF2B5EF4-FFF2-40B4-BE49-F238E27FC236}">
                <a16:creationId xmlns:a16="http://schemas.microsoft.com/office/drawing/2014/main" id="{DBC89666-CEA1-4BFE-A7F3-BA30895DF237}"/>
              </a:ext>
            </a:extLst>
          </p:cNvPr>
          <p:cNvSpPr/>
          <p:nvPr/>
        </p:nvSpPr>
        <p:spPr>
          <a:xfrm flipV="1">
            <a:off x="35600" y="614142"/>
            <a:ext cx="1934083" cy="606032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1471" y="622857"/>
            <a:ext cx="1934083" cy="686729"/>
          </a:xfrm>
          <a:prstGeom prst="rect">
            <a:avLst/>
          </a:prstGeom>
          <a:ln>
            <a:solidFill>
              <a:srgbClr val="4472C4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Rectangle 41"/>
          <p:cNvSpPr/>
          <p:nvPr/>
        </p:nvSpPr>
        <p:spPr>
          <a:xfrm>
            <a:off x="0" y="-29199"/>
            <a:ext cx="9321206" cy="6141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62" name="Shape 222"/>
          <p:cNvSpPr/>
          <p:nvPr/>
        </p:nvSpPr>
        <p:spPr>
          <a:xfrm>
            <a:off x="682388" y="152957"/>
            <a:ext cx="4741083" cy="287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>
              <a:lnSpc>
                <a:spcPct val="90000"/>
              </a:lnSpc>
              <a:defRPr sz="11100">
                <a:solidFill>
                  <a:srgbClr val="FFFFFF"/>
                </a:solidFill>
                <a:latin typeface="+mn-lt"/>
                <a:ea typeface="+mn-ea"/>
                <a:cs typeface="+mn-cs"/>
                <a:sym typeface="Montserrat Semi Bold"/>
              </a:defRPr>
            </a:lvl1pPr>
          </a:lstStyle>
          <a:p>
            <a:r>
              <a:rPr lang="en-GB" sz="1800" b="1" dirty="0" err="1">
                <a:latin typeface="Asap Medium" panose="020F0604030102060203" pitchFamily="34" charset="0"/>
              </a:rPr>
              <a:t>Conduite</a:t>
            </a:r>
            <a:r>
              <a:rPr lang="en-GB" sz="1800" b="1" dirty="0">
                <a:latin typeface="Asap Medium" panose="020F0604030102060203" pitchFamily="34" charset="0"/>
              </a:rPr>
              <a:t> du </a:t>
            </a:r>
            <a:r>
              <a:rPr lang="en-GB" sz="1800" b="1" dirty="0" err="1">
                <a:latin typeface="Asap Medium" panose="020F0604030102060203" pitchFamily="34" charset="0"/>
              </a:rPr>
              <a:t>projet</a:t>
            </a:r>
            <a:endParaRPr lang="id-ID" sz="1800" b="1" dirty="0">
              <a:latin typeface="Asap Medium" panose="020F0604030102060203" pitchFamily="34" charset="0"/>
            </a:endParaRPr>
          </a:p>
        </p:txBody>
      </p:sp>
      <p:sp>
        <p:nvSpPr>
          <p:cNvPr id="63" name="Shape 223"/>
          <p:cNvSpPr/>
          <p:nvPr/>
        </p:nvSpPr>
        <p:spPr>
          <a:xfrm>
            <a:off x="110246" y="73949"/>
            <a:ext cx="431835" cy="431835"/>
          </a:xfrm>
          <a:prstGeom prst="ellipse">
            <a:avLst/>
          </a:prstGeom>
          <a:solidFill>
            <a:srgbClr val="FFFFFF"/>
          </a:solidFill>
          <a:ln w="3175">
            <a:solidFill>
              <a:srgbClr val="A6AAA9"/>
            </a:solidFill>
          </a:ln>
        </p:spPr>
        <p:txBody>
          <a:bodyPr lIns="14288" tIns="14288" rIns="14288" bIns="14288" anchor="ctr"/>
          <a:lstStyle/>
          <a:p>
            <a:endParaRPr sz="1500" b="1">
              <a:latin typeface="Asap Medium" panose="020F0604030102060203" pitchFamily="34" charset="0"/>
            </a:endParaRPr>
          </a:p>
        </p:txBody>
      </p:sp>
      <p:sp>
        <p:nvSpPr>
          <p:cNvPr id="64" name="Shape 222"/>
          <p:cNvSpPr/>
          <p:nvPr/>
        </p:nvSpPr>
        <p:spPr>
          <a:xfrm>
            <a:off x="90194" y="149482"/>
            <a:ext cx="492801" cy="315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>
              <a:lnSpc>
                <a:spcPct val="90000"/>
              </a:lnSpc>
              <a:defRPr sz="11100">
                <a:solidFill>
                  <a:srgbClr val="FFFFFF"/>
                </a:solidFill>
                <a:latin typeface="+mn-lt"/>
                <a:ea typeface="+mn-ea"/>
                <a:cs typeface="+mn-cs"/>
                <a:sym typeface="Montserrat Semi Bold"/>
              </a:defRPr>
            </a:lvl1pPr>
          </a:lstStyle>
          <a:p>
            <a:pPr algn="ctr"/>
            <a:r>
              <a:rPr lang="en-GB" sz="2000" b="1" dirty="0">
                <a:solidFill>
                  <a:schemeClr val="accent1"/>
                </a:solidFill>
                <a:latin typeface="Asap Medium" panose="020F0604030102060203" pitchFamily="34" charset="0"/>
              </a:rPr>
              <a:t>II</a:t>
            </a:r>
            <a:endParaRPr lang="id-ID" sz="1600" b="1" dirty="0">
              <a:solidFill>
                <a:schemeClr val="accent1"/>
              </a:solidFill>
              <a:latin typeface="Asap Medium" panose="020F0604030102060203" pitchFamily="34" charset="0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9431452" y="-10514"/>
            <a:ext cx="258830" cy="6141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68" name="Shape 259"/>
          <p:cNvSpPr txBox="1">
            <a:spLocks/>
          </p:cNvSpPr>
          <p:nvPr/>
        </p:nvSpPr>
        <p:spPr>
          <a:xfrm>
            <a:off x="-48195" y="591827"/>
            <a:ext cx="2091536" cy="740877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200" b="1" dirty="0">
                <a:solidFill>
                  <a:srgbClr val="2F5597"/>
                </a:solidFill>
                <a:latin typeface="Asap Medium" panose="020F0604030102060203" pitchFamily="34" charset="0"/>
              </a:rPr>
              <a:t>Démarche du </a:t>
            </a:r>
            <a:r>
              <a:rPr lang="en-US" sz="1200" b="1" dirty="0" err="1">
                <a:solidFill>
                  <a:srgbClr val="2F5597"/>
                </a:solidFill>
                <a:latin typeface="Asap Medium" panose="020F0604030102060203" pitchFamily="34" charset="0"/>
              </a:rPr>
              <a:t>projet</a:t>
            </a:r>
            <a:endParaRPr lang="id-ID" sz="1200" b="1" dirty="0">
              <a:solidFill>
                <a:srgbClr val="2F5597"/>
              </a:solidFill>
              <a:latin typeface="Asap Medium" panose="020F0604030102060203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9059637" y="6309345"/>
            <a:ext cx="2743200" cy="365125"/>
          </a:xfrm>
        </p:spPr>
        <p:txBody>
          <a:bodyPr/>
          <a:lstStyle/>
          <a:p>
            <a:fld id="{2476CA8B-E376-4C73-9B78-83D007D77E53}" type="slidenum">
              <a:rPr lang="id-ID" smtClean="0">
                <a:solidFill>
                  <a:srgbClr val="FF0000"/>
                </a:solidFill>
                <a:latin typeface="Asap Medium" panose="020F0604030102060203" pitchFamily="34" charset="0"/>
              </a:rPr>
              <a:t>7</a:t>
            </a:fld>
            <a:endParaRPr lang="id-ID" dirty="0">
              <a:solidFill>
                <a:srgbClr val="FF0000"/>
              </a:solidFill>
              <a:latin typeface="Asap Medium" panose="020F0604030102060203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ECCB045-FE19-4561-8017-9B40A020F357}"/>
              </a:ext>
            </a:extLst>
          </p:cNvPr>
          <p:cNvSpPr/>
          <p:nvPr/>
        </p:nvSpPr>
        <p:spPr>
          <a:xfrm>
            <a:off x="9813810" y="-10510"/>
            <a:ext cx="258830" cy="61414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3DE1CC4-1551-4828-A800-63DD77E86870}"/>
              </a:ext>
            </a:extLst>
          </p:cNvPr>
          <p:cNvSpPr/>
          <p:nvPr/>
        </p:nvSpPr>
        <p:spPr>
          <a:xfrm>
            <a:off x="10196168" y="-18579"/>
            <a:ext cx="258830" cy="61414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 dirty="0">
              <a:latin typeface="Asap Medium" panose="020F0604030102060203" pitchFamily="34" charset="0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304A858-F1EF-46C2-9C41-A25FCE3D9A94}"/>
              </a:ext>
            </a:extLst>
          </p:cNvPr>
          <p:cNvSpPr/>
          <p:nvPr/>
        </p:nvSpPr>
        <p:spPr>
          <a:xfrm>
            <a:off x="11392272" y="-10515"/>
            <a:ext cx="258830" cy="614149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72A7319-31A7-490B-9740-279F48E96737}"/>
              </a:ext>
            </a:extLst>
          </p:cNvPr>
          <p:cNvSpPr/>
          <p:nvPr/>
        </p:nvSpPr>
        <p:spPr>
          <a:xfrm>
            <a:off x="10578526" y="-18579"/>
            <a:ext cx="258830" cy="61414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5ECA0C6-ECC9-4278-AE73-EBF82C6F8067}"/>
              </a:ext>
            </a:extLst>
          </p:cNvPr>
          <p:cNvSpPr/>
          <p:nvPr/>
        </p:nvSpPr>
        <p:spPr>
          <a:xfrm>
            <a:off x="10985399" y="-18580"/>
            <a:ext cx="258830" cy="614149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27" name="Shape 259"/>
          <p:cNvSpPr txBox="1">
            <a:spLocks/>
          </p:cNvSpPr>
          <p:nvPr/>
        </p:nvSpPr>
        <p:spPr>
          <a:xfrm>
            <a:off x="-114689" y="1575873"/>
            <a:ext cx="2091536" cy="200398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1200" b="1" dirty="0">
                <a:solidFill>
                  <a:schemeClr val="bg1"/>
                </a:solidFill>
                <a:latin typeface="Asap Medium" panose="020F0604030102060203" pitchFamily="34" charset="0"/>
              </a:rPr>
              <a:t>Planification du projet</a:t>
            </a:r>
          </a:p>
        </p:txBody>
      </p:sp>
      <p:sp>
        <p:nvSpPr>
          <p:cNvPr id="20" name="Shape 259">
            <a:extLst>
              <a:ext uri="{FF2B5EF4-FFF2-40B4-BE49-F238E27FC236}">
                <a16:creationId xmlns:a16="http://schemas.microsoft.com/office/drawing/2014/main" id="{C44FBB75-DC00-4801-8B78-422E51CD76F6}"/>
              </a:ext>
            </a:extLst>
          </p:cNvPr>
          <p:cNvSpPr txBox="1">
            <a:spLocks/>
          </p:cNvSpPr>
          <p:nvPr/>
        </p:nvSpPr>
        <p:spPr>
          <a:xfrm>
            <a:off x="3110206" y="750140"/>
            <a:ext cx="8134023" cy="825733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Asap Medium" panose="020F0604030102060203" pitchFamily="34" charset="0"/>
              </a:rPr>
              <a:t>MÉTHODE DE GESTION ET DE DEVELOPPEMENT </a:t>
            </a:r>
          </a:p>
          <a:p>
            <a:pPr algn="ctr"/>
            <a:r>
              <a:rPr lang="fr-FR" sz="2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Asap Medium" panose="020F0604030102060203" pitchFamily="34" charset="0"/>
              </a:rPr>
              <a:t>XP (</a:t>
            </a:r>
            <a:r>
              <a:rPr lang="fr-FR" sz="2400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sap Medium" panose="020F0604030102060203" pitchFamily="34" charset="0"/>
              </a:rPr>
              <a:t>Extreme</a:t>
            </a:r>
            <a:r>
              <a:rPr lang="fr-FR" sz="2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Asap Medium" panose="020F0604030102060203" pitchFamily="34" charset="0"/>
              </a:rPr>
              <a:t> </a:t>
            </a:r>
            <a:r>
              <a:rPr lang="fr-FR" sz="2400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sap Medium" panose="020F0604030102060203" pitchFamily="34" charset="0"/>
              </a:rPr>
              <a:t>Programing</a:t>
            </a:r>
            <a:r>
              <a:rPr lang="fr-FR" sz="2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Asap Medium" panose="020F0604030102060203" pitchFamily="34" charset="0"/>
              </a:rPr>
              <a:t>)</a:t>
            </a:r>
            <a:endParaRPr lang="id-ID" sz="2400" dirty="0">
              <a:solidFill>
                <a:srgbClr val="C00000"/>
              </a:solidFill>
              <a:latin typeface="Asap Medium" panose="020F060403010206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226354-9E65-477C-B987-A9F98AE1CE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0603" y="1575873"/>
            <a:ext cx="5301102" cy="4868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159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animBg="1"/>
      <p:bldP spid="3" grpId="0" animBg="1"/>
      <p:bldP spid="68" grpId="0"/>
      <p:bldP spid="2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4C53C78-6A8C-44E1-B0CC-292B4593DA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1766" y="1207689"/>
            <a:ext cx="9186041" cy="4961561"/>
          </a:xfrm>
          <a:prstGeom prst="rect">
            <a:avLst/>
          </a:prstGeom>
        </p:spPr>
      </p:pic>
      <p:sp>
        <p:nvSpPr>
          <p:cNvPr id="73" name="Rectangle 72">
            <a:extLst>
              <a:ext uri="{FF2B5EF4-FFF2-40B4-BE49-F238E27FC236}">
                <a16:creationId xmlns:a16="http://schemas.microsoft.com/office/drawing/2014/main" id="{DBC89666-CEA1-4BFE-A7F3-BA30895DF237}"/>
              </a:ext>
            </a:extLst>
          </p:cNvPr>
          <p:cNvSpPr/>
          <p:nvPr/>
        </p:nvSpPr>
        <p:spPr>
          <a:xfrm flipV="1">
            <a:off x="42764" y="634207"/>
            <a:ext cx="1934083" cy="604026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9568" y="1332707"/>
            <a:ext cx="1934083" cy="686729"/>
          </a:xfrm>
          <a:prstGeom prst="rect">
            <a:avLst/>
          </a:prstGeom>
          <a:ln>
            <a:solidFill>
              <a:srgbClr val="4472C4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Rectangle 41"/>
          <p:cNvSpPr/>
          <p:nvPr/>
        </p:nvSpPr>
        <p:spPr>
          <a:xfrm>
            <a:off x="0" y="-18689"/>
            <a:ext cx="9321206" cy="6141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62" name="Shape 222"/>
          <p:cNvSpPr/>
          <p:nvPr/>
        </p:nvSpPr>
        <p:spPr>
          <a:xfrm>
            <a:off x="682388" y="163467"/>
            <a:ext cx="4741083" cy="287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>
              <a:lnSpc>
                <a:spcPct val="90000"/>
              </a:lnSpc>
              <a:defRPr sz="11100">
                <a:solidFill>
                  <a:srgbClr val="FFFFFF"/>
                </a:solidFill>
                <a:latin typeface="+mn-lt"/>
                <a:ea typeface="+mn-ea"/>
                <a:cs typeface="+mn-cs"/>
                <a:sym typeface="Montserrat Semi Bold"/>
              </a:defRPr>
            </a:lvl1pPr>
          </a:lstStyle>
          <a:p>
            <a:r>
              <a:rPr lang="en-GB" sz="1800" b="1" dirty="0" err="1">
                <a:latin typeface="Asap Medium" panose="020F0604030102060203" pitchFamily="34" charset="0"/>
              </a:rPr>
              <a:t>Conduite</a:t>
            </a:r>
            <a:r>
              <a:rPr lang="en-GB" sz="1800" b="1" dirty="0">
                <a:latin typeface="Asap Medium" panose="020F0604030102060203" pitchFamily="34" charset="0"/>
              </a:rPr>
              <a:t> du </a:t>
            </a:r>
            <a:r>
              <a:rPr lang="en-GB" sz="1800" b="1" dirty="0" err="1">
                <a:latin typeface="Asap Medium" panose="020F0604030102060203" pitchFamily="34" charset="0"/>
              </a:rPr>
              <a:t>projet</a:t>
            </a:r>
            <a:endParaRPr lang="id-ID" sz="1800" b="1" dirty="0">
              <a:latin typeface="Asap Medium" panose="020F0604030102060203" pitchFamily="34" charset="0"/>
            </a:endParaRPr>
          </a:p>
        </p:txBody>
      </p:sp>
      <p:sp>
        <p:nvSpPr>
          <p:cNvPr id="63" name="Shape 223"/>
          <p:cNvSpPr/>
          <p:nvPr/>
        </p:nvSpPr>
        <p:spPr>
          <a:xfrm>
            <a:off x="110246" y="84459"/>
            <a:ext cx="431835" cy="431835"/>
          </a:xfrm>
          <a:prstGeom prst="ellipse">
            <a:avLst/>
          </a:prstGeom>
          <a:solidFill>
            <a:srgbClr val="FFFFFF"/>
          </a:solidFill>
          <a:ln w="3175">
            <a:solidFill>
              <a:srgbClr val="A6AAA9"/>
            </a:solidFill>
          </a:ln>
        </p:spPr>
        <p:txBody>
          <a:bodyPr lIns="14288" tIns="14288" rIns="14288" bIns="14288" anchor="ctr"/>
          <a:lstStyle/>
          <a:p>
            <a:endParaRPr sz="1500" b="1">
              <a:latin typeface="Asap Medium" panose="020F0604030102060203" pitchFamily="34" charset="0"/>
            </a:endParaRPr>
          </a:p>
        </p:txBody>
      </p:sp>
      <p:sp>
        <p:nvSpPr>
          <p:cNvPr id="64" name="Shape 222"/>
          <p:cNvSpPr/>
          <p:nvPr/>
        </p:nvSpPr>
        <p:spPr>
          <a:xfrm>
            <a:off x="90194" y="159992"/>
            <a:ext cx="492801" cy="315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>
              <a:lnSpc>
                <a:spcPct val="90000"/>
              </a:lnSpc>
              <a:defRPr sz="11100">
                <a:solidFill>
                  <a:srgbClr val="FFFFFF"/>
                </a:solidFill>
                <a:latin typeface="+mn-lt"/>
                <a:ea typeface="+mn-ea"/>
                <a:cs typeface="+mn-cs"/>
                <a:sym typeface="Montserrat Semi Bold"/>
              </a:defRPr>
            </a:lvl1pPr>
          </a:lstStyle>
          <a:p>
            <a:pPr algn="ctr"/>
            <a:r>
              <a:rPr lang="en-GB" sz="2000" b="1" dirty="0">
                <a:solidFill>
                  <a:schemeClr val="accent1"/>
                </a:solidFill>
                <a:latin typeface="Asap Medium" panose="020F0604030102060203" pitchFamily="34" charset="0"/>
              </a:rPr>
              <a:t>II</a:t>
            </a:r>
            <a:endParaRPr lang="id-ID" sz="1600" b="1" dirty="0">
              <a:solidFill>
                <a:schemeClr val="accent1"/>
              </a:solidFill>
              <a:latin typeface="Asap Medium" panose="020F0604030102060203" pitchFamily="34" charset="0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9431452" y="-4"/>
            <a:ext cx="258830" cy="6141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68" name="Shape 259"/>
          <p:cNvSpPr txBox="1">
            <a:spLocks/>
          </p:cNvSpPr>
          <p:nvPr/>
        </p:nvSpPr>
        <p:spPr>
          <a:xfrm>
            <a:off x="-48195" y="591827"/>
            <a:ext cx="2091536" cy="740877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200" b="1" dirty="0">
                <a:solidFill>
                  <a:schemeClr val="bg1"/>
                </a:solidFill>
                <a:latin typeface="Asap Medium" panose="020F0604030102060203" pitchFamily="34" charset="0"/>
              </a:rPr>
              <a:t>Démarche du </a:t>
            </a:r>
            <a:r>
              <a:rPr lang="en-US" sz="1200" b="1" dirty="0" err="1">
                <a:solidFill>
                  <a:schemeClr val="bg1"/>
                </a:solidFill>
                <a:latin typeface="Asap Medium" panose="020F0604030102060203" pitchFamily="34" charset="0"/>
              </a:rPr>
              <a:t>projet</a:t>
            </a:r>
            <a:endParaRPr lang="id-ID" sz="1200" b="1" dirty="0">
              <a:solidFill>
                <a:schemeClr val="bg1"/>
              </a:solidFill>
              <a:latin typeface="Asap Medium" panose="020F0604030102060203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9059637" y="6309345"/>
            <a:ext cx="2743200" cy="365125"/>
          </a:xfrm>
        </p:spPr>
        <p:txBody>
          <a:bodyPr/>
          <a:lstStyle/>
          <a:p>
            <a:fld id="{2476CA8B-E376-4C73-9B78-83D007D77E53}" type="slidenum">
              <a:rPr lang="id-ID" smtClean="0">
                <a:solidFill>
                  <a:srgbClr val="FF0000"/>
                </a:solidFill>
                <a:latin typeface="Asap Medium" panose="020F0604030102060203" pitchFamily="34" charset="0"/>
              </a:rPr>
              <a:t>8</a:t>
            </a:fld>
            <a:endParaRPr lang="id-ID" dirty="0">
              <a:solidFill>
                <a:srgbClr val="FF0000"/>
              </a:solidFill>
              <a:latin typeface="Asap Medium" panose="020F0604030102060203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ECCB045-FE19-4561-8017-9B40A020F357}"/>
              </a:ext>
            </a:extLst>
          </p:cNvPr>
          <p:cNvSpPr/>
          <p:nvPr/>
        </p:nvSpPr>
        <p:spPr>
          <a:xfrm>
            <a:off x="9813810" y="0"/>
            <a:ext cx="258830" cy="61414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3DE1CC4-1551-4828-A800-63DD77E86870}"/>
              </a:ext>
            </a:extLst>
          </p:cNvPr>
          <p:cNvSpPr/>
          <p:nvPr/>
        </p:nvSpPr>
        <p:spPr>
          <a:xfrm>
            <a:off x="10196168" y="-8069"/>
            <a:ext cx="258830" cy="61414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 dirty="0">
              <a:latin typeface="Asap Medium" panose="020F0604030102060203" pitchFamily="34" charset="0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304A858-F1EF-46C2-9C41-A25FCE3D9A94}"/>
              </a:ext>
            </a:extLst>
          </p:cNvPr>
          <p:cNvSpPr/>
          <p:nvPr/>
        </p:nvSpPr>
        <p:spPr>
          <a:xfrm>
            <a:off x="11392272" y="-5"/>
            <a:ext cx="258830" cy="614149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72A7319-31A7-490B-9740-279F48E96737}"/>
              </a:ext>
            </a:extLst>
          </p:cNvPr>
          <p:cNvSpPr/>
          <p:nvPr/>
        </p:nvSpPr>
        <p:spPr>
          <a:xfrm>
            <a:off x="10578526" y="-8069"/>
            <a:ext cx="258830" cy="61414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5ECA0C6-ECC9-4278-AE73-EBF82C6F8067}"/>
              </a:ext>
            </a:extLst>
          </p:cNvPr>
          <p:cNvSpPr/>
          <p:nvPr/>
        </p:nvSpPr>
        <p:spPr>
          <a:xfrm>
            <a:off x="10985399" y="-8070"/>
            <a:ext cx="258830" cy="614149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27" name="Shape 259"/>
          <p:cNvSpPr txBox="1">
            <a:spLocks/>
          </p:cNvSpPr>
          <p:nvPr/>
        </p:nvSpPr>
        <p:spPr>
          <a:xfrm>
            <a:off x="-114689" y="1575873"/>
            <a:ext cx="2091536" cy="200398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200" b="1" dirty="0">
                <a:solidFill>
                  <a:srgbClr val="2F5597"/>
                </a:solidFill>
                <a:latin typeface="Asap Medium" panose="020F0604030102060203" pitchFamily="34" charset="0"/>
              </a:rPr>
              <a:t>Planification du </a:t>
            </a:r>
            <a:r>
              <a:rPr lang="en-US" sz="1200" b="1" dirty="0" err="1">
                <a:solidFill>
                  <a:srgbClr val="2F5597"/>
                </a:solidFill>
                <a:latin typeface="Asap Medium" panose="020F0604030102060203" pitchFamily="34" charset="0"/>
              </a:rPr>
              <a:t>projet</a:t>
            </a:r>
            <a:endParaRPr lang="id-ID" sz="1200" b="1" dirty="0">
              <a:solidFill>
                <a:srgbClr val="2F5597"/>
              </a:solidFill>
              <a:latin typeface="Asap Medium" panose="020F0604030102060203" pitchFamily="34" charset="0"/>
            </a:endParaRPr>
          </a:p>
        </p:txBody>
      </p:sp>
      <p:sp>
        <p:nvSpPr>
          <p:cNvPr id="30" name="Shape 259">
            <a:extLst>
              <a:ext uri="{FF2B5EF4-FFF2-40B4-BE49-F238E27FC236}">
                <a16:creationId xmlns:a16="http://schemas.microsoft.com/office/drawing/2014/main" id="{B048B300-22E4-4B72-8408-22A4BEF6D661}"/>
              </a:ext>
            </a:extLst>
          </p:cNvPr>
          <p:cNvSpPr txBox="1">
            <a:spLocks/>
          </p:cNvSpPr>
          <p:nvPr/>
        </p:nvSpPr>
        <p:spPr>
          <a:xfrm>
            <a:off x="2770445" y="688750"/>
            <a:ext cx="8134023" cy="427881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Asap Medium" panose="020F0604030102060203" pitchFamily="34" charset="0"/>
              </a:rPr>
              <a:t>Planning </a:t>
            </a:r>
            <a:endParaRPr lang="id-ID" sz="2400" dirty="0">
              <a:solidFill>
                <a:srgbClr val="C00000"/>
              </a:solidFill>
              <a:latin typeface="Asap Medium" panose="020F06040301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0047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/>
          <p:cNvSpPr/>
          <p:nvPr/>
        </p:nvSpPr>
        <p:spPr>
          <a:xfrm>
            <a:off x="0" y="-18689"/>
            <a:ext cx="9321206" cy="6141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62" name="Shape 222"/>
          <p:cNvSpPr/>
          <p:nvPr/>
        </p:nvSpPr>
        <p:spPr>
          <a:xfrm>
            <a:off x="682388" y="163467"/>
            <a:ext cx="4741083" cy="287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>
              <a:lnSpc>
                <a:spcPct val="90000"/>
              </a:lnSpc>
              <a:defRPr sz="11100">
                <a:solidFill>
                  <a:srgbClr val="FFFFFF"/>
                </a:solidFill>
                <a:latin typeface="+mn-lt"/>
                <a:ea typeface="+mn-ea"/>
                <a:cs typeface="+mn-cs"/>
                <a:sym typeface="Montserrat Semi Bold"/>
              </a:defRPr>
            </a:lvl1pPr>
          </a:lstStyle>
          <a:p>
            <a:r>
              <a:rPr lang="en-GB" sz="1800" b="1" dirty="0">
                <a:latin typeface="Asap Medium" panose="020F0604030102060203" pitchFamily="34" charset="0"/>
              </a:rPr>
              <a:t>Etude </a:t>
            </a:r>
            <a:r>
              <a:rPr lang="en-GB" sz="1800" b="1" dirty="0" err="1">
                <a:latin typeface="Asap Medium" panose="020F0604030102060203" pitchFamily="34" charset="0"/>
              </a:rPr>
              <a:t>Préliminaire</a:t>
            </a:r>
            <a:endParaRPr lang="id-ID" sz="1800" b="1" dirty="0">
              <a:latin typeface="Asap Medium" panose="020F0604030102060203" pitchFamily="34" charset="0"/>
            </a:endParaRPr>
          </a:p>
        </p:txBody>
      </p:sp>
      <p:sp>
        <p:nvSpPr>
          <p:cNvPr id="63" name="Shape 223"/>
          <p:cNvSpPr/>
          <p:nvPr/>
        </p:nvSpPr>
        <p:spPr>
          <a:xfrm>
            <a:off x="110246" y="84459"/>
            <a:ext cx="431835" cy="431835"/>
          </a:xfrm>
          <a:prstGeom prst="ellipse">
            <a:avLst/>
          </a:prstGeom>
          <a:solidFill>
            <a:srgbClr val="FFFFFF"/>
          </a:solidFill>
          <a:ln w="3175">
            <a:solidFill>
              <a:srgbClr val="A6AAA9"/>
            </a:solidFill>
          </a:ln>
        </p:spPr>
        <p:txBody>
          <a:bodyPr lIns="14288" tIns="14288" rIns="14288" bIns="14288" anchor="ctr"/>
          <a:lstStyle/>
          <a:p>
            <a:endParaRPr sz="1500" b="1">
              <a:latin typeface="Asap Medium" panose="020F0604030102060203" pitchFamily="34" charset="0"/>
            </a:endParaRPr>
          </a:p>
        </p:txBody>
      </p:sp>
      <p:sp>
        <p:nvSpPr>
          <p:cNvPr id="64" name="Shape 222"/>
          <p:cNvSpPr/>
          <p:nvPr/>
        </p:nvSpPr>
        <p:spPr>
          <a:xfrm>
            <a:off x="90194" y="159992"/>
            <a:ext cx="492801" cy="315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>
              <a:lnSpc>
                <a:spcPct val="90000"/>
              </a:lnSpc>
              <a:defRPr sz="11100">
                <a:solidFill>
                  <a:srgbClr val="FFFFFF"/>
                </a:solidFill>
                <a:latin typeface="+mn-lt"/>
                <a:ea typeface="+mn-ea"/>
                <a:cs typeface="+mn-cs"/>
                <a:sym typeface="Montserrat Semi Bold"/>
              </a:defRPr>
            </a:lvl1pPr>
          </a:lstStyle>
          <a:p>
            <a:pPr algn="ctr"/>
            <a:r>
              <a:rPr lang="en-GB" sz="2000" b="1" dirty="0">
                <a:solidFill>
                  <a:schemeClr val="accent1"/>
                </a:solidFill>
                <a:latin typeface="Asap Medium" panose="020F0604030102060203" pitchFamily="34" charset="0"/>
              </a:rPr>
              <a:t>III</a:t>
            </a:r>
            <a:endParaRPr lang="id-ID" sz="1600" b="1" dirty="0">
              <a:solidFill>
                <a:schemeClr val="accent1"/>
              </a:solidFill>
              <a:latin typeface="Asap Medium" panose="020F0604030102060203" pitchFamily="34" charset="0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9431452" y="-4"/>
            <a:ext cx="258830" cy="6141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9059637" y="6309345"/>
            <a:ext cx="2743200" cy="365125"/>
          </a:xfrm>
        </p:spPr>
        <p:txBody>
          <a:bodyPr/>
          <a:lstStyle/>
          <a:p>
            <a:fld id="{2476CA8B-E376-4C73-9B78-83D007D77E53}" type="slidenum">
              <a:rPr lang="id-ID" smtClean="0">
                <a:solidFill>
                  <a:srgbClr val="FF0000"/>
                </a:solidFill>
                <a:latin typeface="Asap Medium" panose="020F0604030102060203" pitchFamily="34" charset="0"/>
              </a:rPr>
              <a:t>9</a:t>
            </a:fld>
            <a:endParaRPr lang="id-ID" dirty="0">
              <a:solidFill>
                <a:srgbClr val="FF0000"/>
              </a:solidFill>
              <a:latin typeface="Asap Medium" panose="020F0604030102060203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ECCB045-FE19-4561-8017-9B40A020F357}"/>
              </a:ext>
            </a:extLst>
          </p:cNvPr>
          <p:cNvSpPr/>
          <p:nvPr/>
        </p:nvSpPr>
        <p:spPr>
          <a:xfrm>
            <a:off x="9813810" y="0"/>
            <a:ext cx="258830" cy="61414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3DE1CC4-1551-4828-A800-63DD77E86870}"/>
              </a:ext>
            </a:extLst>
          </p:cNvPr>
          <p:cNvSpPr/>
          <p:nvPr/>
        </p:nvSpPr>
        <p:spPr>
          <a:xfrm>
            <a:off x="10196168" y="-8069"/>
            <a:ext cx="258830" cy="61414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 dirty="0">
              <a:latin typeface="Asap Medium" panose="020F0604030102060203" pitchFamily="34" charset="0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304A858-F1EF-46C2-9C41-A25FCE3D9A94}"/>
              </a:ext>
            </a:extLst>
          </p:cNvPr>
          <p:cNvSpPr/>
          <p:nvPr/>
        </p:nvSpPr>
        <p:spPr>
          <a:xfrm>
            <a:off x="11392272" y="-5"/>
            <a:ext cx="258830" cy="614149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72A7319-31A7-490B-9740-279F48E96737}"/>
              </a:ext>
            </a:extLst>
          </p:cNvPr>
          <p:cNvSpPr/>
          <p:nvPr/>
        </p:nvSpPr>
        <p:spPr>
          <a:xfrm>
            <a:off x="10578526" y="-8069"/>
            <a:ext cx="258830" cy="61414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5ECA0C6-ECC9-4278-AE73-EBF82C6F8067}"/>
              </a:ext>
            </a:extLst>
          </p:cNvPr>
          <p:cNvSpPr/>
          <p:nvPr/>
        </p:nvSpPr>
        <p:spPr>
          <a:xfrm>
            <a:off x="10985399" y="-8070"/>
            <a:ext cx="258830" cy="614149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DE502601-C85B-46E9-9C4C-533429AF3D9D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8367" y="1021367"/>
            <a:ext cx="8475862" cy="4815265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B7FD047A-8D13-4BF7-8E6C-D922DBD01E37}"/>
              </a:ext>
            </a:extLst>
          </p:cNvPr>
          <p:cNvSpPr txBox="1"/>
          <p:nvPr/>
        </p:nvSpPr>
        <p:spPr>
          <a:xfrm>
            <a:off x="2506340" y="1979145"/>
            <a:ext cx="1816142" cy="288189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algn="ctr"/>
            <a:r>
              <a:rPr lang="fr-FR" sz="1400" b="1" dirty="0">
                <a:solidFill>
                  <a:srgbClr val="FF0000"/>
                </a:solidFill>
              </a:rPr>
              <a:t>Tier Client 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9FB3ECC-8491-4EEC-AA39-8077D7AAD48B}"/>
              </a:ext>
            </a:extLst>
          </p:cNvPr>
          <p:cNvSpPr txBox="1"/>
          <p:nvPr/>
        </p:nvSpPr>
        <p:spPr>
          <a:xfrm>
            <a:off x="4425790" y="1969200"/>
            <a:ext cx="1816142" cy="288189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algn="ctr"/>
            <a:r>
              <a:rPr lang="fr-FR" sz="1400" b="1" dirty="0">
                <a:solidFill>
                  <a:srgbClr val="FF0000"/>
                </a:solidFill>
              </a:rPr>
              <a:t>Serveur DNS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93283BA-8F0E-4A6E-9D47-0A6BB475F159}"/>
              </a:ext>
            </a:extLst>
          </p:cNvPr>
          <p:cNvSpPr txBox="1"/>
          <p:nvPr/>
        </p:nvSpPr>
        <p:spPr>
          <a:xfrm>
            <a:off x="6241932" y="1969200"/>
            <a:ext cx="1816142" cy="288189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algn="ctr"/>
            <a:r>
              <a:rPr lang="fr-FR" sz="1400" b="1" dirty="0" err="1">
                <a:solidFill>
                  <a:srgbClr val="FF0000"/>
                </a:solidFill>
              </a:rPr>
              <a:t>Load</a:t>
            </a:r>
            <a:r>
              <a:rPr lang="fr-FR" sz="1400" b="1" dirty="0">
                <a:solidFill>
                  <a:srgbClr val="FF0000"/>
                </a:solidFill>
              </a:rPr>
              <a:t> Balancer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E07DF61-057E-43D1-90A2-3D3D43F06263}"/>
              </a:ext>
            </a:extLst>
          </p:cNvPr>
          <p:cNvSpPr txBox="1"/>
          <p:nvPr/>
        </p:nvSpPr>
        <p:spPr>
          <a:xfrm>
            <a:off x="9035154" y="2012028"/>
            <a:ext cx="1816142" cy="288189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algn="ctr"/>
            <a:r>
              <a:rPr lang="fr-FR" sz="1400" b="1" dirty="0">
                <a:solidFill>
                  <a:srgbClr val="FF0000"/>
                </a:solidFill>
              </a:rPr>
              <a:t>Les instances de service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A571BBF-E64B-4844-8936-CCAF8495BF80}"/>
              </a:ext>
            </a:extLst>
          </p:cNvPr>
          <p:cNvSpPr txBox="1"/>
          <p:nvPr/>
        </p:nvSpPr>
        <p:spPr>
          <a:xfrm>
            <a:off x="8380026" y="4057269"/>
            <a:ext cx="1816142" cy="288189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algn="ctr"/>
            <a:r>
              <a:rPr lang="fr-FR" sz="1400" b="1" dirty="0">
                <a:solidFill>
                  <a:srgbClr val="FF0000"/>
                </a:solidFill>
              </a:rPr>
              <a:t>Stockage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A527095-ED21-474C-AE8F-1FC13B31B2EC}"/>
              </a:ext>
            </a:extLst>
          </p:cNvPr>
          <p:cNvSpPr/>
          <p:nvPr/>
        </p:nvSpPr>
        <p:spPr>
          <a:xfrm flipV="1">
            <a:off x="16366" y="606078"/>
            <a:ext cx="1980227" cy="603492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02D24CC-D3B0-46F0-A285-B4A459A79046}"/>
              </a:ext>
            </a:extLst>
          </p:cNvPr>
          <p:cNvSpPr/>
          <p:nvPr/>
        </p:nvSpPr>
        <p:spPr>
          <a:xfrm>
            <a:off x="35599" y="632658"/>
            <a:ext cx="1926919" cy="686729"/>
          </a:xfrm>
          <a:prstGeom prst="rect">
            <a:avLst/>
          </a:prstGeom>
          <a:ln>
            <a:solidFill>
              <a:srgbClr val="4472C4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5" name="Shape 259">
            <a:extLst>
              <a:ext uri="{FF2B5EF4-FFF2-40B4-BE49-F238E27FC236}">
                <a16:creationId xmlns:a16="http://schemas.microsoft.com/office/drawing/2014/main" id="{3FC344BC-E2D7-4CD4-8E69-BF56B6E5A6EB}"/>
              </a:ext>
            </a:extLst>
          </p:cNvPr>
          <p:cNvSpPr txBox="1">
            <a:spLocks/>
          </p:cNvSpPr>
          <p:nvPr/>
        </p:nvSpPr>
        <p:spPr>
          <a:xfrm>
            <a:off x="16366" y="591827"/>
            <a:ext cx="1956898" cy="740877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1200" dirty="0">
                <a:solidFill>
                  <a:srgbClr val="2F5597"/>
                </a:solidFill>
                <a:latin typeface="CIDFont+F3"/>
              </a:rPr>
              <a:t>Analyse de l’existant</a:t>
            </a:r>
          </a:p>
        </p:txBody>
      </p:sp>
      <p:sp>
        <p:nvSpPr>
          <p:cNvPr id="46" name="Shape 259">
            <a:extLst>
              <a:ext uri="{FF2B5EF4-FFF2-40B4-BE49-F238E27FC236}">
                <a16:creationId xmlns:a16="http://schemas.microsoft.com/office/drawing/2014/main" id="{7076378B-1558-42A8-84C7-CF501C791FB8}"/>
              </a:ext>
            </a:extLst>
          </p:cNvPr>
          <p:cNvSpPr txBox="1">
            <a:spLocks/>
          </p:cNvSpPr>
          <p:nvPr/>
        </p:nvSpPr>
        <p:spPr>
          <a:xfrm>
            <a:off x="35599" y="1874562"/>
            <a:ext cx="1934024" cy="740877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1200" dirty="0">
                <a:solidFill>
                  <a:schemeClr val="bg1"/>
                </a:solidFill>
                <a:latin typeface="CIDFont+F3"/>
              </a:rPr>
              <a:t>Solution proposée</a:t>
            </a:r>
          </a:p>
        </p:txBody>
      </p:sp>
      <p:sp>
        <p:nvSpPr>
          <p:cNvPr id="47" name="Shape 259">
            <a:extLst>
              <a:ext uri="{FF2B5EF4-FFF2-40B4-BE49-F238E27FC236}">
                <a16:creationId xmlns:a16="http://schemas.microsoft.com/office/drawing/2014/main" id="{A97F16CC-141E-4A54-8893-854FD0537426}"/>
              </a:ext>
            </a:extLst>
          </p:cNvPr>
          <p:cNvSpPr txBox="1">
            <a:spLocks/>
          </p:cNvSpPr>
          <p:nvPr/>
        </p:nvSpPr>
        <p:spPr>
          <a:xfrm>
            <a:off x="-43157" y="1646045"/>
            <a:ext cx="2091536" cy="200398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200" b="1" dirty="0">
                <a:solidFill>
                  <a:schemeClr val="bg1"/>
                </a:solidFill>
                <a:latin typeface="Asap Medium" panose="020F0604030102060203" pitchFamily="34" charset="0"/>
              </a:rPr>
              <a:t>Limitations</a:t>
            </a:r>
            <a:endParaRPr lang="id-ID" sz="1200" b="1" dirty="0">
              <a:solidFill>
                <a:schemeClr val="bg1"/>
              </a:solidFill>
              <a:latin typeface="Asap Medium" panose="020F0604030102060203" pitchFamily="34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ECABC6BE-882F-4CD8-9E57-1CEFCE887FB2}"/>
              </a:ext>
            </a:extLst>
          </p:cNvPr>
          <p:cNvSpPr/>
          <p:nvPr/>
        </p:nvSpPr>
        <p:spPr>
          <a:xfrm>
            <a:off x="8823541" y="2414168"/>
            <a:ext cx="2430013" cy="1314608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E1A125C-CC92-4B69-9ECE-ABA5B1CD82D4}"/>
              </a:ext>
            </a:extLst>
          </p:cNvPr>
          <p:cNvSpPr/>
          <p:nvPr/>
        </p:nvSpPr>
        <p:spPr>
          <a:xfrm>
            <a:off x="8380026" y="1349860"/>
            <a:ext cx="3164645" cy="4815265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2C4F8D1B-56DF-4012-A65A-D44106471C34}"/>
              </a:ext>
            </a:extLst>
          </p:cNvPr>
          <p:cNvSpPr/>
          <p:nvPr/>
        </p:nvSpPr>
        <p:spPr>
          <a:xfrm>
            <a:off x="2534226" y="2300216"/>
            <a:ext cx="1600461" cy="1524651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204752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3.33333E-6 L -0.01016 0.28541 " pathEditMode="relative" rAng="0" ptsTypes="AA">
                                      <p:cBhvr>
                                        <p:cTn id="4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08" y="14259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12 2.22222E-6 L 0.16471 0.00717 " pathEditMode="relative" rAng="0" ptsTypes="AA">
                                      <p:cBhvr>
                                        <p:cTn id="6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411" y="417"/>
                                    </p:animMotion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63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6471 0.00833 L 0.31992 0.01389 " pathEditMode="relative" rAng="0" ptsTypes="AA">
                                      <p:cBhvr>
                                        <p:cTn id="7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760" y="278"/>
                                    </p:animMotion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7" grpId="1"/>
      <p:bldP spid="38" grpId="0"/>
      <p:bldP spid="38" grpId="1"/>
      <p:bldP spid="39" grpId="0"/>
      <p:bldP spid="40" grpId="0"/>
      <p:bldP spid="40" grpId="1"/>
      <p:bldP spid="41" grpId="0"/>
      <p:bldP spid="41" grpId="1"/>
      <p:bldP spid="43" grpId="0" animBg="1"/>
      <p:bldP spid="44" grpId="0" animBg="1"/>
      <p:bldP spid="45" grpId="0"/>
      <p:bldP spid="46" grpId="0"/>
      <p:bldP spid="47" grpId="0"/>
      <p:bldP spid="25" grpId="0" animBg="1"/>
      <p:bldP spid="25" grpId="1" animBg="1"/>
      <p:bldP spid="25" grpId="2" animBg="1"/>
      <p:bldP spid="27" grpId="0" animBg="1"/>
      <p:bldP spid="27" grpId="1" animBg="1"/>
      <p:bldP spid="28" grpId="0" animBg="1"/>
      <p:bldP spid="28" grpId="1" animBg="1"/>
      <p:bldP spid="28" grpId="2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9059637" y="6309345"/>
            <a:ext cx="2743200" cy="365125"/>
          </a:xfrm>
        </p:spPr>
        <p:txBody>
          <a:bodyPr/>
          <a:lstStyle/>
          <a:p>
            <a:fld id="{2476CA8B-E376-4C73-9B78-83D007D77E53}" type="slidenum">
              <a:rPr lang="id-ID" smtClean="0">
                <a:solidFill>
                  <a:srgbClr val="FF0000"/>
                </a:solidFill>
                <a:latin typeface="Asap Medium" panose="020F0604030102060203" pitchFamily="34" charset="0"/>
              </a:rPr>
              <a:t>10</a:t>
            </a:fld>
            <a:endParaRPr lang="id-ID" dirty="0">
              <a:solidFill>
                <a:srgbClr val="FF0000"/>
              </a:solidFill>
              <a:latin typeface="Asap Medium" panose="020F0604030102060203" pitchFamily="34" charset="0"/>
            </a:endParaRP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3BADC3A0-4299-41E4-89F4-408E3CCB40B5}"/>
              </a:ext>
            </a:extLst>
          </p:cNvPr>
          <p:cNvSpPr txBox="1">
            <a:spLocks/>
          </p:cNvSpPr>
          <p:nvPr/>
        </p:nvSpPr>
        <p:spPr>
          <a:xfrm>
            <a:off x="2795116" y="832850"/>
            <a:ext cx="8319698" cy="751423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1800" b="1" dirty="0">
                <a:latin typeface="CIDFont+F3"/>
              </a:rPr>
              <a:t>Concept d’auto </a:t>
            </a:r>
            <a:r>
              <a:rPr lang="fr-FR" sz="1800" b="1" dirty="0" err="1">
                <a:latin typeface="CIDFont+F3"/>
              </a:rPr>
              <a:t>scaling</a:t>
            </a:r>
            <a:r>
              <a:rPr lang="fr-FR" sz="1800" b="1" dirty="0">
                <a:latin typeface="CIDFont+F3"/>
              </a:rPr>
              <a:t> </a:t>
            </a:r>
            <a:r>
              <a:rPr lang="fr-FR" sz="1800" dirty="0">
                <a:latin typeface="CIDFont+F3"/>
              </a:rPr>
              <a:t>: L’auto </a:t>
            </a:r>
            <a:r>
              <a:rPr lang="fr-FR" sz="1800" dirty="0" err="1">
                <a:latin typeface="CIDFont+F3"/>
              </a:rPr>
              <a:t>scaling</a:t>
            </a:r>
            <a:r>
              <a:rPr lang="fr-FR" sz="1800" dirty="0">
                <a:latin typeface="CIDFont+F3"/>
              </a:rPr>
              <a:t> est une méthode qui permet d’avoir le nombre de machines nécessaires pour gérer la charge d’une application.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35E27934-CB8D-4DEA-93C3-8D8F80A9A1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7440" y="3292929"/>
            <a:ext cx="7804560" cy="1300388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70E61DD7-9573-47AD-925E-E621583399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3376" y="1731937"/>
            <a:ext cx="7668624" cy="1300387"/>
          </a:xfrm>
          <a:prstGeom prst="rect">
            <a:avLst/>
          </a:prstGeom>
        </p:spPr>
      </p:pic>
      <p:sp>
        <p:nvSpPr>
          <p:cNvPr id="47" name="Oval 46">
            <a:extLst>
              <a:ext uri="{FF2B5EF4-FFF2-40B4-BE49-F238E27FC236}">
                <a16:creationId xmlns:a16="http://schemas.microsoft.com/office/drawing/2014/main" id="{BDEAE4C3-5BCD-49A7-B683-BAF3D3EDAB2F}"/>
              </a:ext>
            </a:extLst>
          </p:cNvPr>
          <p:cNvSpPr/>
          <p:nvPr/>
        </p:nvSpPr>
        <p:spPr>
          <a:xfrm>
            <a:off x="2184360" y="2171536"/>
            <a:ext cx="1980227" cy="538636"/>
          </a:xfrm>
          <a:prstGeom prst="ellipse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Flux : 1 </a:t>
            </a:r>
            <a:r>
              <a:rPr lang="fr-FR" sz="1200" dirty="0" err="1"/>
              <a:t>req</a:t>
            </a:r>
            <a:r>
              <a:rPr lang="fr-FR" sz="1200" dirty="0"/>
              <a:t>/sec 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48859A58-3AF6-45B7-B9E6-D90C096CBDC4}"/>
              </a:ext>
            </a:extLst>
          </p:cNvPr>
          <p:cNvSpPr/>
          <p:nvPr/>
        </p:nvSpPr>
        <p:spPr>
          <a:xfrm>
            <a:off x="2184360" y="3749592"/>
            <a:ext cx="1980227" cy="504507"/>
          </a:xfrm>
          <a:prstGeom prst="ellipse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Flux = 4 </a:t>
            </a:r>
            <a:r>
              <a:rPr lang="fr-FR" sz="1200" dirty="0" err="1"/>
              <a:t>req</a:t>
            </a:r>
            <a:r>
              <a:rPr lang="fr-FR" sz="1200" dirty="0"/>
              <a:t>/sec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0F793D07-B766-454F-9DDA-B41FDC58DC97}"/>
              </a:ext>
            </a:extLst>
          </p:cNvPr>
          <p:cNvCxnSpPr/>
          <p:nvPr/>
        </p:nvCxnSpPr>
        <p:spPr>
          <a:xfrm>
            <a:off x="3171040" y="2902591"/>
            <a:ext cx="0" cy="643855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D989110A-5DA3-4CFA-B65D-9CD8ECF3EE62}"/>
              </a:ext>
            </a:extLst>
          </p:cNvPr>
          <p:cNvSpPr txBox="1"/>
          <p:nvPr/>
        </p:nvSpPr>
        <p:spPr>
          <a:xfrm>
            <a:off x="1749603" y="3040713"/>
            <a:ext cx="2032467" cy="260602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algn="ctr"/>
            <a:r>
              <a:rPr lang="fr-FR" sz="1100" b="1" dirty="0">
                <a:solidFill>
                  <a:srgbClr val="FF0000"/>
                </a:solidFill>
              </a:rPr>
              <a:t>Après 1 min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EC789CFD-E020-48FB-A25F-003AF58004BD}"/>
              </a:ext>
            </a:extLst>
          </p:cNvPr>
          <p:cNvSpPr/>
          <p:nvPr/>
        </p:nvSpPr>
        <p:spPr>
          <a:xfrm>
            <a:off x="2239649" y="5210674"/>
            <a:ext cx="1980227" cy="504507"/>
          </a:xfrm>
          <a:prstGeom prst="ellipse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Flux = 3 </a:t>
            </a:r>
            <a:r>
              <a:rPr lang="fr-FR" sz="1200" dirty="0" err="1"/>
              <a:t>req</a:t>
            </a:r>
            <a:r>
              <a:rPr lang="fr-FR" sz="1200" dirty="0"/>
              <a:t>/sec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6BA90B2-ED7C-467A-AB58-FAB1F44228E3}"/>
              </a:ext>
            </a:extLst>
          </p:cNvPr>
          <p:cNvSpPr txBox="1"/>
          <p:nvPr/>
        </p:nvSpPr>
        <p:spPr>
          <a:xfrm>
            <a:off x="1749602" y="4604885"/>
            <a:ext cx="2032467" cy="287953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algn="ctr"/>
            <a:r>
              <a:rPr lang="fr-FR" sz="1100" b="1" dirty="0">
                <a:solidFill>
                  <a:srgbClr val="FF0000"/>
                </a:solidFill>
              </a:rPr>
              <a:t>Après 2 min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E5695CB-CEEC-4B90-AA0B-3E782FA4A1BF}"/>
              </a:ext>
            </a:extLst>
          </p:cNvPr>
          <p:cNvCxnSpPr/>
          <p:nvPr/>
        </p:nvCxnSpPr>
        <p:spPr>
          <a:xfrm>
            <a:off x="3222772" y="4426935"/>
            <a:ext cx="0" cy="643855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32">
            <a:extLst>
              <a:ext uri="{FF2B5EF4-FFF2-40B4-BE49-F238E27FC236}">
                <a16:creationId xmlns:a16="http://schemas.microsoft.com/office/drawing/2014/main" id="{DC7CE058-5BF9-46B2-8DF9-40D672995B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5888" y="4766885"/>
            <a:ext cx="7539995" cy="1241728"/>
          </a:xfrm>
          <a:prstGeom prst="rect">
            <a:avLst/>
          </a:prstGeom>
        </p:spPr>
      </p:pic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3A513865-514D-42FB-8CF5-7108EE85FCD6}"/>
              </a:ext>
            </a:extLst>
          </p:cNvPr>
          <p:cNvSpPr/>
          <p:nvPr/>
        </p:nvSpPr>
        <p:spPr>
          <a:xfrm>
            <a:off x="8766495" y="4903010"/>
            <a:ext cx="1166071" cy="1179008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EC2E5AE-F5D3-47DE-A16C-5F660B1D3941}"/>
              </a:ext>
            </a:extLst>
          </p:cNvPr>
          <p:cNvSpPr txBox="1"/>
          <p:nvPr/>
        </p:nvSpPr>
        <p:spPr>
          <a:xfrm>
            <a:off x="9438764" y="4694474"/>
            <a:ext cx="2032467" cy="595618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algn="ctr"/>
            <a:r>
              <a:rPr lang="fr-FR" sz="1100" b="1" dirty="0">
                <a:solidFill>
                  <a:srgbClr val="FF0000"/>
                </a:solidFill>
              </a:rPr>
              <a:t>1 machine </a:t>
            </a:r>
            <a:r>
              <a:rPr lang="fr-FR" sz="1100" b="1" dirty="0" err="1">
                <a:solidFill>
                  <a:srgbClr val="FF0000"/>
                </a:solidFill>
              </a:rPr>
              <a:t>suprimée</a:t>
            </a:r>
            <a:endParaRPr lang="fr-FR" sz="1100" b="1" dirty="0">
              <a:solidFill>
                <a:srgbClr val="FF0000"/>
              </a:solidFill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110F8CBF-7B9A-41E2-B98D-F10E2C4F21CC}"/>
              </a:ext>
            </a:extLst>
          </p:cNvPr>
          <p:cNvSpPr/>
          <p:nvPr/>
        </p:nvSpPr>
        <p:spPr>
          <a:xfrm>
            <a:off x="7306812" y="3439393"/>
            <a:ext cx="2474752" cy="1241728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1197673-7F93-48B1-A8F8-2D6AB935895E}"/>
              </a:ext>
            </a:extLst>
          </p:cNvPr>
          <p:cNvSpPr txBox="1"/>
          <p:nvPr/>
        </p:nvSpPr>
        <p:spPr>
          <a:xfrm>
            <a:off x="7410508" y="3098396"/>
            <a:ext cx="2032467" cy="595618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algn="ctr"/>
            <a:r>
              <a:rPr lang="fr-FR" sz="1100" b="1" dirty="0">
                <a:solidFill>
                  <a:srgbClr val="FF0000"/>
                </a:solidFill>
              </a:rPr>
              <a:t>Deux machines créées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6502D417-8111-4521-8F2E-D05E10400A25}"/>
              </a:ext>
            </a:extLst>
          </p:cNvPr>
          <p:cNvSpPr/>
          <p:nvPr/>
        </p:nvSpPr>
        <p:spPr>
          <a:xfrm>
            <a:off x="4512629" y="1912690"/>
            <a:ext cx="2659955" cy="1132011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D7C255F-4376-4ADB-A7A1-7CCA512B0C95}"/>
              </a:ext>
            </a:extLst>
          </p:cNvPr>
          <p:cNvSpPr txBox="1"/>
          <p:nvPr/>
        </p:nvSpPr>
        <p:spPr>
          <a:xfrm>
            <a:off x="4616326" y="1461977"/>
            <a:ext cx="2184571" cy="595618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algn="ctr"/>
            <a:r>
              <a:rPr lang="fr-FR" sz="1100" b="1" dirty="0">
                <a:solidFill>
                  <a:srgbClr val="FF0000"/>
                </a:solidFill>
              </a:rPr>
              <a:t>Nombre </a:t>
            </a:r>
            <a:r>
              <a:rPr lang="fr-FR" sz="1100" b="1" dirty="0" err="1">
                <a:solidFill>
                  <a:srgbClr val="FF0000"/>
                </a:solidFill>
              </a:rPr>
              <a:t>workers</a:t>
            </a:r>
            <a:r>
              <a:rPr lang="fr-FR" sz="1100" b="1" dirty="0">
                <a:solidFill>
                  <a:srgbClr val="FF0000"/>
                </a:solidFill>
              </a:rPr>
              <a:t> &gt; 2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5F407C5-B5D4-4AA5-A404-19C9DE2BDE61}"/>
              </a:ext>
            </a:extLst>
          </p:cNvPr>
          <p:cNvSpPr/>
          <p:nvPr/>
        </p:nvSpPr>
        <p:spPr>
          <a:xfrm flipV="1">
            <a:off x="16366" y="606078"/>
            <a:ext cx="1980227" cy="603492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D6B14F6-4E85-4B7E-A95E-AE5719900BAF}"/>
              </a:ext>
            </a:extLst>
          </p:cNvPr>
          <p:cNvSpPr/>
          <p:nvPr/>
        </p:nvSpPr>
        <p:spPr>
          <a:xfrm>
            <a:off x="35599" y="632658"/>
            <a:ext cx="1926919" cy="686729"/>
          </a:xfrm>
          <a:prstGeom prst="rect">
            <a:avLst/>
          </a:prstGeom>
          <a:ln>
            <a:solidFill>
              <a:srgbClr val="4472C4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5" name="Shape 259">
            <a:extLst>
              <a:ext uri="{FF2B5EF4-FFF2-40B4-BE49-F238E27FC236}">
                <a16:creationId xmlns:a16="http://schemas.microsoft.com/office/drawing/2014/main" id="{2D4ED843-3C39-4775-A37A-174DA31FD9B0}"/>
              </a:ext>
            </a:extLst>
          </p:cNvPr>
          <p:cNvSpPr txBox="1">
            <a:spLocks/>
          </p:cNvSpPr>
          <p:nvPr/>
        </p:nvSpPr>
        <p:spPr>
          <a:xfrm>
            <a:off x="16366" y="591827"/>
            <a:ext cx="1956898" cy="740877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1200" dirty="0">
                <a:solidFill>
                  <a:srgbClr val="2F5597"/>
                </a:solidFill>
                <a:latin typeface="CIDFont+F3"/>
              </a:rPr>
              <a:t>Analyse de l’existant</a:t>
            </a:r>
          </a:p>
        </p:txBody>
      </p:sp>
      <p:sp>
        <p:nvSpPr>
          <p:cNvPr id="59" name="Shape 259">
            <a:extLst>
              <a:ext uri="{FF2B5EF4-FFF2-40B4-BE49-F238E27FC236}">
                <a16:creationId xmlns:a16="http://schemas.microsoft.com/office/drawing/2014/main" id="{B90DDA13-6721-46D5-B4CA-711D718E3559}"/>
              </a:ext>
            </a:extLst>
          </p:cNvPr>
          <p:cNvSpPr txBox="1">
            <a:spLocks/>
          </p:cNvSpPr>
          <p:nvPr/>
        </p:nvSpPr>
        <p:spPr>
          <a:xfrm>
            <a:off x="35599" y="1874562"/>
            <a:ext cx="1934024" cy="740877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1200" dirty="0">
                <a:solidFill>
                  <a:schemeClr val="bg1"/>
                </a:solidFill>
                <a:latin typeface="CIDFont+F3"/>
              </a:rPr>
              <a:t>Solution proposée</a:t>
            </a:r>
          </a:p>
        </p:txBody>
      </p:sp>
      <p:sp>
        <p:nvSpPr>
          <p:cNvPr id="60" name="Shape 259">
            <a:extLst>
              <a:ext uri="{FF2B5EF4-FFF2-40B4-BE49-F238E27FC236}">
                <a16:creationId xmlns:a16="http://schemas.microsoft.com/office/drawing/2014/main" id="{946A649C-ABA8-41A1-9BAE-8C39EC991B7A}"/>
              </a:ext>
            </a:extLst>
          </p:cNvPr>
          <p:cNvSpPr txBox="1">
            <a:spLocks/>
          </p:cNvSpPr>
          <p:nvPr/>
        </p:nvSpPr>
        <p:spPr>
          <a:xfrm>
            <a:off x="-43157" y="1646045"/>
            <a:ext cx="2091536" cy="200398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200" b="1" dirty="0">
                <a:solidFill>
                  <a:schemeClr val="bg1"/>
                </a:solidFill>
                <a:latin typeface="Asap Medium" panose="020F0604030102060203" pitchFamily="34" charset="0"/>
              </a:rPr>
              <a:t>Limitations</a:t>
            </a:r>
            <a:endParaRPr lang="id-ID" sz="1200" b="1" dirty="0">
              <a:solidFill>
                <a:schemeClr val="bg1"/>
              </a:solidFill>
              <a:latin typeface="Asap Medium" panose="020F0604030102060203" pitchFamily="34" charset="0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9BF10FE-76BD-4185-86DC-31D169C5A913}"/>
              </a:ext>
            </a:extLst>
          </p:cNvPr>
          <p:cNvSpPr/>
          <p:nvPr/>
        </p:nvSpPr>
        <p:spPr>
          <a:xfrm>
            <a:off x="0" y="-18689"/>
            <a:ext cx="9321206" cy="6141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65" name="Shape 222">
            <a:extLst>
              <a:ext uri="{FF2B5EF4-FFF2-40B4-BE49-F238E27FC236}">
                <a16:creationId xmlns:a16="http://schemas.microsoft.com/office/drawing/2014/main" id="{94074E09-D159-408F-928F-E2DDA8C6E74D}"/>
              </a:ext>
            </a:extLst>
          </p:cNvPr>
          <p:cNvSpPr/>
          <p:nvPr/>
        </p:nvSpPr>
        <p:spPr>
          <a:xfrm>
            <a:off x="682388" y="163467"/>
            <a:ext cx="4741083" cy="287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>
              <a:lnSpc>
                <a:spcPct val="90000"/>
              </a:lnSpc>
              <a:defRPr sz="11100">
                <a:solidFill>
                  <a:srgbClr val="FFFFFF"/>
                </a:solidFill>
                <a:latin typeface="+mn-lt"/>
                <a:ea typeface="+mn-ea"/>
                <a:cs typeface="+mn-cs"/>
                <a:sym typeface="Montserrat Semi Bold"/>
              </a:defRPr>
            </a:lvl1pPr>
          </a:lstStyle>
          <a:p>
            <a:r>
              <a:rPr lang="en-GB" sz="1800" b="1" dirty="0">
                <a:latin typeface="Asap Medium" panose="020F0604030102060203" pitchFamily="34" charset="0"/>
              </a:rPr>
              <a:t>Etude </a:t>
            </a:r>
            <a:r>
              <a:rPr lang="en-GB" sz="1800" b="1" dirty="0" err="1">
                <a:latin typeface="Asap Medium" panose="020F0604030102060203" pitchFamily="34" charset="0"/>
              </a:rPr>
              <a:t>Préliminaire</a:t>
            </a:r>
            <a:endParaRPr lang="id-ID" sz="1800" b="1" dirty="0">
              <a:latin typeface="Asap Medium" panose="020F0604030102060203" pitchFamily="34" charset="0"/>
            </a:endParaRPr>
          </a:p>
        </p:txBody>
      </p:sp>
      <p:sp>
        <p:nvSpPr>
          <p:cNvPr id="67" name="Shape 223">
            <a:extLst>
              <a:ext uri="{FF2B5EF4-FFF2-40B4-BE49-F238E27FC236}">
                <a16:creationId xmlns:a16="http://schemas.microsoft.com/office/drawing/2014/main" id="{3244AEDB-8DAE-4D9C-A44E-CCC2C486B8CF}"/>
              </a:ext>
            </a:extLst>
          </p:cNvPr>
          <p:cNvSpPr/>
          <p:nvPr/>
        </p:nvSpPr>
        <p:spPr>
          <a:xfrm>
            <a:off x="110246" y="42514"/>
            <a:ext cx="431835" cy="431835"/>
          </a:xfrm>
          <a:prstGeom prst="ellipse">
            <a:avLst/>
          </a:prstGeom>
          <a:solidFill>
            <a:srgbClr val="FFFFFF"/>
          </a:solidFill>
          <a:ln w="3175">
            <a:solidFill>
              <a:srgbClr val="A6AAA9"/>
            </a:solidFill>
          </a:ln>
        </p:spPr>
        <p:txBody>
          <a:bodyPr lIns="14288" tIns="14288" rIns="14288" bIns="14288" anchor="ctr"/>
          <a:lstStyle/>
          <a:p>
            <a:endParaRPr sz="1500" b="1">
              <a:latin typeface="Asap Medium" panose="020F0604030102060203" pitchFamily="34" charset="0"/>
            </a:endParaRPr>
          </a:p>
        </p:txBody>
      </p:sp>
      <p:sp>
        <p:nvSpPr>
          <p:cNvPr id="69" name="Shape 222">
            <a:extLst>
              <a:ext uri="{FF2B5EF4-FFF2-40B4-BE49-F238E27FC236}">
                <a16:creationId xmlns:a16="http://schemas.microsoft.com/office/drawing/2014/main" id="{B27DC340-D4AF-48B3-8096-66DA63F75644}"/>
              </a:ext>
            </a:extLst>
          </p:cNvPr>
          <p:cNvSpPr/>
          <p:nvPr/>
        </p:nvSpPr>
        <p:spPr>
          <a:xfrm>
            <a:off x="90194" y="109658"/>
            <a:ext cx="492801" cy="315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>
              <a:lnSpc>
                <a:spcPct val="90000"/>
              </a:lnSpc>
              <a:defRPr sz="11100">
                <a:solidFill>
                  <a:srgbClr val="FFFFFF"/>
                </a:solidFill>
                <a:latin typeface="+mn-lt"/>
                <a:ea typeface="+mn-ea"/>
                <a:cs typeface="+mn-cs"/>
                <a:sym typeface="Montserrat Semi Bold"/>
              </a:defRPr>
            </a:lvl1pPr>
          </a:lstStyle>
          <a:p>
            <a:pPr algn="ctr"/>
            <a:r>
              <a:rPr lang="en-GB" sz="2000" b="1" dirty="0">
                <a:solidFill>
                  <a:schemeClr val="accent1"/>
                </a:solidFill>
                <a:latin typeface="Asap Medium" panose="020F0604030102060203" pitchFamily="34" charset="0"/>
              </a:rPr>
              <a:t>III</a:t>
            </a:r>
            <a:endParaRPr lang="id-ID" sz="1600" b="1" dirty="0">
              <a:solidFill>
                <a:schemeClr val="accent1"/>
              </a:solidFill>
              <a:latin typeface="Asap Medium" panose="020F0604030102060203" pitchFamily="34" charset="0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252E2753-2763-4AD4-BA35-F64D666B6465}"/>
              </a:ext>
            </a:extLst>
          </p:cNvPr>
          <p:cNvSpPr/>
          <p:nvPr/>
        </p:nvSpPr>
        <p:spPr>
          <a:xfrm>
            <a:off x="9431452" y="-4"/>
            <a:ext cx="258830" cy="6141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9D297B70-8061-4BA8-B136-2D8FA7B810A7}"/>
              </a:ext>
            </a:extLst>
          </p:cNvPr>
          <p:cNvSpPr/>
          <p:nvPr/>
        </p:nvSpPr>
        <p:spPr>
          <a:xfrm>
            <a:off x="9813810" y="0"/>
            <a:ext cx="258830" cy="61414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13A9F7C2-7C91-4A5D-947D-0D51C54E5CFA}"/>
              </a:ext>
            </a:extLst>
          </p:cNvPr>
          <p:cNvSpPr/>
          <p:nvPr/>
        </p:nvSpPr>
        <p:spPr>
          <a:xfrm>
            <a:off x="10196168" y="-8069"/>
            <a:ext cx="258830" cy="61414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 dirty="0">
              <a:latin typeface="Asap Medium" panose="020F0604030102060203" pitchFamily="34" charset="0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5B6A2E94-3707-4D43-BD33-550D7FF4F0C6}"/>
              </a:ext>
            </a:extLst>
          </p:cNvPr>
          <p:cNvSpPr/>
          <p:nvPr/>
        </p:nvSpPr>
        <p:spPr>
          <a:xfrm>
            <a:off x="11392272" y="-5"/>
            <a:ext cx="258830" cy="614149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8431C79E-120E-4C24-A167-6C4A5CBA24AD}"/>
              </a:ext>
            </a:extLst>
          </p:cNvPr>
          <p:cNvSpPr/>
          <p:nvPr/>
        </p:nvSpPr>
        <p:spPr>
          <a:xfrm>
            <a:off x="10578526" y="-8069"/>
            <a:ext cx="258830" cy="61414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CAE60A09-447D-4F70-B394-BB29ABEFBD40}"/>
              </a:ext>
            </a:extLst>
          </p:cNvPr>
          <p:cNvSpPr/>
          <p:nvPr/>
        </p:nvSpPr>
        <p:spPr>
          <a:xfrm>
            <a:off x="10985399" y="-8070"/>
            <a:ext cx="258830" cy="614149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6066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48" grpId="0" animBg="1"/>
      <p:bldP spid="50" grpId="0"/>
      <p:bldP spid="30" grpId="0" animBg="1"/>
      <p:bldP spid="31" grpId="0"/>
      <p:bldP spid="34" grpId="0" animBg="1"/>
      <p:bldP spid="52" grpId="0"/>
      <p:bldP spid="35" grpId="0" animBg="1"/>
      <p:bldP spid="35" grpId="1" animBg="1"/>
      <p:bldP spid="36" grpId="0"/>
      <p:bldP spid="36" grpId="1"/>
      <p:bldP spid="37" grpId="0" animBg="1"/>
      <p:bldP spid="37" grpId="1" animBg="1"/>
      <p:bldP spid="38" grpId="0"/>
      <p:bldP spid="38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>
            <a:extLst>
              <a:ext uri="{FF2B5EF4-FFF2-40B4-BE49-F238E27FC236}">
                <a16:creationId xmlns:a16="http://schemas.microsoft.com/office/drawing/2014/main" id="{B403949B-40DD-489B-ABAD-322715A3A7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7362" y="982493"/>
            <a:ext cx="9649838" cy="5496127"/>
          </a:xfrm>
          <a:prstGeom prst="rect">
            <a:avLst/>
          </a:prstGeom>
        </p:spPr>
      </p:pic>
      <p:sp>
        <p:nvSpPr>
          <p:cNvPr id="73" name="Rectangle 72">
            <a:extLst>
              <a:ext uri="{FF2B5EF4-FFF2-40B4-BE49-F238E27FC236}">
                <a16:creationId xmlns:a16="http://schemas.microsoft.com/office/drawing/2014/main" id="{DBC89666-CEA1-4BFE-A7F3-BA30895DF237}"/>
              </a:ext>
            </a:extLst>
          </p:cNvPr>
          <p:cNvSpPr/>
          <p:nvPr/>
        </p:nvSpPr>
        <p:spPr>
          <a:xfrm flipV="1">
            <a:off x="0" y="591826"/>
            <a:ext cx="1996593" cy="60491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-1" y="632658"/>
            <a:ext cx="1984917" cy="686729"/>
          </a:xfrm>
          <a:prstGeom prst="rect">
            <a:avLst/>
          </a:prstGeom>
          <a:ln>
            <a:solidFill>
              <a:srgbClr val="4472C4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Rectangle 41"/>
          <p:cNvSpPr/>
          <p:nvPr/>
        </p:nvSpPr>
        <p:spPr>
          <a:xfrm>
            <a:off x="0" y="-18689"/>
            <a:ext cx="9321206" cy="6141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62" name="Shape 222"/>
          <p:cNvSpPr/>
          <p:nvPr/>
        </p:nvSpPr>
        <p:spPr>
          <a:xfrm>
            <a:off x="682388" y="163467"/>
            <a:ext cx="4741083" cy="287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>
              <a:lnSpc>
                <a:spcPct val="90000"/>
              </a:lnSpc>
              <a:defRPr sz="11100">
                <a:solidFill>
                  <a:srgbClr val="FFFFFF"/>
                </a:solidFill>
                <a:latin typeface="+mn-lt"/>
                <a:ea typeface="+mn-ea"/>
                <a:cs typeface="+mn-cs"/>
                <a:sym typeface="Montserrat Semi Bold"/>
              </a:defRPr>
            </a:lvl1pPr>
          </a:lstStyle>
          <a:p>
            <a:r>
              <a:rPr lang="en-GB" sz="1800" b="1" dirty="0">
                <a:latin typeface="Asap Medium" panose="020F0604030102060203" pitchFamily="34" charset="0"/>
              </a:rPr>
              <a:t>Etude </a:t>
            </a:r>
            <a:r>
              <a:rPr lang="en-GB" sz="1800" b="1" dirty="0" err="1">
                <a:latin typeface="Asap Medium" panose="020F0604030102060203" pitchFamily="34" charset="0"/>
              </a:rPr>
              <a:t>Préliminaire</a:t>
            </a:r>
            <a:endParaRPr lang="id-ID" sz="1800" b="1" dirty="0">
              <a:latin typeface="Asap Medium" panose="020F0604030102060203" pitchFamily="34" charset="0"/>
            </a:endParaRPr>
          </a:p>
        </p:txBody>
      </p:sp>
      <p:sp>
        <p:nvSpPr>
          <p:cNvPr id="63" name="Shape 223"/>
          <p:cNvSpPr/>
          <p:nvPr/>
        </p:nvSpPr>
        <p:spPr>
          <a:xfrm>
            <a:off x="110246" y="42514"/>
            <a:ext cx="431835" cy="431835"/>
          </a:xfrm>
          <a:prstGeom prst="ellipse">
            <a:avLst/>
          </a:prstGeom>
          <a:solidFill>
            <a:srgbClr val="FFFFFF"/>
          </a:solidFill>
          <a:ln w="3175">
            <a:solidFill>
              <a:srgbClr val="A6AAA9"/>
            </a:solidFill>
          </a:ln>
        </p:spPr>
        <p:txBody>
          <a:bodyPr lIns="14288" tIns="14288" rIns="14288" bIns="14288" anchor="ctr"/>
          <a:lstStyle/>
          <a:p>
            <a:endParaRPr sz="1500" b="1">
              <a:latin typeface="Asap Medium" panose="020F0604030102060203" pitchFamily="34" charset="0"/>
            </a:endParaRPr>
          </a:p>
        </p:txBody>
      </p:sp>
      <p:sp>
        <p:nvSpPr>
          <p:cNvPr id="64" name="Shape 222"/>
          <p:cNvSpPr/>
          <p:nvPr/>
        </p:nvSpPr>
        <p:spPr>
          <a:xfrm>
            <a:off x="90194" y="109658"/>
            <a:ext cx="492801" cy="315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>
              <a:lnSpc>
                <a:spcPct val="90000"/>
              </a:lnSpc>
              <a:defRPr sz="11100">
                <a:solidFill>
                  <a:srgbClr val="FFFFFF"/>
                </a:solidFill>
                <a:latin typeface="+mn-lt"/>
                <a:ea typeface="+mn-ea"/>
                <a:cs typeface="+mn-cs"/>
                <a:sym typeface="Montserrat Semi Bold"/>
              </a:defRPr>
            </a:lvl1pPr>
          </a:lstStyle>
          <a:p>
            <a:pPr algn="ctr"/>
            <a:r>
              <a:rPr lang="en-GB" sz="2000" b="1" dirty="0">
                <a:solidFill>
                  <a:schemeClr val="accent1"/>
                </a:solidFill>
                <a:latin typeface="Asap Medium" panose="020F0604030102060203" pitchFamily="34" charset="0"/>
              </a:rPr>
              <a:t>III</a:t>
            </a:r>
            <a:endParaRPr lang="id-ID" sz="1600" b="1" dirty="0">
              <a:solidFill>
                <a:schemeClr val="accent1"/>
              </a:solidFill>
              <a:latin typeface="Asap Medium" panose="020F0604030102060203" pitchFamily="34" charset="0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9431452" y="-4"/>
            <a:ext cx="258830" cy="6141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68" name="Shape 259"/>
          <p:cNvSpPr txBox="1">
            <a:spLocks/>
          </p:cNvSpPr>
          <p:nvPr/>
        </p:nvSpPr>
        <p:spPr>
          <a:xfrm>
            <a:off x="35599" y="591827"/>
            <a:ext cx="1937665" cy="740877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1200" dirty="0">
                <a:solidFill>
                  <a:srgbClr val="2F5597"/>
                </a:solidFill>
                <a:latin typeface="CIDFont+F3"/>
              </a:rPr>
              <a:t>Analyse de l’existant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9059637" y="6309345"/>
            <a:ext cx="2743200" cy="365125"/>
          </a:xfrm>
        </p:spPr>
        <p:txBody>
          <a:bodyPr/>
          <a:lstStyle/>
          <a:p>
            <a:fld id="{2476CA8B-E376-4C73-9B78-83D007D77E53}" type="slidenum">
              <a:rPr lang="id-ID" smtClean="0">
                <a:solidFill>
                  <a:srgbClr val="FF0000"/>
                </a:solidFill>
                <a:latin typeface="Asap Medium" panose="020F0604030102060203" pitchFamily="34" charset="0"/>
              </a:rPr>
              <a:t>11</a:t>
            </a:fld>
            <a:endParaRPr lang="id-ID" dirty="0">
              <a:solidFill>
                <a:srgbClr val="FF0000"/>
              </a:solidFill>
              <a:latin typeface="Asap Medium" panose="020F0604030102060203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ECCB045-FE19-4561-8017-9B40A020F357}"/>
              </a:ext>
            </a:extLst>
          </p:cNvPr>
          <p:cNvSpPr/>
          <p:nvPr/>
        </p:nvSpPr>
        <p:spPr>
          <a:xfrm>
            <a:off x="9813810" y="0"/>
            <a:ext cx="258830" cy="61414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3DE1CC4-1551-4828-A800-63DD77E86870}"/>
              </a:ext>
            </a:extLst>
          </p:cNvPr>
          <p:cNvSpPr/>
          <p:nvPr/>
        </p:nvSpPr>
        <p:spPr>
          <a:xfrm>
            <a:off x="10196168" y="-8069"/>
            <a:ext cx="258830" cy="61414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 dirty="0">
              <a:latin typeface="Asap Medium" panose="020F0604030102060203" pitchFamily="34" charset="0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304A858-F1EF-46C2-9C41-A25FCE3D9A94}"/>
              </a:ext>
            </a:extLst>
          </p:cNvPr>
          <p:cNvSpPr/>
          <p:nvPr/>
        </p:nvSpPr>
        <p:spPr>
          <a:xfrm>
            <a:off x="11392272" y="-5"/>
            <a:ext cx="258830" cy="614149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72A7319-31A7-490B-9740-279F48E96737}"/>
              </a:ext>
            </a:extLst>
          </p:cNvPr>
          <p:cNvSpPr/>
          <p:nvPr/>
        </p:nvSpPr>
        <p:spPr>
          <a:xfrm>
            <a:off x="10578526" y="-8069"/>
            <a:ext cx="258830" cy="61414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5ECA0C6-ECC9-4278-AE73-EBF82C6F8067}"/>
              </a:ext>
            </a:extLst>
          </p:cNvPr>
          <p:cNvSpPr/>
          <p:nvPr/>
        </p:nvSpPr>
        <p:spPr>
          <a:xfrm>
            <a:off x="10985399" y="-8070"/>
            <a:ext cx="258830" cy="614149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27" name="Shape 259"/>
          <p:cNvSpPr txBox="1">
            <a:spLocks/>
          </p:cNvSpPr>
          <p:nvPr/>
        </p:nvSpPr>
        <p:spPr>
          <a:xfrm>
            <a:off x="-16217" y="1663490"/>
            <a:ext cx="2091536" cy="200398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200" b="1" dirty="0">
                <a:solidFill>
                  <a:schemeClr val="bg1"/>
                </a:solidFill>
                <a:latin typeface="Asap Medium" panose="020F0604030102060203" pitchFamily="34" charset="0"/>
              </a:rPr>
              <a:t>Limitations</a:t>
            </a:r>
            <a:endParaRPr lang="id-ID" sz="1200" b="1" dirty="0">
              <a:solidFill>
                <a:schemeClr val="bg1"/>
              </a:solidFill>
              <a:latin typeface="Asap Medium" panose="020F0604030102060203" pitchFamily="34" charset="0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B0D5C67-80CF-4453-93A2-EE7BBE14CF01}"/>
              </a:ext>
            </a:extLst>
          </p:cNvPr>
          <p:cNvCxnSpPr>
            <a:cxnSpLocks/>
          </p:cNvCxnSpPr>
          <p:nvPr/>
        </p:nvCxnSpPr>
        <p:spPr>
          <a:xfrm flipH="1" flipV="1">
            <a:off x="5636279" y="3101054"/>
            <a:ext cx="563359" cy="26437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Picture 24">
            <a:extLst>
              <a:ext uri="{FF2B5EF4-FFF2-40B4-BE49-F238E27FC236}">
                <a16:creationId xmlns:a16="http://schemas.microsoft.com/office/drawing/2014/main" id="{A445D237-FBF0-4749-982C-EBE4AC95A9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9390" y="1639266"/>
            <a:ext cx="594081" cy="657225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BAE1CBCC-3008-43A8-B1F8-D378C53DAB03}"/>
              </a:ext>
            </a:extLst>
          </p:cNvPr>
          <p:cNvSpPr txBox="1"/>
          <p:nvPr/>
        </p:nvSpPr>
        <p:spPr>
          <a:xfrm>
            <a:off x="6199638" y="3335184"/>
            <a:ext cx="856845" cy="406064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algn="ctr"/>
            <a:r>
              <a:rPr lang="fr-FR" sz="1100" b="1" dirty="0">
                <a:solidFill>
                  <a:srgbClr val="FF0000"/>
                </a:solidFill>
              </a:rPr>
              <a:t>Elément clé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828593F-2864-489B-803A-569BCE374FF1}"/>
              </a:ext>
            </a:extLst>
          </p:cNvPr>
          <p:cNvSpPr/>
          <p:nvPr/>
        </p:nvSpPr>
        <p:spPr>
          <a:xfrm>
            <a:off x="2041414" y="1332704"/>
            <a:ext cx="3310266" cy="2366837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dirty="0"/>
          </a:p>
        </p:txBody>
      </p:sp>
      <p:sp>
        <p:nvSpPr>
          <p:cNvPr id="35" name="Shape 259">
            <a:extLst>
              <a:ext uri="{FF2B5EF4-FFF2-40B4-BE49-F238E27FC236}">
                <a16:creationId xmlns:a16="http://schemas.microsoft.com/office/drawing/2014/main" id="{C28B0E9D-A893-418A-B9BC-235667834279}"/>
              </a:ext>
            </a:extLst>
          </p:cNvPr>
          <p:cNvSpPr txBox="1">
            <a:spLocks/>
          </p:cNvSpPr>
          <p:nvPr/>
        </p:nvSpPr>
        <p:spPr>
          <a:xfrm>
            <a:off x="35599" y="1874562"/>
            <a:ext cx="1934024" cy="740877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1200" dirty="0">
                <a:solidFill>
                  <a:schemeClr val="bg1"/>
                </a:solidFill>
                <a:latin typeface="CIDFont+F3"/>
              </a:rPr>
              <a:t>Solution proposée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1942BD44-BA50-4E55-9C2B-1D37DA26F8E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2192" y="1639266"/>
            <a:ext cx="2135407" cy="1695918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A9F79E03-DFCA-4008-97B5-99B29B5C342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3595" y="4479984"/>
            <a:ext cx="552450" cy="40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154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83 -0.00162 L 0.25183 -0.00162 " pathEditMode="relative" rAng="0" ptsTypes="AA">
                                      <p:cBhvr>
                                        <p:cTn id="6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10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4" dur="500" fill="hold"/>
                                        <p:tgtEl>
                                          <p:spTgt spid="31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2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4F68458-C6FA-4592-ADBF-0F18B8398F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2237" y="901178"/>
            <a:ext cx="7028537" cy="4778728"/>
          </a:xfrm>
          <a:prstGeom prst="rect">
            <a:avLst/>
          </a:prstGeom>
        </p:spPr>
      </p:pic>
      <p:sp>
        <p:nvSpPr>
          <p:cNvPr id="73" name="Rectangle 72">
            <a:extLst>
              <a:ext uri="{FF2B5EF4-FFF2-40B4-BE49-F238E27FC236}">
                <a16:creationId xmlns:a16="http://schemas.microsoft.com/office/drawing/2014/main" id="{DBC89666-CEA1-4BFE-A7F3-BA30895DF237}"/>
              </a:ext>
            </a:extLst>
          </p:cNvPr>
          <p:cNvSpPr/>
          <p:nvPr/>
        </p:nvSpPr>
        <p:spPr>
          <a:xfrm flipV="1">
            <a:off x="35600" y="622770"/>
            <a:ext cx="1934083" cy="606032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2764" y="610511"/>
            <a:ext cx="1934083" cy="686729"/>
          </a:xfrm>
          <a:prstGeom prst="rect">
            <a:avLst/>
          </a:prstGeom>
          <a:ln>
            <a:solidFill>
              <a:srgbClr val="4472C4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2" name="Rectangle 41"/>
          <p:cNvSpPr/>
          <p:nvPr/>
        </p:nvSpPr>
        <p:spPr>
          <a:xfrm>
            <a:off x="0" y="-18689"/>
            <a:ext cx="9321206" cy="6141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62" name="Shape 222"/>
          <p:cNvSpPr/>
          <p:nvPr/>
        </p:nvSpPr>
        <p:spPr>
          <a:xfrm>
            <a:off x="682388" y="163467"/>
            <a:ext cx="4741083" cy="287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>
              <a:lnSpc>
                <a:spcPct val="90000"/>
              </a:lnSpc>
              <a:defRPr sz="11100">
                <a:solidFill>
                  <a:srgbClr val="FFFFFF"/>
                </a:solidFill>
                <a:latin typeface="+mn-lt"/>
                <a:ea typeface="+mn-ea"/>
                <a:cs typeface="+mn-cs"/>
                <a:sym typeface="Montserrat Semi Bold"/>
              </a:defRPr>
            </a:lvl1pPr>
          </a:lstStyle>
          <a:p>
            <a:r>
              <a:rPr lang="en-GB" sz="1800" b="1" dirty="0">
                <a:latin typeface="Asap Medium" panose="020F0604030102060203" pitchFamily="34" charset="0"/>
              </a:rPr>
              <a:t>Etude </a:t>
            </a:r>
            <a:r>
              <a:rPr lang="en-GB" sz="1800" b="1" dirty="0" err="1">
                <a:latin typeface="Asap Medium" panose="020F0604030102060203" pitchFamily="34" charset="0"/>
              </a:rPr>
              <a:t>Préliminaire</a:t>
            </a:r>
            <a:r>
              <a:rPr lang="en-GB" sz="1800" b="1" dirty="0">
                <a:latin typeface="Asap Medium" panose="020F0604030102060203" pitchFamily="34" charset="0"/>
              </a:rPr>
              <a:t> </a:t>
            </a:r>
            <a:endParaRPr lang="id-ID" sz="1800" b="1" dirty="0">
              <a:latin typeface="Asap Medium" panose="020F0604030102060203" pitchFamily="34" charset="0"/>
            </a:endParaRPr>
          </a:p>
        </p:txBody>
      </p:sp>
      <p:sp>
        <p:nvSpPr>
          <p:cNvPr id="63" name="Shape 223"/>
          <p:cNvSpPr/>
          <p:nvPr/>
        </p:nvSpPr>
        <p:spPr>
          <a:xfrm>
            <a:off x="110246" y="84459"/>
            <a:ext cx="431835" cy="431835"/>
          </a:xfrm>
          <a:prstGeom prst="ellipse">
            <a:avLst/>
          </a:prstGeom>
          <a:solidFill>
            <a:srgbClr val="FFFFFF"/>
          </a:solidFill>
          <a:ln w="3175">
            <a:solidFill>
              <a:srgbClr val="A6AAA9"/>
            </a:solidFill>
          </a:ln>
        </p:spPr>
        <p:txBody>
          <a:bodyPr lIns="14288" tIns="14288" rIns="14288" bIns="14288" anchor="ctr"/>
          <a:lstStyle/>
          <a:p>
            <a:endParaRPr sz="1500" b="1">
              <a:latin typeface="Asap Medium" panose="020F0604030102060203" pitchFamily="34" charset="0"/>
            </a:endParaRPr>
          </a:p>
        </p:txBody>
      </p:sp>
      <p:sp>
        <p:nvSpPr>
          <p:cNvPr id="64" name="Shape 222"/>
          <p:cNvSpPr/>
          <p:nvPr/>
        </p:nvSpPr>
        <p:spPr>
          <a:xfrm>
            <a:off x="90194" y="159992"/>
            <a:ext cx="492801" cy="315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>
              <a:lnSpc>
                <a:spcPct val="90000"/>
              </a:lnSpc>
              <a:defRPr sz="11100">
                <a:solidFill>
                  <a:srgbClr val="FFFFFF"/>
                </a:solidFill>
                <a:latin typeface="+mn-lt"/>
                <a:ea typeface="+mn-ea"/>
                <a:cs typeface="+mn-cs"/>
                <a:sym typeface="Montserrat Semi Bold"/>
              </a:defRPr>
            </a:lvl1pPr>
          </a:lstStyle>
          <a:p>
            <a:pPr algn="ctr"/>
            <a:r>
              <a:rPr lang="en-GB" sz="2000" b="1" dirty="0">
                <a:solidFill>
                  <a:schemeClr val="accent1"/>
                </a:solidFill>
                <a:latin typeface="Asap Medium" panose="020F0604030102060203" pitchFamily="34" charset="0"/>
              </a:rPr>
              <a:t>III</a:t>
            </a:r>
            <a:endParaRPr lang="id-ID" sz="1600" b="1" dirty="0">
              <a:solidFill>
                <a:schemeClr val="accent1"/>
              </a:solidFill>
              <a:latin typeface="Asap Medium" panose="020F0604030102060203" pitchFamily="34" charset="0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9431452" y="-4"/>
            <a:ext cx="258830" cy="6141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68" name="Shape 259"/>
          <p:cNvSpPr txBox="1">
            <a:spLocks/>
          </p:cNvSpPr>
          <p:nvPr/>
        </p:nvSpPr>
        <p:spPr>
          <a:xfrm>
            <a:off x="35599" y="591827"/>
            <a:ext cx="1937665" cy="740877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1200" dirty="0">
                <a:solidFill>
                  <a:srgbClr val="2F5597"/>
                </a:solidFill>
                <a:latin typeface="CIDFont+F3"/>
              </a:rPr>
              <a:t>Analyse de l’existant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9059637" y="6309345"/>
            <a:ext cx="2743200" cy="365125"/>
          </a:xfrm>
        </p:spPr>
        <p:txBody>
          <a:bodyPr/>
          <a:lstStyle/>
          <a:p>
            <a:fld id="{2476CA8B-E376-4C73-9B78-83D007D77E53}" type="slidenum">
              <a:rPr lang="id-ID" smtClean="0">
                <a:solidFill>
                  <a:srgbClr val="FF0000"/>
                </a:solidFill>
                <a:latin typeface="Asap Medium" panose="020F0604030102060203" pitchFamily="34" charset="0"/>
              </a:rPr>
              <a:t>12</a:t>
            </a:fld>
            <a:endParaRPr lang="id-ID" dirty="0">
              <a:solidFill>
                <a:srgbClr val="FF0000"/>
              </a:solidFill>
              <a:latin typeface="Asap Medium" panose="020F0604030102060203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ECCB045-FE19-4561-8017-9B40A020F357}"/>
              </a:ext>
            </a:extLst>
          </p:cNvPr>
          <p:cNvSpPr/>
          <p:nvPr/>
        </p:nvSpPr>
        <p:spPr>
          <a:xfrm>
            <a:off x="9813810" y="0"/>
            <a:ext cx="258830" cy="61414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3DE1CC4-1551-4828-A800-63DD77E86870}"/>
              </a:ext>
            </a:extLst>
          </p:cNvPr>
          <p:cNvSpPr/>
          <p:nvPr/>
        </p:nvSpPr>
        <p:spPr>
          <a:xfrm>
            <a:off x="10196168" y="-8069"/>
            <a:ext cx="258830" cy="61414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 dirty="0">
              <a:latin typeface="Asap Medium" panose="020F0604030102060203" pitchFamily="34" charset="0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304A858-F1EF-46C2-9C41-A25FCE3D9A94}"/>
              </a:ext>
            </a:extLst>
          </p:cNvPr>
          <p:cNvSpPr/>
          <p:nvPr/>
        </p:nvSpPr>
        <p:spPr>
          <a:xfrm>
            <a:off x="11392272" y="-5"/>
            <a:ext cx="258830" cy="614149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72A7319-31A7-490B-9740-279F48E96737}"/>
              </a:ext>
            </a:extLst>
          </p:cNvPr>
          <p:cNvSpPr/>
          <p:nvPr/>
        </p:nvSpPr>
        <p:spPr>
          <a:xfrm>
            <a:off x="10578526" y="-8069"/>
            <a:ext cx="258830" cy="61414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5ECA0C6-ECC9-4278-AE73-EBF82C6F8067}"/>
              </a:ext>
            </a:extLst>
          </p:cNvPr>
          <p:cNvSpPr/>
          <p:nvPr/>
        </p:nvSpPr>
        <p:spPr>
          <a:xfrm>
            <a:off x="10985399" y="-8070"/>
            <a:ext cx="258830" cy="614149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27" name="Shape 259"/>
          <p:cNvSpPr txBox="1">
            <a:spLocks/>
          </p:cNvSpPr>
          <p:nvPr/>
        </p:nvSpPr>
        <p:spPr>
          <a:xfrm>
            <a:off x="-114689" y="1575873"/>
            <a:ext cx="2091536" cy="200398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200" b="1" dirty="0">
                <a:solidFill>
                  <a:schemeClr val="bg1"/>
                </a:solidFill>
                <a:latin typeface="Asap Medium" panose="020F0604030102060203" pitchFamily="34" charset="0"/>
              </a:rPr>
              <a:t>Limitations</a:t>
            </a:r>
            <a:endParaRPr lang="id-ID" sz="1200" b="1" dirty="0">
              <a:solidFill>
                <a:schemeClr val="bg1"/>
              </a:solidFill>
              <a:latin typeface="Asap Medium" panose="020F0604030102060203" pitchFamily="34" charset="0"/>
            </a:endParaRPr>
          </a:p>
        </p:txBody>
      </p:sp>
      <p:sp>
        <p:nvSpPr>
          <p:cNvPr id="35" name="Shape 259">
            <a:extLst>
              <a:ext uri="{FF2B5EF4-FFF2-40B4-BE49-F238E27FC236}">
                <a16:creationId xmlns:a16="http://schemas.microsoft.com/office/drawing/2014/main" id="{C28B0E9D-A893-418A-B9BC-235667834279}"/>
              </a:ext>
            </a:extLst>
          </p:cNvPr>
          <p:cNvSpPr txBox="1">
            <a:spLocks/>
          </p:cNvSpPr>
          <p:nvPr/>
        </p:nvSpPr>
        <p:spPr>
          <a:xfrm>
            <a:off x="8388" y="1830745"/>
            <a:ext cx="1973265" cy="740877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1200" dirty="0">
                <a:solidFill>
                  <a:schemeClr val="bg1"/>
                </a:solidFill>
                <a:latin typeface="CIDFont+F3"/>
              </a:rPr>
              <a:t>Solution proposée</a:t>
            </a:r>
          </a:p>
        </p:txBody>
      </p:sp>
    </p:spTree>
    <p:extLst>
      <p:ext uri="{BB962C8B-B14F-4D97-AF65-F5344CB8AC3E}">
        <p14:creationId xmlns:p14="http://schemas.microsoft.com/office/powerpoint/2010/main" val="2605648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72">
            <a:extLst>
              <a:ext uri="{FF2B5EF4-FFF2-40B4-BE49-F238E27FC236}">
                <a16:creationId xmlns:a16="http://schemas.microsoft.com/office/drawing/2014/main" id="{DBC89666-CEA1-4BFE-A7F3-BA30895DF237}"/>
              </a:ext>
            </a:extLst>
          </p:cNvPr>
          <p:cNvSpPr/>
          <p:nvPr/>
        </p:nvSpPr>
        <p:spPr>
          <a:xfrm flipV="1">
            <a:off x="35600" y="614144"/>
            <a:ext cx="1934083" cy="606032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2764" y="610511"/>
            <a:ext cx="1934083" cy="686729"/>
          </a:xfrm>
          <a:prstGeom prst="rect">
            <a:avLst/>
          </a:prstGeom>
          <a:ln>
            <a:solidFill>
              <a:srgbClr val="4472C4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Rectangle 41"/>
          <p:cNvSpPr/>
          <p:nvPr/>
        </p:nvSpPr>
        <p:spPr>
          <a:xfrm>
            <a:off x="0" y="-18689"/>
            <a:ext cx="9321206" cy="6141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62" name="Shape 222"/>
          <p:cNvSpPr/>
          <p:nvPr/>
        </p:nvSpPr>
        <p:spPr>
          <a:xfrm>
            <a:off x="682388" y="163467"/>
            <a:ext cx="4741083" cy="287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>
              <a:lnSpc>
                <a:spcPct val="90000"/>
              </a:lnSpc>
              <a:defRPr sz="11100">
                <a:solidFill>
                  <a:srgbClr val="FFFFFF"/>
                </a:solidFill>
                <a:latin typeface="+mn-lt"/>
                <a:ea typeface="+mn-ea"/>
                <a:cs typeface="+mn-cs"/>
                <a:sym typeface="Montserrat Semi Bold"/>
              </a:defRPr>
            </a:lvl1pPr>
          </a:lstStyle>
          <a:p>
            <a:r>
              <a:rPr lang="en-GB" sz="1800" b="1" dirty="0">
                <a:latin typeface="Asap Medium" panose="020F0604030102060203" pitchFamily="34" charset="0"/>
              </a:rPr>
              <a:t>Etude </a:t>
            </a:r>
            <a:r>
              <a:rPr lang="en-GB" sz="1800" b="1" dirty="0" err="1">
                <a:latin typeface="Asap Medium" panose="020F0604030102060203" pitchFamily="34" charset="0"/>
              </a:rPr>
              <a:t>Préliminaire</a:t>
            </a:r>
            <a:r>
              <a:rPr lang="en-GB" sz="1800" b="1" dirty="0">
                <a:latin typeface="Asap Medium" panose="020F0604030102060203" pitchFamily="34" charset="0"/>
              </a:rPr>
              <a:t> </a:t>
            </a:r>
            <a:endParaRPr lang="id-ID" sz="1800" b="1" dirty="0">
              <a:latin typeface="Asap Medium" panose="020F0604030102060203" pitchFamily="34" charset="0"/>
            </a:endParaRPr>
          </a:p>
        </p:txBody>
      </p:sp>
      <p:sp>
        <p:nvSpPr>
          <p:cNvPr id="63" name="Shape 223"/>
          <p:cNvSpPr/>
          <p:nvPr/>
        </p:nvSpPr>
        <p:spPr>
          <a:xfrm>
            <a:off x="110246" y="84459"/>
            <a:ext cx="431835" cy="431835"/>
          </a:xfrm>
          <a:prstGeom prst="ellipse">
            <a:avLst/>
          </a:prstGeom>
          <a:solidFill>
            <a:srgbClr val="FFFFFF"/>
          </a:solidFill>
          <a:ln w="3175">
            <a:solidFill>
              <a:srgbClr val="A6AAA9"/>
            </a:solidFill>
          </a:ln>
        </p:spPr>
        <p:txBody>
          <a:bodyPr lIns="14288" tIns="14288" rIns="14288" bIns="14288" anchor="ctr"/>
          <a:lstStyle/>
          <a:p>
            <a:endParaRPr sz="1500" b="1">
              <a:latin typeface="Asap Medium" panose="020F0604030102060203" pitchFamily="34" charset="0"/>
            </a:endParaRPr>
          </a:p>
        </p:txBody>
      </p:sp>
      <p:sp>
        <p:nvSpPr>
          <p:cNvPr id="64" name="Shape 222"/>
          <p:cNvSpPr/>
          <p:nvPr/>
        </p:nvSpPr>
        <p:spPr>
          <a:xfrm>
            <a:off x="90194" y="159992"/>
            <a:ext cx="492801" cy="315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>
              <a:lnSpc>
                <a:spcPct val="90000"/>
              </a:lnSpc>
              <a:defRPr sz="11100">
                <a:solidFill>
                  <a:srgbClr val="FFFFFF"/>
                </a:solidFill>
                <a:latin typeface="+mn-lt"/>
                <a:ea typeface="+mn-ea"/>
                <a:cs typeface="+mn-cs"/>
                <a:sym typeface="Montserrat Semi Bold"/>
              </a:defRPr>
            </a:lvl1pPr>
          </a:lstStyle>
          <a:p>
            <a:pPr algn="ctr"/>
            <a:r>
              <a:rPr lang="en-GB" sz="2000" b="1" dirty="0">
                <a:solidFill>
                  <a:schemeClr val="accent1"/>
                </a:solidFill>
                <a:latin typeface="Asap Medium" panose="020F0604030102060203" pitchFamily="34" charset="0"/>
              </a:rPr>
              <a:t>III</a:t>
            </a:r>
            <a:endParaRPr lang="id-ID" sz="1600" b="1" dirty="0">
              <a:solidFill>
                <a:schemeClr val="accent1"/>
              </a:solidFill>
              <a:latin typeface="Asap Medium" panose="020F0604030102060203" pitchFamily="34" charset="0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9431452" y="-4"/>
            <a:ext cx="258830" cy="6141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68" name="Shape 259"/>
          <p:cNvSpPr txBox="1">
            <a:spLocks/>
          </p:cNvSpPr>
          <p:nvPr/>
        </p:nvSpPr>
        <p:spPr>
          <a:xfrm>
            <a:off x="35599" y="591827"/>
            <a:ext cx="1937665" cy="740877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1200" dirty="0">
                <a:solidFill>
                  <a:srgbClr val="2F5597"/>
                </a:solidFill>
                <a:latin typeface="CIDFont+F3"/>
              </a:rPr>
              <a:t>Analyse de l’existant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9059637" y="6309345"/>
            <a:ext cx="2743200" cy="365125"/>
          </a:xfrm>
        </p:spPr>
        <p:txBody>
          <a:bodyPr/>
          <a:lstStyle/>
          <a:p>
            <a:fld id="{2476CA8B-E376-4C73-9B78-83D007D77E53}" type="slidenum">
              <a:rPr lang="id-ID" smtClean="0">
                <a:solidFill>
                  <a:srgbClr val="FF0000"/>
                </a:solidFill>
                <a:latin typeface="Asap Medium" panose="020F0604030102060203" pitchFamily="34" charset="0"/>
              </a:rPr>
              <a:t>13</a:t>
            </a:fld>
            <a:endParaRPr lang="id-ID" dirty="0">
              <a:solidFill>
                <a:srgbClr val="FF0000"/>
              </a:solidFill>
              <a:latin typeface="Asap Medium" panose="020F0604030102060203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ECCB045-FE19-4561-8017-9B40A020F357}"/>
              </a:ext>
            </a:extLst>
          </p:cNvPr>
          <p:cNvSpPr/>
          <p:nvPr/>
        </p:nvSpPr>
        <p:spPr>
          <a:xfrm>
            <a:off x="9813810" y="0"/>
            <a:ext cx="258830" cy="61414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3DE1CC4-1551-4828-A800-63DD77E86870}"/>
              </a:ext>
            </a:extLst>
          </p:cNvPr>
          <p:cNvSpPr/>
          <p:nvPr/>
        </p:nvSpPr>
        <p:spPr>
          <a:xfrm>
            <a:off x="10196168" y="-8069"/>
            <a:ext cx="258830" cy="61414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 dirty="0">
              <a:latin typeface="Asap Medium" panose="020F0604030102060203" pitchFamily="34" charset="0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304A858-F1EF-46C2-9C41-A25FCE3D9A94}"/>
              </a:ext>
            </a:extLst>
          </p:cNvPr>
          <p:cNvSpPr/>
          <p:nvPr/>
        </p:nvSpPr>
        <p:spPr>
          <a:xfrm>
            <a:off x="11392272" y="-5"/>
            <a:ext cx="258830" cy="614149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72A7319-31A7-490B-9740-279F48E96737}"/>
              </a:ext>
            </a:extLst>
          </p:cNvPr>
          <p:cNvSpPr/>
          <p:nvPr/>
        </p:nvSpPr>
        <p:spPr>
          <a:xfrm>
            <a:off x="10578526" y="-8069"/>
            <a:ext cx="258830" cy="61414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5ECA0C6-ECC9-4278-AE73-EBF82C6F8067}"/>
              </a:ext>
            </a:extLst>
          </p:cNvPr>
          <p:cNvSpPr/>
          <p:nvPr/>
        </p:nvSpPr>
        <p:spPr>
          <a:xfrm>
            <a:off x="10985399" y="-8070"/>
            <a:ext cx="258830" cy="614149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27" name="Shape 259"/>
          <p:cNvSpPr txBox="1">
            <a:spLocks/>
          </p:cNvSpPr>
          <p:nvPr/>
        </p:nvSpPr>
        <p:spPr>
          <a:xfrm>
            <a:off x="-114689" y="1575873"/>
            <a:ext cx="2091536" cy="200398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200" b="1" dirty="0">
                <a:solidFill>
                  <a:schemeClr val="bg1"/>
                </a:solidFill>
                <a:latin typeface="Asap Medium" panose="020F0604030102060203" pitchFamily="34" charset="0"/>
              </a:rPr>
              <a:t>Limitations</a:t>
            </a:r>
            <a:endParaRPr lang="id-ID" sz="1200" b="1" dirty="0">
              <a:solidFill>
                <a:schemeClr val="bg1"/>
              </a:solidFill>
              <a:latin typeface="Asap Medium" panose="020F0604030102060203" pitchFamily="34" charset="0"/>
            </a:endParaRPr>
          </a:p>
        </p:txBody>
      </p:sp>
      <p:sp>
        <p:nvSpPr>
          <p:cNvPr id="35" name="Shape 259">
            <a:extLst>
              <a:ext uri="{FF2B5EF4-FFF2-40B4-BE49-F238E27FC236}">
                <a16:creationId xmlns:a16="http://schemas.microsoft.com/office/drawing/2014/main" id="{C28B0E9D-A893-418A-B9BC-235667834279}"/>
              </a:ext>
            </a:extLst>
          </p:cNvPr>
          <p:cNvSpPr txBox="1">
            <a:spLocks/>
          </p:cNvSpPr>
          <p:nvPr/>
        </p:nvSpPr>
        <p:spPr>
          <a:xfrm>
            <a:off x="8388" y="1830745"/>
            <a:ext cx="1973265" cy="740877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1200" dirty="0">
                <a:solidFill>
                  <a:schemeClr val="bg1"/>
                </a:solidFill>
                <a:latin typeface="CIDFont+F3"/>
              </a:rPr>
              <a:t>Solution proposée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74AEAD-AF17-4251-8ADF-2EB379B00A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9334" y="1196502"/>
            <a:ext cx="9321206" cy="525293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41FE706-0121-420A-8857-BD484EC7E8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2286" y="2383417"/>
            <a:ext cx="2071821" cy="3432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7577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72">
            <a:extLst>
              <a:ext uri="{FF2B5EF4-FFF2-40B4-BE49-F238E27FC236}">
                <a16:creationId xmlns:a16="http://schemas.microsoft.com/office/drawing/2014/main" id="{DBC89666-CEA1-4BFE-A7F3-BA30895DF237}"/>
              </a:ext>
            </a:extLst>
          </p:cNvPr>
          <p:cNvSpPr/>
          <p:nvPr/>
        </p:nvSpPr>
        <p:spPr>
          <a:xfrm flipV="1">
            <a:off x="35600" y="614144"/>
            <a:ext cx="1934083" cy="611208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5599" y="1307667"/>
            <a:ext cx="1934083" cy="686729"/>
          </a:xfrm>
          <a:prstGeom prst="rect">
            <a:avLst/>
          </a:prstGeom>
          <a:ln>
            <a:solidFill>
              <a:srgbClr val="4472C4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Rectangle 41"/>
          <p:cNvSpPr/>
          <p:nvPr/>
        </p:nvSpPr>
        <p:spPr>
          <a:xfrm>
            <a:off x="0" y="-18689"/>
            <a:ext cx="9321206" cy="6141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62" name="Shape 222"/>
          <p:cNvSpPr/>
          <p:nvPr/>
        </p:nvSpPr>
        <p:spPr>
          <a:xfrm>
            <a:off x="682388" y="163467"/>
            <a:ext cx="4741083" cy="287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>
              <a:lnSpc>
                <a:spcPct val="90000"/>
              </a:lnSpc>
              <a:defRPr sz="11100">
                <a:solidFill>
                  <a:srgbClr val="FFFFFF"/>
                </a:solidFill>
                <a:latin typeface="+mn-lt"/>
                <a:ea typeface="+mn-ea"/>
                <a:cs typeface="+mn-cs"/>
                <a:sym typeface="Montserrat Semi Bold"/>
              </a:defRPr>
            </a:lvl1pPr>
          </a:lstStyle>
          <a:p>
            <a:r>
              <a:rPr lang="en-GB" sz="1800" b="1" dirty="0">
                <a:latin typeface="Asap Medium" panose="020F0604030102060203" pitchFamily="34" charset="0"/>
              </a:rPr>
              <a:t>Etude </a:t>
            </a:r>
            <a:r>
              <a:rPr lang="en-GB" sz="1800" b="1" dirty="0" err="1">
                <a:latin typeface="Asap Medium" panose="020F0604030102060203" pitchFamily="34" charset="0"/>
              </a:rPr>
              <a:t>Préliminaire</a:t>
            </a:r>
            <a:r>
              <a:rPr lang="en-GB" sz="1800" b="1" dirty="0">
                <a:latin typeface="Asap Medium" panose="020F0604030102060203" pitchFamily="34" charset="0"/>
              </a:rPr>
              <a:t> </a:t>
            </a:r>
            <a:endParaRPr lang="id-ID" sz="1800" b="1" dirty="0">
              <a:latin typeface="Asap Medium" panose="020F0604030102060203" pitchFamily="34" charset="0"/>
            </a:endParaRPr>
          </a:p>
        </p:txBody>
      </p:sp>
      <p:sp>
        <p:nvSpPr>
          <p:cNvPr id="63" name="Shape 223"/>
          <p:cNvSpPr/>
          <p:nvPr/>
        </p:nvSpPr>
        <p:spPr>
          <a:xfrm>
            <a:off x="110246" y="84459"/>
            <a:ext cx="431835" cy="431835"/>
          </a:xfrm>
          <a:prstGeom prst="ellipse">
            <a:avLst/>
          </a:prstGeom>
          <a:solidFill>
            <a:srgbClr val="FFFFFF"/>
          </a:solidFill>
          <a:ln w="3175">
            <a:solidFill>
              <a:srgbClr val="A6AAA9"/>
            </a:solidFill>
          </a:ln>
        </p:spPr>
        <p:txBody>
          <a:bodyPr lIns="14288" tIns="14288" rIns="14288" bIns="14288" anchor="ctr"/>
          <a:lstStyle/>
          <a:p>
            <a:endParaRPr sz="1500" b="1">
              <a:latin typeface="Asap Medium" panose="020F0604030102060203" pitchFamily="34" charset="0"/>
            </a:endParaRPr>
          </a:p>
        </p:txBody>
      </p:sp>
      <p:sp>
        <p:nvSpPr>
          <p:cNvPr id="64" name="Shape 222"/>
          <p:cNvSpPr/>
          <p:nvPr/>
        </p:nvSpPr>
        <p:spPr>
          <a:xfrm>
            <a:off x="90194" y="159992"/>
            <a:ext cx="492801" cy="315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>
              <a:lnSpc>
                <a:spcPct val="90000"/>
              </a:lnSpc>
              <a:defRPr sz="11100">
                <a:solidFill>
                  <a:srgbClr val="FFFFFF"/>
                </a:solidFill>
                <a:latin typeface="+mn-lt"/>
                <a:ea typeface="+mn-ea"/>
                <a:cs typeface="+mn-cs"/>
                <a:sym typeface="Montserrat Semi Bold"/>
              </a:defRPr>
            </a:lvl1pPr>
          </a:lstStyle>
          <a:p>
            <a:pPr algn="ctr"/>
            <a:r>
              <a:rPr lang="en-GB" sz="2000" b="1" dirty="0">
                <a:solidFill>
                  <a:schemeClr val="accent1"/>
                </a:solidFill>
                <a:latin typeface="Asap Medium" panose="020F0604030102060203" pitchFamily="34" charset="0"/>
              </a:rPr>
              <a:t>III</a:t>
            </a:r>
            <a:endParaRPr lang="id-ID" sz="1600" b="1" dirty="0">
              <a:solidFill>
                <a:schemeClr val="accent1"/>
              </a:solidFill>
              <a:latin typeface="Asap Medium" panose="020F0604030102060203" pitchFamily="34" charset="0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9431452" y="-4"/>
            <a:ext cx="258830" cy="6141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68" name="Shape 259"/>
          <p:cNvSpPr txBox="1">
            <a:spLocks/>
          </p:cNvSpPr>
          <p:nvPr/>
        </p:nvSpPr>
        <p:spPr>
          <a:xfrm>
            <a:off x="35599" y="591827"/>
            <a:ext cx="1937665" cy="740877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1200" dirty="0">
                <a:solidFill>
                  <a:schemeClr val="bg1"/>
                </a:solidFill>
                <a:latin typeface="CIDFont+F3"/>
              </a:rPr>
              <a:t>Description de l’existant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9059637" y="6309345"/>
            <a:ext cx="2743200" cy="365125"/>
          </a:xfrm>
        </p:spPr>
        <p:txBody>
          <a:bodyPr/>
          <a:lstStyle/>
          <a:p>
            <a:fld id="{2476CA8B-E376-4C73-9B78-83D007D77E53}" type="slidenum">
              <a:rPr lang="id-ID" smtClean="0">
                <a:solidFill>
                  <a:srgbClr val="FF0000"/>
                </a:solidFill>
                <a:latin typeface="Asap Medium" panose="020F0604030102060203" pitchFamily="34" charset="0"/>
              </a:rPr>
              <a:t>14</a:t>
            </a:fld>
            <a:endParaRPr lang="id-ID" dirty="0">
              <a:solidFill>
                <a:srgbClr val="FF0000"/>
              </a:solidFill>
              <a:latin typeface="Asap Medium" panose="020F0604030102060203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ECCB045-FE19-4561-8017-9B40A020F357}"/>
              </a:ext>
            </a:extLst>
          </p:cNvPr>
          <p:cNvSpPr/>
          <p:nvPr/>
        </p:nvSpPr>
        <p:spPr>
          <a:xfrm>
            <a:off x="9813810" y="0"/>
            <a:ext cx="258830" cy="61414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3DE1CC4-1551-4828-A800-63DD77E86870}"/>
              </a:ext>
            </a:extLst>
          </p:cNvPr>
          <p:cNvSpPr/>
          <p:nvPr/>
        </p:nvSpPr>
        <p:spPr>
          <a:xfrm>
            <a:off x="10196168" y="-8069"/>
            <a:ext cx="258830" cy="61414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 dirty="0">
              <a:latin typeface="Asap Medium" panose="020F0604030102060203" pitchFamily="34" charset="0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304A858-F1EF-46C2-9C41-A25FCE3D9A94}"/>
              </a:ext>
            </a:extLst>
          </p:cNvPr>
          <p:cNvSpPr/>
          <p:nvPr/>
        </p:nvSpPr>
        <p:spPr>
          <a:xfrm>
            <a:off x="11392272" y="-5"/>
            <a:ext cx="258830" cy="614149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72A7319-31A7-490B-9740-279F48E96737}"/>
              </a:ext>
            </a:extLst>
          </p:cNvPr>
          <p:cNvSpPr/>
          <p:nvPr/>
        </p:nvSpPr>
        <p:spPr>
          <a:xfrm>
            <a:off x="10578526" y="-8069"/>
            <a:ext cx="258830" cy="61414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5ECA0C6-ECC9-4278-AE73-EBF82C6F8067}"/>
              </a:ext>
            </a:extLst>
          </p:cNvPr>
          <p:cNvSpPr/>
          <p:nvPr/>
        </p:nvSpPr>
        <p:spPr>
          <a:xfrm>
            <a:off x="10985399" y="-8070"/>
            <a:ext cx="258830" cy="614149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27" name="Shape 259"/>
          <p:cNvSpPr txBox="1">
            <a:spLocks/>
          </p:cNvSpPr>
          <p:nvPr/>
        </p:nvSpPr>
        <p:spPr>
          <a:xfrm>
            <a:off x="-114689" y="1575873"/>
            <a:ext cx="2091536" cy="200398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200" b="1" dirty="0">
                <a:solidFill>
                  <a:srgbClr val="2F5597"/>
                </a:solidFill>
                <a:latin typeface="Asap Medium" panose="020F0604030102060203" pitchFamily="34" charset="0"/>
              </a:rPr>
              <a:t>Limitations</a:t>
            </a:r>
            <a:endParaRPr lang="id-ID" sz="1200" b="1" dirty="0">
              <a:solidFill>
                <a:srgbClr val="2F5597"/>
              </a:solidFill>
              <a:latin typeface="Asap Medium" panose="020F0604030102060203" pitchFamily="34" charset="0"/>
            </a:endParaRPr>
          </a:p>
        </p:txBody>
      </p:sp>
      <p:sp>
        <p:nvSpPr>
          <p:cNvPr id="35" name="Shape 259">
            <a:extLst>
              <a:ext uri="{FF2B5EF4-FFF2-40B4-BE49-F238E27FC236}">
                <a16:creationId xmlns:a16="http://schemas.microsoft.com/office/drawing/2014/main" id="{C28B0E9D-A893-418A-B9BC-235667834279}"/>
              </a:ext>
            </a:extLst>
          </p:cNvPr>
          <p:cNvSpPr txBox="1">
            <a:spLocks/>
          </p:cNvSpPr>
          <p:nvPr/>
        </p:nvSpPr>
        <p:spPr>
          <a:xfrm>
            <a:off x="8388" y="1948191"/>
            <a:ext cx="1973265" cy="740877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1200" dirty="0">
                <a:solidFill>
                  <a:schemeClr val="bg1"/>
                </a:solidFill>
                <a:latin typeface="CIDFont+F3"/>
              </a:rPr>
              <a:t>Solution proposée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87DE696-3FB9-4862-9AB1-FB5BDE44CCE5}"/>
              </a:ext>
            </a:extLst>
          </p:cNvPr>
          <p:cNvSpPr/>
          <p:nvPr/>
        </p:nvSpPr>
        <p:spPr>
          <a:xfrm>
            <a:off x="2466149" y="1089389"/>
            <a:ext cx="8112377" cy="369332"/>
          </a:xfrm>
          <a:prstGeom prst="rect">
            <a:avLst/>
          </a:prstGeom>
          <a:ln>
            <a:solidFill>
              <a:srgbClr val="4CA1F4"/>
            </a:solidFill>
          </a:ln>
        </p:spPr>
        <p:txBody>
          <a:bodyPr wrap="square">
            <a:spAutoFit/>
          </a:bodyPr>
          <a:lstStyle/>
          <a:p>
            <a:r>
              <a:rPr lang="fr-FR" dirty="0">
                <a:solidFill>
                  <a:srgbClr val="4472C4"/>
                </a:solidFill>
                <a:latin typeface="CIDFont+F3"/>
              </a:rPr>
              <a:t>Une configuration générée manuellement engendre les situations suivantes :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6C5E01C-98AC-4CA1-A910-110FB6166ADC}"/>
              </a:ext>
            </a:extLst>
          </p:cNvPr>
          <p:cNvSpPr/>
          <p:nvPr/>
        </p:nvSpPr>
        <p:spPr>
          <a:xfrm>
            <a:off x="3217173" y="4529905"/>
            <a:ext cx="7559670" cy="646331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fr-FR" dirty="0">
                <a:latin typeface="CIDFont+F3"/>
              </a:rPr>
              <a:t>Une charge  non supportée par les services au cas d’une configuration minimale </a:t>
            </a:r>
            <a:r>
              <a:rPr lang="fr-FR" dirty="0">
                <a:latin typeface="CIDFont+F3"/>
                <a:sym typeface="Wingdings" panose="05000000000000000000" pitchFamily="2" charset="2"/>
              </a:rPr>
              <a:t> </a:t>
            </a:r>
            <a:r>
              <a:rPr lang="fr-FR" dirty="0">
                <a:latin typeface="CIDFont+F3"/>
              </a:rPr>
              <a:t>un temps de réponse non satisfaisant pour le client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60F82A5-E3AA-4DCD-B382-AC77E68258DF}"/>
              </a:ext>
            </a:extLst>
          </p:cNvPr>
          <p:cNvSpPr/>
          <p:nvPr/>
        </p:nvSpPr>
        <p:spPr>
          <a:xfrm>
            <a:off x="3156660" y="2473467"/>
            <a:ext cx="7680696" cy="923330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fr-FR" dirty="0">
                <a:latin typeface="CIDFont+F3"/>
              </a:rPr>
              <a:t>Un coût de déploiement sur le cloud très élevé, au cas d’une configuration gourmande en terme de </a:t>
            </a:r>
            <a:r>
              <a:rPr lang="fr-FR" dirty="0" err="1">
                <a:latin typeface="CIDFont+F3"/>
              </a:rPr>
              <a:t>workers</a:t>
            </a:r>
            <a:endParaRPr lang="fr-FR" dirty="0">
              <a:latin typeface="CIDFont+F3"/>
            </a:endParaRPr>
          </a:p>
          <a:p>
            <a:endParaRPr lang="fr-FR" dirty="0">
              <a:latin typeface="CIDFont+F3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A99B8A9F-A9D4-4FD0-9116-6F907AC365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6611" y="4948046"/>
            <a:ext cx="1497576" cy="1010515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57C0D1D-6B41-4DFC-B422-D7C2CB1B1D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8232" y="2772447"/>
            <a:ext cx="1745364" cy="1313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825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3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72">
            <a:extLst>
              <a:ext uri="{FF2B5EF4-FFF2-40B4-BE49-F238E27FC236}">
                <a16:creationId xmlns:a16="http://schemas.microsoft.com/office/drawing/2014/main" id="{DBC89666-CEA1-4BFE-A7F3-BA30895DF237}"/>
              </a:ext>
            </a:extLst>
          </p:cNvPr>
          <p:cNvSpPr/>
          <p:nvPr/>
        </p:nvSpPr>
        <p:spPr>
          <a:xfrm flipV="1">
            <a:off x="35600" y="614144"/>
            <a:ext cx="1934083" cy="606032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2764" y="2002081"/>
            <a:ext cx="1934083" cy="686729"/>
          </a:xfrm>
          <a:prstGeom prst="rect">
            <a:avLst/>
          </a:prstGeom>
          <a:ln>
            <a:solidFill>
              <a:srgbClr val="4472C4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Rectangle 41"/>
          <p:cNvSpPr/>
          <p:nvPr/>
        </p:nvSpPr>
        <p:spPr>
          <a:xfrm>
            <a:off x="0" y="-18689"/>
            <a:ext cx="9321206" cy="6141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62" name="Shape 222"/>
          <p:cNvSpPr/>
          <p:nvPr/>
        </p:nvSpPr>
        <p:spPr>
          <a:xfrm>
            <a:off x="682388" y="163467"/>
            <a:ext cx="4741083" cy="287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>
              <a:lnSpc>
                <a:spcPct val="90000"/>
              </a:lnSpc>
              <a:defRPr sz="11100">
                <a:solidFill>
                  <a:srgbClr val="FFFFFF"/>
                </a:solidFill>
                <a:latin typeface="+mn-lt"/>
                <a:ea typeface="+mn-ea"/>
                <a:cs typeface="+mn-cs"/>
                <a:sym typeface="Montserrat Semi Bold"/>
              </a:defRPr>
            </a:lvl1pPr>
          </a:lstStyle>
          <a:p>
            <a:r>
              <a:rPr lang="en-GB" sz="1800" b="1" dirty="0">
                <a:latin typeface="Asap Medium" panose="020F0604030102060203" pitchFamily="34" charset="0"/>
              </a:rPr>
              <a:t>Etude </a:t>
            </a:r>
            <a:r>
              <a:rPr lang="en-GB" sz="1800" b="1" dirty="0" err="1">
                <a:latin typeface="Asap Medium" panose="020F0604030102060203" pitchFamily="34" charset="0"/>
              </a:rPr>
              <a:t>Préliminaire</a:t>
            </a:r>
            <a:r>
              <a:rPr lang="en-GB" sz="1800" b="1" dirty="0">
                <a:latin typeface="Asap Medium" panose="020F0604030102060203" pitchFamily="34" charset="0"/>
              </a:rPr>
              <a:t> </a:t>
            </a:r>
            <a:endParaRPr lang="id-ID" sz="1800" b="1" dirty="0">
              <a:latin typeface="Asap Medium" panose="020F0604030102060203" pitchFamily="34" charset="0"/>
            </a:endParaRPr>
          </a:p>
        </p:txBody>
      </p:sp>
      <p:sp>
        <p:nvSpPr>
          <p:cNvPr id="63" name="Shape 223"/>
          <p:cNvSpPr/>
          <p:nvPr/>
        </p:nvSpPr>
        <p:spPr>
          <a:xfrm>
            <a:off x="110246" y="84459"/>
            <a:ext cx="431835" cy="431835"/>
          </a:xfrm>
          <a:prstGeom prst="ellipse">
            <a:avLst/>
          </a:prstGeom>
          <a:solidFill>
            <a:srgbClr val="FFFFFF"/>
          </a:solidFill>
          <a:ln w="3175">
            <a:solidFill>
              <a:srgbClr val="A6AAA9"/>
            </a:solidFill>
          </a:ln>
        </p:spPr>
        <p:txBody>
          <a:bodyPr lIns="14288" tIns="14288" rIns="14288" bIns="14288" anchor="ctr"/>
          <a:lstStyle/>
          <a:p>
            <a:endParaRPr sz="1500" b="1">
              <a:latin typeface="Asap Medium" panose="020F0604030102060203" pitchFamily="34" charset="0"/>
            </a:endParaRPr>
          </a:p>
        </p:txBody>
      </p:sp>
      <p:sp>
        <p:nvSpPr>
          <p:cNvPr id="64" name="Shape 222"/>
          <p:cNvSpPr/>
          <p:nvPr/>
        </p:nvSpPr>
        <p:spPr>
          <a:xfrm>
            <a:off x="90194" y="159992"/>
            <a:ext cx="492801" cy="315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>
              <a:lnSpc>
                <a:spcPct val="90000"/>
              </a:lnSpc>
              <a:defRPr sz="11100">
                <a:solidFill>
                  <a:srgbClr val="FFFFFF"/>
                </a:solidFill>
                <a:latin typeface="+mn-lt"/>
                <a:ea typeface="+mn-ea"/>
                <a:cs typeface="+mn-cs"/>
                <a:sym typeface="Montserrat Semi Bold"/>
              </a:defRPr>
            </a:lvl1pPr>
          </a:lstStyle>
          <a:p>
            <a:pPr algn="ctr"/>
            <a:r>
              <a:rPr lang="en-GB" sz="2000" b="1" dirty="0">
                <a:solidFill>
                  <a:schemeClr val="accent1"/>
                </a:solidFill>
                <a:latin typeface="Asap Medium" panose="020F0604030102060203" pitchFamily="34" charset="0"/>
              </a:rPr>
              <a:t>III</a:t>
            </a:r>
            <a:endParaRPr lang="id-ID" sz="1600" b="1" dirty="0">
              <a:solidFill>
                <a:schemeClr val="accent1"/>
              </a:solidFill>
              <a:latin typeface="Asap Medium" panose="020F0604030102060203" pitchFamily="34" charset="0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9431452" y="-4"/>
            <a:ext cx="258830" cy="6141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68" name="Shape 259"/>
          <p:cNvSpPr txBox="1">
            <a:spLocks/>
          </p:cNvSpPr>
          <p:nvPr/>
        </p:nvSpPr>
        <p:spPr>
          <a:xfrm>
            <a:off x="35599" y="591827"/>
            <a:ext cx="1937665" cy="740877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1200" dirty="0">
                <a:solidFill>
                  <a:schemeClr val="bg1"/>
                </a:solidFill>
                <a:latin typeface="CIDFont+F3"/>
              </a:rPr>
              <a:t>Description de l’existant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9059637" y="6309345"/>
            <a:ext cx="2743200" cy="365125"/>
          </a:xfrm>
        </p:spPr>
        <p:txBody>
          <a:bodyPr/>
          <a:lstStyle/>
          <a:p>
            <a:fld id="{2476CA8B-E376-4C73-9B78-83D007D77E53}" type="slidenum">
              <a:rPr lang="id-ID" smtClean="0">
                <a:solidFill>
                  <a:srgbClr val="FF0000"/>
                </a:solidFill>
                <a:latin typeface="Asap Medium" panose="020F0604030102060203" pitchFamily="34" charset="0"/>
              </a:rPr>
              <a:t>15</a:t>
            </a:fld>
            <a:endParaRPr lang="id-ID" dirty="0">
              <a:solidFill>
                <a:srgbClr val="FF0000"/>
              </a:solidFill>
              <a:latin typeface="Asap Medium" panose="020F0604030102060203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ECCB045-FE19-4561-8017-9B40A020F357}"/>
              </a:ext>
            </a:extLst>
          </p:cNvPr>
          <p:cNvSpPr/>
          <p:nvPr/>
        </p:nvSpPr>
        <p:spPr>
          <a:xfrm>
            <a:off x="9813810" y="0"/>
            <a:ext cx="258830" cy="61414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3DE1CC4-1551-4828-A800-63DD77E86870}"/>
              </a:ext>
            </a:extLst>
          </p:cNvPr>
          <p:cNvSpPr/>
          <p:nvPr/>
        </p:nvSpPr>
        <p:spPr>
          <a:xfrm>
            <a:off x="10196168" y="-8069"/>
            <a:ext cx="258830" cy="61414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 dirty="0">
              <a:latin typeface="Asap Medium" panose="020F0604030102060203" pitchFamily="34" charset="0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304A858-F1EF-46C2-9C41-A25FCE3D9A94}"/>
              </a:ext>
            </a:extLst>
          </p:cNvPr>
          <p:cNvSpPr/>
          <p:nvPr/>
        </p:nvSpPr>
        <p:spPr>
          <a:xfrm>
            <a:off x="11392272" y="-5"/>
            <a:ext cx="258830" cy="614149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72A7319-31A7-490B-9740-279F48E96737}"/>
              </a:ext>
            </a:extLst>
          </p:cNvPr>
          <p:cNvSpPr/>
          <p:nvPr/>
        </p:nvSpPr>
        <p:spPr>
          <a:xfrm>
            <a:off x="10578526" y="-8069"/>
            <a:ext cx="258830" cy="61414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5ECA0C6-ECC9-4278-AE73-EBF82C6F8067}"/>
              </a:ext>
            </a:extLst>
          </p:cNvPr>
          <p:cNvSpPr/>
          <p:nvPr/>
        </p:nvSpPr>
        <p:spPr>
          <a:xfrm>
            <a:off x="10985399" y="-8070"/>
            <a:ext cx="258830" cy="614149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27" name="Shape 259"/>
          <p:cNvSpPr txBox="1">
            <a:spLocks/>
          </p:cNvSpPr>
          <p:nvPr/>
        </p:nvSpPr>
        <p:spPr>
          <a:xfrm>
            <a:off x="-114689" y="1575873"/>
            <a:ext cx="2091536" cy="200398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200" b="1" dirty="0">
                <a:solidFill>
                  <a:schemeClr val="bg1"/>
                </a:solidFill>
                <a:latin typeface="Asap Medium" panose="020F0604030102060203" pitchFamily="34" charset="0"/>
              </a:rPr>
              <a:t>Limitations</a:t>
            </a:r>
            <a:endParaRPr lang="id-ID" sz="1200" b="1" dirty="0">
              <a:solidFill>
                <a:schemeClr val="bg1"/>
              </a:solidFill>
              <a:latin typeface="Asap Medium" panose="020F0604030102060203" pitchFamily="34" charset="0"/>
            </a:endParaRPr>
          </a:p>
        </p:txBody>
      </p:sp>
      <p:sp>
        <p:nvSpPr>
          <p:cNvPr id="35" name="Shape 259">
            <a:extLst>
              <a:ext uri="{FF2B5EF4-FFF2-40B4-BE49-F238E27FC236}">
                <a16:creationId xmlns:a16="http://schemas.microsoft.com/office/drawing/2014/main" id="{C28B0E9D-A893-418A-B9BC-235667834279}"/>
              </a:ext>
            </a:extLst>
          </p:cNvPr>
          <p:cNvSpPr txBox="1">
            <a:spLocks/>
          </p:cNvSpPr>
          <p:nvPr/>
        </p:nvSpPr>
        <p:spPr>
          <a:xfrm>
            <a:off x="8388" y="1973358"/>
            <a:ext cx="1973265" cy="740877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1200" dirty="0">
                <a:solidFill>
                  <a:srgbClr val="2F5597"/>
                </a:solidFill>
                <a:latin typeface="CIDFont+F3"/>
              </a:rPr>
              <a:t>Solution proposée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00987FF-752B-46D5-8A05-134B81F31357}"/>
              </a:ext>
            </a:extLst>
          </p:cNvPr>
          <p:cNvSpPr/>
          <p:nvPr/>
        </p:nvSpPr>
        <p:spPr>
          <a:xfrm>
            <a:off x="9087502" y="1895911"/>
            <a:ext cx="2743200" cy="1585799"/>
          </a:xfrm>
          <a:prstGeom prst="ellipse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>
                <a:latin typeface="CIDFont+F3"/>
              </a:rPr>
              <a:t>Simuler le fonctionnement du service de </a:t>
            </a:r>
            <a:r>
              <a:rPr lang="fr-FR" sz="1600" dirty="0" err="1">
                <a:latin typeface="CIDFont+F3"/>
              </a:rPr>
              <a:t>scaling</a:t>
            </a:r>
            <a:endParaRPr lang="fr-FR" sz="1600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A7657E71-129E-4B1D-A4D6-4A60184DBFDD}"/>
              </a:ext>
            </a:extLst>
          </p:cNvPr>
          <p:cNvSpPr/>
          <p:nvPr/>
        </p:nvSpPr>
        <p:spPr>
          <a:xfrm>
            <a:off x="2547110" y="3788087"/>
            <a:ext cx="2920679" cy="1840919"/>
          </a:xfrm>
          <a:prstGeom prst="ellipse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1600" dirty="0">
                <a:latin typeface="CIDFont+F3"/>
              </a:rPr>
              <a:t>Tester la configuration dans un milieu hors production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E7E1CFD-1588-4227-94F5-79F9673DDA27}"/>
              </a:ext>
            </a:extLst>
          </p:cNvPr>
          <p:cNvSpPr/>
          <p:nvPr/>
        </p:nvSpPr>
        <p:spPr>
          <a:xfrm>
            <a:off x="9026553" y="3788087"/>
            <a:ext cx="2743200" cy="1715084"/>
          </a:xfrm>
          <a:prstGeom prst="ellipse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>
                <a:latin typeface="CIDFont+F3"/>
              </a:rPr>
              <a:t>Evaluer la qualité de déploiement de la configuration</a:t>
            </a:r>
            <a:endParaRPr lang="fr-FR" sz="1600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597ED7D-EA20-42FA-9870-DA7FEC0C9F7E}"/>
              </a:ext>
            </a:extLst>
          </p:cNvPr>
          <p:cNvSpPr/>
          <p:nvPr/>
        </p:nvSpPr>
        <p:spPr>
          <a:xfrm>
            <a:off x="2545546" y="1895911"/>
            <a:ext cx="2920679" cy="1418735"/>
          </a:xfrm>
          <a:prstGeom prst="ellipse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>
                <a:latin typeface="CIDFont+F3"/>
              </a:rPr>
              <a:t>Calculer les métriques Cloud relatives à une configuration</a:t>
            </a:r>
            <a:endParaRPr lang="fr-FR" sz="16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F9C1C8AD-12C3-4E99-96B6-81E643CF54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3652" y="2325544"/>
            <a:ext cx="2187539" cy="2307376"/>
          </a:xfrm>
          <a:prstGeom prst="rect">
            <a:avLst/>
          </a:prstGeom>
        </p:spPr>
      </p:pic>
      <p:sp>
        <p:nvSpPr>
          <p:cNvPr id="33" name="Shape 259">
            <a:extLst>
              <a:ext uri="{FF2B5EF4-FFF2-40B4-BE49-F238E27FC236}">
                <a16:creationId xmlns:a16="http://schemas.microsoft.com/office/drawing/2014/main" id="{DBED1BE0-D080-4FFA-BDCE-9BAA0C4D93ED}"/>
              </a:ext>
            </a:extLst>
          </p:cNvPr>
          <p:cNvSpPr txBox="1">
            <a:spLocks/>
          </p:cNvSpPr>
          <p:nvPr/>
        </p:nvSpPr>
        <p:spPr>
          <a:xfrm>
            <a:off x="2856077" y="722608"/>
            <a:ext cx="8134023" cy="866984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Asap Medium" panose="020F0604030102060203" pitchFamily="34" charset="0"/>
              </a:rPr>
              <a:t>La création d’un simulateur de charge du service de </a:t>
            </a:r>
            <a:r>
              <a:rPr lang="fr-FR" sz="2400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sap Medium" panose="020F0604030102060203" pitchFamily="34" charset="0"/>
              </a:rPr>
              <a:t>Scaling</a:t>
            </a:r>
            <a:r>
              <a:rPr lang="fr-FR" sz="2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Asap Medium" panose="020F0604030102060203" pitchFamily="34" charset="0"/>
              </a:rPr>
              <a:t> dans le but de :</a:t>
            </a:r>
          </a:p>
        </p:txBody>
      </p:sp>
    </p:spTree>
    <p:extLst>
      <p:ext uri="{BB962C8B-B14F-4D97-AF65-F5344CB8AC3E}">
        <p14:creationId xmlns:p14="http://schemas.microsoft.com/office/powerpoint/2010/main" val="437436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6" grpId="0" animBg="1"/>
      <p:bldP spid="3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6C566BEF-2913-4FF3-AD5A-1EF49DB5CB9B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0684" y="998483"/>
            <a:ext cx="9321206" cy="5108027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Rectangle 72">
            <a:extLst>
              <a:ext uri="{FF2B5EF4-FFF2-40B4-BE49-F238E27FC236}">
                <a16:creationId xmlns:a16="http://schemas.microsoft.com/office/drawing/2014/main" id="{DBC89666-CEA1-4BFE-A7F3-BA30895DF237}"/>
              </a:ext>
            </a:extLst>
          </p:cNvPr>
          <p:cNvSpPr/>
          <p:nvPr/>
        </p:nvSpPr>
        <p:spPr>
          <a:xfrm flipV="1">
            <a:off x="35600" y="614144"/>
            <a:ext cx="1934083" cy="606032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2764" y="2002081"/>
            <a:ext cx="1934083" cy="686729"/>
          </a:xfrm>
          <a:prstGeom prst="rect">
            <a:avLst/>
          </a:prstGeom>
          <a:ln>
            <a:solidFill>
              <a:srgbClr val="4472C4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Rectangle 41"/>
          <p:cNvSpPr/>
          <p:nvPr/>
        </p:nvSpPr>
        <p:spPr>
          <a:xfrm>
            <a:off x="0" y="-18689"/>
            <a:ext cx="9321206" cy="6141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62" name="Shape 222"/>
          <p:cNvSpPr/>
          <p:nvPr/>
        </p:nvSpPr>
        <p:spPr>
          <a:xfrm>
            <a:off x="682388" y="163467"/>
            <a:ext cx="4741083" cy="287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>
              <a:lnSpc>
                <a:spcPct val="90000"/>
              </a:lnSpc>
              <a:defRPr sz="11100">
                <a:solidFill>
                  <a:srgbClr val="FFFFFF"/>
                </a:solidFill>
                <a:latin typeface="+mn-lt"/>
                <a:ea typeface="+mn-ea"/>
                <a:cs typeface="+mn-cs"/>
                <a:sym typeface="Montserrat Semi Bold"/>
              </a:defRPr>
            </a:lvl1pPr>
          </a:lstStyle>
          <a:p>
            <a:r>
              <a:rPr lang="en-GB" sz="1800" b="1" dirty="0">
                <a:latin typeface="Asap Medium" panose="020F0604030102060203" pitchFamily="34" charset="0"/>
              </a:rPr>
              <a:t>Etude </a:t>
            </a:r>
            <a:r>
              <a:rPr lang="en-GB" sz="1800" b="1" dirty="0" err="1">
                <a:latin typeface="Asap Medium" panose="020F0604030102060203" pitchFamily="34" charset="0"/>
              </a:rPr>
              <a:t>Préliminaire</a:t>
            </a:r>
            <a:r>
              <a:rPr lang="en-GB" sz="1800" b="1" dirty="0">
                <a:latin typeface="Asap Medium" panose="020F0604030102060203" pitchFamily="34" charset="0"/>
              </a:rPr>
              <a:t> </a:t>
            </a:r>
            <a:endParaRPr lang="id-ID" sz="1800" b="1" dirty="0">
              <a:latin typeface="Asap Medium" panose="020F0604030102060203" pitchFamily="34" charset="0"/>
            </a:endParaRPr>
          </a:p>
        </p:txBody>
      </p:sp>
      <p:sp>
        <p:nvSpPr>
          <p:cNvPr id="63" name="Shape 223"/>
          <p:cNvSpPr/>
          <p:nvPr/>
        </p:nvSpPr>
        <p:spPr>
          <a:xfrm>
            <a:off x="110246" y="84459"/>
            <a:ext cx="431835" cy="431835"/>
          </a:xfrm>
          <a:prstGeom prst="ellipse">
            <a:avLst/>
          </a:prstGeom>
          <a:solidFill>
            <a:srgbClr val="FFFFFF"/>
          </a:solidFill>
          <a:ln w="3175">
            <a:solidFill>
              <a:srgbClr val="A6AAA9"/>
            </a:solidFill>
          </a:ln>
        </p:spPr>
        <p:txBody>
          <a:bodyPr lIns="14288" tIns="14288" rIns="14288" bIns="14288" anchor="ctr"/>
          <a:lstStyle/>
          <a:p>
            <a:endParaRPr sz="1500" b="1">
              <a:latin typeface="Asap Medium" panose="020F0604030102060203" pitchFamily="34" charset="0"/>
            </a:endParaRPr>
          </a:p>
        </p:txBody>
      </p:sp>
      <p:sp>
        <p:nvSpPr>
          <p:cNvPr id="64" name="Shape 222"/>
          <p:cNvSpPr/>
          <p:nvPr/>
        </p:nvSpPr>
        <p:spPr>
          <a:xfrm>
            <a:off x="90194" y="159992"/>
            <a:ext cx="492801" cy="315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>
              <a:lnSpc>
                <a:spcPct val="90000"/>
              </a:lnSpc>
              <a:defRPr sz="11100">
                <a:solidFill>
                  <a:srgbClr val="FFFFFF"/>
                </a:solidFill>
                <a:latin typeface="+mn-lt"/>
                <a:ea typeface="+mn-ea"/>
                <a:cs typeface="+mn-cs"/>
                <a:sym typeface="Montserrat Semi Bold"/>
              </a:defRPr>
            </a:lvl1pPr>
          </a:lstStyle>
          <a:p>
            <a:pPr algn="ctr"/>
            <a:r>
              <a:rPr lang="en-GB" sz="2000" b="1" dirty="0">
                <a:solidFill>
                  <a:schemeClr val="accent1"/>
                </a:solidFill>
                <a:latin typeface="Asap Medium" panose="020F0604030102060203" pitchFamily="34" charset="0"/>
              </a:rPr>
              <a:t>III</a:t>
            </a:r>
            <a:endParaRPr lang="id-ID" sz="1600" b="1" dirty="0">
              <a:solidFill>
                <a:schemeClr val="accent1"/>
              </a:solidFill>
              <a:latin typeface="Asap Medium" panose="020F0604030102060203" pitchFamily="34" charset="0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9431452" y="-4"/>
            <a:ext cx="258830" cy="6141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68" name="Shape 259"/>
          <p:cNvSpPr txBox="1">
            <a:spLocks/>
          </p:cNvSpPr>
          <p:nvPr/>
        </p:nvSpPr>
        <p:spPr>
          <a:xfrm>
            <a:off x="35599" y="591827"/>
            <a:ext cx="1937665" cy="740877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1200" dirty="0">
                <a:solidFill>
                  <a:schemeClr val="bg1"/>
                </a:solidFill>
                <a:latin typeface="CIDFont+F3"/>
              </a:rPr>
              <a:t>Description de l’existant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9083398" y="6491907"/>
            <a:ext cx="2743200" cy="365125"/>
          </a:xfrm>
        </p:spPr>
        <p:txBody>
          <a:bodyPr/>
          <a:lstStyle/>
          <a:p>
            <a:fld id="{2476CA8B-E376-4C73-9B78-83D007D77E53}" type="slidenum">
              <a:rPr lang="id-ID" smtClean="0">
                <a:solidFill>
                  <a:srgbClr val="FF0000"/>
                </a:solidFill>
                <a:latin typeface="Asap Medium" panose="020F0604030102060203" pitchFamily="34" charset="0"/>
              </a:rPr>
              <a:t>16</a:t>
            </a:fld>
            <a:endParaRPr lang="id-ID" dirty="0">
              <a:solidFill>
                <a:srgbClr val="FF0000"/>
              </a:solidFill>
              <a:latin typeface="Asap Medium" panose="020F0604030102060203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ECCB045-FE19-4561-8017-9B40A020F357}"/>
              </a:ext>
            </a:extLst>
          </p:cNvPr>
          <p:cNvSpPr/>
          <p:nvPr/>
        </p:nvSpPr>
        <p:spPr>
          <a:xfrm>
            <a:off x="9813810" y="0"/>
            <a:ext cx="258830" cy="61414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3DE1CC4-1551-4828-A800-63DD77E86870}"/>
              </a:ext>
            </a:extLst>
          </p:cNvPr>
          <p:cNvSpPr/>
          <p:nvPr/>
        </p:nvSpPr>
        <p:spPr>
          <a:xfrm>
            <a:off x="10196168" y="-8069"/>
            <a:ext cx="258830" cy="61414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 dirty="0">
              <a:latin typeface="Asap Medium" panose="020F0604030102060203" pitchFamily="34" charset="0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304A858-F1EF-46C2-9C41-A25FCE3D9A94}"/>
              </a:ext>
            </a:extLst>
          </p:cNvPr>
          <p:cNvSpPr/>
          <p:nvPr/>
        </p:nvSpPr>
        <p:spPr>
          <a:xfrm>
            <a:off x="11392272" y="-5"/>
            <a:ext cx="258830" cy="614149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72A7319-31A7-490B-9740-279F48E96737}"/>
              </a:ext>
            </a:extLst>
          </p:cNvPr>
          <p:cNvSpPr/>
          <p:nvPr/>
        </p:nvSpPr>
        <p:spPr>
          <a:xfrm>
            <a:off x="10578526" y="-8069"/>
            <a:ext cx="258830" cy="61414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5ECA0C6-ECC9-4278-AE73-EBF82C6F8067}"/>
              </a:ext>
            </a:extLst>
          </p:cNvPr>
          <p:cNvSpPr/>
          <p:nvPr/>
        </p:nvSpPr>
        <p:spPr>
          <a:xfrm>
            <a:off x="10985399" y="-8070"/>
            <a:ext cx="258830" cy="614149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27" name="Shape 259"/>
          <p:cNvSpPr txBox="1">
            <a:spLocks/>
          </p:cNvSpPr>
          <p:nvPr/>
        </p:nvSpPr>
        <p:spPr>
          <a:xfrm>
            <a:off x="-114689" y="1575873"/>
            <a:ext cx="2091536" cy="200398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200" b="1" dirty="0" err="1">
                <a:solidFill>
                  <a:schemeClr val="bg1"/>
                </a:solidFill>
                <a:latin typeface="Asap Medium" panose="020F0604030102060203" pitchFamily="34" charset="0"/>
              </a:rPr>
              <a:t>Problématique</a:t>
            </a:r>
            <a:endParaRPr lang="id-ID" sz="1200" b="1" dirty="0">
              <a:solidFill>
                <a:schemeClr val="bg1"/>
              </a:solidFill>
              <a:latin typeface="Asap Medium" panose="020F0604030102060203" pitchFamily="34" charset="0"/>
            </a:endParaRPr>
          </a:p>
        </p:txBody>
      </p:sp>
      <p:sp>
        <p:nvSpPr>
          <p:cNvPr id="35" name="Shape 259">
            <a:extLst>
              <a:ext uri="{FF2B5EF4-FFF2-40B4-BE49-F238E27FC236}">
                <a16:creationId xmlns:a16="http://schemas.microsoft.com/office/drawing/2014/main" id="{C28B0E9D-A893-418A-B9BC-235667834279}"/>
              </a:ext>
            </a:extLst>
          </p:cNvPr>
          <p:cNvSpPr txBox="1">
            <a:spLocks/>
          </p:cNvSpPr>
          <p:nvPr/>
        </p:nvSpPr>
        <p:spPr>
          <a:xfrm>
            <a:off x="8388" y="1973358"/>
            <a:ext cx="1973265" cy="740877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1200" dirty="0">
                <a:solidFill>
                  <a:srgbClr val="2F5597"/>
                </a:solidFill>
                <a:latin typeface="CIDFont+F3"/>
              </a:rPr>
              <a:t>Solution proposée</a:t>
            </a:r>
          </a:p>
        </p:txBody>
      </p:sp>
    </p:spTree>
    <p:extLst>
      <p:ext uri="{BB962C8B-B14F-4D97-AF65-F5344CB8AC3E}">
        <p14:creationId xmlns:p14="http://schemas.microsoft.com/office/powerpoint/2010/main" val="42026466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4A02F17-090B-4610-BA02-7538C1F6A4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4708" y="1116630"/>
            <a:ext cx="9870414" cy="5557839"/>
          </a:xfrm>
          <a:prstGeom prst="rect">
            <a:avLst/>
          </a:prstGeom>
        </p:spPr>
      </p:pic>
      <p:sp>
        <p:nvSpPr>
          <p:cNvPr id="73" name="Rectangle 72">
            <a:extLst>
              <a:ext uri="{FF2B5EF4-FFF2-40B4-BE49-F238E27FC236}">
                <a16:creationId xmlns:a16="http://schemas.microsoft.com/office/drawing/2014/main" id="{DBC89666-CEA1-4BFE-A7F3-BA30895DF237}"/>
              </a:ext>
            </a:extLst>
          </p:cNvPr>
          <p:cNvSpPr/>
          <p:nvPr/>
        </p:nvSpPr>
        <p:spPr>
          <a:xfrm flipV="1">
            <a:off x="35600" y="614144"/>
            <a:ext cx="1934083" cy="606032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8436" y="619442"/>
            <a:ext cx="1934083" cy="686729"/>
          </a:xfrm>
          <a:prstGeom prst="rect">
            <a:avLst/>
          </a:prstGeom>
          <a:ln>
            <a:solidFill>
              <a:srgbClr val="4472C4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Rectangle 41"/>
          <p:cNvSpPr/>
          <p:nvPr/>
        </p:nvSpPr>
        <p:spPr>
          <a:xfrm>
            <a:off x="0" y="-18689"/>
            <a:ext cx="9321206" cy="6141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62" name="Shape 222"/>
          <p:cNvSpPr/>
          <p:nvPr/>
        </p:nvSpPr>
        <p:spPr>
          <a:xfrm>
            <a:off x="682388" y="163467"/>
            <a:ext cx="4741083" cy="287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>
              <a:lnSpc>
                <a:spcPct val="90000"/>
              </a:lnSpc>
              <a:defRPr sz="11100">
                <a:solidFill>
                  <a:srgbClr val="FFFFFF"/>
                </a:solidFill>
                <a:latin typeface="+mn-lt"/>
                <a:ea typeface="+mn-ea"/>
                <a:cs typeface="+mn-cs"/>
                <a:sym typeface="Montserrat Semi Bold"/>
              </a:defRPr>
            </a:lvl1pPr>
          </a:lstStyle>
          <a:p>
            <a:r>
              <a:rPr lang="en-GB" sz="1800" b="1" dirty="0">
                <a:latin typeface="Asap Medium" panose="020F0604030102060203" pitchFamily="34" charset="0"/>
              </a:rPr>
              <a:t>SPÉCIFICATION GÉNÉRALES</a:t>
            </a:r>
            <a:endParaRPr lang="id-ID" sz="1800" b="1" dirty="0">
              <a:latin typeface="Asap Medium" panose="020F0604030102060203" pitchFamily="34" charset="0"/>
            </a:endParaRPr>
          </a:p>
        </p:txBody>
      </p:sp>
      <p:sp>
        <p:nvSpPr>
          <p:cNvPr id="63" name="Shape 223"/>
          <p:cNvSpPr/>
          <p:nvPr/>
        </p:nvSpPr>
        <p:spPr>
          <a:xfrm>
            <a:off x="110246" y="84459"/>
            <a:ext cx="431835" cy="431835"/>
          </a:xfrm>
          <a:prstGeom prst="ellipse">
            <a:avLst/>
          </a:prstGeom>
          <a:solidFill>
            <a:srgbClr val="FFFFFF"/>
          </a:solidFill>
          <a:ln w="3175">
            <a:solidFill>
              <a:srgbClr val="A6AAA9"/>
            </a:solidFill>
          </a:ln>
        </p:spPr>
        <p:txBody>
          <a:bodyPr lIns="14288" tIns="14288" rIns="14288" bIns="14288" anchor="ctr"/>
          <a:lstStyle/>
          <a:p>
            <a:endParaRPr sz="1500" b="1">
              <a:latin typeface="Asap Medium" panose="020F0604030102060203" pitchFamily="34" charset="0"/>
            </a:endParaRPr>
          </a:p>
        </p:txBody>
      </p:sp>
      <p:sp>
        <p:nvSpPr>
          <p:cNvPr id="64" name="Shape 222"/>
          <p:cNvSpPr/>
          <p:nvPr/>
        </p:nvSpPr>
        <p:spPr>
          <a:xfrm>
            <a:off x="90194" y="159992"/>
            <a:ext cx="492801" cy="315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>
              <a:lnSpc>
                <a:spcPct val="90000"/>
              </a:lnSpc>
              <a:defRPr sz="11100">
                <a:solidFill>
                  <a:srgbClr val="FFFFFF"/>
                </a:solidFill>
                <a:latin typeface="+mn-lt"/>
                <a:ea typeface="+mn-ea"/>
                <a:cs typeface="+mn-cs"/>
                <a:sym typeface="Montserrat Semi Bold"/>
              </a:defRPr>
            </a:lvl1pPr>
          </a:lstStyle>
          <a:p>
            <a:pPr algn="ctr"/>
            <a:r>
              <a:rPr lang="en-GB" sz="2000" b="1" dirty="0">
                <a:solidFill>
                  <a:schemeClr val="accent1"/>
                </a:solidFill>
                <a:latin typeface="Asap Medium" panose="020F0604030102060203" pitchFamily="34" charset="0"/>
              </a:rPr>
              <a:t>IV</a:t>
            </a:r>
            <a:endParaRPr lang="id-ID" sz="1600" b="1" dirty="0">
              <a:solidFill>
                <a:schemeClr val="accent1"/>
              </a:solidFill>
              <a:latin typeface="Asap Medium" panose="020F0604030102060203" pitchFamily="34" charset="0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9431452" y="-4"/>
            <a:ext cx="258830" cy="6141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68" name="Shape 259"/>
          <p:cNvSpPr txBox="1">
            <a:spLocks/>
          </p:cNvSpPr>
          <p:nvPr/>
        </p:nvSpPr>
        <p:spPr>
          <a:xfrm>
            <a:off x="35599" y="591827"/>
            <a:ext cx="1937665" cy="740877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1200" dirty="0">
                <a:solidFill>
                  <a:srgbClr val="2F5597"/>
                </a:solidFill>
                <a:latin typeface="CIDFont+F3"/>
              </a:rPr>
              <a:t>Spécifications fonctionnelles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9059637" y="6309345"/>
            <a:ext cx="2743200" cy="365125"/>
          </a:xfrm>
        </p:spPr>
        <p:txBody>
          <a:bodyPr/>
          <a:lstStyle/>
          <a:p>
            <a:fld id="{2476CA8B-E376-4C73-9B78-83D007D77E53}" type="slidenum">
              <a:rPr lang="id-ID" smtClean="0">
                <a:solidFill>
                  <a:srgbClr val="FF0000"/>
                </a:solidFill>
                <a:latin typeface="Asap Medium" panose="020F0604030102060203" pitchFamily="34" charset="0"/>
              </a:rPr>
              <a:t>17</a:t>
            </a:fld>
            <a:endParaRPr lang="id-ID" dirty="0">
              <a:solidFill>
                <a:srgbClr val="FF0000"/>
              </a:solidFill>
              <a:latin typeface="Asap Medium" panose="020F0604030102060203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ECCB045-FE19-4561-8017-9B40A020F357}"/>
              </a:ext>
            </a:extLst>
          </p:cNvPr>
          <p:cNvSpPr/>
          <p:nvPr/>
        </p:nvSpPr>
        <p:spPr>
          <a:xfrm>
            <a:off x="9813810" y="0"/>
            <a:ext cx="258830" cy="61414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3DE1CC4-1551-4828-A800-63DD77E86870}"/>
              </a:ext>
            </a:extLst>
          </p:cNvPr>
          <p:cNvSpPr/>
          <p:nvPr/>
        </p:nvSpPr>
        <p:spPr>
          <a:xfrm>
            <a:off x="10196168" y="-8069"/>
            <a:ext cx="258830" cy="61414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 dirty="0">
              <a:latin typeface="Asap Medium" panose="020F0604030102060203" pitchFamily="34" charset="0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304A858-F1EF-46C2-9C41-A25FCE3D9A94}"/>
              </a:ext>
            </a:extLst>
          </p:cNvPr>
          <p:cNvSpPr/>
          <p:nvPr/>
        </p:nvSpPr>
        <p:spPr>
          <a:xfrm>
            <a:off x="11392272" y="-5"/>
            <a:ext cx="258830" cy="614149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72A7319-31A7-490B-9740-279F48E96737}"/>
              </a:ext>
            </a:extLst>
          </p:cNvPr>
          <p:cNvSpPr/>
          <p:nvPr/>
        </p:nvSpPr>
        <p:spPr>
          <a:xfrm>
            <a:off x="10578526" y="-8069"/>
            <a:ext cx="258830" cy="61414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5ECA0C6-ECC9-4278-AE73-EBF82C6F8067}"/>
              </a:ext>
            </a:extLst>
          </p:cNvPr>
          <p:cNvSpPr/>
          <p:nvPr/>
        </p:nvSpPr>
        <p:spPr>
          <a:xfrm>
            <a:off x="10985399" y="-8070"/>
            <a:ext cx="258830" cy="614149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27" name="Shape 259"/>
          <p:cNvSpPr txBox="1">
            <a:spLocks/>
          </p:cNvSpPr>
          <p:nvPr/>
        </p:nvSpPr>
        <p:spPr>
          <a:xfrm>
            <a:off x="-114689" y="1575873"/>
            <a:ext cx="2091536" cy="200398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200" b="1" dirty="0" err="1">
                <a:solidFill>
                  <a:schemeClr val="bg1"/>
                </a:solidFill>
                <a:latin typeface="Asap Medium" panose="020F0604030102060203" pitchFamily="34" charset="0"/>
              </a:rPr>
              <a:t>Spécifications</a:t>
            </a:r>
            <a:r>
              <a:rPr lang="en-US" sz="1200" b="1" dirty="0">
                <a:solidFill>
                  <a:schemeClr val="bg1"/>
                </a:solidFill>
                <a:latin typeface="Asap Medium" panose="020F0604030102060203" pitchFamily="34" charset="0"/>
              </a:rPr>
              <a:t> techniques</a:t>
            </a:r>
            <a:endParaRPr lang="id-ID" sz="1200" b="1" dirty="0">
              <a:solidFill>
                <a:schemeClr val="bg1"/>
              </a:solidFill>
              <a:latin typeface="Asap Medium" panose="020F0604030102060203" pitchFamily="34" charset="0"/>
            </a:endParaRPr>
          </a:p>
        </p:txBody>
      </p:sp>
      <p:sp>
        <p:nvSpPr>
          <p:cNvPr id="22" name="Shape 259">
            <a:extLst>
              <a:ext uri="{FF2B5EF4-FFF2-40B4-BE49-F238E27FC236}">
                <a16:creationId xmlns:a16="http://schemas.microsoft.com/office/drawing/2014/main" id="{CF14D14A-8D34-456F-A8EC-D128527F53D9}"/>
              </a:ext>
            </a:extLst>
          </p:cNvPr>
          <p:cNvSpPr txBox="1">
            <a:spLocks/>
          </p:cNvSpPr>
          <p:nvPr/>
        </p:nvSpPr>
        <p:spPr>
          <a:xfrm>
            <a:off x="2770445" y="688750"/>
            <a:ext cx="8134023" cy="427881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Asap Medium" panose="020F0604030102060203" pitchFamily="34" charset="0"/>
              </a:rPr>
              <a:t>Diagramme de cas d’utilisations :</a:t>
            </a:r>
            <a:endParaRPr lang="id-ID" sz="2400" dirty="0">
              <a:solidFill>
                <a:srgbClr val="C00000"/>
              </a:solidFill>
              <a:latin typeface="Asap Medium" panose="020F06040301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9896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animBg="1"/>
      <p:bldP spid="3" grpId="0" animBg="1"/>
      <p:bldP spid="68" grpId="0"/>
      <p:bldP spid="4" grpId="0"/>
      <p:bldP spid="27" grpId="0"/>
      <p:bldP spid="2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72">
            <a:extLst>
              <a:ext uri="{FF2B5EF4-FFF2-40B4-BE49-F238E27FC236}">
                <a16:creationId xmlns:a16="http://schemas.microsoft.com/office/drawing/2014/main" id="{DBC89666-CEA1-4BFE-A7F3-BA30895DF237}"/>
              </a:ext>
            </a:extLst>
          </p:cNvPr>
          <p:cNvSpPr/>
          <p:nvPr/>
        </p:nvSpPr>
        <p:spPr>
          <a:xfrm flipV="1">
            <a:off x="35600" y="614144"/>
            <a:ext cx="1934083" cy="597148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8436" y="1351388"/>
            <a:ext cx="1934083" cy="686729"/>
          </a:xfrm>
          <a:prstGeom prst="rect">
            <a:avLst/>
          </a:prstGeom>
          <a:ln>
            <a:solidFill>
              <a:srgbClr val="4472C4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Rectangle 41"/>
          <p:cNvSpPr/>
          <p:nvPr/>
        </p:nvSpPr>
        <p:spPr>
          <a:xfrm>
            <a:off x="0" y="-18689"/>
            <a:ext cx="9321206" cy="6141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62" name="Shape 222"/>
          <p:cNvSpPr/>
          <p:nvPr/>
        </p:nvSpPr>
        <p:spPr>
          <a:xfrm>
            <a:off x="682388" y="163467"/>
            <a:ext cx="4741083" cy="287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>
              <a:lnSpc>
                <a:spcPct val="90000"/>
              </a:lnSpc>
              <a:defRPr sz="11100">
                <a:solidFill>
                  <a:srgbClr val="FFFFFF"/>
                </a:solidFill>
                <a:latin typeface="+mn-lt"/>
                <a:ea typeface="+mn-ea"/>
                <a:cs typeface="+mn-cs"/>
                <a:sym typeface="Montserrat Semi Bold"/>
              </a:defRPr>
            </a:lvl1pPr>
          </a:lstStyle>
          <a:p>
            <a:r>
              <a:rPr lang="en-GB" sz="1800" b="1" dirty="0">
                <a:latin typeface="Asap Medium" panose="020F0604030102060203" pitchFamily="34" charset="0"/>
              </a:rPr>
              <a:t>SPÉCIFICATION GÉNÉRALES</a:t>
            </a:r>
            <a:endParaRPr lang="id-ID" sz="1800" b="1" dirty="0">
              <a:latin typeface="Asap Medium" panose="020F0604030102060203" pitchFamily="34" charset="0"/>
            </a:endParaRPr>
          </a:p>
        </p:txBody>
      </p:sp>
      <p:sp>
        <p:nvSpPr>
          <p:cNvPr id="63" name="Shape 223"/>
          <p:cNvSpPr/>
          <p:nvPr/>
        </p:nvSpPr>
        <p:spPr>
          <a:xfrm>
            <a:off x="110246" y="84459"/>
            <a:ext cx="431835" cy="431835"/>
          </a:xfrm>
          <a:prstGeom prst="ellipse">
            <a:avLst/>
          </a:prstGeom>
          <a:solidFill>
            <a:srgbClr val="FFFFFF"/>
          </a:solidFill>
          <a:ln w="3175">
            <a:solidFill>
              <a:srgbClr val="A6AAA9"/>
            </a:solidFill>
          </a:ln>
        </p:spPr>
        <p:txBody>
          <a:bodyPr lIns="14288" tIns="14288" rIns="14288" bIns="14288" anchor="ctr"/>
          <a:lstStyle/>
          <a:p>
            <a:endParaRPr sz="1500" b="1">
              <a:latin typeface="Asap Medium" panose="020F0604030102060203" pitchFamily="34" charset="0"/>
            </a:endParaRPr>
          </a:p>
        </p:txBody>
      </p:sp>
      <p:sp>
        <p:nvSpPr>
          <p:cNvPr id="64" name="Shape 222"/>
          <p:cNvSpPr/>
          <p:nvPr/>
        </p:nvSpPr>
        <p:spPr>
          <a:xfrm>
            <a:off x="90194" y="159992"/>
            <a:ext cx="492801" cy="315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>
              <a:lnSpc>
                <a:spcPct val="90000"/>
              </a:lnSpc>
              <a:defRPr sz="11100">
                <a:solidFill>
                  <a:srgbClr val="FFFFFF"/>
                </a:solidFill>
                <a:latin typeface="+mn-lt"/>
                <a:ea typeface="+mn-ea"/>
                <a:cs typeface="+mn-cs"/>
                <a:sym typeface="Montserrat Semi Bold"/>
              </a:defRPr>
            </a:lvl1pPr>
          </a:lstStyle>
          <a:p>
            <a:pPr algn="ctr"/>
            <a:r>
              <a:rPr lang="en-GB" sz="2000" b="1" dirty="0">
                <a:solidFill>
                  <a:schemeClr val="accent1"/>
                </a:solidFill>
                <a:latin typeface="Asap Medium" panose="020F0604030102060203" pitchFamily="34" charset="0"/>
              </a:rPr>
              <a:t>IV</a:t>
            </a:r>
            <a:endParaRPr lang="id-ID" sz="1600" b="1" dirty="0">
              <a:solidFill>
                <a:schemeClr val="accent1"/>
              </a:solidFill>
              <a:latin typeface="Asap Medium" panose="020F0604030102060203" pitchFamily="34" charset="0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9431452" y="-4"/>
            <a:ext cx="258830" cy="6141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68" name="Shape 259"/>
          <p:cNvSpPr txBox="1">
            <a:spLocks/>
          </p:cNvSpPr>
          <p:nvPr/>
        </p:nvSpPr>
        <p:spPr>
          <a:xfrm>
            <a:off x="35599" y="591827"/>
            <a:ext cx="1937665" cy="740877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1200" dirty="0">
                <a:solidFill>
                  <a:schemeClr val="bg1"/>
                </a:solidFill>
                <a:latin typeface="CIDFont+F3"/>
              </a:rPr>
              <a:t>Spécifications fonctionnelles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9059637" y="6309345"/>
            <a:ext cx="2743200" cy="365125"/>
          </a:xfrm>
        </p:spPr>
        <p:txBody>
          <a:bodyPr/>
          <a:lstStyle/>
          <a:p>
            <a:fld id="{2476CA8B-E376-4C73-9B78-83D007D77E53}" type="slidenum">
              <a:rPr lang="id-ID" smtClean="0">
                <a:solidFill>
                  <a:srgbClr val="FF0000"/>
                </a:solidFill>
                <a:latin typeface="Asap Medium" panose="020F0604030102060203" pitchFamily="34" charset="0"/>
              </a:rPr>
              <a:t>18</a:t>
            </a:fld>
            <a:endParaRPr lang="id-ID" dirty="0">
              <a:solidFill>
                <a:srgbClr val="FF0000"/>
              </a:solidFill>
              <a:latin typeface="Asap Medium" panose="020F0604030102060203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ECCB045-FE19-4561-8017-9B40A020F357}"/>
              </a:ext>
            </a:extLst>
          </p:cNvPr>
          <p:cNvSpPr/>
          <p:nvPr/>
        </p:nvSpPr>
        <p:spPr>
          <a:xfrm>
            <a:off x="9813810" y="0"/>
            <a:ext cx="258830" cy="61414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3DE1CC4-1551-4828-A800-63DD77E86870}"/>
              </a:ext>
            </a:extLst>
          </p:cNvPr>
          <p:cNvSpPr/>
          <p:nvPr/>
        </p:nvSpPr>
        <p:spPr>
          <a:xfrm>
            <a:off x="10196168" y="-8069"/>
            <a:ext cx="258830" cy="61414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 dirty="0">
              <a:latin typeface="Asap Medium" panose="020F0604030102060203" pitchFamily="34" charset="0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304A858-F1EF-46C2-9C41-A25FCE3D9A94}"/>
              </a:ext>
            </a:extLst>
          </p:cNvPr>
          <p:cNvSpPr/>
          <p:nvPr/>
        </p:nvSpPr>
        <p:spPr>
          <a:xfrm>
            <a:off x="11392272" y="-5"/>
            <a:ext cx="258830" cy="614149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72A7319-31A7-490B-9740-279F48E96737}"/>
              </a:ext>
            </a:extLst>
          </p:cNvPr>
          <p:cNvSpPr/>
          <p:nvPr/>
        </p:nvSpPr>
        <p:spPr>
          <a:xfrm>
            <a:off x="10578526" y="-8069"/>
            <a:ext cx="258830" cy="61414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5ECA0C6-ECC9-4278-AE73-EBF82C6F8067}"/>
              </a:ext>
            </a:extLst>
          </p:cNvPr>
          <p:cNvSpPr/>
          <p:nvPr/>
        </p:nvSpPr>
        <p:spPr>
          <a:xfrm>
            <a:off x="10985399" y="-8070"/>
            <a:ext cx="258830" cy="614149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27" name="Shape 259"/>
          <p:cNvSpPr txBox="1">
            <a:spLocks/>
          </p:cNvSpPr>
          <p:nvPr/>
        </p:nvSpPr>
        <p:spPr>
          <a:xfrm>
            <a:off x="-114689" y="1575873"/>
            <a:ext cx="2091536" cy="200398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200" b="1" dirty="0" err="1">
                <a:solidFill>
                  <a:srgbClr val="2F5597"/>
                </a:solidFill>
                <a:latin typeface="Asap Medium" panose="020F0604030102060203" pitchFamily="34" charset="0"/>
              </a:rPr>
              <a:t>Spécifications</a:t>
            </a:r>
            <a:r>
              <a:rPr lang="en-US" sz="1200" b="1" dirty="0">
                <a:solidFill>
                  <a:srgbClr val="2F5597"/>
                </a:solidFill>
                <a:latin typeface="Asap Medium" panose="020F0604030102060203" pitchFamily="34" charset="0"/>
              </a:rPr>
              <a:t> techniques</a:t>
            </a:r>
            <a:endParaRPr lang="id-ID" sz="1200" b="1" dirty="0">
              <a:solidFill>
                <a:srgbClr val="2F5597"/>
              </a:solidFill>
              <a:latin typeface="Asap Medium" panose="020F0604030102060203" pitchFamily="34" charset="0"/>
            </a:endParaRPr>
          </a:p>
        </p:txBody>
      </p:sp>
      <p:sp>
        <p:nvSpPr>
          <p:cNvPr id="22" name="Shape 259">
            <a:extLst>
              <a:ext uri="{FF2B5EF4-FFF2-40B4-BE49-F238E27FC236}">
                <a16:creationId xmlns:a16="http://schemas.microsoft.com/office/drawing/2014/main" id="{CF14D14A-8D34-456F-A8EC-D128527F53D9}"/>
              </a:ext>
            </a:extLst>
          </p:cNvPr>
          <p:cNvSpPr txBox="1">
            <a:spLocks/>
          </p:cNvSpPr>
          <p:nvPr/>
        </p:nvSpPr>
        <p:spPr>
          <a:xfrm>
            <a:off x="3183247" y="656737"/>
            <a:ext cx="8134023" cy="516392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Asap Medium" panose="020F0604030102060203" pitchFamily="34" charset="0"/>
              </a:rPr>
              <a:t>Architecture du système</a:t>
            </a:r>
            <a:endParaRPr lang="id-ID" sz="2400" dirty="0">
              <a:solidFill>
                <a:srgbClr val="C00000"/>
              </a:solidFill>
              <a:latin typeface="Asap Medium" panose="020F0604030102060203" pitchFamily="34" charset="0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BC12284A-E565-43A6-BE7F-C36CB6D88653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1531" y="1320793"/>
            <a:ext cx="9159571" cy="472981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89641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72">
            <a:extLst>
              <a:ext uri="{FF2B5EF4-FFF2-40B4-BE49-F238E27FC236}">
                <a16:creationId xmlns:a16="http://schemas.microsoft.com/office/drawing/2014/main" id="{DBC89666-CEA1-4BFE-A7F3-BA30895DF237}"/>
              </a:ext>
            </a:extLst>
          </p:cNvPr>
          <p:cNvSpPr/>
          <p:nvPr/>
        </p:nvSpPr>
        <p:spPr>
          <a:xfrm flipV="1">
            <a:off x="35600" y="614144"/>
            <a:ext cx="1934083" cy="606032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8436" y="1351388"/>
            <a:ext cx="1934083" cy="686729"/>
          </a:xfrm>
          <a:prstGeom prst="rect">
            <a:avLst/>
          </a:prstGeom>
          <a:ln>
            <a:solidFill>
              <a:srgbClr val="4472C4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Rectangle 41"/>
          <p:cNvSpPr/>
          <p:nvPr/>
        </p:nvSpPr>
        <p:spPr>
          <a:xfrm>
            <a:off x="0" y="-18689"/>
            <a:ext cx="9321206" cy="6141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62" name="Shape 222"/>
          <p:cNvSpPr/>
          <p:nvPr/>
        </p:nvSpPr>
        <p:spPr>
          <a:xfrm>
            <a:off x="682388" y="163467"/>
            <a:ext cx="4741083" cy="287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>
              <a:lnSpc>
                <a:spcPct val="90000"/>
              </a:lnSpc>
              <a:defRPr sz="11100">
                <a:solidFill>
                  <a:srgbClr val="FFFFFF"/>
                </a:solidFill>
                <a:latin typeface="+mn-lt"/>
                <a:ea typeface="+mn-ea"/>
                <a:cs typeface="+mn-cs"/>
                <a:sym typeface="Montserrat Semi Bold"/>
              </a:defRPr>
            </a:lvl1pPr>
          </a:lstStyle>
          <a:p>
            <a:r>
              <a:rPr lang="en-GB" sz="1800" b="1" dirty="0">
                <a:latin typeface="Asap Medium" panose="020F0604030102060203" pitchFamily="34" charset="0"/>
              </a:rPr>
              <a:t>SPÉCIFICATION GÉNÉRALES</a:t>
            </a:r>
            <a:endParaRPr lang="id-ID" sz="1800" b="1" dirty="0">
              <a:latin typeface="Asap Medium" panose="020F0604030102060203" pitchFamily="34" charset="0"/>
            </a:endParaRPr>
          </a:p>
        </p:txBody>
      </p:sp>
      <p:sp>
        <p:nvSpPr>
          <p:cNvPr id="63" name="Shape 223"/>
          <p:cNvSpPr/>
          <p:nvPr/>
        </p:nvSpPr>
        <p:spPr>
          <a:xfrm>
            <a:off x="110246" y="84459"/>
            <a:ext cx="431835" cy="431835"/>
          </a:xfrm>
          <a:prstGeom prst="ellipse">
            <a:avLst/>
          </a:prstGeom>
          <a:solidFill>
            <a:srgbClr val="FFFFFF"/>
          </a:solidFill>
          <a:ln w="3175">
            <a:solidFill>
              <a:srgbClr val="A6AAA9"/>
            </a:solidFill>
          </a:ln>
        </p:spPr>
        <p:txBody>
          <a:bodyPr lIns="14288" tIns="14288" rIns="14288" bIns="14288" anchor="ctr"/>
          <a:lstStyle/>
          <a:p>
            <a:endParaRPr sz="1500" b="1">
              <a:latin typeface="Asap Medium" panose="020F0604030102060203" pitchFamily="34" charset="0"/>
            </a:endParaRPr>
          </a:p>
        </p:txBody>
      </p:sp>
      <p:sp>
        <p:nvSpPr>
          <p:cNvPr id="64" name="Shape 222"/>
          <p:cNvSpPr/>
          <p:nvPr/>
        </p:nvSpPr>
        <p:spPr>
          <a:xfrm>
            <a:off x="90194" y="159992"/>
            <a:ext cx="492801" cy="315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>
              <a:lnSpc>
                <a:spcPct val="90000"/>
              </a:lnSpc>
              <a:defRPr sz="11100">
                <a:solidFill>
                  <a:srgbClr val="FFFFFF"/>
                </a:solidFill>
                <a:latin typeface="+mn-lt"/>
                <a:ea typeface="+mn-ea"/>
                <a:cs typeface="+mn-cs"/>
                <a:sym typeface="Montserrat Semi Bold"/>
              </a:defRPr>
            </a:lvl1pPr>
          </a:lstStyle>
          <a:p>
            <a:pPr algn="ctr"/>
            <a:r>
              <a:rPr lang="en-GB" sz="2000" b="1" dirty="0">
                <a:solidFill>
                  <a:schemeClr val="accent1"/>
                </a:solidFill>
                <a:latin typeface="Asap Medium" panose="020F0604030102060203" pitchFamily="34" charset="0"/>
              </a:rPr>
              <a:t>IV</a:t>
            </a:r>
            <a:endParaRPr lang="id-ID" sz="1600" b="1" dirty="0">
              <a:solidFill>
                <a:schemeClr val="accent1"/>
              </a:solidFill>
              <a:latin typeface="Asap Medium" panose="020F0604030102060203" pitchFamily="34" charset="0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9431452" y="-4"/>
            <a:ext cx="258830" cy="6141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68" name="Shape 259"/>
          <p:cNvSpPr txBox="1">
            <a:spLocks/>
          </p:cNvSpPr>
          <p:nvPr/>
        </p:nvSpPr>
        <p:spPr>
          <a:xfrm>
            <a:off x="35599" y="591827"/>
            <a:ext cx="1937665" cy="740877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1200" dirty="0">
                <a:solidFill>
                  <a:schemeClr val="bg1"/>
                </a:solidFill>
                <a:latin typeface="CIDFont+F3"/>
              </a:rPr>
              <a:t>Spécifications fonctionnelles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9059637" y="6309345"/>
            <a:ext cx="2743200" cy="365125"/>
          </a:xfrm>
        </p:spPr>
        <p:txBody>
          <a:bodyPr/>
          <a:lstStyle/>
          <a:p>
            <a:fld id="{2476CA8B-E376-4C73-9B78-83D007D77E53}" type="slidenum">
              <a:rPr lang="id-ID" smtClean="0">
                <a:solidFill>
                  <a:srgbClr val="FF0000"/>
                </a:solidFill>
                <a:latin typeface="Asap Medium" panose="020F0604030102060203" pitchFamily="34" charset="0"/>
              </a:rPr>
              <a:t>19</a:t>
            </a:fld>
            <a:endParaRPr lang="id-ID" dirty="0">
              <a:solidFill>
                <a:srgbClr val="FF0000"/>
              </a:solidFill>
              <a:latin typeface="Asap Medium" panose="020F0604030102060203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ECCB045-FE19-4561-8017-9B40A020F357}"/>
              </a:ext>
            </a:extLst>
          </p:cNvPr>
          <p:cNvSpPr/>
          <p:nvPr/>
        </p:nvSpPr>
        <p:spPr>
          <a:xfrm>
            <a:off x="9813810" y="0"/>
            <a:ext cx="258830" cy="61414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3DE1CC4-1551-4828-A800-63DD77E86870}"/>
              </a:ext>
            </a:extLst>
          </p:cNvPr>
          <p:cNvSpPr/>
          <p:nvPr/>
        </p:nvSpPr>
        <p:spPr>
          <a:xfrm>
            <a:off x="10196168" y="-8069"/>
            <a:ext cx="258830" cy="61414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 dirty="0">
              <a:latin typeface="Asap Medium" panose="020F0604030102060203" pitchFamily="34" charset="0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304A858-F1EF-46C2-9C41-A25FCE3D9A94}"/>
              </a:ext>
            </a:extLst>
          </p:cNvPr>
          <p:cNvSpPr/>
          <p:nvPr/>
        </p:nvSpPr>
        <p:spPr>
          <a:xfrm>
            <a:off x="11392272" y="-5"/>
            <a:ext cx="258830" cy="614149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72A7319-31A7-490B-9740-279F48E96737}"/>
              </a:ext>
            </a:extLst>
          </p:cNvPr>
          <p:cNvSpPr/>
          <p:nvPr/>
        </p:nvSpPr>
        <p:spPr>
          <a:xfrm>
            <a:off x="10578526" y="-8069"/>
            <a:ext cx="258830" cy="61414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5ECA0C6-ECC9-4278-AE73-EBF82C6F8067}"/>
              </a:ext>
            </a:extLst>
          </p:cNvPr>
          <p:cNvSpPr/>
          <p:nvPr/>
        </p:nvSpPr>
        <p:spPr>
          <a:xfrm>
            <a:off x="10985399" y="-8070"/>
            <a:ext cx="258830" cy="614149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27" name="Shape 259"/>
          <p:cNvSpPr txBox="1">
            <a:spLocks/>
          </p:cNvSpPr>
          <p:nvPr/>
        </p:nvSpPr>
        <p:spPr>
          <a:xfrm>
            <a:off x="-114689" y="1575873"/>
            <a:ext cx="2091536" cy="200398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200" b="1" dirty="0" err="1">
                <a:solidFill>
                  <a:srgbClr val="2F5597"/>
                </a:solidFill>
                <a:latin typeface="Asap Medium" panose="020F0604030102060203" pitchFamily="34" charset="0"/>
              </a:rPr>
              <a:t>Spécifications</a:t>
            </a:r>
            <a:r>
              <a:rPr lang="en-US" sz="1200" b="1" dirty="0">
                <a:solidFill>
                  <a:srgbClr val="2F5597"/>
                </a:solidFill>
                <a:latin typeface="Asap Medium" panose="020F0604030102060203" pitchFamily="34" charset="0"/>
              </a:rPr>
              <a:t> techniques</a:t>
            </a:r>
            <a:endParaRPr lang="id-ID" sz="1200" b="1" dirty="0">
              <a:solidFill>
                <a:srgbClr val="2F5597"/>
              </a:solidFill>
              <a:latin typeface="Asap Medium" panose="020F0604030102060203" pitchFamily="34" charset="0"/>
            </a:endParaRPr>
          </a:p>
        </p:txBody>
      </p:sp>
      <p:sp>
        <p:nvSpPr>
          <p:cNvPr id="22" name="Shape 259">
            <a:extLst>
              <a:ext uri="{FF2B5EF4-FFF2-40B4-BE49-F238E27FC236}">
                <a16:creationId xmlns:a16="http://schemas.microsoft.com/office/drawing/2014/main" id="{CF14D14A-8D34-456F-A8EC-D128527F53D9}"/>
              </a:ext>
            </a:extLst>
          </p:cNvPr>
          <p:cNvSpPr txBox="1">
            <a:spLocks/>
          </p:cNvSpPr>
          <p:nvPr/>
        </p:nvSpPr>
        <p:spPr>
          <a:xfrm>
            <a:off x="3183247" y="656737"/>
            <a:ext cx="8134023" cy="516392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Asap Medium" panose="020F0604030102060203" pitchFamily="34" charset="0"/>
              </a:rPr>
              <a:t>Architecture du système</a:t>
            </a:r>
            <a:endParaRPr lang="id-ID" sz="2400" dirty="0">
              <a:solidFill>
                <a:srgbClr val="C00000"/>
              </a:solidFill>
              <a:latin typeface="Asap Medium" panose="020F0604030102060203" pitchFamily="34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639CC0D-98F9-4240-A65D-47C00617A87F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5028" y="1341092"/>
            <a:ext cx="9537809" cy="481373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1050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72">
            <a:extLst>
              <a:ext uri="{FF2B5EF4-FFF2-40B4-BE49-F238E27FC236}">
                <a16:creationId xmlns:a16="http://schemas.microsoft.com/office/drawing/2014/main" id="{DBC89666-CEA1-4BFE-A7F3-BA30895DF237}"/>
              </a:ext>
            </a:extLst>
          </p:cNvPr>
          <p:cNvSpPr/>
          <p:nvPr/>
        </p:nvSpPr>
        <p:spPr>
          <a:xfrm flipV="1">
            <a:off x="35600" y="614144"/>
            <a:ext cx="1934083" cy="606032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5144" y="632658"/>
            <a:ext cx="1934083" cy="686729"/>
          </a:xfrm>
          <a:prstGeom prst="rect">
            <a:avLst/>
          </a:prstGeom>
          <a:ln>
            <a:solidFill>
              <a:srgbClr val="4472C4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Rectangle 41"/>
          <p:cNvSpPr/>
          <p:nvPr/>
        </p:nvSpPr>
        <p:spPr>
          <a:xfrm>
            <a:off x="0" y="-18689"/>
            <a:ext cx="9321206" cy="6141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62" name="Shape 222"/>
          <p:cNvSpPr/>
          <p:nvPr/>
        </p:nvSpPr>
        <p:spPr>
          <a:xfrm>
            <a:off x="682388" y="163467"/>
            <a:ext cx="4741083" cy="287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>
              <a:lnSpc>
                <a:spcPct val="90000"/>
              </a:lnSpc>
              <a:defRPr sz="11100">
                <a:solidFill>
                  <a:srgbClr val="FFFFFF"/>
                </a:solidFill>
                <a:latin typeface="+mn-lt"/>
                <a:ea typeface="+mn-ea"/>
                <a:cs typeface="+mn-cs"/>
                <a:sym typeface="Montserrat Semi Bold"/>
              </a:defRPr>
            </a:lvl1pPr>
          </a:lstStyle>
          <a:p>
            <a:r>
              <a:rPr lang="en-GB" sz="1800" b="1" dirty="0">
                <a:latin typeface="Asap Medium" panose="020F0604030102060203" pitchFamily="34" charset="0"/>
              </a:rPr>
              <a:t>Conception</a:t>
            </a:r>
            <a:endParaRPr lang="id-ID" sz="1800" b="1" dirty="0">
              <a:latin typeface="Asap Medium" panose="020F0604030102060203" pitchFamily="34" charset="0"/>
            </a:endParaRPr>
          </a:p>
        </p:txBody>
      </p:sp>
      <p:sp>
        <p:nvSpPr>
          <p:cNvPr id="63" name="Shape 223"/>
          <p:cNvSpPr/>
          <p:nvPr/>
        </p:nvSpPr>
        <p:spPr>
          <a:xfrm>
            <a:off x="110246" y="84459"/>
            <a:ext cx="431835" cy="431835"/>
          </a:xfrm>
          <a:prstGeom prst="ellipse">
            <a:avLst/>
          </a:prstGeom>
          <a:solidFill>
            <a:srgbClr val="FFFFFF"/>
          </a:solidFill>
          <a:ln w="3175">
            <a:solidFill>
              <a:srgbClr val="A6AAA9"/>
            </a:solidFill>
          </a:ln>
        </p:spPr>
        <p:txBody>
          <a:bodyPr lIns="14288" tIns="14288" rIns="14288" bIns="14288" anchor="ctr"/>
          <a:lstStyle/>
          <a:p>
            <a:endParaRPr sz="1500" b="1">
              <a:latin typeface="Asap Medium" panose="020F0604030102060203" pitchFamily="34" charset="0"/>
            </a:endParaRPr>
          </a:p>
        </p:txBody>
      </p:sp>
      <p:sp>
        <p:nvSpPr>
          <p:cNvPr id="64" name="Shape 222"/>
          <p:cNvSpPr/>
          <p:nvPr/>
        </p:nvSpPr>
        <p:spPr>
          <a:xfrm>
            <a:off x="90194" y="159992"/>
            <a:ext cx="492801" cy="315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>
              <a:lnSpc>
                <a:spcPct val="90000"/>
              </a:lnSpc>
              <a:defRPr sz="11100">
                <a:solidFill>
                  <a:srgbClr val="FFFFFF"/>
                </a:solidFill>
                <a:latin typeface="+mn-lt"/>
                <a:ea typeface="+mn-ea"/>
                <a:cs typeface="+mn-cs"/>
                <a:sym typeface="Montserrat Semi Bold"/>
              </a:defRPr>
            </a:lvl1pPr>
          </a:lstStyle>
          <a:p>
            <a:pPr algn="ctr"/>
            <a:r>
              <a:rPr lang="en-GB" sz="2000" b="1" dirty="0">
                <a:solidFill>
                  <a:schemeClr val="accent1"/>
                </a:solidFill>
                <a:latin typeface="Asap Medium" panose="020F0604030102060203" pitchFamily="34" charset="0"/>
              </a:rPr>
              <a:t>V</a:t>
            </a:r>
            <a:endParaRPr lang="id-ID" sz="1600" b="1" dirty="0">
              <a:solidFill>
                <a:schemeClr val="accent1"/>
              </a:solidFill>
              <a:latin typeface="Asap Medium" panose="020F0604030102060203" pitchFamily="34" charset="0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9431452" y="-4"/>
            <a:ext cx="258830" cy="6141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68" name="Shape 259"/>
          <p:cNvSpPr txBox="1">
            <a:spLocks/>
          </p:cNvSpPr>
          <p:nvPr/>
        </p:nvSpPr>
        <p:spPr>
          <a:xfrm>
            <a:off x="35599" y="591827"/>
            <a:ext cx="1937665" cy="740877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1200" dirty="0">
                <a:solidFill>
                  <a:srgbClr val="2F5597"/>
                </a:solidFill>
                <a:latin typeface="CIDFont+F3"/>
              </a:rPr>
              <a:t>Conception générale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9059637" y="6309345"/>
            <a:ext cx="2743200" cy="365125"/>
          </a:xfrm>
        </p:spPr>
        <p:txBody>
          <a:bodyPr/>
          <a:lstStyle/>
          <a:p>
            <a:fld id="{2476CA8B-E376-4C73-9B78-83D007D77E53}" type="slidenum">
              <a:rPr lang="id-ID" smtClean="0">
                <a:solidFill>
                  <a:srgbClr val="FF0000"/>
                </a:solidFill>
                <a:latin typeface="Asap Medium" panose="020F0604030102060203" pitchFamily="34" charset="0"/>
              </a:rPr>
              <a:t>20</a:t>
            </a:fld>
            <a:endParaRPr lang="id-ID" dirty="0">
              <a:solidFill>
                <a:srgbClr val="FF0000"/>
              </a:solidFill>
              <a:latin typeface="Asap Medium" panose="020F0604030102060203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ECCB045-FE19-4561-8017-9B40A020F357}"/>
              </a:ext>
            </a:extLst>
          </p:cNvPr>
          <p:cNvSpPr/>
          <p:nvPr/>
        </p:nvSpPr>
        <p:spPr>
          <a:xfrm>
            <a:off x="9813810" y="0"/>
            <a:ext cx="258830" cy="61414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3DE1CC4-1551-4828-A800-63DD77E86870}"/>
              </a:ext>
            </a:extLst>
          </p:cNvPr>
          <p:cNvSpPr/>
          <p:nvPr/>
        </p:nvSpPr>
        <p:spPr>
          <a:xfrm>
            <a:off x="10196168" y="-8069"/>
            <a:ext cx="258830" cy="61414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 dirty="0">
              <a:latin typeface="Asap Medium" panose="020F0604030102060203" pitchFamily="34" charset="0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304A858-F1EF-46C2-9C41-A25FCE3D9A94}"/>
              </a:ext>
            </a:extLst>
          </p:cNvPr>
          <p:cNvSpPr/>
          <p:nvPr/>
        </p:nvSpPr>
        <p:spPr>
          <a:xfrm>
            <a:off x="11392272" y="-5"/>
            <a:ext cx="258830" cy="614149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72A7319-31A7-490B-9740-279F48E96737}"/>
              </a:ext>
            </a:extLst>
          </p:cNvPr>
          <p:cNvSpPr/>
          <p:nvPr/>
        </p:nvSpPr>
        <p:spPr>
          <a:xfrm>
            <a:off x="10578526" y="-8069"/>
            <a:ext cx="258830" cy="61414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5ECA0C6-ECC9-4278-AE73-EBF82C6F8067}"/>
              </a:ext>
            </a:extLst>
          </p:cNvPr>
          <p:cNvSpPr/>
          <p:nvPr/>
        </p:nvSpPr>
        <p:spPr>
          <a:xfrm>
            <a:off x="10985399" y="-8070"/>
            <a:ext cx="258830" cy="614149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27" name="Shape 259"/>
          <p:cNvSpPr txBox="1">
            <a:spLocks/>
          </p:cNvSpPr>
          <p:nvPr/>
        </p:nvSpPr>
        <p:spPr>
          <a:xfrm>
            <a:off x="-114689" y="1575873"/>
            <a:ext cx="2091536" cy="200398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200" b="1" dirty="0">
                <a:solidFill>
                  <a:schemeClr val="bg1"/>
                </a:solidFill>
                <a:latin typeface="Asap Medium" panose="020F0604030102060203" pitchFamily="34" charset="0"/>
              </a:rPr>
              <a:t>Conception </a:t>
            </a:r>
            <a:r>
              <a:rPr lang="en-US" sz="1200" b="1" dirty="0" err="1">
                <a:solidFill>
                  <a:schemeClr val="bg1"/>
                </a:solidFill>
                <a:latin typeface="Asap Medium" panose="020F0604030102060203" pitchFamily="34" charset="0"/>
              </a:rPr>
              <a:t>détaillée</a:t>
            </a:r>
            <a:endParaRPr lang="id-ID" sz="1200" b="1" dirty="0">
              <a:solidFill>
                <a:schemeClr val="bg1"/>
              </a:solidFill>
              <a:latin typeface="Asap Medium" panose="020F0604030102060203" pitchFamily="34" charset="0"/>
            </a:endParaRPr>
          </a:p>
        </p:txBody>
      </p:sp>
      <p:sp>
        <p:nvSpPr>
          <p:cNvPr id="22" name="Shape 259">
            <a:extLst>
              <a:ext uri="{FF2B5EF4-FFF2-40B4-BE49-F238E27FC236}">
                <a16:creationId xmlns:a16="http://schemas.microsoft.com/office/drawing/2014/main" id="{CF14D14A-8D34-456F-A8EC-D128527F53D9}"/>
              </a:ext>
            </a:extLst>
          </p:cNvPr>
          <p:cNvSpPr txBox="1">
            <a:spLocks/>
          </p:cNvSpPr>
          <p:nvPr/>
        </p:nvSpPr>
        <p:spPr>
          <a:xfrm>
            <a:off x="2320975" y="656737"/>
            <a:ext cx="8134023" cy="516392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Asap Medium" panose="020F0604030102060203" pitchFamily="34" charset="0"/>
              </a:rPr>
              <a:t>Diagramme de classes de conception générale</a:t>
            </a:r>
            <a:endParaRPr lang="id-ID" sz="2400" dirty="0">
              <a:solidFill>
                <a:srgbClr val="C00000"/>
              </a:solidFill>
              <a:latin typeface="Asap Medium" panose="020F060403010206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19E5E6-D395-4144-AF4E-1CBE60DA7B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5063" y="1332705"/>
            <a:ext cx="8650336" cy="4430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578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animBg="1"/>
      <p:bldP spid="3" grpId="0" animBg="1"/>
      <p:bldP spid="68" grpId="0"/>
      <p:bldP spid="4" grpId="0"/>
      <p:bldP spid="27" grpId="0"/>
      <p:bldP spid="2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BF8A815-E02C-4D54-8B84-329D5E4A01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8775" y="1332704"/>
            <a:ext cx="9102328" cy="4512666"/>
          </a:xfrm>
          <a:prstGeom prst="rect">
            <a:avLst/>
          </a:prstGeom>
        </p:spPr>
      </p:pic>
      <p:sp>
        <p:nvSpPr>
          <p:cNvPr id="73" name="Rectangle 72">
            <a:extLst>
              <a:ext uri="{FF2B5EF4-FFF2-40B4-BE49-F238E27FC236}">
                <a16:creationId xmlns:a16="http://schemas.microsoft.com/office/drawing/2014/main" id="{DBC89666-CEA1-4BFE-A7F3-BA30895DF237}"/>
              </a:ext>
            </a:extLst>
          </p:cNvPr>
          <p:cNvSpPr/>
          <p:nvPr/>
        </p:nvSpPr>
        <p:spPr>
          <a:xfrm flipV="1">
            <a:off x="35600" y="614144"/>
            <a:ext cx="1934083" cy="606032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5598" y="1324733"/>
            <a:ext cx="1934083" cy="686729"/>
          </a:xfrm>
          <a:prstGeom prst="rect">
            <a:avLst/>
          </a:prstGeom>
          <a:ln>
            <a:solidFill>
              <a:srgbClr val="4472C4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Rectangle 41"/>
          <p:cNvSpPr/>
          <p:nvPr/>
        </p:nvSpPr>
        <p:spPr>
          <a:xfrm>
            <a:off x="0" y="-18689"/>
            <a:ext cx="9321206" cy="6141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62" name="Shape 222"/>
          <p:cNvSpPr/>
          <p:nvPr/>
        </p:nvSpPr>
        <p:spPr>
          <a:xfrm>
            <a:off x="682388" y="163467"/>
            <a:ext cx="4741083" cy="287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>
              <a:lnSpc>
                <a:spcPct val="90000"/>
              </a:lnSpc>
              <a:defRPr sz="11100">
                <a:solidFill>
                  <a:srgbClr val="FFFFFF"/>
                </a:solidFill>
                <a:latin typeface="+mn-lt"/>
                <a:ea typeface="+mn-ea"/>
                <a:cs typeface="+mn-cs"/>
                <a:sym typeface="Montserrat Semi Bold"/>
              </a:defRPr>
            </a:lvl1pPr>
          </a:lstStyle>
          <a:p>
            <a:r>
              <a:rPr lang="en-GB" sz="1800" b="1" dirty="0">
                <a:latin typeface="Asap Medium" panose="020F0604030102060203" pitchFamily="34" charset="0"/>
              </a:rPr>
              <a:t>Conception</a:t>
            </a:r>
            <a:endParaRPr lang="id-ID" sz="1800" b="1" dirty="0">
              <a:latin typeface="Asap Medium" panose="020F0604030102060203" pitchFamily="34" charset="0"/>
            </a:endParaRPr>
          </a:p>
        </p:txBody>
      </p:sp>
      <p:sp>
        <p:nvSpPr>
          <p:cNvPr id="63" name="Shape 223"/>
          <p:cNvSpPr/>
          <p:nvPr/>
        </p:nvSpPr>
        <p:spPr>
          <a:xfrm>
            <a:off x="110246" y="84459"/>
            <a:ext cx="431835" cy="431835"/>
          </a:xfrm>
          <a:prstGeom prst="ellipse">
            <a:avLst/>
          </a:prstGeom>
          <a:solidFill>
            <a:srgbClr val="FFFFFF"/>
          </a:solidFill>
          <a:ln w="3175">
            <a:solidFill>
              <a:srgbClr val="A6AAA9"/>
            </a:solidFill>
          </a:ln>
        </p:spPr>
        <p:txBody>
          <a:bodyPr lIns="14288" tIns="14288" rIns="14288" bIns="14288" anchor="ctr"/>
          <a:lstStyle/>
          <a:p>
            <a:endParaRPr sz="1500" b="1">
              <a:latin typeface="Asap Medium" panose="020F0604030102060203" pitchFamily="34" charset="0"/>
            </a:endParaRPr>
          </a:p>
        </p:txBody>
      </p:sp>
      <p:sp>
        <p:nvSpPr>
          <p:cNvPr id="64" name="Shape 222"/>
          <p:cNvSpPr/>
          <p:nvPr/>
        </p:nvSpPr>
        <p:spPr>
          <a:xfrm>
            <a:off x="90194" y="159992"/>
            <a:ext cx="492801" cy="315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>
              <a:lnSpc>
                <a:spcPct val="90000"/>
              </a:lnSpc>
              <a:defRPr sz="11100">
                <a:solidFill>
                  <a:srgbClr val="FFFFFF"/>
                </a:solidFill>
                <a:latin typeface="+mn-lt"/>
                <a:ea typeface="+mn-ea"/>
                <a:cs typeface="+mn-cs"/>
                <a:sym typeface="Montserrat Semi Bold"/>
              </a:defRPr>
            </a:lvl1pPr>
          </a:lstStyle>
          <a:p>
            <a:pPr algn="ctr"/>
            <a:r>
              <a:rPr lang="en-GB" sz="2000" b="1" dirty="0">
                <a:solidFill>
                  <a:schemeClr val="accent1"/>
                </a:solidFill>
                <a:latin typeface="Asap Medium" panose="020F0604030102060203" pitchFamily="34" charset="0"/>
              </a:rPr>
              <a:t>V</a:t>
            </a:r>
            <a:endParaRPr lang="id-ID" sz="1600" b="1" dirty="0">
              <a:solidFill>
                <a:schemeClr val="accent1"/>
              </a:solidFill>
              <a:latin typeface="Asap Medium" panose="020F0604030102060203" pitchFamily="34" charset="0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9431452" y="-4"/>
            <a:ext cx="258830" cy="6141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68" name="Shape 259"/>
          <p:cNvSpPr txBox="1">
            <a:spLocks/>
          </p:cNvSpPr>
          <p:nvPr/>
        </p:nvSpPr>
        <p:spPr>
          <a:xfrm>
            <a:off x="35599" y="591827"/>
            <a:ext cx="1937665" cy="740877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1200" dirty="0">
                <a:solidFill>
                  <a:schemeClr val="bg1"/>
                </a:solidFill>
                <a:latin typeface="CIDFont+F3"/>
              </a:rPr>
              <a:t>Conception générale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9059637" y="6309345"/>
            <a:ext cx="2743200" cy="365125"/>
          </a:xfrm>
        </p:spPr>
        <p:txBody>
          <a:bodyPr/>
          <a:lstStyle/>
          <a:p>
            <a:fld id="{2476CA8B-E376-4C73-9B78-83D007D77E53}" type="slidenum">
              <a:rPr lang="id-ID" smtClean="0">
                <a:solidFill>
                  <a:srgbClr val="FF0000"/>
                </a:solidFill>
                <a:latin typeface="Asap Medium" panose="020F0604030102060203" pitchFamily="34" charset="0"/>
              </a:rPr>
              <a:t>21</a:t>
            </a:fld>
            <a:endParaRPr lang="id-ID" dirty="0">
              <a:solidFill>
                <a:srgbClr val="FF0000"/>
              </a:solidFill>
              <a:latin typeface="Asap Medium" panose="020F0604030102060203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ECCB045-FE19-4561-8017-9B40A020F357}"/>
              </a:ext>
            </a:extLst>
          </p:cNvPr>
          <p:cNvSpPr/>
          <p:nvPr/>
        </p:nvSpPr>
        <p:spPr>
          <a:xfrm>
            <a:off x="9813810" y="0"/>
            <a:ext cx="258830" cy="61414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3DE1CC4-1551-4828-A800-63DD77E86870}"/>
              </a:ext>
            </a:extLst>
          </p:cNvPr>
          <p:cNvSpPr/>
          <p:nvPr/>
        </p:nvSpPr>
        <p:spPr>
          <a:xfrm>
            <a:off x="10196168" y="-8069"/>
            <a:ext cx="258830" cy="61414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 dirty="0">
              <a:latin typeface="Asap Medium" panose="020F0604030102060203" pitchFamily="34" charset="0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304A858-F1EF-46C2-9C41-A25FCE3D9A94}"/>
              </a:ext>
            </a:extLst>
          </p:cNvPr>
          <p:cNvSpPr/>
          <p:nvPr/>
        </p:nvSpPr>
        <p:spPr>
          <a:xfrm>
            <a:off x="11392272" y="-5"/>
            <a:ext cx="258830" cy="614149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72A7319-31A7-490B-9740-279F48E96737}"/>
              </a:ext>
            </a:extLst>
          </p:cNvPr>
          <p:cNvSpPr/>
          <p:nvPr/>
        </p:nvSpPr>
        <p:spPr>
          <a:xfrm>
            <a:off x="10578526" y="-8069"/>
            <a:ext cx="258830" cy="61414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5ECA0C6-ECC9-4278-AE73-EBF82C6F8067}"/>
              </a:ext>
            </a:extLst>
          </p:cNvPr>
          <p:cNvSpPr/>
          <p:nvPr/>
        </p:nvSpPr>
        <p:spPr>
          <a:xfrm>
            <a:off x="10985399" y="-8070"/>
            <a:ext cx="258830" cy="614149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27" name="Shape 259"/>
          <p:cNvSpPr txBox="1">
            <a:spLocks/>
          </p:cNvSpPr>
          <p:nvPr/>
        </p:nvSpPr>
        <p:spPr>
          <a:xfrm>
            <a:off x="-114689" y="1575873"/>
            <a:ext cx="2091536" cy="200398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200" b="1" dirty="0">
                <a:solidFill>
                  <a:srgbClr val="2F5597"/>
                </a:solidFill>
                <a:latin typeface="Asap Medium" panose="020F0604030102060203" pitchFamily="34" charset="0"/>
              </a:rPr>
              <a:t>Conception </a:t>
            </a:r>
            <a:r>
              <a:rPr lang="en-US" sz="1200" b="1" dirty="0" err="1">
                <a:solidFill>
                  <a:srgbClr val="2F5597"/>
                </a:solidFill>
                <a:latin typeface="Asap Medium" panose="020F0604030102060203" pitchFamily="34" charset="0"/>
              </a:rPr>
              <a:t>détaillée</a:t>
            </a:r>
            <a:endParaRPr lang="id-ID" sz="1200" b="1" dirty="0">
              <a:solidFill>
                <a:srgbClr val="2F5597"/>
              </a:solidFill>
              <a:latin typeface="Asap Medium" panose="020F0604030102060203" pitchFamily="34" charset="0"/>
            </a:endParaRPr>
          </a:p>
        </p:txBody>
      </p:sp>
      <p:sp>
        <p:nvSpPr>
          <p:cNvPr id="22" name="Shape 259">
            <a:extLst>
              <a:ext uri="{FF2B5EF4-FFF2-40B4-BE49-F238E27FC236}">
                <a16:creationId xmlns:a16="http://schemas.microsoft.com/office/drawing/2014/main" id="{CF14D14A-8D34-456F-A8EC-D128527F53D9}"/>
              </a:ext>
            </a:extLst>
          </p:cNvPr>
          <p:cNvSpPr txBox="1">
            <a:spLocks/>
          </p:cNvSpPr>
          <p:nvPr/>
        </p:nvSpPr>
        <p:spPr>
          <a:xfrm>
            <a:off x="2320975" y="656737"/>
            <a:ext cx="8134023" cy="516392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Asap Medium" panose="020F0604030102060203" pitchFamily="34" charset="0"/>
              </a:rPr>
              <a:t>Diagramme de classes de la couche Logic</a:t>
            </a:r>
            <a:endParaRPr lang="id-ID" sz="2400" dirty="0">
              <a:solidFill>
                <a:srgbClr val="C00000"/>
              </a:solidFill>
              <a:latin typeface="Asap Medium" panose="020F0604030102060203" pitchFamily="34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E791003-2790-43A9-B99E-C64059DAEBE6}"/>
              </a:ext>
            </a:extLst>
          </p:cNvPr>
          <p:cNvSpPr/>
          <p:nvPr/>
        </p:nvSpPr>
        <p:spPr>
          <a:xfrm>
            <a:off x="5138928" y="3033133"/>
            <a:ext cx="1774828" cy="970156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2493391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4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2.96296E-6 L -0.00547 -0.275 " pathEditMode="relative" rAng="0" ptsTypes="AA">
                                      <p:cBhvr>
                                        <p:cTn id="1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73" y="-1375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807 -0.25764 L -0.22396 -0.02014 " pathEditMode="relative" rAng="0" ptsTypes="AA">
                                      <p:cBhvr>
                                        <p:cTn id="2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794" y="1187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path" presetSubtype="0" accel="50000" decel="5000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2682 -0.02222 L -0.00286 0.23982 " pathEditMode="relative" rAng="0" ptsTypes="AA">
                                      <p:cBhvr>
                                        <p:cTn id="2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198" y="1310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61 0.22454 L 0.21758 -0.00023 " pathEditMode="relative" rAng="0" ptsTypes="AA">
                                      <p:cBhvr>
                                        <p:cTn id="2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742" y="-1125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path" presetSubtype="0" accel="50000" decel="5000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1901 0.00093 L -0.21068 -0.26273 " pathEditMode="relative" rAng="0" ptsTypes="AA">
                                      <p:cBhvr>
                                        <p:cTn id="3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484" y="-131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30" grpId="0" animBg="1"/>
      <p:bldP spid="30" grpId="1" animBg="1"/>
      <p:bldP spid="30" grpId="2" animBg="1"/>
      <p:bldP spid="30" grpId="3" animBg="1"/>
      <p:bldP spid="30" grpId="4" animBg="1"/>
      <p:bldP spid="30" grpId="5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72">
            <a:extLst>
              <a:ext uri="{FF2B5EF4-FFF2-40B4-BE49-F238E27FC236}">
                <a16:creationId xmlns:a16="http://schemas.microsoft.com/office/drawing/2014/main" id="{DBC89666-CEA1-4BFE-A7F3-BA30895DF237}"/>
              </a:ext>
            </a:extLst>
          </p:cNvPr>
          <p:cNvSpPr/>
          <p:nvPr/>
        </p:nvSpPr>
        <p:spPr>
          <a:xfrm flipV="1">
            <a:off x="35600" y="614143"/>
            <a:ext cx="1934083" cy="608038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8436" y="632658"/>
            <a:ext cx="1934083" cy="686729"/>
          </a:xfrm>
          <a:prstGeom prst="rect">
            <a:avLst/>
          </a:prstGeom>
          <a:ln>
            <a:solidFill>
              <a:srgbClr val="4472C4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Rectangle 41"/>
          <p:cNvSpPr/>
          <p:nvPr/>
        </p:nvSpPr>
        <p:spPr>
          <a:xfrm>
            <a:off x="0" y="-18689"/>
            <a:ext cx="9321206" cy="6141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62" name="Shape 222"/>
          <p:cNvSpPr/>
          <p:nvPr/>
        </p:nvSpPr>
        <p:spPr>
          <a:xfrm>
            <a:off x="682388" y="163467"/>
            <a:ext cx="4741083" cy="287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>
              <a:lnSpc>
                <a:spcPct val="90000"/>
              </a:lnSpc>
              <a:defRPr sz="11100">
                <a:solidFill>
                  <a:srgbClr val="FFFFFF"/>
                </a:solidFill>
                <a:latin typeface="+mn-lt"/>
                <a:ea typeface="+mn-ea"/>
                <a:cs typeface="+mn-cs"/>
                <a:sym typeface="Montserrat Semi Bold"/>
              </a:defRPr>
            </a:lvl1pPr>
          </a:lstStyle>
          <a:p>
            <a:r>
              <a:rPr lang="en-GB" sz="1800" b="1" dirty="0">
                <a:latin typeface="Asap Medium" panose="020F0604030102060203" pitchFamily="34" charset="0"/>
              </a:rPr>
              <a:t>Realisation</a:t>
            </a:r>
            <a:endParaRPr lang="id-ID" sz="1800" b="1" dirty="0">
              <a:latin typeface="Asap Medium" panose="020F0604030102060203" pitchFamily="34" charset="0"/>
            </a:endParaRPr>
          </a:p>
        </p:txBody>
      </p:sp>
      <p:sp>
        <p:nvSpPr>
          <p:cNvPr id="63" name="Shape 223"/>
          <p:cNvSpPr/>
          <p:nvPr/>
        </p:nvSpPr>
        <p:spPr>
          <a:xfrm>
            <a:off x="110246" y="84459"/>
            <a:ext cx="431835" cy="431835"/>
          </a:xfrm>
          <a:prstGeom prst="ellipse">
            <a:avLst/>
          </a:prstGeom>
          <a:solidFill>
            <a:srgbClr val="FFFFFF"/>
          </a:solidFill>
          <a:ln w="3175">
            <a:solidFill>
              <a:srgbClr val="A6AAA9"/>
            </a:solidFill>
          </a:ln>
        </p:spPr>
        <p:txBody>
          <a:bodyPr lIns="14288" tIns="14288" rIns="14288" bIns="14288" anchor="ctr"/>
          <a:lstStyle/>
          <a:p>
            <a:endParaRPr sz="1500" b="1">
              <a:latin typeface="Asap Medium" panose="020F0604030102060203" pitchFamily="34" charset="0"/>
            </a:endParaRPr>
          </a:p>
        </p:txBody>
      </p:sp>
      <p:sp>
        <p:nvSpPr>
          <p:cNvPr id="64" name="Shape 222"/>
          <p:cNvSpPr/>
          <p:nvPr/>
        </p:nvSpPr>
        <p:spPr>
          <a:xfrm>
            <a:off x="90194" y="159992"/>
            <a:ext cx="492801" cy="315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>
              <a:lnSpc>
                <a:spcPct val="90000"/>
              </a:lnSpc>
              <a:defRPr sz="11100">
                <a:solidFill>
                  <a:srgbClr val="FFFFFF"/>
                </a:solidFill>
                <a:latin typeface="+mn-lt"/>
                <a:ea typeface="+mn-ea"/>
                <a:cs typeface="+mn-cs"/>
                <a:sym typeface="Montserrat Semi Bold"/>
              </a:defRPr>
            </a:lvl1pPr>
          </a:lstStyle>
          <a:p>
            <a:pPr algn="ctr"/>
            <a:r>
              <a:rPr lang="en-GB" sz="2000" b="1" dirty="0">
                <a:solidFill>
                  <a:schemeClr val="accent1"/>
                </a:solidFill>
                <a:latin typeface="Asap Medium" panose="020F0604030102060203" pitchFamily="34" charset="0"/>
              </a:rPr>
              <a:t>VI</a:t>
            </a:r>
            <a:endParaRPr lang="id-ID" sz="1600" b="1" dirty="0">
              <a:solidFill>
                <a:schemeClr val="accent1"/>
              </a:solidFill>
              <a:latin typeface="Asap Medium" panose="020F0604030102060203" pitchFamily="34" charset="0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9431452" y="-4"/>
            <a:ext cx="258830" cy="6141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68" name="Shape 259"/>
          <p:cNvSpPr txBox="1">
            <a:spLocks/>
          </p:cNvSpPr>
          <p:nvPr/>
        </p:nvSpPr>
        <p:spPr>
          <a:xfrm>
            <a:off x="35599" y="591827"/>
            <a:ext cx="1937665" cy="740877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1200" b="1" dirty="0">
                <a:solidFill>
                  <a:srgbClr val="2F5597"/>
                </a:solidFill>
                <a:latin typeface="Asap Medium" panose="020F0604030102060203" pitchFamily="34" charset="0"/>
              </a:rPr>
              <a:t>Environnement du projet</a:t>
            </a:r>
            <a:endParaRPr lang="id-ID" sz="1200" b="1" dirty="0">
              <a:solidFill>
                <a:srgbClr val="2F5597"/>
              </a:solidFill>
              <a:latin typeface="Asap Medium" panose="020F0604030102060203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9059637" y="6309345"/>
            <a:ext cx="2743200" cy="365125"/>
          </a:xfrm>
        </p:spPr>
        <p:txBody>
          <a:bodyPr/>
          <a:lstStyle/>
          <a:p>
            <a:fld id="{2476CA8B-E376-4C73-9B78-83D007D77E53}" type="slidenum">
              <a:rPr lang="id-ID" smtClean="0">
                <a:solidFill>
                  <a:srgbClr val="FF0000"/>
                </a:solidFill>
                <a:latin typeface="Asap Medium" panose="020F0604030102060203" pitchFamily="34" charset="0"/>
              </a:rPr>
              <a:t>22</a:t>
            </a:fld>
            <a:endParaRPr lang="id-ID" dirty="0">
              <a:solidFill>
                <a:srgbClr val="FF0000"/>
              </a:solidFill>
              <a:latin typeface="Asap Medium" panose="020F0604030102060203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ECCB045-FE19-4561-8017-9B40A020F357}"/>
              </a:ext>
            </a:extLst>
          </p:cNvPr>
          <p:cNvSpPr/>
          <p:nvPr/>
        </p:nvSpPr>
        <p:spPr>
          <a:xfrm>
            <a:off x="9813810" y="0"/>
            <a:ext cx="258830" cy="61414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3DE1CC4-1551-4828-A800-63DD77E86870}"/>
              </a:ext>
            </a:extLst>
          </p:cNvPr>
          <p:cNvSpPr/>
          <p:nvPr/>
        </p:nvSpPr>
        <p:spPr>
          <a:xfrm>
            <a:off x="10196168" y="-8069"/>
            <a:ext cx="258830" cy="61414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 dirty="0">
              <a:latin typeface="Asap Medium" panose="020F0604030102060203" pitchFamily="34" charset="0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304A858-F1EF-46C2-9C41-A25FCE3D9A94}"/>
              </a:ext>
            </a:extLst>
          </p:cNvPr>
          <p:cNvSpPr/>
          <p:nvPr/>
        </p:nvSpPr>
        <p:spPr>
          <a:xfrm>
            <a:off x="11392272" y="-5"/>
            <a:ext cx="258830" cy="614149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72A7319-31A7-490B-9740-279F48E96737}"/>
              </a:ext>
            </a:extLst>
          </p:cNvPr>
          <p:cNvSpPr/>
          <p:nvPr/>
        </p:nvSpPr>
        <p:spPr>
          <a:xfrm>
            <a:off x="10578526" y="-8069"/>
            <a:ext cx="258830" cy="61414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5ECA0C6-ECC9-4278-AE73-EBF82C6F8067}"/>
              </a:ext>
            </a:extLst>
          </p:cNvPr>
          <p:cNvSpPr/>
          <p:nvPr/>
        </p:nvSpPr>
        <p:spPr>
          <a:xfrm>
            <a:off x="10985399" y="-8070"/>
            <a:ext cx="258830" cy="614149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27" name="Shape 259"/>
          <p:cNvSpPr txBox="1">
            <a:spLocks/>
          </p:cNvSpPr>
          <p:nvPr/>
        </p:nvSpPr>
        <p:spPr>
          <a:xfrm>
            <a:off x="-114689" y="1575873"/>
            <a:ext cx="2091536" cy="200398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1200" b="1" dirty="0">
                <a:solidFill>
                  <a:schemeClr val="bg1"/>
                </a:solidFill>
                <a:latin typeface="Asap Medium" panose="020F0604030102060203" pitchFamily="34" charset="0"/>
              </a:rPr>
              <a:t>Démonstration 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29269F2-0E7D-4095-9C0F-5F2CEFEED5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7971" y="3931289"/>
            <a:ext cx="2662601" cy="1275364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A617F5A9-972B-48AB-BA62-D44E0115D5E9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1452" y="1572139"/>
            <a:ext cx="2336438" cy="14304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DF219E03-ACB4-4CD9-9823-B4B08700700C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1052" y="1436533"/>
            <a:ext cx="2336438" cy="167810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5381A6F3-83C8-45AF-A5E1-F71497E25089}"/>
              </a:ext>
            </a:extLst>
          </p:cNvPr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9082" y="3884431"/>
            <a:ext cx="2662601" cy="135991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91FF9C4E-2982-40CF-B0CA-676621E8BF07}"/>
              </a:ext>
            </a:extLst>
          </p:cNvPr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1941" y="1618407"/>
            <a:ext cx="2231505" cy="1337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0AE2AEA1-E412-49B1-8A57-99DFF9CCFB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3247" y="1572139"/>
            <a:ext cx="1664724" cy="1542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17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animBg="1"/>
      <p:bldP spid="3" grpId="0" animBg="1"/>
      <p:bldP spid="68" grpId="0"/>
      <p:bldP spid="2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72">
            <a:extLst>
              <a:ext uri="{FF2B5EF4-FFF2-40B4-BE49-F238E27FC236}">
                <a16:creationId xmlns:a16="http://schemas.microsoft.com/office/drawing/2014/main" id="{DBC89666-CEA1-4BFE-A7F3-BA30895DF237}"/>
              </a:ext>
            </a:extLst>
          </p:cNvPr>
          <p:cNvSpPr/>
          <p:nvPr/>
        </p:nvSpPr>
        <p:spPr>
          <a:xfrm flipV="1">
            <a:off x="35600" y="647700"/>
            <a:ext cx="1934083" cy="602677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4554" y="1332707"/>
            <a:ext cx="1934083" cy="686729"/>
          </a:xfrm>
          <a:prstGeom prst="rect">
            <a:avLst/>
          </a:prstGeom>
          <a:ln>
            <a:solidFill>
              <a:srgbClr val="4472C4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Rectangle 41"/>
          <p:cNvSpPr/>
          <p:nvPr/>
        </p:nvSpPr>
        <p:spPr>
          <a:xfrm>
            <a:off x="0" y="-18689"/>
            <a:ext cx="9321206" cy="6141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62" name="Shape 222"/>
          <p:cNvSpPr/>
          <p:nvPr/>
        </p:nvSpPr>
        <p:spPr>
          <a:xfrm>
            <a:off x="682388" y="163467"/>
            <a:ext cx="4741083" cy="287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>
              <a:lnSpc>
                <a:spcPct val="90000"/>
              </a:lnSpc>
              <a:defRPr sz="11100">
                <a:solidFill>
                  <a:srgbClr val="FFFFFF"/>
                </a:solidFill>
                <a:latin typeface="+mn-lt"/>
                <a:ea typeface="+mn-ea"/>
                <a:cs typeface="+mn-cs"/>
                <a:sym typeface="Montserrat Semi Bold"/>
              </a:defRPr>
            </a:lvl1pPr>
          </a:lstStyle>
          <a:p>
            <a:r>
              <a:rPr lang="en-GB" sz="1800" b="1" dirty="0">
                <a:latin typeface="Asap Medium" panose="020F0604030102060203" pitchFamily="34" charset="0"/>
              </a:rPr>
              <a:t>Realisation</a:t>
            </a:r>
            <a:endParaRPr lang="id-ID" sz="1800" b="1" dirty="0">
              <a:latin typeface="Asap Medium" panose="020F0604030102060203" pitchFamily="34" charset="0"/>
            </a:endParaRPr>
          </a:p>
        </p:txBody>
      </p:sp>
      <p:sp>
        <p:nvSpPr>
          <p:cNvPr id="63" name="Shape 223"/>
          <p:cNvSpPr/>
          <p:nvPr/>
        </p:nvSpPr>
        <p:spPr>
          <a:xfrm>
            <a:off x="110246" y="84459"/>
            <a:ext cx="431835" cy="431835"/>
          </a:xfrm>
          <a:prstGeom prst="ellipse">
            <a:avLst/>
          </a:prstGeom>
          <a:solidFill>
            <a:srgbClr val="FFFFFF"/>
          </a:solidFill>
          <a:ln w="3175">
            <a:solidFill>
              <a:srgbClr val="A6AAA9"/>
            </a:solidFill>
          </a:ln>
        </p:spPr>
        <p:txBody>
          <a:bodyPr lIns="14288" tIns="14288" rIns="14288" bIns="14288" anchor="ctr"/>
          <a:lstStyle/>
          <a:p>
            <a:endParaRPr sz="1500" b="1" dirty="0">
              <a:latin typeface="Asap Medium" panose="020F0604030102060203" pitchFamily="34" charset="0"/>
            </a:endParaRPr>
          </a:p>
        </p:txBody>
      </p:sp>
      <p:sp>
        <p:nvSpPr>
          <p:cNvPr id="64" name="Shape 222"/>
          <p:cNvSpPr/>
          <p:nvPr/>
        </p:nvSpPr>
        <p:spPr>
          <a:xfrm>
            <a:off x="90194" y="159992"/>
            <a:ext cx="492801" cy="315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>
              <a:lnSpc>
                <a:spcPct val="90000"/>
              </a:lnSpc>
              <a:defRPr sz="11100">
                <a:solidFill>
                  <a:srgbClr val="FFFFFF"/>
                </a:solidFill>
                <a:latin typeface="+mn-lt"/>
                <a:ea typeface="+mn-ea"/>
                <a:cs typeface="+mn-cs"/>
                <a:sym typeface="Montserrat Semi Bold"/>
              </a:defRPr>
            </a:lvl1pPr>
          </a:lstStyle>
          <a:p>
            <a:pPr algn="ctr"/>
            <a:r>
              <a:rPr lang="en-GB" sz="2000" b="1" dirty="0">
                <a:solidFill>
                  <a:schemeClr val="accent1"/>
                </a:solidFill>
                <a:latin typeface="Asap Medium" panose="020F0604030102060203" pitchFamily="34" charset="0"/>
              </a:rPr>
              <a:t>VI</a:t>
            </a:r>
            <a:endParaRPr lang="id-ID" sz="1600" b="1" dirty="0">
              <a:solidFill>
                <a:schemeClr val="accent1"/>
              </a:solidFill>
              <a:latin typeface="Asap Medium" panose="020F0604030102060203" pitchFamily="34" charset="0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9431452" y="-4"/>
            <a:ext cx="258830" cy="6141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68" name="Shape 259"/>
          <p:cNvSpPr txBox="1">
            <a:spLocks/>
          </p:cNvSpPr>
          <p:nvPr/>
        </p:nvSpPr>
        <p:spPr>
          <a:xfrm>
            <a:off x="35599" y="591827"/>
            <a:ext cx="1937665" cy="740877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1200" b="1" dirty="0">
                <a:solidFill>
                  <a:schemeClr val="bg1"/>
                </a:solidFill>
                <a:latin typeface="Asap Medium" panose="020F0604030102060203" pitchFamily="34" charset="0"/>
              </a:rPr>
              <a:t>Environnement du projet</a:t>
            </a:r>
            <a:endParaRPr lang="id-ID" sz="1200" b="1" dirty="0">
              <a:solidFill>
                <a:schemeClr val="bg1"/>
              </a:solidFill>
              <a:latin typeface="Asap Medium" panose="020F0604030102060203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9059637" y="6309345"/>
            <a:ext cx="2743200" cy="365125"/>
          </a:xfrm>
        </p:spPr>
        <p:txBody>
          <a:bodyPr/>
          <a:lstStyle/>
          <a:p>
            <a:fld id="{2476CA8B-E376-4C73-9B78-83D007D77E53}" type="slidenum">
              <a:rPr lang="id-ID" smtClean="0">
                <a:solidFill>
                  <a:srgbClr val="FF0000"/>
                </a:solidFill>
                <a:latin typeface="Asap Medium" panose="020F0604030102060203" pitchFamily="34" charset="0"/>
              </a:rPr>
              <a:t>23</a:t>
            </a:fld>
            <a:endParaRPr lang="id-ID" dirty="0">
              <a:solidFill>
                <a:srgbClr val="FF0000"/>
              </a:solidFill>
              <a:latin typeface="Asap Medium" panose="020F0604030102060203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ECCB045-FE19-4561-8017-9B40A020F357}"/>
              </a:ext>
            </a:extLst>
          </p:cNvPr>
          <p:cNvSpPr/>
          <p:nvPr/>
        </p:nvSpPr>
        <p:spPr>
          <a:xfrm>
            <a:off x="9813810" y="0"/>
            <a:ext cx="258830" cy="61414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3DE1CC4-1551-4828-A800-63DD77E86870}"/>
              </a:ext>
            </a:extLst>
          </p:cNvPr>
          <p:cNvSpPr/>
          <p:nvPr/>
        </p:nvSpPr>
        <p:spPr>
          <a:xfrm>
            <a:off x="10196168" y="-8069"/>
            <a:ext cx="258830" cy="61414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 dirty="0">
              <a:latin typeface="Asap Medium" panose="020F0604030102060203" pitchFamily="34" charset="0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304A858-F1EF-46C2-9C41-A25FCE3D9A94}"/>
              </a:ext>
            </a:extLst>
          </p:cNvPr>
          <p:cNvSpPr/>
          <p:nvPr/>
        </p:nvSpPr>
        <p:spPr>
          <a:xfrm>
            <a:off x="11392272" y="-5"/>
            <a:ext cx="258830" cy="614149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72A7319-31A7-490B-9740-279F48E96737}"/>
              </a:ext>
            </a:extLst>
          </p:cNvPr>
          <p:cNvSpPr/>
          <p:nvPr/>
        </p:nvSpPr>
        <p:spPr>
          <a:xfrm>
            <a:off x="10578526" y="-8069"/>
            <a:ext cx="258830" cy="61414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5ECA0C6-ECC9-4278-AE73-EBF82C6F8067}"/>
              </a:ext>
            </a:extLst>
          </p:cNvPr>
          <p:cNvSpPr/>
          <p:nvPr/>
        </p:nvSpPr>
        <p:spPr>
          <a:xfrm>
            <a:off x="10985399" y="-8070"/>
            <a:ext cx="258830" cy="614149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27" name="Shape 259"/>
          <p:cNvSpPr txBox="1">
            <a:spLocks/>
          </p:cNvSpPr>
          <p:nvPr/>
        </p:nvSpPr>
        <p:spPr>
          <a:xfrm>
            <a:off x="-34173" y="1651555"/>
            <a:ext cx="2091536" cy="200398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1200" b="1" dirty="0">
                <a:solidFill>
                  <a:srgbClr val="2F5597"/>
                </a:solidFill>
                <a:latin typeface="Asap Medium" panose="020F0604030102060203" pitchFamily="34" charset="0"/>
              </a:rPr>
              <a:t>Démonstration</a:t>
            </a:r>
          </a:p>
          <a:p>
            <a:pPr algn="ctr"/>
            <a:endParaRPr lang="id-ID" sz="1200" b="1" dirty="0">
              <a:solidFill>
                <a:srgbClr val="2F5597"/>
              </a:solidFill>
              <a:latin typeface="Asap Medium" panose="020F0604030102060203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FFD5A29-ECA2-47F9-9B0E-8BCA0CC0F8A0}"/>
              </a:ext>
            </a:extLst>
          </p:cNvPr>
          <p:cNvSpPr/>
          <p:nvPr/>
        </p:nvSpPr>
        <p:spPr>
          <a:xfrm>
            <a:off x="2317543" y="777616"/>
            <a:ext cx="5238713" cy="461665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txBody>
          <a:bodyPr wrap="square">
            <a:spAutoFit/>
          </a:bodyPr>
          <a:lstStyle/>
          <a:p>
            <a:r>
              <a:rPr lang="fr-FR" sz="2400" dirty="0">
                <a:solidFill>
                  <a:srgbClr val="2F5597"/>
                </a:solidFill>
                <a:latin typeface="Asap Medium" panose="020F0604030102060203" pitchFamily="34" charset="0"/>
                <a:sym typeface="Montserrat Semi Bold"/>
              </a:rPr>
              <a:t>Scénario de simulation :</a:t>
            </a:r>
            <a:endParaRPr lang="en-US" sz="2400" dirty="0">
              <a:solidFill>
                <a:srgbClr val="2F5597"/>
              </a:solidFill>
              <a:latin typeface="Asap Medium" panose="020F0604030102060203" pitchFamily="34" charset="0"/>
              <a:sym typeface="Montserrat Semi Bold"/>
            </a:endParaRPr>
          </a:p>
        </p:txBody>
      </p:sp>
      <p:sp>
        <p:nvSpPr>
          <p:cNvPr id="31" name="ZoneTexte 48">
            <a:extLst>
              <a:ext uri="{FF2B5EF4-FFF2-40B4-BE49-F238E27FC236}">
                <a16:creationId xmlns:a16="http://schemas.microsoft.com/office/drawing/2014/main" id="{3D513260-3289-4AE1-B90F-EC8A70FE154D}"/>
              </a:ext>
            </a:extLst>
          </p:cNvPr>
          <p:cNvSpPr txBox="1"/>
          <p:nvPr/>
        </p:nvSpPr>
        <p:spPr>
          <a:xfrm>
            <a:off x="3657566" y="2066241"/>
            <a:ext cx="6920960" cy="96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Blip>
                <a:blip r:embed="rId3"/>
              </a:buBlip>
            </a:pPr>
            <a:r>
              <a:rPr lang="fr-FR" sz="2000" dirty="0">
                <a:solidFill>
                  <a:srgbClr val="595959"/>
                </a:solidFill>
                <a:latin typeface="Asap" panose="020F0504030102060203" pitchFamily="34" charset="0"/>
                <a:sym typeface="Montserrat Semi Bold"/>
              </a:rPr>
              <a:t>Fichier de requêtes composé de 10.000 requêtes extraites du cloud Azure</a:t>
            </a:r>
          </a:p>
        </p:txBody>
      </p:sp>
      <p:sp>
        <p:nvSpPr>
          <p:cNvPr id="32" name="ZoneTexte 48">
            <a:extLst>
              <a:ext uri="{FF2B5EF4-FFF2-40B4-BE49-F238E27FC236}">
                <a16:creationId xmlns:a16="http://schemas.microsoft.com/office/drawing/2014/main" id="{C6F32164-7F3B-483F-A1FB-A0A1043BD0C6}"/>
              </a:ext>
            </a:extLst>
          </p:cNvPr>
          <p:cNvSpPr txBox="1"/>
          <p:nvPr/>
        </p:nvSpPr>
        <p:spPr>
          <a:xfrm>
            <a:off x="3657566" y="3288715"/>
            <a:ext cx="7327833" cy="1429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Blip>
                <a:blip r:embed="rId3"/>
              </a:buBlip>
            </a:pPr>
            <a:r>
              <a:rPr lang="fr-FR" sz="2000" dirty="0">
                <a:solidFill>
                  <a:srgbClr val="595959"/>
                </a:solidFill>
                <a:latin typeface="Asap" panose="020F0504030102060203" pitchFamily="34" charset="0"/>
                <a:sym typeface="Montserrat Semi Bold"/>
              </a:rPr>
              <a:t>Configuration de service de </a:t>
            </a:r>
            <a:r>
              <a:rPr lang="fr-FR" sz="2000" dirty="0" err="1">
                <a:solidFill>
                  <a:srgbClr val="595959"/>
                </a:solidFill>
                <a:latin typeface="Asap" panose="020F0504030102060203" pitchFamily="34" charset="0"/>
                <a:sym typeface="Montserrat Semi Bold"/>
              </a:rPr>
              <a:t>scaling</a:t>
            </a:r>
            <a:r>
              <a:rPr lang="fr-FR" sz="2000" dirty="0">
                <a:solidFill>
                  <a:srgbClr val="595959"/>
                </a:solidFill>
                <a:latin typeface="Asap" panose="020F0504030102060203" pitchFamily="34" charset="0"/>
                <a:sym typeface="Montserrat Semi Bold"/>
              </a:rPr>
              <a:t>  :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595959"/>
                </a:solidFill>
                <a:latin typeface="Asap" panose="020F0504030102060203" pitchFamily="34" charset="0"/>
                <a:sym typeface="Montserrat Semi Bold"/>
              </a:rPr>
              <a:t>Max </a:t>
            </a:r>
            <a:r>
              <a:rPr lang="fr-FR" sz="2000" dirty="0" err="1">
                <a:solidFill>
                  <a:srgbClr val="595959"/>
                </a:solidFill>
                <a:latin typeface="Asap" panose="020F0504030102060203" pitchFamily="34" charset="0"/>
                <a:sym typeface="Montserrat Semi Bold"/>
              </a:rPr>
              <a:t>Worker</a:t>
            </a:r>
            <a:r>
              <a:rPr lang="fr-FR" sz="2000" dirty="0">
                <a:solidFill>
                  <a:srgbClr val="595959"/>
                </a:solidFill>
                <a:latin typeface="Asap" panose="020F0504030102060203" pitchFamily="34" charset="0"/>
                <a:sym typeface="Montserrat Semi Bold"/>
              </a:rPr>
              <a:t> : 300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595959"/>
                </a:solidFill>
                <a:latin typeface="Asap" panose="020F0504030102060203" pitchFamily="34" charset="0"/>
                <a:sym typeface="Montserrat Semi Bold"/>
              </a:rPr>
              <a:t> Min </a:t>
            </a:r>
            <a:r>
              <a:rPr lang="fr-FR" sz="2000" dirty="0" err="1">
                <a:solidFill>
                  <a:srgbClr val="595959"/>
                </a:solidFill>
                <a:latin typeface="Asap" panose="020F0504030102060203" pitchFamily="34" charset="0"/>
                <a:sym typeface="Montserrat Semi Bold"/>
              </a:rPr>
              <a:t>worker</a:t>
            </a:r>
            <a:r>
              <a:rPr lang="fr-FR" sz="2000" dirty="0">
                <a:solidFill>
                  <a:srgbClr val="595959"/>
                </a:solidFill>
                <a:latin typeface="Asap" panose="020F0504030102060203" pitchFamily="34" charset="0"/>
                <a:sym typeface="Montserrat Semi Bold"/>
              </a:rPr>
              <a:t> : 20</a:t>
            </a:r>
          </a:p>
        </p:txBody>
      </p:sp>
    </p:spTree>
    <p:extLst>
      <p:ext uri="{BB962C8B-B14F-4D97-AF65-F5344CB8AC3E}">
        <p14:creationId xmlns:p14="http://schemas.microsoft.com/office/powerpoint/2010/main" val="1298391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88D25-FCA8-40C3-89E9-976E28DCB7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6688" y="2448734"/>
            <a:ext cx="10706099" cy="980266"/>
          </a:xfrm>
          <a:solidFill>
            <a:srgbClr val="4472C4"/>
          </a:solidFill>
          <a:ln>
            <a:solidFill>
              <a:srgbClr val="4472C4"/>
            </a:solidFill>
          </a:ln>
        </p:spPr>
        <p:txBody>
          <a:bodyPr anchor="ctr"/>
          <a:lstStyle/>
          <a:p>
            <a:r>
              <a:rPr lang="fr-FR" sz="3600" dirty="0">
                <a:solidFill>
                  <a:schemeClr val="bg1"/>
                </a:solidFill>
              </a:rPr>
              <a:t>Démo</a:t>
            </a:r>
            <a:endParaRPr lang="fr-FR" sz="3600" cap="none" dirty="0">
              <a:solidFill>
                <a:schemeClr val="bg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F2DB350-ECCE-49D2-9854-CE63BA543854}"/>
              </a:ext>
            </a:extLst>
          </p:cNvPr>
          <p:cNvCxnSpPr>
            <a:cxnSpLocks/>
          </p:cNvCxnSpPr>
          <p:nvPr/>
        </p:nvCxnSpPr>
        <p:spPr>
          <a:xfrm>
            <a:off x="606688" y="3521988"/>
            <a:ext cx="10706098" cy="0"/>
          </a:xfrm>
          <a:prstGeom prst="line">
            <a:avLst/>
          </a:prstGeom>
          <a:ln w="95250">
            <a:solidFill>
              <a:srgbClr val="2F559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space réservé du numéro de diapositive 3">
            <a:extLst>
              <a:ext uri="{FF2B5EF4-FFF2-40B4-BE49-F238E27FC236}">
                <a16:creationId xmlns:a16="http://schemas.microsoft.com/office/drawing/2014/main" id="{510BF7BC-3FEF-4BD2-89E1-57D5C6D3F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59637" y="6309345"/>
            <a:ext cx="2743200" cy="365125"/>
          </a:xfrm>
        </p:spPr>
        <p:txBody>
          <a:bodyPr/>
          <a:lstStyle/>
          <a:p>
            <a:fld id="{2476CA8B-E376-4C73-9B78-83D007D77E53}" type="slidenum">
              <a:rPr lang="id-ID" smtClean="0">
                <a:solidFill>
                  <a:srgbClr val="FF0000"/>
                </a:solidFill>
                <a:latin typeface="Asap Medium" panose="020F0604030102060203" pitchFamily="34" charset="0"/>
              </a:rPr>
              <a:t>24</a:t>
            </a:fld>
            <a:endParaRPr lang="id-ID" dirty="0">
              <a:solidFill>
                <a:srgbClr val="FF0000"/>
              </a:solidFill>
              <a:latin typeface="Asap Medium" panose="020F06040301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1084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72">
            <a:extLst>
              <a:ext uri="{FF2B5EF4-FFF2-40B4-BE49-F238E27FC236}">
                <a16:creationId xmlns:a16="http://schemas.microsoft.com/office/drawing/2014/main" id="{DBC89666-CEA1-4BFE-A7F3-BA30895DF237}"/>
              </a:ext>
            </a:extLst>
          </p:cNvPr>
          <p:cNvSpPr/>
          <p:nvPr/>
        </p:nvSpPr>
        <p:spPr>
          <a:xfrm flipV="1">
            <a:off x="35600" y="647699"/>
            <a:ext cx="1934083" cy="602054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6646" y="663864"/>
            <a:ext cx="1934083" cy="686729"/>
          </a:xfrm>
          <a:prstGeom prst="rect">
            <a:avLst/>
          </a:prstGeom>
          <a:ln>
            <a:solidFill>
              <a:srgbClr val="4472C4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2" name="Rectangle 41"/>
          <p:cNvSpPr/>
          <p:nvPr/>
        </p:nvSpPr>
        <p:spPr>
          <a:xfrm>
            <a:off x="0" y="-18689"/>
            <a:ext cx="9321206" cy="6141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62" name="Shape 222"/>
          <p:cNvSpPr/>
          <p:nvPr/>
        </p:nvSpPr>
        <p:spPr>
          <a:xfrm>
            <a:off x="682388" y="163467"/>
            <a:ext cx="4741083" cy="287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>
              <a:lnSpc>
                <a:spcPct val="90000"/>
              </a:lnSpc>
              <a:defRPr sz="11100">
                <a:solidFill>
                  <a:srgbClr val="FFFFFF"/>
                </a:solidFill>
                <a:latin typeface="+mn-lt"/>
                <a:ea typeface="+mn-ea"/>
                <a:cs typeface="+mn-cs"/>
                <a:sym typeface="Montserrat Semi Bold"/>
              </a:defRPr>
            </a:lvl1pPr>
          </a:lstStyle>
          <a:p>
            <a:r>
              <a:rPr lang="en-GB" sz="1800" b="1" dirty="0">
                <a:latin typeface="Asap Medium" panose="020F0604030102060203" pitchFamily="34" charset="0"/>
              </a:rPr>
              <a:t>Conclusion</a:t>
            </a:r>
            <a:endParaRPr lang="id-ID" sz="1800" b="1" dirty="0">
              <a:latin typeface="Asap Medium" panose="020F0604030102060203" pitchFamily="34" charset="0"/>
            </a:endParaRPr>
          </a:p>
        </p:txBody>
      </p:sp>
      <p:sp>
        <p:nvSpPr>
          <p:cNvPr id="63" name="Shape 223"/>
          <p:cNvSpPr/>
          <p:nvPr/>
        </p:nvSpPr>
        <p:spPr>
          <a:xfrm>
            <a:off x="110246" y="84459"/>
            <a:ext cx="431835" cy="431835"/>
          </a:xfrm>
          <a:prstGeom prst="ellipse">
            <a:avLst/>
          </a:prstGeom>
          <a:solidFill>
            <a:srgbClr val="FFFFFF"/>
          </a:solidFill>
          <a:ln w="3175">
            <a:solidFill>
              <a:srgbClr val="A6AAA9"/>
            </a:solidFill>
          </a:ln>
        </p:spPr>
        <p:txBody>
          <a:bodyPr lIns="14288" tIns="14288" rIns="14288" bIns="14288" anchor="ctr"/>
          <a:lstStyle/>
          <a:p>
            <a:endParaRPr sz="1500" b="1" dirty="0">
              <a:latin typeface="Asap Medium" panose="020F0604030102060203" pitchFamily="34" charset="0"/>
            </a:endParaRPr>
          </a:p>
        </p:txBody>
      </p:sp>
      <p:sp>
        <p:nvSpPr>
          <p:cNvPr id="64" name="Shape 222"/>
          <p:cNvSpPr/>
          <p:nvPr/>
        </p:nvSpPr>
        <p:spPr>
          <a:xfrm>
            <a:off x="90194" y="159992"/>
            <a:ext cx="492801" cy="315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>
              <a:lnSpc>
                <a:spcPct val="90000"/>
              </a:lnSpc>
              <a:defRPr sz="11100">
                <a:solidFill>
                  <a:srgbClr val="FFFFFF"/>
                </a:solidFill>
                <a:latin typeface="+mn-lt"/>
                <a:ea typeface="+mn-ea"/>
                <a:cs typeface="+mn-cs"/>
                <a:sym typeface="Montserrat Semi Bold"/>
              </a:defRPr>
            </a:lvl1pPr>
          </a:lstStyle>
          <a:p>
            <a:pPr algn="ctr"/>
            <a:r>
              <a:rPr lang="en-GB" sz="2000" b="1" dirty="0">
                <a:solidFill>
                  <a:schemeClr val="accent1"/>
                </a:solidFill>
                <a:latin typeface="Asap Medium" panose="020F0604030102060203" pitchFamily="34" charset="0"/>
              </a:rPr>
              <a:t>VII</a:t>
            </a:r>
            <a:endParaRPr lang="id-ID" sz="1600" b="1" dirty="0">
              <a:solidFill>
                <a:schemeClr val="accent1"/>
              </a:solidFill>
              <a:latin typeface="Asap Medium" panose="020F0604030102060203" pitchFamily="34" charset="0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9431452" y="-4"/>
            <a:ext cx="258830" cy="6141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9727034" y="6303118"/>
            <a:ext cx="2075803" cy="365125"/>
          </a:xfrm>
        </p:spPr>
        <p:txBody>
          <a:bodyPr/>
          <a:lstStyle/>
          <a:p>
            <a:fld id="{2476CA8B-E376-4C73-9B78-83D007D77E53}" type="slidenum">
              <a:rPr lang="id-ID" smtClean="0">
                <a:solidFill>
                  <a:srgbClr val="FF0000"/>
                </a:solidFill>
                <a:latin typeface="Asap Medium" panose="020F0604030102060203" pitchFamily="34" charset="0"/>
              </a:rPr>
              <a:t>25</a:t>
            </a:fld>
            <a:endParaRPr lang="id-ID" dirty="0">
              <a:solidFill>
                <a:srgbClr val="FF0000"/>
              </a:solidFill>
              <a:latin typeface="Asap Medium" panose="020F0604030102060203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ECCB045-FE19-4561-8017-9B40A020F357}"/>
              </a:ext>
            </a:extLst>
          </p:cNvPr>
          <p:cNvSpPr/>
          <p:nvPr/>
        </p:nvSpPr>
        <p:spPr>
          <a:xfrm>
            <a:off x="9813810" y="0"/>
            <a:ext cx="258830" cy="61414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3DE1CC4-1551-4828-A800-63DD77E86870}"/>
              </a:ext>
            </a:extLst>
          </p:cNvPr>
          <p:cNvSpPr/>
          <p:nvPr/>
        </p:nvSpPr>
        <p:spPr>
          <a:xfrm>
            <a:off x="10196168" y="-8069"/>
            <a:ext cx="258830" cy="61414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 dirty="0">
              <a:latin typeface="Asap Medium" panose="020F0604030102060203" pitchFamily="34" charset="0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304A858-F1EF-46C2-9C41-A25FCE3D9A94}"/>
              </a:ext>
            </a:extLst>
          </p:cNvPr>
          <p:cNvSpPr/>
          <p:nvPr/>
        </p:nvSpPr>
        <p:spPr>
          <a:xfrm>
            <a:off x="11392272" y="-5"/>
            <a:ext cx="258830" cy="614149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72A7319-31A7-490B-9740-279F48E96737}"/>
              </a:ext>
            </a:extLst>
          </p:cNvPr>
          <p:cNvSpPr/>
          <p:nvPr/>
        </p:nvSpPr>
        <p:spPr>
          <a:xfrm>
            <a:off x="10578526" y="-8069"/>
            <a:ext cx="258830" cy="61414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5ECA0C6-ECC9-4278-AE73-EBF82C6F8067}"/>
              </a:ext>
            </a:extLst>
          </p:cNvPr>
          <p:cNvSpPr/>
          <p:nvPr/>
        </p:nvSpPr>
        <p:spPr>
          <a:xfrm>
            <a:off x="10985399" y="-8070"/>
            <a:ext cx="258830" cy="614149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27" name="Shape 259"/>
          <p:cNvSpPr txBox="1">
            <a:spLocks/>
          </p:cNvSpPr>
          <p:nvPr/>
        </p:nvSpPr>
        <p:spPr>
          <a:xfrm>
            <a:off x="-114689" y="1561171"/>
            <a:ext cx="2091536" cy="263740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1200" b="1" dirty="0">
                <a:solidFill>
                  <a:schemeClr val="bg2"/>
                </a:solidFill>
                <a:latin typeface="Asap Medium" panose="020F0604030102060203" pitchFamily="34" charset="0"/>
              </a:rPr>
              <a:t>Difficultés</a:t>
            </a:r>
            <a:endParaRPr lang="fr-FR" sz="1200" dirty="0">
              <a:solidFill>
                <a:schemeClr val="bg2"/>
              </a:solidFill>
              <a:latin typeface="CIDFont+F3"/>
            </a:endParaRPr>
          </a:p>
          <a:p>
            <a:pPr algn="ctr"/>
            <a:endParaRPr lang="id-ID" sz="1200" b="1" dirty="0">
              <a:solidFill>
                <a:schemeClr val="bg1"/>
              </a:solidFill>
              <a:latin typeface="Asap Medium" panose="020F0604030102060203" pitchFamily="34" charset="0"/>
            </a:endParaRPr>
          </a:p>
        </p:txBody>
      </p:sp>
      <p:sp>
        <p:nvSpPr>
          <p:cNvPr id="31" name="Shape 259">
            <a:extLst>
              <a:ext uri="{FF2B5EF4-FFF2-40B4-BE49-F238E27FC236}">
                <a16:creationId xmlns:a16="http://schemas.microsoft.com/office/drawing/2014/main" id="{23220D38-B602-4D23-B52F-4B357D2DD074}"/>
              </a:ext>
            </a:extLst>
          </p:cNvPr>
          <p:cNvSpPr txBox="1">
            <a:spLocks/>
          </p:cNvSpPr>
          <p:nvPr/>
        </p:nvSpPr>
        <p:spPr>
          <a:xfrm>
            <a:off x="35599" y="591827"/>
            <a:ext cx="1937665" cy="740877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1200" b="1" dirty="0">
                <a:solidFill>
                  <a:srgbClr val="2F5597"/>
                </a:solidFill>
                <a:latin typeface="Asap Medium" panose="020F0604030102060203" pitchFamily="34" charset="0"/>
              </a:rPr>
              <a:t>Objectifs</a:t>
            </a:r>
            <a:endParaRPr lang="fr-FR" sz="1200" dirty="0">
              <a:solidFill>
                <a:srgbClr val="2F5597"/>
              </a:solidFill>
              <a:latin typeface="CIDFont+F3"/>
            </a:endParaRPr>
          </a:p>
        </p:txBody>
      </p:sp>
      <p:sp>
        <p:nvSpPr>
          <p:cNvPr id="32" name="ZoneTexte 48">
            <a:extLst>
              <a:ext uri="{FF2B5EF4-FFF2-40B4-BE49-F238E27FC236}">
                <a16:creationId xmlns:a16="http://schemas.microsoft.com/office/drawing/2014/main" id="{9E81719B-09D2-41F9-BFC5-1FF22BE4C452}"/>
              </a:ext>
            </a:extLst>
          </p:cNvPr>
          <p:cNvSpPr txBox="1"/>
          <p:nvPr/>
        </p:nvSpPr>
        <p:spPr>
          <a:xfrm>
            <a:off x="3475315" y="2172872"/>
            <a:ext cx="8282998" cy="5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Blip>
                <a:blip r:embed="rId3"/>
              </a:buBlip>
            </a:pPr>
            <a:r>
              <a:rPr lang="fr-FR" sz="2000" dirty="0">
                <a:solidFill>
                  <a:srgbClr val="595959"/>
                </a:solidFill>
                <a:latin typeface="Asap" panose="020F0504030102060203" pitchFamily="34" charset="0"/>
                <a:sym typeface="Montserrat Semi Bold"/>
              </a:rPr>
              <a:t>Simulation du processus de </a:t>
            </a:r>
            <a:r>
              <a:rPr lang="fr-FR" sz="2000" dirty="0" err="1">
                <a:solidFill>
                  <a:srgbClr val="595959"/>
                </a:solidFill>
                <a:latin typeface="Asap" panose="020F0504030102060203" pitchFamily="34" charset="0"/>
                <a:sym typeface="Montserrat Semi Bold"/>
              </a:rPr>
              <a:t>Scaling</a:t>
            </a:r>
            <a:endParaRPr lang="fr-FR" sz="2000" dirty="0">
              <a:solidFill>
                <a:srgbClr val="595959"/>
              </a:solidFill>
              <a:latin typeface="Asap" panose="020F0504030102060203" pitchFamily="34" charset="0"/>
              <a:sym typeface="Montserrat Semi Bold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0D1530E-2B55-46BE-8D51-69A329ADFFB8}"/>
              </a:ext>
            </a:extLst>
          </p:cNvPr>
          <p:cNvSpPr/>
          <p:nvPr/>
        </p:nvSpPr>
        <p:spPr>
          <a:xfrm>
            <a:off x="3451225" y="1286278"/>
            <a:ext cx="8297839" cy="461665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txBody>
          <a:bodyPr wrap="square">
            <a:spAutoFit/>
          </a:bodyPr>
          <a:lstStyle/>
          <a:p>
            <a:r>
              <a:rPr lang="en-US" sz="2400" dirty="0" err="1">
                <a:solidFill>
                  <a:srgbClr val="7030A0"/>
                </a:solidFill>
                <a:latin typeface="Asap Medium" panose="020F0604030102060203" pitchFamily="34" charset="0"/>
                <a:sym typeface="Montserrat Semi Bold"/>
              </a:rPr>
              <a:t>Tous</a:t>
            </a:r>
            <a:r>
              <a:rPr lang="en-US" sz="2400" dirty="0">
                <a:solidFill>
                  <a:srgbClr val="7030A0"/>
                </a:solidFill>
                <a:latin typeface="Asap Medium" panose="020F0604030102060203" pitchFamily="34" charset="0"/>
                <a:sym typeface="Montserrat Semi Bold"/>
              </a:rPr>
              <a:t> les </a:t>
            </a:r>
            <a:r>
              <a:rPr lang="en-US" sz="2400" dirty="0" err="1">
                <a:solidFill>
                  <a:srgbClr val="7030A0"/>
                </a:solidFill>
                <a:latin typeface="Asap Medium" panose="020F0604030102060203" pitchFamily="34" charset="0"/>
                <a:sym typeface="Montserrat Semi Bold"/>
              </a:rPr>
              <a:t>objectifs</a:t>
            </a:r>
            <a:r>
              <a:rPr lang="en-US" sz="2400" dirty="0">
                <a:solidFill>
                  <a:srgbClr val="7030A0"/>
                </a:solidFill>
                <a:latin typeface="Asap Medium" panose="020F0604030102060203" pitchFamily="34" charset="0"/>
                <a:sym typeface="Montserrat Semi Bold"/>
              </a:rPr>
              <a:t> </a:t>
            </a:r>
            <a:r>
              <a:rPr lang="en-US" sz="2400" dirty="0" err="1">
                <a:solidFill>
                  <a:srgbClr val="7030A0"/>
                </a:solidFill>
                <a:latin typeface="Asap Medium" panose="020F0604030102060203" pitchFamily="34" charset="0"/>
                <a:sym typeface="Montserrat Semi Bold"/>
              </a:rPr>
              <a:t>ont</a:t>
            </a:r>
            <a:r>
              <a:rPr lang="en-US" sz="2400" dirty="0">
                <a:solidFill>
                  <a:srgbClr val="7030A0"/>
                </a:solidFill>
                <a:latin typeface="Asap Medium" panose="020F0604030102060203" pitchFamily="34" charset="0"/>
                <a:sym typeface="Montserrat Semi Bold"/>
              </a:rPr>
              <a:t> </a:t>
            </a:r>
            <a:r>
              <a:rPr lang="en-US" sz="2400" dirty="0" err="1">
                <a:solidFill>
                  <a:srgbClr val="7030A0"/>
                </a:solidFill>
                <a:latin typeface="Asap Medium" panose="020F0604030102060203" pitchFamily="34" charset="0"/>
                <a:sym typeface="Montserrat Semi Bold"/>
              </a:rPr>
              <a:t>été</a:t>
            </a:r>
            <a:r>
              <a:rPr lang="en-US" sz="2400" dirty="0">
                <a:solidFill>
                  <a:srgbClr val="7030A0"/>
                </a:solidFill>
                <a:latin typeface="Asap Medium" panose="020F0604030102060203" pitchFamily="34" charset="0"/>
                <a:sym typeface="Montserrat Semi Bold"/>
              </a:rPr>
              <a:t> </a:t>
            </a:r>
            <a:r>
              <a:rPr lang="en-US" sz="2400" dirty="0" err="1">
                <a:solidFill>
                  <a:srgbClr val="7030A0"/>
                </a:solidFill>
                <a:latin typeface="Asap Medium" panose="020F0604030102060203" pitchFamily="34" charset="0"/>
                <a:sym typeface="Montserrat Semi Bold"/>
              </a:rPr>
              <a:t>atteints</a:t>
            </a:r>
            <a:endParaRPr lang="en-US" sz="2400" dirty="0">
              <a:solidFill>
                <a:srgbClr val="7030A0"/>
              </a:solidFill>
              <a:latin typeface="Asap Medium" panose="020F0604030102060203" pitchFamily="34" charset="0"/>
              <a:sym typeface="Montserrat Semi Bold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0EBABA7-B707-4448-BD34-C5002AE488E3}"/>
              </a:ext>
            </a:extLst>
          </p:cNvPr>
          <p:cNvSpPr/>
          <p:nvPr/>
        </p:nvSpPr>
        <p:spPr>
          <a:xfrm>
            <a:off x="3451225" y="2912579"/>
            <a:ext cx="7275076" cy="5062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Blip>
                <a:blip r:embed="rId3"/>
              </a:buBlip>
            </a:pPr>
            <a:r>
              <a:rPr lang="fr-FR" sz="2000" dirty="0">
                <a:solidFill>
                  <a:srgbClr val="595959"/>
                </a:solidFill>
                <a:latin typeface="Asap" panose="020F0504030102060203" pitchFamily="34" charset="0"/>
                <a:sym typeface="Montserrat Semi Bold"/>
              </a:rPr>
              <a:t>Test du fichier de configurations du service de </a:t>
            </a:r>
            <a:r>
              <a:rPr lang="fr-FR" sz="2000" dirty="0" err="1">
                <a:solidFill>
                  <a:srgbClr val="595959"/>
                </a:solidFill>
                <a:latin typeface="Asap" panose="020F0504030102060203" pitchFamily="34" charset="0"/>
                <a:sym typeface="Montserrat Semi Bold"/>
              </a:rPr>
              <a:t>Scaling</a:t>
            </a:r>
            <a:r>
              <a:rPr lang="fr-FR" sz="2000" dirty="0">
                <a:solidFill>
                  <a:srgbClr val="595959"/>
                </a:solidFill>
                <a:latin typeface="Asap" panose="020F0504030102060203" pitchFamily="34" charset="0"/>
                <a:sym typeface="Montserrat Semi Bold"/>
              </a:rPr>
              <a:t> 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0519665-0C25-4A06-87C9-B0A6C166DDC8}"/>
              </a:ext>
            </a:extLst>
          </p:cNvPr>
          <p:cNvSpPr/>
          <p:nvPr/>
        </p:nvSpPr>
        <p:spPr>
          <a:xfrm>
            <a:off x="3451225" y="3692512"/>
            <a:ext cx="7755136" cy="9679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Blip>
                <a:blip r:embed="rId3"/>
              </a:buBlip>
            </a:pPr>
            <a:r>
              <a:rPr lang="fr-FR" sz="2000" dirty="0">
                <a:solidFill>
                  <a:srgbClr val="595959"/>
                </a:solidFill>
                <a:latin typeface="Asap" panose="020F0504030102060203" pitchFamily="34" charset="0"/>
                <a:sym typeface="Montserrat Semi Bold"/>
              </a:rPr>
              <a:t>Calcul des métriques Cloud relatives à une configuration de service de </a:t>
            </a:r>
            <a:r>
              <a:rPr lang="fr-FR" sz="2000" dirty="0" err="1">
                <a:solidFill>
                  <a:srgbClr val="595959"/>
                </a:solidFill>
                <a:latin typeface="Asap" panose="020F0504030102060203" pitchFamily="34" charset="0"/>
                <a:sym typeface="Montserrat Semi Bold"/>
              </a:rPr>
              <a:t>Scaling</a:t>
            </a:r>
            <a:endParaRPr lang="fr-FR" sz="2000" dirty="0">
              <a:solidFill>
                <a:srgbClr val="595959"/>
              </a:solidFill>
              <a:latin typeface="Asap" panose="020F0504030102060203" pitchFamily="34" charset="0"/>
              <a:sym typeface="Montserrat Semi Bold"/>
            </a:endParaRPr>
          </a:p>
        </p:txBody>
      </p:sp>
      <p:sp>
        <p:nvSpPr>
          <p:cNvPr id="23" name="Shape 259">
            <a:extLst>
              <a:ext uri="{FF2B5EF4-FFF2-40B4-BE49-F238E27FC236}">
                <a16:creationId xmlns:a16="http://schemas.microsoft.com/office/drawing/2014/main" id="{2238FE38-B9DC-42FB-B814-FA7D91042EA0}"/>
              </a:ext>
            </a:extLst>
          </p:cNvPr>
          <p:cNvSpPr txBox="1">
            <a:spLocks/>
          </p:cNvSpPr>
          <p:nvPr/>
        </p:nvSpPr>
        <p:spPr>
          <a:xfrm>
            <a:off x="-130807" y="2035489"/>
            <a:ext cx="2091536" cy="263740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1200" b="1" dirty="0">
                <a:solidFill>
                  <a:schemeClr val="bg2"/>
                </a:solidFill>
                <a:latin typeface="Asap Medium" panose="020F0604030102060203" pitchFamily="34" charset="0"/>
              </a:rPr>
              <a:t>Extensions</a:t>
            </a:r>
            <a:endParaRPr lang="fr-FR" sz="1200" dirty="0">
              <a:solidFill>
                <a:schemeClr val="bg2"/>
              </a:solidFill>
              <a:latin typeface="CIDFont+F3"/>
            </a:endParaRPr>
          </a:p>
          <a:p>
            <a:pPr algn="ctr"/>
            <a:endParaRPr lang="id-ID" sz="1200" b="1" dirty="0">
              <a:solidFill>
                <a:schemeClr val="bg1"/>
              </a:solidFill>
              <a:latin typeface="Asap Medium" panose="020F06040301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4753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animBg="1"/>
      <p:bldP spid="3" grpId="0" animBg="1"/>
      <p:bldP spid="27" grpId="0"/>
      <p:bldP spid="31" grpId="0"/>
      <p:bldP spid="32" grpId="0"/>
      <p:bldP spid="33" grpId="0" animBg="1"/>
      <p:bldP spid="34" grpId="0"/>
      <p:bldP spid="35" grpId="0"/>
      <p:bldP spid="2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/>
          <p:cNvSpPr/>
          <p:nvPr/>
        </p:nvSpPr>
        <p:spPr>
          <a:xfrm>
            <a:off x="0" y="-18689"/>
            <a:ext cx="9321206" cy="6141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62" name="Shape 222"/>
          <p:cNvSpPr/>
          <p:nvPr/>
        </p:nvSpPr>
        <p:spPr>
          <a:xfrm>
            <a:off x="682388" y="163467"/>
            <a:ext cx="4741083" cy="287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>
              <a:lnSpc>
                <a:spcPct val="90000"/>
              </a:lnSpc>
              <a:defRPr sz="11100">
                <a:solidFill>
                  <a:srgbClr val="FFFFFF"/>
                </a:solidFill>
                <a:latin typeface="+mn-lt"/>
                <a:ea typeface="+mn-ea"/>
                <a:cs typeface="+mn-cs"/>
                <a:sym typeface="Montserrat Semi Bold"/>
              </a:defRPr>
            </a:lvl1pPr>
          </a:lstStyle>
          <a:p>
            <a:r>
              <a:rPr lang="en-GB" sz="1800" b="1" dirty="0">
                <a:latin typeface="Asap Medium" panose="020F0604030102060203" pitchFamily="34" charset="0"/>
              </a:rPr>
              <a:t>Conclusion</a:t>
            </a:r>
            <a:endParaRPr lang="id-ID" sz="1800" b="1" dirty="0">
              <a:latin typeface="Asap Medium" panose="020F0604030102060203" pitchFamily="34" charset="0"/>
            </a:endParaRPr>
          </a:p>
        </p:txBody>
      </p:sp>
      <p:sp>
        <p:nvSpPr>
          <p:cNvPr id="63" name="Shape 223"/>
          <p:cNvSpPr/>
          <p:nvPr/>
        </p:nvSpPr>
        <p:spPr>
          <a:xfrm>
            <a:off x="110246" y="84459"/>
            <a:ext cx="431835" cy="431835"/>
          </a:xfrm>
          <a:prstGeom prst="ellipse">
            <a:avLst/>
          </a:prstGeom>
          <a:solidFill>
            <a:srgbClr val="FFFFFF"/>
          </a:solidFill>
          <a:ln w="3175">
            <a:solidFill>
              <a:srgbClr val="A6AAA9"/>
            </a:solidFill>
          </a:ln>
        </p:spPr>
        <p:txBody>
          <a:bodyPr lIns="14288" tIns="14288" rIns="14288" bIns="14288" anchor="ctr"/>
          <a:lstStyle/>
          <a:p>
            <a:endParaRPr sz="1500" b="1" dirty="0">
              <a:latin typeface="Asap Medium" panose="020F0604030102060203" pitchFamily="34" charset="0"/>
            </a:endParaRPr>
          </a:p>
        </p:txBody>
      </p:sp>
      <p:sp>
        <p:nvSpPr>
          <p:cNvPr id="64" name="Shape 222"/>
          <p:cNvSpPr/>
          <p:nvPr/>
        </p:nvSpPr>
        <p:spPr>
          <a:xfrm>
            <a:off x="90194" y="159992"/>
            <a:ext cx="492801" cy="315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>
              <a:lnSpc>
                <a:spcPct val="90000"/>
              </a:lnSpc>
              <a:defRPr sz="11100">
                <a:solidFill>
                  <a:srgbClr val="FFFFFF"/>
                </a:solidFill>
                <a:latin typeface="+mn-lt"/>
                <a:ea typeface="+mn-ea"/>
                <a:cs typeface="+mn-cs"/>
                <a:sym typeface="Montserrat Semi Bold"/>
              </a:defRPr>
            </a:lvl1pPr>
          </a:lstStyle>
          <a:p>
            <a:pPr algn="ctr"/>
            <a:r>
              <a:rPr lang="en-GB" sz="2000" b="1" dirty="0">
                <a:solidFill>
                  <a:schemeClr val="accent1"/>
                </a:solidFill>
                <a:latin typeface="Asap Medium" panose="020F0604030102060203" pitchFamily="34" charset="0"/>
              </a:rPr>
              <a:t>VII</a:t>
            </a:r>
            <a:endParaRPr lang="id-ID" sz="1600" b="1" dirty="0">
              <a:solidFill>
                <a:schemeClr val="accent1"/>
              </a:solidFill>
              <a:latin typeface="Asap Medium" panose="020F0604030102060203" pitchFamily="34" charset="0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9431452" y="-4"/>
            <a:ext cx="258830" cy="6141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9727034" y="6303118"/>
            <a:ext cx="2075803" cy="365125"/>
          </a:xfrm>
        </p:spPr>
        <p:txBody>
          <a:bodyPr/>
          <a:lstStyle/>
          <a:p>
            <a:fld id="{2476CA8B-E376-4C73-9B78-83D007D77E53}" type="slidenum">
              <a:rPr lang="id-ID" smtClean="0">
                <a:solidFill>
                  <a:srgbClr val="FF0000"/>
                </a:solidFill>
                <a:latin typeface="Asap Medium" panose="020F0604030102060203" pitchFamily="34" charset="0"/>
              </a:rPr>
              <a:t>26</a:t>
            </a:fld>
            <a:endParaRPr lang="id-ID" dirty="0">
              <a:solidFill>
                <a:srgbClr val="FF0000"/>
              </a:solidFill>
              <a:latin typeface="Asap Medium" panose="020F0604030102060203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ECCB045-FE19-4561-8017-9B40A020F357}"/>
              </a:ext>
            </a:extLst>
          </p:cNvPr>
          <p:cNvSpPr/>
          <p:nvPr/>
        </p:nvSpPr>
        <p:spPr>
          <a:xfrm>
            <a:off x="9813810" y="0"/>
            <a:ext cx="258830" cy="61414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3DE1CC4-1551-4828-A800-63DD77E86870}"/>
              </a:ext>
            </a:extLst>
          </p:cNvPr>
          <p:cNvSpPr/>
          <p:nvPr/>
        </p:nvSpPr>
        <p:spPr>
          <a:xfrm>
            <a:off x="10196168" y="-8069"/>
            <a:ext cx="258830" cy="61414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 dirty="0">
              <a:latin typeface="Asap Medium" panose="020F0604030102060203" pitchFamily="34" charset="0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304A858-F1EF-46C2-9C41-A25FCE3D9A94}"/>
              </a:ext>
            </a:extLst>
          </p:cNvPr>
          <p:cNvSpPr/>
          <p:nvPr/>
        </p:nvSpPr>
        <p:spPr>
          <a:xfrm>
            <a:off x="11392272" y="-5"/>
            <a:ext cx="258830" cy="614149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72A7319-31A7-490B-9740-279F48E96737}"/>
              </a:ext>
            </a:extLst>
          </p:cNvPr>
          <p:cNvSpPr/>
          <p:nvPr/>
        </p:nvSpPr>
        <p:spPr>
          <a:xfrm>
            <a:off x="10578526" y="-8069"/>
            <a:ext cx="258830" cy="61414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5ECA0C6-ECC9-4278-AE73-EBF82C6F8067}"/>
              </a:ext>
            </a:extLst>
          </p:cNvPr>
          <p:cNvSpPr/>
          <p:nvPr/>
        </p:nvSpPr>
        <p:spPr>
          <a:xfrm>
            <a:off x="10985399" y="-8070"/>
            <a:ext cx="258830" cy="614149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21" name="Espace réservé du contenu 4">
            <a:extLst>
              <a:ext uri="{FF2B5EF4-FFF2-40B4-BE49-F238E27FC236}">
                <a16:creationId xmlns:a16="http://schemas.microsoft.com/office/drawing/2014/main" id="{4E756E1D-E0AD-496A-A37D-63778A9EFD71}"/>
              </a:ext>
            </a:extLst>
          </p:cNvPr>
          <p:cNvSpPr txBox="1">
            <a:spLocks/>
          </p:cNvSpPr>
          <p:nvPr/>
        </p:nvSpPr>
        <p:spPr>
          <a:xfrm>
            <a:off x="3614088" y="2152061"/>
            <a:ext cx="7886700" cy="3459531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Clr>
                <a:srgbClr val="ED7D31"/>
              </a:buClr>
              <a:buNone/>
            </a:pPr>
            <a:r>
              <a:rPr lang="fr-FR" sz="1800" dirty="0">
                <a:solidFill>
                  <a:srgbClr val="2F5597"/>
                </a:solidFill>
                <a:latin typeface="Asap" panose="020F0504030102060203" pitchFamily="34" charset="0"/>
              </a:rPr>
              <a:t>■ </a:t>
            </a:r>
            <a:r>
              <a:rPr lang="fr-FR" sz="1800" dirty="0">
                <a:solidFill>
                  <a:srgbClr val="7030A0"/>
                </a:solidFill>
                <a:latin typeface="Asap" panose="020F0504030102060203" pitchFamily="34" charset="0"/>
              </a:rPr>
              <a:t> </a:t>
            </a:r>
            <a:r>
              <a:rPr lang="fr-FR" sz="1800" dirty="0">
                <a:solidFill>
                  <a:srgbClr val="595959"/>
                </a:solidFill>
                <a:latin typeface="Asap" panose="020F0504030102060203" pitchFamily="34" charset="0"/>
              </a:rPr>
              <a:t>Problèmes d’accès à la base de données</a:t>
            </a:r>
          </a:p>
          <a:p>
            <a:pPr lvl="1">
              <a:lnSpc>
                <a:spcPct val="150000"/>
              </a:lnSpc>
              <a:buClr>
                <a:srgbClr val="ED7D31"/>
              </a:buClr>
              <a:buFont typeface="Wingdings" panose="05000000000000000000" pitchFamily="2" charset="2"/>
              <a:buChar char="ü"/>
            </a:pPr>
            <a:r>
              <a:rPr lang="fr-FR" sz="1800" dirty="0">
                <a:solidFill>
                  <a:srgbClr val="7030A0"/>
                </a:solidFill>
                <a:latin typeface="Asap" panose="020F0504030102060203" pitchFamily="34" charset="0"/>
              </a:rPr>
              <a:t>  </a:t>
            </a:r>
            <a:r>
              <a:rPr lang="fr-FR" sz="1800" dirty="0">
                <a:solidFill>
                  <a:srgbClr val="595959"/>
                </a:solidFill>
                <a:latin typeface="Asap" panose="020F0504030102060203" pitchFamily="34" charset="0"/>
              </a:rPr>
              <a:t>Il fallait toujours passer par l’encadrant pour avoir des données fiables pour la réalisation des tests</a:t>
            </a:r>
          </a:p>
          <a:p>
            <a:pPr marL="457200" lvl="1" indent="0">
              <a:lnSpc>
                <a:spcPct val="150000"/>
              </a:lnSpc>
              <a:buClr>
                <a:srgbClr val="ED7D31"/>
              </a:buClr>
              <a:buNone/>
            </a:pPr>
            <a:endParaRPr lang="fr-FR" sz="1800" dirty="0">
              <a:solidFill>
                <a:srgbClr val="595959"/>
              </a:solidFill>
              <a:latin typeface="Asap" panose="020F0504030102060203" pitchFamily="34" charset="0"/>
            </a:endParaRPr>
          </a:p>
          <a:p>
            <a:pPr marL="0" indent="0">
              <a:lnSpc>
                <a:spcPct val="150000"/>
              </a:lnSpc>
              <a:buClr>
                <a:srgbClr val="ED7D31"/>
              </a:buClr>
              <a:buNone/>
            </a:pPr>
            <a:r>
              <a:rPr lang="fr-FR" sz="1800" dirty="0">
                <a:solidFill>
                  <a:srgbClr val="2F5597"/>
                </a:solidFill>
                <a:latin typeface="Asap" panose="020F0504030102060203" pitchFamily="34" charset="0"/>
              </a:rPr>
              <a:t>■  </a:t>
            </a:r>
            <a:r>
              <a:rPr lang="fr-FR" sz="1800" dirty="0">
                <a:solidFill>
                  <a:srgbClr val="595959"/>
                </a:solidFill>
                <a:latin typeface="Asap" panose="020F0504030102060203" pitchFamily="34" charset="0"/>
              </a:rPr>
              <a:t>Suspension de stage durant le mois d’avril</a:t>
            </a:r>
          </a:p>
          <a:p>
            <a:pPr lvl="1">
              <a:lnSpc>
                <a:spcPct val="150000"/>
              </a:lnSpc>
              <a:buClr>
                <a:srgbClr val="ED7D31"/>
              </a:buClr>
              <a:buFont typeface="Wingdings" panose="05000000000000000000" pitchFamily="2" charset="2"/>
              <a:buChar char="ü"/>
            </a:pPr>
            <a:r>
              <a:rPr lang="fr-FR" sz="1800" dirty="0">
                <a:solidFill>
                  <a:srgbClr val="595959"/>
                </a:solidFill>
                <a:latin typeface="Asap" panose="020F0504030102060203" pitchFamily="34" charset="0"/>
              </a:rPr>
              <a:t>Alléger le cahier de charge</a:t>
            </a:r>
          </a:p>
          <a:p>
            <a:pPr lvl="1">
              <a:lnSpc>
                <a:spcPct val="150000"/>
              </a:lnSpc>
              <a:buClr>
                <a:srgbClr val="ED7D31"/>
              </a:buClr>
              <a:buFont typeface="Wingdings" panose="05000000000000000000" pitchFamily="2" charset="2"/>
              <a:buChar char="ü"/>
            </a:pPr>
            <a:r>
              <a:rPr lang="fr-FR" sz="1800" dirty="0">
                <a:solidFill>
                  <a:srgbClr val="595959"/>
                </a:solidFill>
                <a:latin typeface="Asap" panose="020F0504030102060203" pitchFamily="34" charset="0"/>
              </a:rPr>
              <a:t>Accélérer la cadence du développent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CB4D115-F020-40C4-B918-0DD0BB1597B4}"/>
              </a:ext>
            </a:extLst>
          </p:cNvPr>
          <p:cNvSpPr/>
          <p:nvPr/>
        </p:nvSpPr>
        <p:spPr>
          <a:xfrm>
            <a:off x="3460474" y="1246407"/>
            <a:ext cx="8297839" cy="400110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txBody>
          <a:bodyPr wrap="square">
            <a:spAutoFit/>
          </a:bodyPr>
          <a:lstStyle/>
          <a:p>
            <a:r>
              <a:rPr lang="en-US" sz="2000" dirty="0" err="1">
                <a:solidFill>
                  <a:srgbClr val="2F5597"/>
                </a:solidFill>
                <a:latin typeface="Asap Medium" panose="020F0604030102060203" pitchFamily="34" charset="0"/>
                <a:sym typeface="Montserrat Semi Bold"/>
              </a:rPr>
              <a:t>Plusieurs</a:t>
            </a:r>
            <a:r>
              <a:rPr lang="en-US" sz="2000" dirty="0">
                <a:solidFill>
                  <a:srgbClr val="2F5597"/>
                </a:solidFill>
                <a:latin typeface="Asap Medium" panose="020F0604030102060203" pitchFamily="34" charset="0"/>
                <a:sym typeface="Montserrat Semi Bold"/>
              </a:rPr>
              <a:t> </a:t>
            </a:r>
            <a:r>
              <a:rPr lang="en-US" sz="2000" dirty="0" err="1">
                <a:solidFill>
                  <a:srgbClr val="2F5597"/>
                </a:solidFill>
                <a:latin typeface="Asap Medium" panose="020F0604030102060203" pitchFamily="34" charset="0"/>
                <a:sym typeface="Montserrat Semi Bold"/>
              </a:rPr>
              <a:t>difficultés</a:t>
            </a:r>
            <a:r>
              <a:rPr lang="en-US" sz="2000" dirty="0">
                <a:solidFill>
                  <a:srgbClr val="2F5597"/>
                </a:solidFill>
                <a:latin typeface="Asap Medium" panose="020F0604030102060203" pitchFamily="34" charset="0"/>
                <a:sym typeface="Montserrat Semi Bold"/>
              </a:rPr>
              <a:t> </a:t>
            </a:r>
            <a:r>
              <a:rPr lang="en-US" sz="2000" dirty="0" err="1">
                <a:solidFill>
                  <a:srgbClr val="2F5597"/>
                </a:solidFill>
                <a:latin typeface="Asap Medium" panose="020F0604030102060203" pitchFamily="34" charset="0"/>
                <a:sym typeface="Montserrat Semi Bold"/>
              </a:rPr>
              <a:t>ont</a:t>
            </a:r>
            <a:r>
              <a:rPr lang="en-US" sz="2000" dirty="0">
                <a:solidFill>
                  <a:srgbClr val="2F5597"/>
                </a:solidFill>
                <a:latin typeface="Asap Medium" panose="020F0604030102060203" pitchFamily="34" charset="0"/>
                <a:sym typeface="Montserrat Semi Bold"/>
              </a:rPr>
              <a:t> </a:t>
            </a:r>
            <a:r>
              <a:rPr lang="en-US" sz="2000" dirty="0" err="1">
                <a:solidFill>
                  <a:srgbClr val="2F5597"/>
                </a:solidFill>
                <a:latin typeface="Asap Medium" panose="020F0604030102060203" pitchFamily="34" charset="0"/>
                <a:sym typeface="Montserrat Semi Bold"/>
              </a:rPr>
              <a:t>été</a:t>
            </a:r>
            <a:r>
              <a:rPr lang="en-US" sz="2000" dirty="0">
                <a:solidFill>
                  <a:srgbClr val="2F5597"/>
                </a:solidFill>
                <a:latin typeface="Asap Medium" panose="020F0604030102060203" pitchFamily="34" charset="0"/>
                <a:sym typeface="Montserrat Semi Bold"/>
              </a:rPr>
              <a:t> </a:t>
            </a:r>
            <a:r>
              <a:rPr lang="en-US" sz="2000" dirty="0" err="1">
                <a:solidFill>
                  <a:srgbClr val="2F5597"/>
                </a:solidFill>
                <a:latin typeface="Asap Medium" panose="020F0604030102060203" pitchFamily="34" charset="0"/>
                <a:sym typeface="Montserrat Semi Bold"/>
              </a:rPr>
              <a:t>surmontées</a:t>
            </a:r>
            <a:endParaRPr lang="en-US" sz="2000" dirty="0">
              <a:solidFill>
                <a:srgbClr val="2F5597"/>
              </a:solidFill>
              <a:latin typeface="Asap Medium" panose="020F0604030102060203" pitchFamily="34" charset="0"/>
              <a:sym typeface="Montserrat Semi Bold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6269C0E-2F8B-41B0-B12B-4CA33A2D75CF}"/>
              </a:ext>
            </a:extLst>
          </p:cNvPr>
          <p:cNvSpPr/>
          <p:nvPr/>
        </p:nvSpPr>
        <p:spPr>
          <a:xfrm flipV="1">
            <a:off x="35600" y="647699"/>
            <a:ext cx="1934083" cy="602054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00E0B75-24CF-45FD-AD74-5FEADC6C3061}"/>
              </a:ext>
            </a:extLst>
          </p:cNvPr>
          <p:cNvSpPr/>
          <p:nvPr/>
        </p:nvSpPr>
        <p:spPr>
          <a:xfrm>
            <a:off x="42764" y="1303152"/>
            <a:ext cx="1934083" cy="686729"/>
          </a:xfrm>
          <a:prstGeom prst="rect">
            <a:avLst/>
          </a:prstGeom>
          <a:ln>
            <a:solidFill>
              <a:srgbClr val="4472C4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6" name="Shape 259">
            <a:extLst>
              <a:ext uri="{FF2B5EF4-FFF2-40B4-BE49-F238E27FC236}">
                <a16:creationId xmlns:a16="http://schemas.microsoft.com/office/drawing/2014/main" id="{0699851D-FE77-422E-9498-912EE700827E}"/>
              </a:ext>
            </a:extLst>
          </p:cNvPr>
          <p:cNvSpPr txBox="1">
            <a:spLocks/>
          </p:cNvSpPr>
          <p:nvPr/>
        </p:nvSpPr>
        <p:spPr>
          <a:xfrm>
            <a:off x="-114689" y="1561171"/>
            <a:ext cx="2091536" cy="263740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1200" b="1" dirty="0">
                <a:solidFill>
                  <a:srgbClr val="2F5597"/>
                </a:solidFill>
                <a:latin typeface="Asap Medium" panose="020F0604030102060203" pitchFamily="34" charset="0"/>
              </a:rPr>
              <a:t>Difficultés</a:t>
            </a:r>
            <a:endParaRPr lang="fr-FR" sz="1200" dirty="0">
              <a:solidFill>
                <a:srgbClr val="2F5597"/>
              </a:solidFill>
              <a:latin typeface="CIDFont+F3"/>
            </a:endParaRPr>
          </a:p>
          <a:p>
            <a:pPr algn="ctr"/>
            <a:endParaRPr lang="id-ID" sz="1200" b="1" dirty="0">
              <a:solidFill>
                <a:srgbClr val="2F5597"/>
              </a:solidFill>
              <a:latin typeface="Asap Medium" panose="020F0604030102060203" pitchFamily="34" charset="0"/>
            </a:endParaRPr>
          </a:p>
        </p:txBody>
      </p:sp>
      <p:sp>
        <p:nvSpPr>
          <p:cNvPr id="37" name="Shape 259">
            <a:extLst>
              <a:ext uri="{FF2B5EF4-FFF2-40B4-BE49-F238E27FC236}">
                <a16:creationId xmlns:a16="http://schemas.microsoft.com/office/drawing/2014/main" id="{415D55AD-667A-49FF-B395-17666863B791}"/>
              </a:ext>
            </a:extLst>
          </p:cNvPr>
          <p:cNvSpPr txBox="1">
            <a:spLocks/>
          </p:cNvSpPr>
          <p:nvPr/>
        </p:nvSpPr>
        <p:spPr>
          <a:xfrm>
            <a:off x="35599" y="591827"/>
            <a:ext cx="1937665" cy="740877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1200" b="1" dirty="0">
                <a:solidFill>
                  <a:schemeClr val="bg1"/>
                </a:solidFill>
                <a:latin typeface="Asap Medium" panose="020F0604030102060203" pitchFamily="34" charset="0"/>
              </a:rPr>
              <a:t>Objectifs</a:t>
            </a:r>
            <a:endParaRPr lang="fr-FR" sz="1200" dirty="0">
              <a:solidFill>
                <a:schemeClr val="bg1"/>
              </a:solidFill>
              <a:latin typeface="CIDFont+F3"/>
            </a:endParaRPr>
          </a:p>
        </p:txBody>
      </p:sp>
      <p:sp>
        <p:nvSpPr>
          <p:cNvPr id="38" name="Shape 259">
            <a:extLst>
              <a:ext uri="{FF2B5EF4-FFF2-40B4-BE49-F238E27FC236}">
                <a16:creationId xmlns:a16="http://schemas.microsoft.com/office/drawing/2014/main" id="{A999B26B-DB69-4A4B-BAA2-9FFDEEF7884C}"/>
              </a:ext>
            </a:extLst>
          </p:cNvPr>
          <p:cNvSpPr txBox="1">
            <a:spLocks/>
          </p:cNvSpPr>
          <p:nvPr/>
        </p:nvSpPr>
        <p:spPr>
          <a:xfrm>
            <a:off x="-130807" y="2180452"/>
            <a:ext cx="2091536" cy="263740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1200" b="1" dirty="0">
                <a:solidFill>
                  <a:schemeClr val="bg2"/>
                </a:solidFill>
                <a:latin typeface="Asap Medium" panose="020F0604030102060203" pitchFamily="34" charset="0"/>
              </a:rPr>
              <a:t>Extensions</a:t>
            </a:r>
            <a:endParaRPr lang="fr-FR" sz="1200" dirty="0">
              <a:solidFill>
                <a:schemeClr val="bg2"/>
              </a:solidFill>
              <a:latin typeface="CIDFont+F3"/>
            </a:endParaRPr>
          </a:p>
          <a:p>
            <a:pPr algn="ctr"/>
            <a:endParaRPr lang="id-ID" sz="1200" b="1" dirty="0">
              <a:solidFill>
                <a:schemeClr val="bg1"/>
              </a:solidFill>
              <a:latin typeface="Asap Medium" panose="020F06040301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9140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/>
          <p:cNvSpPr/>
          <p:nvPr/>
        </p:nvSpPr>
        <p:spPr>
          <a:xfrm>
            <a:off x="0" y="-18689"/>
            <a:ext cx="9321206" cy="6141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62" name="Shape 222"/>
          <p:cNvSpPr/>
          <p:nvPr/>
        </p:nvSpPr>
        <p:spPr>
          <a:xfrm>
            <a:off x="682388" y="163467"/>
            <a:ext cx="4741083" cy="287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>
              <a:lnSpc>
                <a:spcPct val="90000"/>
              </a:lnSpc>
              <a:defRPr sz="11100">
                <a:solidFill>
                  <a:srgbClr val="FFFFFF"/>
                </a:solidFill>
                <a:latin typeface="+mn-lt"/>
                <a:ea typeface="+mn-ea"/>
                <a:cs typeface="+mn-cs"/>
                <a:sym typeface="Montserrat Semi Bold"/>
              </a:defRPr>
            </a:lvl1pPr>
          </a:lstStyle>
          <a:p>
            <a:r>
              <a:rPr lang="en-GB" sz="1800" b="1" dirty="0">
                <a:latin typeface="Asap Medium" panose="020F0604030102060203" pitchFamily="34" charset="0"/>
              </a:rPr>
              <a:t>Conclusion</a:t>
            </a:r>
            <a:endParaRPr lang="id-ID" sz="1800" b="1" dirty="0">
              <a:latin typeface="Asap Medium" panose="020F0604030102060203" pitchFamily="34" charset="0"/>
            </a:endParaRPr>
          </a:p>
        </p:txBody>
      </p:sp>
      <p:sp>
        <p:nvSpPr>
          <p:cNvPr id="63" name="Shape 223"/>
          <p:cNvSpPr/>
          <p:nvPr/>
        </p:nvSpPr>
        <p:spPr>
          <a:xfrm>
            <a:off x="110246" y="84459"/>
            <a:ext cx="431835" cy="431835"/>
          </a:xfrm>
          <a:prstGeom prst="ellipse">
            <a:avLst/>
          </a:prstGeom>
          <a:solidFill>
            <a:srgbClr val="FFFFFF"/>
          </a:solidFill>
          <a:ln w="3175">
            <a:solidFill>
              <a:srgbClr val="A6AAA9"/>
            </a:solidFill>
          </a:ln>
        </p:spPr>
        <p:txBody>
          <a:bodyPr lIns="14288" tIns="14288" rIns="14288" bIns="14288" anchor="ctr"/>
          <a:lstStyle/>
          <a:p>
            <a:endParaRPr sz="1500" b="1" dirty="0">
              <a:latin typeface="Asap Medium" panose="020F0604030102060203" pitchFamily="34" charset="0"/>
            </a:endParaRPr>
          </a:p>
        </p:txBody>
      </p:sp>
      <p:sp>
        <p:nvSpPr>
          <p:cNvPr id="64" name="Shape 222"/>
          <p:cNvSpPr/>
          <p:nvPr/>
        </p:nvSpPr>
        <p:spPr>
          <a:xfrm>
            <a:off x="90194" y="159992"/>
            <a:ext cx="492801" cy="315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>
              <a:lnSpc>
                <a:spcPct val="90000"/>
              </a:lnSpc>
              <a:defRPr sz="11100">
                <a:solidFill>
                  <a:srgbClr val="FFFFFF"/>
                </a:solidFill>
                <a:latin typeface="+mn-lt"/>
                <a:ea typeface="+mn-ea"/>
                <a:cs typeface="+mn-cs"/>
                <a:sym typeface="Montserrat Semi Bold"/>
              </a:defRPr>
            </a:lvl1pPr>
          </a:lstStyle>
          <a:p>
            <a:pPr algn="ctr"/>
            <a:r>
              <a:rPr lang="en-GB" sz="2000" b="1" dirty="0">
                <a:solidFill>
                  <a:schemeClr val="accent1"/>
                </a:solidFill>
                <a:latin typeface="Asap Medium" panose="020F0604030102060203" pitchFamily="34" charset="0"/>
              </a:rPr>
              <a:t>VII</a:t>
            </a:r>
            <a:endParaRPr lang="id-ID" sz="1600" b="1" dirty="0">
              <a:solidFill>
                <a:schemeClr val="accent1"/>
              </a:solidFill>
              <a:latin typeface="Asap Medium" panose="020F0604030102060203" pitchFamily="34" charset="0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9431452" y="-4"/>
            <a:ext cx="258830" cy="6141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9727034" y="6303118"/>
            <a:ext cx="2075803" cy="365125"/>
          </a:xfrm>
        </p:spPr>
        <p:txBody>
          <a:bodyPr/>
          <a:lstStyle/>
          <a:p>
            <a:fld id="{2476CA8B-E376-4C73-9B78-83D007D77E53}" type="slidenum">
              <a:rPr lang="id-ID" smtClean="0">
                <a:solidFill>
                  <a:srgbClr val="FF0000"/>
                </a:solidFill>
                <a:latin typeface="Asap Medium" panose="020F0604030102060203" pitchFamily="34" charset="0"/>
              </a:rPr>
              <a:t>27</a:t>
            </a:fld>
            <a:endParaRPr lang="id-ID" dirty="0">
              <a:solidFill>
                <a:srgbClr val="FF0000"/>
              </a:solidFill>
              <a:latin typeface="Asap Medium" panose="020F0604030102060203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ECCB045-FE19-4561-8017-9B40A020F357}"/>
              </a:ext>
            </a:extLst>
          </p:cNvPr>
          <p:cNvSpPr/>
          <p:nvPr/>
        </p:nvSpPr>
        <p:spPr>
          <a:xfrm>
            <a:off x="9813810" y="0"/>
            <a:ext cx="258830" cy="61414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3DE1CC4-1551-4828-A800-63DD77E86870}"/>
              </a:ext>
            </a:extLst>
          </p:cNvPr>
          <p:cNvSpPr/>
          <p:nvPr/>
        </p:nvSpPr>
        <p:spPr>
          <a:xfrm>
            <a:off x="10196168" y="-8069"/>
            <a:ext cx="258830" cy="61414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 dirty="0">
              <a:latin typeface="Asap Medium" panose="020F0604030102060203" pitchFamily="34" charset="0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304A858-F1EF-46C2-9C41-A25FCE3D9A94}"/>
              </a:ext>
            </a:extLst>
          </p:cNvPr>
          <p:cNvSpPr/>
          <p:nvPr/>
        </p:nvSpPr>
        <p:spPr>
          <a:xfrm>
            <a:off x="11392272" y="-5"/>
            <a:ext cx="258830" cy="614149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72A7319-31A7-490B-9740-279F48E96737}"/>
              </a:ext>
            </a:extLst>
          </p:cNvPr>
          <p:cNvSpPr/>
          <p:nvPr/>
        </p:nvSpPr>
        <p:spPr>
          <a:xfrm>
            <a:off x="10578526" y="-8069"/>
            <a:ext cx="258830" cy="61414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5ECA0C6-ECC9-4278-AE73-EBF82C6F8067}"/>
              </a:ext>
            </a:extLst>
          </p:cNvPr>
          <p:cNvSpPr/>
          <p:nvPr/>
        </p:nvSpPr>
        <p:spPr>
          <a:xfrm>
            <a:off x="10985399" y="-8070"/>
            <a:ext cx="258830" cy="614149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1516FE2-81B1-408B-9251-B590929EE9C0}"/>
              </a:ext>
            </a:extLst>
          </p:cNvPr>
          <p:cNvSpPr/>
          <p:nvPr/>
        </p:nvSpPr>
        <p:spPr>
          <a:xfrm>
            <a:off x="2816975" y="1119350"/>
            <a:ext cx="8297839" cy="400110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txBody>
          <a:bodyPr wrap="square">
            <a:spAutoFit/>
          </a:bodyPr>
          <a:lstStyle/>
          <a:p>
            <a:r>
              <a:rPr lang="fr-FR" sz="2000" dirty="0">
                <a:solidFill>
                  <a:srgbClr val="2F5597"/>
                </a:solidFill>
                <a:latin typeface="Asap Medium" panose="020F0604030102060203" pitchFamily="34" charset="0"/>
                <a:sym typeface="Montserrat Semi Bold"/>
              </a:rPr>
              <a:t>Comme extensions possibles à ce projet :</a:t>
            </a:r>
            <a:endParaRPr lang="en-US" sz="2000" dirty="0">
              <a:solidFill>
                <a:srgbClr val="2F5597"/>
              </a:solidFill>
              <a:latin typeface="Asap Medium" panose="020F0604030102060203" pitchFamily="34" charset="0"/>
              <a:sym typeface="Montserrat Semi Bold"/>
            </a:endParaRPr>
          </a:p>
        </p:txBody>
      </p:sp>
      <p:sp>
        <p:nvSpPr>
          <p:cNvPr id="32" name="ZoneTexte 48">
            <a:extLst>
              <a:ext uri="{FF2B5EF4-FFF2-40B4-BE49-F238E27FC236}">
                <a16:creationId xmlns:a16="http://schemas.microsoft.com/office/drawing/2014/main" id="{26BF310F-1B76-4E0D-AD18-947FDAB68CC1}"/>
              </a:ext>
            </a:extLst>
          </p:cNvPr>
          <p:cNvSpPr txBox="1"/>
          <p:nvPr/>
        </p:nvSpPr>
        <p:spPr>
          <a:xfrm>
            <a:off x="3368104" y="2248610"/>
            <a:ext cx="8282998" cy="880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Blip>
                <a:blip r:embed="rId3"/>
              </a:buBlip>
            </a:pPr>
            <a:r>
              <a:rPr lang="fr-FR" dirty="0">
                <a:latin typeface="Asap" panose="020F0504030102060203" pitchFamily="34" charset="0"/>
                <a:sym typeface="Montserrat Semi Bold"/>
              </a:rPr>
              <a:t>Comparaison des résultats de simulation de deux configurations distinctes du service de </a:t>
            </a:r>
            <a:r>
              <a:rPr lang="fr-FR" dirty="0" err="1">
                <a:latin typeface="Asap" panose="020F0504030102060203" pitchFamily="34" charset="0"/>
                <a:sym typeface="Montserrat Semi Bold"/>
              </a:rPr>
              <a:t>scaling</a:t>
            </a:r>
            <a:r>
              <a:rPr lang="fr-FR" dirty="0">
                <a:latin typeface="Asap" panose="020F0504030102060203" pitchFamily="34" charset="0"/>
                <a:sym typeface="Montserrat Semi Bold"/>
              </a:rPr>
              <a:t>, pour choisir la configuration la plus performante</a:t>
            </a:r>
          </a:p>
        </p:txBody>
      </p:sp>
      <p:sp>
        <p:nvSpPr>
          <p:cNvPr id="33" name="ZoneTexte 48">
            <a:extLst>
              <a:ext uri="{FF2B5EF4-FFF2-40B4-BE49-F238E27FC236}">
                <a16:creationId xmlns:a16="http://schemas.microsoft.com/office/drawing/2014/main" id="{3C56FEC2-6003-470F-B70D-23828A3156E5}"/>
              </a:ext>
            </a:extLst>
          </p:cNvPr>
          <p:cNvSpPr txBox="1"/>
          <p:nvPr/>
        </p:nvSpPr>
        <p:spPr>
          <a:xfrm>
            <a:off x="3368104" y="3369437"/>
            <a:ext cx="8282998" cy="880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Blip>
                <a:blip r:embed="rId3"/>
              </a:buBlip>
            </a:pPr>
            <a:r>
              <a:rPr lang="fr-FR" dirty="0">
                <a:latin typeface="Asap" panose="020F0504030102060203" pitchFamily="34" charset="0"/>
                <a:sym typeface="Montserrat Semi Bold"/>
              </a:rPr>
              <a:t>Génération d’une  configuration optimale du service de </a:t>
            </a:r>
            <a:r>
              <a:rPr lang="fr-FR" dirty="0" err="1">
                <a:latin typeface="Asap" panose="020F0504030102060203" pitchFamily="34" charset="0"/>
                <a:sym typeface="Montserrat Semi Bold"/>
              </a:rPr>
              <a:t>Scaling</a:t>
            </a:r>
            <a:r>
              <a:rPr lang="fr-FR" dirty="0">
                <a:latin typeface="Asap" panose="020F0504030102060203" pitchFamily="34" charset="0"/>
                <a:sym typeface="Montserrat Semi Bold"/>
              </a:rPr>
              <a:t> en se basant sur une charge de requêtes</a:t>
            </a:r>
            <a:endParaRPr lang="fr-FR" dirty="0">
              <a:solidFill>
                <a:srgbClr val="595959"/>
              </a:solidFill>
              <a:latin typeface="Asap" panose="020F0504030102060203" pitchFamily="34" charset="0"/>
              <a:sym typeface="Montserrat Semi Bold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52B0311-C89E-41B7-90F7-74FCC9BB4E9A}"/>
              </a:ext>
            </a:extLst>
          </p:cNvPr>
          <p:cNvSpPr/>
          <p:nvPr/>
        </p:nvSpPr>
        <p:spPr>
          <a:xfrm flipV="1">
            <a:off x="35600" y="647699"/>
            <a:ext cx="1934083" cy="602054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4389CB8-2EC8-459F-AB32-C9BCF0D6EE6D}"/>
              </a:ext>
            </a:extLst>
          </p:cNvPr>
          <p:cNvSpPr/>
          <p:nvPr/>
        </p:nvSpPr>
        <p:spPr>
          <a:xfrm>
            <a:off x="44554" y="1742362"/>
            <a:ext cx="1934083" cy="686729"/>
          </a:xfrm>
          <a:prstGeom prst="rect">
            <a:avLst/>
          </a:prstGeom>
          <a:ln>
            <a:solidFill>
              <a:srgbClr val="4472C4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2" name="Shape 259">
            <a:extLst>
              <a:ext uri="{FF2B5EF4-FFF2-40B4-BE49-F238E27FC236}">
                <a16:creationId xmlns:a16="http://schemas.microsoft.com/office/drawing/2014/main" id="{1D3586E8-00E0-4B54-9CBB-3B17FA2DD1BE}"/>
              </a:ext>
            </a:extLst>
          </p:cNvPr>
          <p:cNvSpPr txBox="1">
            <a:spLocks/>
          </p:cNvSpPr>
          <p:nvPr/>
        </p:nvSpPr>
        <p:spPr>
          <a:xfrm>
            <a:off x="-114689" y="1426383"/>
            <a:ext cx="2091536" cy="263740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1200" b="1" dirty="0">
                <a:solidFill>
                  <a:schemeClr val="bg2"/>
                </a:solidFill>
                <a:latin typeface="Asap Medium" panose="020F0604030102060203" pitchFamily="34" charset="0"/>
              </a:rPr>
              <a:t>Difficultés</a:t>
            </a:r>
            <a:endParaRPr lang="fr-FR" sz="1200" dirty="0">
              <a:solidFill>
                <a:schemeClr val="bg2"/>
              </a:solidFill>
              <a:latin typeface="CIDFont+F3"/>
            </a:endParaRPr>
          </a:p>
          <a:p>
            <a:pPr algn="ctr"/>
            <a:endParaRPr lang="id-ID" sz="1200" b="1" dirty="0">
              <a:solidFill>
                <a:schemeClr val="bg1"/>
              </a:solidFill>
              <a:latin typeface="Asap Medium" panose="020F0604030102060203" pitchFamily="34" charset="0"/>
            </a:endParaRPr>
          </a:p>
        </p:txBody>
      </p:sp>
      <p:sp>
        <p:nvSpPr>
          <p:cNvPr id="23" name="Shape 259">
            <a:extLst>
              <a:ext uri="{FF2B5EF4-FFF2-40B4-BE49-F238E27FC236}">
                <a16:creationId xmlns:a16="http://schemas.microsoft.com/office/drawing/2014/main" id="{68E2E996-C471-4C45-A16A-52B93669363B}"/>
              </a:ext>
            </a:extLst>
          </p:cNvPr>
          <p:cNvSpPr txBox="1">
            <a:spLocks/>
          </p:cNvSpPr>
          <p:nvPr/>
        </p:nvSpPr>
        <p:spPr>
          <a:xfrm>
            <a:off x="35599" y="591827"/>
            <a:ext cx="1937665" cy="740877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1200" b="1" dirty="0">
                <a:solidFill>
                  <a:schemeClr val="bg1"/>
                </a:solidFill>
                <a:latin typeface="Asap Medium" panose="020F0604030102060203" pitchFamily="34" charset="0"/>
              </a:rPr>
              <a:t>Objectifs</a:t>
            </a:r>
            <a:endParaRPr lang="fr-FR" sz="1200" dirty="0">
              <a:solidFill>
                <a:schemeClr val="bg1"/>
              </a:solidFill>
              <a:latin typeface="CIDFont+F3"/>
            </a:endParaRPr>
          </a:p>
        </p:txBody>
      </p:sp>
      <p:sp>
        <p:nvSpPr>
          <p:cNvPr id="24" name="Shape 259">
            <a:extLst>
              <a:ext uri="{FF2B5EF4-FFF2-40B4-BE49-F238E27FC236}">
                <a16:creationId xmlns:a16="http://schemas.microsoft.com/office/drawing/2014/main" id="{D2D07915-F211-48BA-B7CA-BBDA91F3F802}"/>
              </a:ext>
            </a:extLst>
          </p:cNvPr>
          <p:cNvSpPr txBox="1">
            <a:spLocks/>
          </p:cNvSpPr>
          <p:nvPr/>
        </p:nvSpPr>
        <p:spPr>
          <a:xfrm>
            <a:off x="-130807" y="2035489"/>
            <a:ext cx="2091536" cy="263740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1200" b="1" dirty="0">
                <a:solidFill>
                  <a:srgbClr val="2F5597"/>
                </a:solidFill>
                <a:latin typeface="Asap Medium" panose="020F0604030102060203" pitchFamily="34" charset="0"/>
              </a:rPr>
              <a:t>Extensions</a:t>
            </a:r>
            <a:endParaRPr lang="fr-FR" sz="1200" dirty="0">
              <a:solidFill>
                <a:srgbClr val="2F5597"/>
              </a:solidFill>
              <a:latin typeface="CIDFont+F3"/>
            </a:endParaRPr>
          </a:p>
          <a:p>
            <a:pPr algn="ctr"/>
            <a:endParaRPr lang="id-ID" sz="1200" b="1" dirty="0">
              <a:solidFill>
                <a:schemeClr val="bg1"/>
              </a:solidFill>
              <a:latin typeface="Asap Medium" panose="020F06040301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4747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2" grpId="0"/>
      <p:bldP spid="3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88D25-FCA8-40C3-89E9-976E28DCB7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6688" y="2448734"/>
            <a:ext cx="10706099" cy="980266"/>
          </a:xfrm>
          <a:solidFill>
            <a:srgbClr val="4472C4"/>
          </a:solidFill>
          <a:ln>
            <a:solidFill>
              <a:srgbClr val="4472C4"/>
            </a:solidFill>
          </a:ln>
        </p:spPr>
        <p:txBody>
          <a:bodyPr anchor="ctr"/>
          <a:lstStyle/>
          <a:p>
            <a:r>
              <a:rPr lang="fr-FR" sz="3600" dirty="0">
                <a:solidFill>
                  <a:schemeClr val="bg1"/>
                </a:solidFill>
              </a:rPr>
              <a:t>Merci pour votre attention</a:t>
            </a:r>
            <a:endParaRPr lang="fr-FR" sz="3600" cap="none" dirty="0">
              <a:solidFill>
                <a:schemeClr val="bg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F2DB350-ECCE-49D2-9854-CE63BA543854}"/>
              </a:ext>
            </a:extLst>
          </p:cNvPr>
          <p:cNvCxnSpPr>
            <a:cxnSpLocks/>
          </p:cNvCxnSpPr>
          <p:nvPr/>
        </p:nvCxnSpPr>
        <p:spPr>
          <a:xfrm>
            <a:off x="606688" y="3521988"/>
            <a:ext cx="10706098" cy="0"/>
          </a:xfrm>
          <a:prstGeom prst="line">
            <a:avLst/>
          </a:prstGeom>
          <a:ln w="95250">
            <a:solidFill>
              <a:srgbClr val="2F559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space réservé du numéro de diapositive 3">
            <a:extLst>
              <a:ext uri="{FF2B5EF4-FFF2-40B4-BE49-F238E27FC236}">
                <a16:creationId xmlns:a16="http://schemas.microsoft.com/office/drawing/2014/main" id="{510BF7BC-3FEF-4BD2-89E1-57D5C6D3F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59637" y="6309345"/>
            <a:ext cx="2743200" cy="365125"/>
          </a:xfrm>
        </p:spPr>
        <p:txBody>
          <a:bodyPr/>
          <a:lstStyle/>
          <a:p>
            <a:fld id="{2476CA8B-E376-4C73-9B78-83D007D77E53}" type="slidenum">
              <a:rPr lang="id-ID" smtClean="0">
                <a:solidFill>
                  <a:srgbClr val="FF0000"/>
                </a:solidFill>
                <a:latin typeface="Asap Medium" panose="020F0604030102060203" pitchFamily="34" charset="0"/>
              </a:rPr>
              <a:t>28</a:t>
            </a:fld>
            <a:endParaRPr lang="id-ID" dirty="0">
              <a:solidFill>
                <a:srgbClr val="FF0000"/>
              </a:solidFill>
              <a:latin typeface="Asap Medium" panose="020F06040301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17022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444600" y="797061"/>
            <a:ext cx="10035285" cy="9079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fr-FR" sz="2400" b="1" dirty="0">
                <a:ln w="0"/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Projet de fin d’études</a:t>
            </a:r>
            <a:endParaRPr lang="fr-FR" sz="1100" b="1" dirty="0">
              <a:ln w="0"/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algn="ctr"/>
            <a:r>
              <a:rPr lang="fr-FR" sz="2400" b="1" dirty="0">
                <a:ln w="0"/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Pour l'obtention du diplôme d'Ingénieur d'État en informatique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-2" y="2300235"/>
            <a:ext cx="12192002" cy="136222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vert270" lIns="182880" rtlCol="0" anchor="ctr" anchorCtr="0"/>
          <a:lstStyle/>
          <a:p>
            <a:pPr algn="ctr" defTabSz="1219170"/>
            <a:endParaRPr lang="en-US" sz="3200" kern="0" dirty="0">
              <a:solidFill>
                <a:srgbClr val="FFFFFF"/>
              </a:solidFill>
              <a:latin typeface="Open Sans Light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1991" y="250153"/>
            <a:ext cx="2317749" cy="41770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9151" y="2176664"/>
            <a:ext cx="10926570" cy="1477328"/>
          </a:xfrm>
          <a:noFill/>
        </p:spPr>
        <p:txBody>
          <a:bodyPr wrap="square" lIns="243840" tIns="121920" rIns="243840" bIns="121920" rtlCol="0" anchor="b" anchorCtr="0">
            <a:spAutoFit/>
          </a:bodyPr>
          <a:lstStyle/>
          <a:p>
            <a:pPr defTabSz="1219170">
              <a:lnSpc>
                <a:spcPct val="100000"/>
              </a:lnSpc>
              <a:spcBef>
                <a:spcPts val="0"/>
              </a:spcBef>
            </a:pPr>
            <a:r>
              <a:rPr lang="fr-FR" sz="4000" b="1" kern="0" dirty="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11000"/>
                    </a:prstClr>
                  </a:outerShdw>
                </a:effectLst>
                <a:latin typeface="Open Sans Light"/>
                <a:ea typeface="+mn-ea"/>
                <a:cs typeface="+mn-cs"/>
              </a:rPr>
              <a:t>Conception et réalisation d’un outil de Simulation de service de </a:t>
            </a:r>
            <a:r>
              <a:rPr lang="fr-FR" sz="4000" b="1" kern="0" dirty="0" err="1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11000"/>
                    </a:prstClr>
                  </a:outerShdw>
                </a:effectLst>
                <a:latin typeface="Open Sans Light"/>
                <a:ea typeface="+mn-ea"/>
                <a:cs typeface="+mn-cs"/>
              </a:rPr>
              <a:t>Scaling</a:t>
            </a:r>
            <a:endParaRPr lang="en-US" sz="4000" b="1" kern="0" dirty="0">
              <a:solidFill>
                <a:schemeClr val="bg1"/>
              </a:solidFill>
              <a:effectLst>
                <a:outerShdw blurRad="50800" dist="38100" dir="8100000" algn="tr" rotWithShape="0">
                  <a:prstClr val="black">
                    <a:alpha val="11000"/>
                  </a:prstClr>
                </a:outerShdw>
              </a:effectLst>
              <a:latin typeface="Open Sans Light"/>
              <a:ea typeface="+mn-ea"/>
              <a:cs typeface="+mn-cs"/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971" y="198158"/>
            <a:ext cx="2751787" cy="52169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1D1848E-98AE-40D9-9B27-1549C9A1E73B}"/>
              </a:ext>
            </a:extLst>
          </p:cNvPr>
          <p:cNvSpPr txBox="1"/>
          <p:nvPr/>
        </p:nvSpPr>
        <p:spPr>
          <a:xfrm>
            <a:off x="2387718" y="4255462"/>
            <a:ext cx="2958620" cy="630553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r>
              <a:rPr lang="fr-FR" sz="2400" b="1" dirty="0"/>
              <a:t>Réalisé  par :</a:t>
            </a:r>
          </a:p>
          <a:p>
            <a:r>
              <a:rPr lang="fr-FR" sz="1600" dirty="0"/>
              <a:t>	</a:t>
            </a:r>
            <a:r>
              <a:rPr lang="fr-FR" sz="2000" dirty="0"/>
              <a:t>M. ZOUAID Omar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205C07-660C-4C97-90E0-10478DB7B2ED}"/>
              </a:ext>
            </a:extLst>
          </p:cNvPr>
          <p:cNvSpPr txBox="1"/>
          <p:nvPr/>
        </p:nvSpPr>
        <p:spPr>
          <a:xfrm>
            <a:off x="6845664" y="4289120"/>
            <a:ext cx="4837255" cy="1664543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r>
              <a:rPr lang="fr-FR" sz="2400" b="1" dirty="0"/>
              <a:t>Membres du Jury  :</a:t>
            </a:r>
          </a:p>
          <a:p>
            <a:pPr lvl="1"/>
            <a:r>
              <a:rPr lang="en-US" sz="2000" dirty="0"/>
              <a:t>Pr. RGHIOUI  </a:t>
            </a:r>
            <a:r>
              <a:rPr lang="en-US" sz="2000" dirty="0" err="1"/>
              <a:t>Anass</a:t>
            </a:r>
            <a:r>
              <a:rPr lang="en-US" sz="2000" dirty="0"/>
              <a:t> </a:t>
            </a:r>
            <a:r>
              <a:rPr lang="fr-FR" sz="2000" dirty="0"/>
              <a:t>- Président</a:t>
            </a:r>
          </a:p>
          <a:p>
            <a:pPr lvl="1"/>
            <a:r>
              <a:rPr lang="fr-FR" sz="2000" dirty="0"/>
              <a:t>Pr. GUENNOUN  Karim - Examinateur</a:t>
            </a:r>
          </a:p>
          <a:p>
            <a:pPr lvl="1"/>
            <a:r>
              <a:rPr lang="fr-FR" sz="2000" dirty="0"/>
              <a:t>Pr. ADDOU  Malika - Encadrante EHTP</a:t>
            </a:r>
          </a:p>
          <a:p>
            <a:pPr lvl="1"/>
            <a:r>
              <a:rPr lang="fr-FR" sz="2000" dirty="0"/>
              <a:t>M. DOUIYEH  Tarik - Encadrant SG ATS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208A59-990D-425D-B60D-CCFB6D4E5EB5}"/>
              </a:ext>
            </a:extLst>
          </p:cNvPr>
          <p:cNvSpPr txBox="1"/>
          <p:nvPr/>
        </p:nvSpPr>
        <p:spPr>
          <a:xfrm>
            <a:off x="3019337" y="6290510"/>
            <a:ext cx="6153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800" dirty="0"/>
              <a:t>Soutenu le Mardi </a:t>
            </a:r>
            <a:r>
              <a:rPr lang="fr-FR" dirty="0"/>
              <a:t>14</a:t>
            </a:r>
            <a:r>
              <a:rPr lang="fr-FR" sz="1800" dirty="0"/>
              <a:t> Juillet 2020</a:t>
            </a:r>
          </a:p>
        </p:txBody>
      </p:sp>
    </p:spTree>
    <p:extLst>
      <p:ext uri="{BB962C8B-B14F-4D97-AF65-F5344CB8AC3E}">
        <p14:creationId xmlns:p14="http://schemas.microsoft.com/office/powerpoint/2010/main" val="17288576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7128</TotalTime>
  <Words>981</Words>
  <Application>Microsoft Office PowerPoint</Application>
  <PresentationFormat>Widescreen</PresentationFormat>
  <Paragraphs>273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9" baseType="lpstr">
      <vt:lpstr>Arial</vt:lpstr>
      <vt:lpstr>Asap</vt:lpstr>
      <vt:lpstr>Asap Medium</vt:lpstr>
      <vt:lpstr>Calibri</vt:lpstr>
      <vt:lpstr>Calibri Light</vt:lpstr>
      <vt:lpstr>CIDFont+F3</vt:lpstr>
      <vt:lpstr>Lucida Sans Unicode</vt:lpstr>
      <vt:lpstr>Open Sans Light</vt:lpstr>
      <vt:lpstr>Wingdings</vt:lpstr>
      <vt:lpstr>Office Theme</vt:lpstr>
      <vt:lpstr>Conception et réalisation d’un outil de Simulation de service de Scaling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Démo</vt:lpstr>
      <vt:lpstr>PowerPoint Presentation</vt:lpstr>
      <vt:lpstr>PowerPoint Presentation</vt:lpstr>
      <vt:lpstr>PowerPoint Presentation</vt:lpstr>
      <vt:lpstr>Merci pour votre attention</vt:lpstr>
      <vt:lpstr>Conception et réalisation d’un outil de Simulation de service de Scaling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Conception et réalisation d’un outil de Simulation de service de Scaling</dc:title>
  <dc:creator>ZLaP</dc:creator>
  <cp:lastModifiedBy>ZLaP</cp:lastModifiedBy>
  <cp:revision>170</cp:revision>
  <dcterms:created xsi:type="dcterms:W3CDTF">2020-07-05T11:17:53Z</dcterms:created>
  <dcterms:modified xsi:type="dcterms:W3CDTF">2020-07-14T08:33:28Z</dcterms:modified>
</cp:coreProperties>
</file>