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94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96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9" r:id="rId19"/>
    <p:sldId id="280" r:id="rId20"/>
    <p:sldId id="281" r:id="rId21"/>
    <p:sldId id="282" r:id="rId22"/>
    <p:sldId id="287" r:id="rId23"/>
    <p:sldId id="283" r:id="rId24"/>
    <p:sldId id="284" r:id="rId25"/>
    <p:sldId id="285" r:id="rId26"/>
    <p:sldId id="288" r:id="rId27"/>
    <p:sldId id="289" r:id="rId28"/>
    <p:sldId id="290" r:id="rId29"/>
    <p:sldId id="292" r:id="rId30"/>
    <p:sldId id="29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052D"/>
    <a:srgbClr val="30A0DB"/>
    <a:srgbClr val="75DBFF"/>
    <a:srgbClr val="2FC9FF"/>
    <a:srgbClr val="00B0F0"/>
    <a:srgbClr val="2099D8"/>
    <a:srgbClr val="1873A2"/>
    <a:srgbClr val="5BBE77"/>
    <a:srgbClr val="25B7AB"/>
    <a:srgbClr val="27A6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7" autoAdjust="0"/>
    <p:restoredTop sz="94660"/>
  </p:normalViewPr>
  <p:slideViewPr>
    <p:cSldViewPr snapToGrid="0">
      <p:cViewPr varScale="1">
        <p:scale>
          <a:sx n="74" d="100"/>
          <a:sy n="74" d="100"/>
        </p:scale>
        <p:origin x="4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bla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4011D-6B64-4CAD-A3A0-8CAB93342892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5CD03-659C-4F77-98E2-5581CF24D1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394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bla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2445B9-7D55-44CA-A317-E409F5DC365F}" type="datetimeFigureOut">
              <a:rPr lang="en-US" smtClean="0"/>
              <a:t>6/18/2019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AB8C6-81BE-43CE-9D91-91FCF6AB83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662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5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18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88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47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55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3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20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6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8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4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81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07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2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E68E2-F952-4D58-BA71-B9359F82E94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71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gif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12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11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gif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4.gi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67"/>
          <p:cNvSpPr/>
          <p:nvPr/>
        </p:nvSpPr>
        <p:spPr>
          <a:xfrm>
            <a:off x="-2" y="2125837"/>
            <a:ext cx="12192002" cy="1402403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vert270" lIns="182880" rtlCol="0" anchor="ctr" anchorCtr="0"/>
          <a:lstStyle/>
          <a:p>
            <a:pPr algn="ctr" defTabSz="1219170"/>
            <a:endParaRPr lang="en-US" sz="3200" kern="0">
              <a:solidFill>
                <a:srgbClr val="FFFFFF"/>
              </a:solidFill>
              <a:latin typeface="Open Sans Ligh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991" y="250153"/>
            <a:ext cx="2317749" cy="417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6865" y="4986220"/>
            <a:ext cx="309880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M. Jaouad BOUTAHAR</a:t>
            </a:r>
            <a:endParaRPr lang="fr-F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Mme. </a:t>
            </a:r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Malika ADDOU</a:t>
            </a:r>
            <a:endParaRPr lang="fr-F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Mme. Mariam CHERRABI</a:t>
            </a:r>
          </a:p>
          <a:p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M. </a:t>
            </a:r>
            <a:r>
              <a:rPr lang="fr-FR" sz="2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Souhail</a:t>
            </a:r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EL GHAZI EL HOUSSAINI</a:t>
            </a:r>
            <a:endParaRPr lang="fr-F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M. </a:t>
            </a:r>
            <a:r>
              <a:rPr lang="fr-FR" sz="2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Othmane</a:t>
            </a:r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KINANE</a:t>
            </a: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67650" y="4986220"/>
            <a:ext cx="23749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Président</a:t>
            </a:r>
            <a:endParaRPr lang="fr-F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Examinateur</a:t>
            </a:r>
            <a:endParaRPr lang="fr-F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Examinateur</a:t>
            </a:r>
            <a:endParaRPr lang="fr-FR" sz="2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Rapporteur</a:t>
            </a:r>
            <a:endParaRPr lang="fr-F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Rapporteur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151" y="2034051"/>
            <a:ext cx="10926570" cy="1477328"/>
          </a:xfrm>
          <a:noFill/>
        </p:spPr>
        <p:txBody>
          <a:bodyPr wrap="square" lIns="243840" tIns="121920" rIns="243840" bIns="121920" rtlCol="0" anchor="b" anchorCtr="0">
            <a:spAutoFit/>
          </a:bodyPr>
          <a:lstStyle/>
          <a:p>
            <a:pPr defTabSz="1219170">
              <a:lnSpc>
                <a:spcPct val="100000"/>
              </a:lnSpc>
              <a:spcBef>
                <a:spcPts val="0"/>
              </a:spcBef>
            </a:pPr>
            <a:r>
              <a:rPr lang="fr-FR" sz="4000" b="1" kern="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11000"/>
                    </a:prstClr>
                  </a:outerShdw>
                </a:effectLst>
                <a:latin typeface="Open Sans Light"/>
                <a:ea typeface="+mn-ea"/>
                <a:cs typeface="+mn-cs"/>
              </a:rPr>
              <a:t>Conception et réalisation d’un outil intelligent d’aide à la validation des développements</a:t>
            </a:r>
            <a:endParaRPr lang="en-US" sz="4000" b="1" kern="0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11000"/>
                  </a:prstClr>
                </a:outerShdw>
              </a:effectLst>
              <a:latin typeface="Open Sans Light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70436" y="1048731"/>
            <a:ext cx="9144000" cy="100027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Projet de fin d’études</a:t>
            </a:r>
          </a:p>
          <a:p>
            <a:pPr algn="ctr"/>
            <a:endParaRPr lang="fr-FR" sz="1100" dirty="0">
              <a:ln w="0"/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r>
              <a:rPr lang="fr-FR" sz="24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Pour l'obtention du diplôme d'Ingénieur d'État en </a:t>
            </a:r>
            <a:r>
              <a:rPr lang="fr-FR" sz="2400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informatique</a:t>
            </a:r>
            <a:endParaRPr lang="fr-FR" sz="2400" dirty="0">
              <a:ln w="0"/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1523999" y="3628385"/>
            <a:ext cx="9144000" cy="1262062"/>
          </a:xfrm>
        </p:spPr>
        <p:txBody>
          <a:bodyPr>
            <a:normAutofit/>
          </a:bodyPr>
          <a:lstStyle/>
          <a:p>
            <a:r>
              <a:rPr lang="fr-FR" sz="20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Soutenu le </a:t>
            </a:r>
            <a:r>
              <a:rPr lang="fr-FR" sz="200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19 juin </a:t>
            </a:r>
            <a:r>
              <a:rPr lang="fr-FR" sz="20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2019 par :</a:t>
            </a:r>
          </a:p>
          <a:p>
            <a:r>
              <a:rPr lang="fr-FR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LGHOUMAIGUI Youssef</a:t>
            </a:r>
            <a:endParaRPr lang="fr-F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20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Devant le jury composé de :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71" y="198158"/>
            <a:ext cx="2751787" cy="52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899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9061254" y="2311400"/>
            <a:ext cx="2127437" cy="406400"/>
            <a:chOff x="6862622" y="1733550"/>
            <a:chExt cx="1595578" cy="304800"/>
          </a:xfrm>
        </p:grpSpPr>
        <p:sp>
          <p:nvSpPr>
            <p:cNvPr id="58" name="Chevron 57"/>
            <p:cNvSpPr/>
            <p:nvPr/>
          </p:nvSpPr>
          <p:spPr>
            <a:xfrm>
              <a:off x="6862622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5BBE77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59" name="Oval 58"/>
            <p:cNvSpPr/>
            <p:nvPr/>
          </p:nvSpPr>
          <p:spPr>
            <a:xfrm>
              <a:off x="7617114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7034066" y="2311400"/>
            <a:ext cx="2127437" cy="406400"/>
            <a:chOff x="5318416" y="1733550"/>
            <a:chExt cx="1595578" cy="304800"/>
          </a:xfrm>
        </p:grpSpPr>
        <p:sp>
          <p:nvSpPr>
            <p:cNvPr id="61" name="Chevron 60"/>
            <p:cNvSpPr/>
            <p:nvPr/>
          </p:nvSpPr>
          <p:spPr>
            <a:xfrm>
              <a:off x="5318416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5B7AB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62" name="Oval 61"/>
            <p:cNvSpPr/>
            <p:nvPr/>
          </p:nvSpPr>
          <p:spPr>
            <a:xfrm>
              <a:off x="6072908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006879" y="2311400"/>
            <a:ext cx="2127437" cy="406400"/>
            <a:chOff x="3774211" y="1733550"/>
            <a:chExt cx="1595578" cy="304800"/>
          </a:xfrm>
        </p:grpSpPr>
        <p:sp>
          <p:nvSpPr>
            <p:cNvPr id="64" name="Chevron 63"/>
            <p:cNvSpPr/>
            <p:nvPr/>
          </p:nvSpPr>
          <p:spPr>
            <a:xfrm>
              <a:off x="3774211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7A6C2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4528703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2979691" y="2311400"/>
            <a:ext cx="2127437" cy="406400"/>
            <a:chOff x="2230005" y="1733550"/>
            <a:chExt cx="1595578" cy="304800"/>
          </a:xfrm>
        </p:grpSpPr>
        <p:sp>
          <p:nvSpPr>
            <p:cNvPr id="67" name="Chevron 66"/>
            <p:cNvSpPr/>
            <p:nvPr/>
          </p:nvSpPr>
          <p:spPr>
            <a:xfrm>
              <a:off x="2230005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39CCE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68" name="Oval 67"/>
            <p:cNvSpPr/>
            <p:nvPr/>
          </p:nvSpPr>
          <p:spPr>
            <a:xfrm>
              <a:off x="2984497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sp>
        <p:nvSpPr>
          <p:cNvPr id="69" name="Title 1"/>
          <p:cNvSpPr txBox="1">
            <a:spLocks/>
          </p:cNvSpPr>
          <p:nvPr/>
        </p:nvSpPr>
        <p:spPr>
          <a:xfrm>
            <a:off x="914400" y="279961"/>
            <a:ext cx="10363200" cy="8175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1219170" rtl="0" eaLnBrk="1" latinLnBrk="0" hangingPunct="1">
              <a:lnSpc>
                <a:spcPct val="86000"/>
              </a:lnSpc>
              <a:spcBef>
                <a:spcPct val="0"/>
              </a:spcBef>
              <a:buNone/>
              <a:defRPr sz="2800" kern="800" spc="-53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8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smtClean="0">
                <a:solidFill>
                  <a:srgbClr val="57565A"/>
                </a:solidFill>
                <a:latin typeface="Open Sans Light"/>
              </a:rPr>
              <a:t>Plan</a:t>
            </a:r>
            <a:endParaRPr kumimoji="0" lang="en-US" sz="3600" b="0" i="0" u="none" strike="noStrike" kern="800" cap="none" spc="-53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j-ea"/>
              <a:cs typeface="+mj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1065262" y="3225799"/>
            <a:ext cx="1917700" cy="1917700"/>
          </a:xfrm>
          <a:prstGeom prst="ellipse">
            <a:avLst/>
          </a:prstGeom>
          <a:solidFill>
            <a:srgbClr val="2099D8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3092449" y="3225800"/>
            <a:ext cx="1917700" cy="1917700"/>
          </a:xfrm>
          <a:prstGeom prst="ellipse">
            <a:avLst/>
          </a:prstGeom>
          <a:solidFill>
            <a:srgbClr val="239CC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5119637" y="3225800"/>
            <a:ext cx="1917700" cy="1917700"/>
          </a:xfrm>
          <a:prstGeom prst="ellipse">
            <a:avLst/>
          </a:prstGeom>
          <a:solidFill>
            <a:srgbClr val="27A6C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7146824" y="3225800"/>
            <a:ext cx="1917700" cy="1917700"/>
          </a:xfrm>
          <a:prstGeom prst="ellipse">
            <a:avLst/>
          </a:prstGeom>
          <a:solidFill>
            <a:srgbClr val="25B7AB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9174012" y="3225800"/>
            <a:ext cx="1917700" cy="1917700"/>
          </a:xfrm>
          <a:prstGeom prst="ellipse">
            <a:avLst/>
          </a:prstGeom>
          <a:solidFill>
            <a:srgbClr val="5BBE77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cxnSp>
        <p:nvCxnSpPr>
          <p:cNvPr id="81" name="Straight Connector 80"/>
          <p:cNvCxnSpPr/>
          <p:nvPr/>
        </p:nvCxnSpPr>
        <p:spPr>
          <a:xfrm flipH="1" flipV="1">
            <a:off x="2016223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2099D8"/>
            </a:solidFill>
            <a:prstDash val="solid"/>
          </a:ln>
          <a:effectLst/>
        </p:spPr>
      </p:cxnSp>
      <p:cxnSp>
        <p:nvCxnSpPr>
          <p:cNvPr id="82" name="Straight Connector 81"/>
          <p:cNvCxnSpPr/>
          <p:nvPr/>
        </p:nvCxnSpPr>
        <p:spPr>
          <a:xfrm flipH="1" flipV="1">
            <a:off x="4043409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239CCE"/>
            </a:solidFill>
            <a:prstDash val="solid"/>
          </a:ln>
          <a:effectLst/>
        </p:spPr>
      </p:cxnSp>
      <p:cxnSp>
        <p:nvCxnSpPr>
          <p:cNvPr id="83" name="Straight Connector 82"/>
          <p:cNvCxnSpPr/>
          <p:nvPr/>
        </p:nvCxnSpPr>
        <p:spPr>
          <a:xfrm flipH="1" flipV="1">
            <a:off x="6070597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27A6C2"/>
            </a:solidFill>
            <a:prstDash val="solid"/>
          </a:ln>
          <a:effectLst/>
        </p:spPr>
      </p:cxnSp>
      <p:cxnSp>
        <p:nvCxnSpPr>
          <p:cNvPr id="84" name="Straight Connector 83"/>
          <p:cNvCxnSpPr/>
          <p:nvPr/>
        </p:nvCxnSpPr>
        <p:spPr>
          <a:xfrm flipH="1" flipV="1">
            <a:off x="8097784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5BBE77"/>
            </a:solidFill>
            <a:prstDash val="solid"/>
          </a:ln>
          <a:effectLst/>
        </p:spPr>
      </p:cxnSp>
      <p:cxnSp>
        <p:nvCxnSpPr>
          <p:cNvPr id="85" name="Straight Connector 84"/>
          <p:cNvCxnSpPr/>
          <p:nvPr/>
        </p:nvCxnSpPr>
        <p:spPr>
          <a:xfrm flipH="1" flipV="1">
            <a:off x="10124972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7EC44E"/>
            </a:solidFill>
            <a:prstDash val="solid"/>
          </a:ln>
          <a:effectLst/>
        </p:spPr>
      </p:cxnSp>
      <p:sp>
        <p:nvSpPr>
          <p:cNvPr id="86" name="Rectangle 85"/>
          <p:cNvSpPr/>
          <p:nvPr/>
        </p:nvSpPr>
        <p:spPr>
          <a:xfrm>
            <a:off x="1007534" y="3810252"/>
            <a:ext cx="1985813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sz="2133" dirty="0">
                <a:solidFill>
                  <a:schemeClr val="bg1"/>
                </a:solidFill>
                <a:latin typeface="Open Sans Light"/>
              </a:rPr>
              <a:t>Contexte du projet</a:t>
            </a:r>
            <a:endParaRPr lang="en-US" sz="1467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076669" y="3861051"/>
            <a:ext cx="1985813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sz="2133" dirty="0">
                <a:solidFill>
                  <a:schemeClr val="bg1"/>
                </a:solidFill>
                <a:latin typeface="Open Sans Light"/>
              </a:rPr>
              <a:t>Étude des besoins</a:t>
            </a:r>
            <a:endParaRPr lang="en-US" sz="2133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077689" y="3974368"/>
            <a:ext cx="1985813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sz="2133" dirty="0">
                <a:solidFill>
                  <a:schemeClr val="bg1"/>
                </a:solidFill>
                <a:latin typeface="Open Sans Light"/>
              </a:rPr>
              <a:t>Modélisation</a:t>
            </a:r>
            <a:endParaRPr lang="en-US" sz="2133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7104877" y="3974368"/>
            <a:ext cx="1985813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sz="2133" dirty="0">
                <a:solidFill>
                  <a:schemeClr val="bg1"/>
                </a:solidFill>
                <a:latin typeface="Open Sans Light"/>
              </a:rPr>
              <a:t>Réalisation</a:t>
            </a:r>
            <a:endParaRPr lang="en-US" sz="2133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9147846" y="3810252"/>
            <a:ext cx="1985813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sz="2133" dirty="0">
                <a:solidFill>
                  <a:schemeClr val="bg1"/>
                </a:solidFill>
                <a:latin typeface="Open Sans Light"/>
              </a:rPr>
              <a:t>Conclusion et perspectives</a:t>
            </a:r>
            <a:endParaRPr lang="en-US" sz="2133" dirty="0">
              <a:solidFill>
                <a:schemeClr val="bg1"/>
              </a:solidFill>
              <a:latin typeface="Open Sans Light"/>
            </a:endParaRPr>
          </a:p>
        </p:txBody>
      </p:sp>
      <p:grpSp>
        <p:nvGrpSpPr>
          <p:cNvPr id="91" name="Group 90"/>
          <p:cNvGrpSpPr/>
          <p:nvPr/>
        </p:nvGrpSpPr>
        <p:grpSpPr>
          <a:xfrm>
            <a:off x="952504" y="2311400"/>
            <a:ext cx="2127437" cy="406400"/>
            <a:chOff x="685800" y="1733550"/>
            <a:chExt cx="1595578" cy="304800"/>
          </a:xfrm>
        </p:grpSpPr>
        <p:sp>
          <p:nvSpPr>
            <p:cNvPr id="92" name="Chevron 91"/>
            <p:cNvSpPr/>
            <p:nvPr/>
          </p:nvSpPr>
          <p:spPr>
            <a:xfrm>
              <a:off x="685800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099D8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93" name="Oval 92"/>
            <p:cNvSpPr/>
            <p:nvPr/>
          </p:nvSpPr>
          <p:spPr>
            <a:xfrm>
              <a:off x="1440292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sp useBgFill="1">
        <p:nvSpPr>
          <p:cNvPr id="109" name="Chevron 108"/>
          <p:cNvSpPr/>
          <p:nvPr/>
        </p:nvSpPr>
        <p:spPr bwMode="white">
          <a:xfrm>
            <a:off x="-1036580" y="2254806"/>
            <a:ext cx="2127437" cy="519589"/>
          </a:xfrm>
          <a:prstGeom prst="chevron">
            <a:avLst>
              <a:gd name="adj" fmla="val 32323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81011" y="6356350"/>
            <a:ext cx="5779168" cy="365125"/>
          </a:xfrm>
        </p:spPr>
        <p:txBody>
          <a:bodyPr/>
          <a:lstStyle/>
          <a:p>
            <a:r>
              <a:rPr lang="fr-FR" dirty="0"/>
              <a:t>Conception et réalisation d’un outil intelligent d’aide à la validation des développements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920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9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9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1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1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2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2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decel="666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2" grpId="0" animBg="1"/>
      <p:bldP spid="73" grpId="0" animBg="1"/>
      <p:bldP spid="74" grpId="0" animBg="1"/>
      <p:bldP spid="75" grpId="0" animBg="1"/>
      <p:bldP spid="86" grpId="0"/>
      <p:bldP spid="87" grpId="0"/>
      <p:bldP spid="88" grpId="0"/>
      <p:bldP spid="89" grpId="0"/>
      <p:bldP spid="9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>
            <a:spLocks noGrp="1"/>
          </p:cNvSpPr>
          <p:nvPr>
            <p:ph type="title"/>
          </p:nvPr>
        </p:nvSpPr>
        <p:spPr>
          <a:xfrm>
            <a:off x="838200" y="606269"/>
            <a:ext cx="10515600" cy="726352"/>
          </a:xfrm>
        </p:spPr>
        <p:txBody>
          <a:bodyPr>
            <a:normAutofit/>
          </a:bodyPr>
          <a:lstStyle/>
          <a:p>
            <a:pPr algn="ctr"/>
            <a:r>
              <a:rPr lang="fr-FR" sz="3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Organisme d’accueil</a:t>
            </a:r>
            <a:endParaRPr lang="en-US" sz="36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4232060" y="2126942"/>
            <a:ext cx="3779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Société Générale Africa Technologies &amp; Services</a:t>
            </a:r>
            <a:endParaRPr lang="en-US" sz="1400" dirty="0"/>
          </a:p>
        </p:txBody>
      </p:sp>
      <p:pic>
        <p:nvPicPr>
          <p:cNvPr id="206" name="Picture 20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617" y="1488873"/>
            <a:ext cx="3510406" cy="632645"/>
          </a:xfrm>
          <a:prstGeom prst="rect">
            <a:avLst/>
          </a:prstGeom>
        </p:spPr>
      </p:pic>
      <p:sp>
        <p:nvSpPr>
          <p:cNvPr id="272" name="Date Placeholder 27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273" name="Footer Placeholder 272"/>
          <p:cNvSpPr>
            <a:spLocks noGrp="1"/>
          </p:cNvSpPr>
          <p:nvPr>
            <p:ph type="ftr" sz="quarter" idx="11"/>
          </p:nvPr>
        </p:nvSpPr>
        <p:spPr>
          <a:xfrm>
            <a:off x="3264320" y="6355128"/>
            <a:ext cx="5715000" cy="360765"/>
          </a:xfrm>
        </p:spPr>
        <p:txBody>
          <a:bodyPr/>
          <a:lstStyle/>
          <a:p>
            <a:r>
              <a:rPr lang="fr-FR" dirty="0"/>
              <a:t>Conception et réalisation d’un outil intelligent d’aide à la validation des développements</a:t>
            </a:r>
            <a:endParaRPr lang="en-US" dirty="0"/>
          </a:p>
        </p:txBody>
      </p:sp>
      <p:sp>
        <p:nvSpPr>
          <p:cNvPr id="274" name="Slide Number Placeholder 27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3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412F1515-A18C-4048-A846-4B84472CDB5A}"/>
              </a:ext>
            </a:extLst>
          </p:cNvPr>
          <p:cNvGrpSpPr/>
          <p:nvPr/>
        </p:nvGrpSpPr>
        <p:grpSpPr>
          <a:xfrm>
            <a:off x="0" y="176389"/>
            <a:ext cx="12168000" cy="360000"/>
            <a:chOff x="387926" y="6889"/>
            <a:chExt cx="11804074" cy="1310604"/>
          </a:xfrm>
        </p:grpSpPr>
        <p:sp>
          <p:nvSpPr>
            <p:cNvPr id="24" name="Chevron 43">
              <a:extLst>
                <a:ext uri="{FF2B5EF4-FFF2-40B4-BE49-F238E27FC236}">
                  <a16:creationId xmlns:a16="http://schemas.microsoft.com/office/drawing/2014/main" xmlns="" id="{41CB254E-93D0-42AF-BFAF-F63B2A8C7019}"/>
                </a:ext>
              </a:extLst>
            </p:cNvPr>
            <p:cNvSpPr/>
            <p:nvPr/>
          </p:nvSpPr>
          <p:spPr>
            <a:xfrm>
              <a:off x="3172691" y="161890"/>
              <a:ext cx="2351561" cy="1011382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</a:t>
              </a:r>
              <a:r>
                <a:rPr lang="fr-FR" sz="1400" dirty="0" smtClean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besoins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5" name="Chevron 44">
              <a:extLst>
                <a:ext uri="{FF2B5EF4-FFF2-40B4-BE49-F238E27FC236}">
                  <a16:creationId xmlns:a16="http://schemas.microsoft.com/office/drawing/2014/main" xmlns="" id="{E0209858-6BD4-457A-9324-2DC604E748E5}"/>
                </a:ext>
              </a:extLst>
            </p:cNvPr>
            <p:cNvSpPr/>
            <p:nvPr/>
          </p:nvSpPr>
          <p:spPr>
            <a:xfrm>
              <a:off x="5327072" y="161191"/>
              <a:ext cx="2351562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6" name="Chevron 45">
              <a:extLst>
                <a:ext uri="{FF2B5EF4-FFF2-40B4-BE49-F238E27FC236}">
                  <a16:creationId xmlns:a16="http://schemas.microsoft.com/office/drawing/2014/main" xmlns="" id="{088B7C38-04EB-4F7E-BFF9-FE7BAD76E9AD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7" name="Chevron 46">
              <a:extLst>
                <a:ext uri="{FF2B5EF4-FFF2-40B4-BE49-F238E27FC236}">
                  <a16:creationId xmlns:a16="http://schemas.microsoft.com/office/drawing/2014/main" xmlns="" id="{04008403-EE62-419F-A66F-B260BD2DA1B7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8" name="Chevron 47">
              <a:extLst>
                <a:ext uri="{FF2B5EF4-FFF2-40B4-BE49-F238E27FC236}">
                  <a16:creationId xmlns:a16="http://schemas.microsoft.com/office/drawing/2014/main" xmlns="" id="{68D8E58F-2B7F-4C92-BE50-391FF3CDEC26}"/>
                </a:ext>
              </a:extLst>
            </p:cNvPr>
            <p:cNvSpPr/>
            <p:nvPr/>
          </p:nvSpPr>
          <p:spPr>
            <a:xfrm>
              <a:off x="387926" y="6889"/>
              <a:ext cx="2981943" cy="1310604"/>
            </a:xfrm>
            <a:prstGeom prst="chevron">
              <a:avLst/>
            </a:prstGeom>
            <a:solidFill>
              <a:srgbClr val="20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29" name="Parallelogram 242"/>
          <p:cNvSpPr/>
          <p:nvPr/>
        </p:nvSpPr>
        <p:spPr>
          <a:xfrm rot="5400000" flipV="1">
            <a:off x="9864228" y="3350835"/>
            <a:ext cx="1126908" cy="269817"/>
          </a:xfrm>
          <a:prstGeom prst="parallelogram">
            <a:avLst>
              <a:gd name="adj" fmla="val 66077"/>
            </a:avLst>
          </a:prstGeom>
          <a:solidFill>
            <a:srgbClr val="5BBE77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312223" y="3860946"/>
            <a:ext cx="2887380" cy="1779888"/>
          </a:xfrm>
          <a:prstGeom prst="rect">
            <a:avLst/>
          </a:prstGeom>
          <a:solidFill>
            <a:srgbClr val="57565A">
              <a:alpha val="1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243840" tIns="243840" rIns="243840" bIns="243840" numCol="1" spcCol="1270" anchor="t" anchorCtr="0">
            <a:noAutofit/>
          </a:bodyPr>
          <a:lstStyle/>
          <a:p>
            <a:pPr lvl="0" defTabSz="888978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</a:pPr>
            <a:r>
              <a:rPr lang="fr-FR" sz="2133" kern="0" dirty="0">
                <a:solidFill>
                  <a:srgbClr val="57565A"/>
                </a:solidFill>
                <a:latin typeface="Open Sans Light"/>
              </a:rPr>
              <a:t>Regroupe les activités de la finance du marché du groupe Société Générale</a:t>
            </a:r>
            <a:endParaRPr kumimoji="0" lang="en-US" sz="2133" b="0" i="0" u="none" strike="noStrike" kern="0" cap="none" spc="0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312225" y="2907329"/>
            <a:ext cx="3250363" cy="947952"/>
          </a:xfrm>
          <a:prstGeom prst="rect">
            <a:avLst/>
          </a:prstGeom>
          <a:gradFill>
            <a:gsLst>
              <a:gs pos="0">
                <a:srgbClr val="5BBE77">
                  <a:lumMod val="75000"/>
                </a:srgbClr>
              </a:gs>
              <a:gs pos="32000">
                <a:srgbClr val="5BBE77"/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365760" tIns="304800" rIns="243840" bIns="304800" numCol="1" spcCol="1270" anchor="t" anchorCtr="0">
            <a:spAutoFit/>
          </a:bodyPr>
          <a:lstStyle/>
          <a:p>
            <a:pPr marL="0" marR="0" lvl="0" indent="0" defTabSz="888978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lang="fr-FR" sz="2400" kern="0" noProof="0" dirty="0">
                <a:solidFill>
                  <a:srgbClr val="FFFFFF"/>
                </a:solidFill>
                <a:latin typeface="Open Sans Light"/>
              </a:rPr>
              <a:t>Activité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32" name="Parallelogram 246"/>
          <p:cNvSpPr/>
          <p:nvPr/>
        </p:nvSpPr>
        <p:spPr>
          <a:xfrm rot="5400000" flipV="1">
            <a:off x="6883683" y="3157563"/>
            <a:ext cx="1126907" cy="269817"/>
          </a:xfrm>
          <a:prstGeom prst="parallelogram">
            <a:avLst>
              <a:gd name="adj" fmla="val 66077"/>
            </a:avLst>
          </a:prstGeom>
          <a:solidFill>
            <a:srgbClr val="27A6C2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711263" y="3936936"/>
            <a:ext cx="2892456" cy="1704718"/>
          </a:xfrm>
          <a:prstGeom prst="rect">
            <a:avLst/>
          </a:prstGeom>
          <a:solidFill>
            <a:srgbClr val="57565A">
              <a:alpha val="1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243840" tIns="243840" rIns="243840" bIns="243840" numCol="1" spcCol="1270" anchor="t" anchorCtr="0">
            <a:noAutofit/>
          </a:bodyPr>
          <a:lstStyle/>
          <a:p>
            <a:pPr marL="0" marR="0" lvl="0" indent="0" defTabSz="888978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lang="fr-FR" sz="2133" kern="0" dirty="0" smtClean="0">
                <a:solidFill>
                  <a:srgbClr val="57565A"/>
                </a:solidFill>
                <a:latin typeface="Open Sans Light"/>
              </a:rPr>
              <a:t>2014, Casablanca</a:t>
            </a:r>
            <a:endParaRPr kumimoji="0" lang="en-US" sz="2133" b="0" i="0" u="none" strike="noStrike" kern="0" cap="none" spc="0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36" name="Parallelogram 252"/>
          <p:cNvSpPr/>
          <p:nvPr/>
        </p:nvSpPr>
        <p:spPr>
          <a:xfrm rot="5400000" flipV="1">
            <a:off x="4268506" y="3415082"/>
            <a:ext cx="1126908" cy="269817"/>
          </a:xfrm>
          <a:prstGeom prst="parallelogram">
            <a:avLst>
              <a:gd name="adj" fmla="val 66077"/>
            </a:avLst>
          </a:prstGeom>
          <a:solidFill>
            <a:srgbClr val="2099D8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716504" y="2983244"/>
            <a:ext cx="3250363" cy="947952"/>
          </a:xfrm>
          <a:prstGeom prst="rect">
            <a:avLst/>
          </a:prstGeom>
          <a:solidFill>
            <a:srgbClr val="2099D8"/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243840" tIns="304800" rIns="243840" bIns="304800" numCol="1" spcCol="1270" anchor="t" anchorCtr="0">
            <a:spAutoFit/>
          </a:bodyPr>
          <a:lstStyle/>
          <a:p>
            <a:pPr marL="0" marR="0" lvl="0" indent="0" defTabSz="888978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lang="fr-FR" sz="2400" kern="0" dirty="0">
                <a:solidFill>
                  <a:srgbClr val="FFFFFF"/>
                </a:solidFill>
                <a:latin typeface="Open Sans Light"/>
              </a:rPr>
              <a:t>Création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826769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5967397" y="1759567"/>
            <a:ext cx="91440" cy="363102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28602" y="0"/>
                </a:moveTo>
                <a:lnTo>
                  <a:pt x="128602" y="363102"/>
                </a:lnTo>
                <a:lnTo>
                  <a:pt x="45720" y="363102"/>
                </a:lnTo>
              </a:path>
            </a:pathLst>
          </a:custGeom>
          <a:noFill/>
        </p:spPr>
        <p:style>
          <a:lnRef idx="2">
            <a:schemeClr val="accent6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Freeform 7"/>
          <p:cNvSpPr/>
          <p:nvPr/>
        </p:nvSpPr>
        <p:spPr>
          <a:xfrm>
            <a:off x="6096000" y="1759567"/>
            <a:ext cx="3157866" cy="72620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43322"/>
                </a:lnTo>
                <a:lnTo>
                  <a:pt x="3157866" y="643322"/>
                </a:lnTo>
                <a:lnTo>
                  <a:pt x="3157866" y="726204"/>
                </a:lnTo>
              </a:path>
            </a:pathLst>
          </a:custGeom>
          <a:noFill/>
        </p:spPr>
        <p:style>
          <a:lnRef idx="2">
            <a:schemeClr val="accent6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9" name="Freeform 8"/>
          <p:cNvSpPr/>
          <p:nvPr/>
        </p:nvSpPr>
        <p:spPr>
          <a:xfrm>
            <a:off x="7722501" y="2965508"/>
            <a:ext cx="955117" cy="16576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82882"/>
                </a:lnTo>
                <a:lnTo>
                  <a:pt x="955117" y="82882"/>
                </a:lnTo>
                <a:lnTo>
                  <a:pt x="955117" y="165764"/>
                </a:lnTo>
              </a:path>
            </a:pathLst>
          </a:custGeom>
          <a:noFill/>
        </p:spPr>
        <p:style>
          <a:lnRef idx="2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Freeform 9"/>
          <p:cNvSpPr/>
          <p:nvPr/>
        </p:nvSpPr>
        <p:spPr>
          <a:xfrm>
            <a:off x="7406760" y="3525949"/>
            <a:ext cx="97745" cy="243413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434134"/>
                </a:lnTo>
                <a:lnTo>
                  <a:pt x="97745" y="2434134"/>
                </a:lnTo>
              </a:path>
            </a:pathLst>
          </a:custGeom>
          <a:noFill/>
        </p:spPr>
        <p:style>
          <a:lnRef idx="2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Freeform 10"/>
          <p:cNvSpPr/>
          <p:nvPr/>
        </p:nvSpPr>
        <p:spPr>
          <a:xfrm>
            <a:off x="7406760" y="3525949"/>
            <a:ext cx="118402" cy="187808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878084"/>
                </a:lnTo>
                <a:lnTo>
                  <a:pt x="118402" y="1878084"/>
                </a:lnTo>
              </a:path>
            </a:pathLst>
          </a:custGeom>
          <a:noFill/>
        </p:spPr>
        <p:style>
          <a:lnRef idx="2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Freeform 11"/>
          <p:cNvSpPr/>
          <p:nvPr/>
        </p:nvSpPr>
        <p:spPr>
          <a:xfrm>
            <a:off x="7406760" y="3525949"/>
            <a:ext cx="118402" cy="133835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338354"/>
                </a:lnTo>
                <a:lnTo>
                  <a:pt x="118402" y="1338354"/>
                </a:lnTo>
              </a:path>
            </a:pathLst>
          </a:custGeom>
          <a:noFill/>
        </p:spPr>
        <p:style>
          <a:lnRef idx="2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Freeform 12"/>
          <p:cNvSpPr/>
          <p:nvPr/>
        </p:nvSpPr>
        <p:spPr>
          <a:xfrm>
            <a:off x="7406760" y="3525949"/>
            <a:ext cx="118402" cy="832966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832966"/>
                </a:lnTo>
                <a:lnTo>
                  <a:pt x="118402" y="832966"/>
                </a:lnTo>
              </a:path>
            </a:pathLst>
          </a:custGeom>
          <a:noFill/>
        </p:spPr>
        <p:style>
          <a:lnRef idx="2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Freeform 13"/>
          <p:cNvSpPr/>
          <p:nvPr/>
        </p:nvSpPr>
        <p:spPr>
          <a:xfrm>
            <a:off x="7406760" y="3525949"/>
            <a:ext cx="118402" cy="33590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35909"/>
                </a:lnTo>
                <a:lnTo>
                  <a:pt x="118402" y="335909"/>
                </a:lnTo>
              </a:path>
            </a:pathLst>
          </a:custGeom>
          <a:noFill/>
        </p:spPr>
        <p:style>
          <a:lnRef idx="2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Freeform 14"/>
          <p:cNvSpPr/>
          <p:nvPr/>
        </p:nvSpPr>
        <p:spPr>
          <a:xfrm>
            <a:off x="7676781" y="2965508"/>
            <a:ext cx="91440" cy="16576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45720" y="0"/>
                </a:moveTo>
                <a:lnTo>
                  <a:pt x="45720" y="165764"/>
                </a:lnTo>
              </a:path>
            </a:pathLst>
          </a:custGeom>
          <a:noFill/>
        </p:spPr>
        <p:style>
          <a:lnRef idx="2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6" name="Freeform 15"/>
          <p:cNvSpPr/>
          <p:nvPr/>
        </p:nvSpPr>
        <p:spPr>
          <a:xfrm>
            <a:off x="6767384" y="2965508"/>
            <a:ext cx="955117" cy="16576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955117" y="0"/>
                </a:moveTo>
                <a:lnTo>
                  <a:pt x="955117" y="82882"/>
                </a:lnTo>
                <a:lnTo>
                  <a:pt x="0" y="82882"/>
                </a:lnTo>
                <a:lnTo>
                  <a:pt x="0" y="165764"/>
                </a:lnTo>
              </a:path>
            </a:pathLst>
          </a:custGeom>
          <a:noFill/>
        </p:spPr>
        <p:style>
          <a:lnRef idx="2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Freeform 16"/>
          <p:cNvSpPr/>
          <p:nvPr/>
        </p:nvSpPr>
        <p:spPr>
          <a:xfrm>
            <a:off x="6096000" y="1759567"/>
            <a:ext cx="1626501" cy="72620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43322"/>
                </a:lnTo>
                <a:lnTo>
                  <a:pt x="1626501" y="643322"/>
                </a:lnTo>
                <a:lnTo>
                  <a:pt x="1626501" y="726204"/>
                </a:lnTo>
              </a:path>
            </a:pathLst>
          </a:custGeom>
          <a:noFill/>
        </p:spPr>
        <p:style>
          <a:lnRef idx="2">
            <a:schemeClr val="accent6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8" name="Freeform 17"/>
          <p:cNvSpPr/>
          <p:nvPr/>
        </p:nvSpPr>
        <p:spPr>
          <a:xfrm>
            <a:off x="6050280" y="1759567"/>
            <a:ext cx="91440" cy="72620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45720" y="0"/>
                </a:moveTo>
                <a:lnTo>
                  <a:pt x="45720" y="643322"/>
                </a:lnTo>
                <a:lnTo>
                  <a:pt x="78742" y="643322"/>
                </a:lnTo>
                <a:lnTo>
                  <a:pt x="78742" y="726204"/>
                </a:lnTo>
              </a:path>
            </a:pathLst>
          </a:custGeom>
          <a:noFill/>
        </p:spPr>
        <p:style>
          <a:lnRef idx="2">
            <a:schemeClr val="accent6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Freeform 18"/>
          <p:cNvSpPr/>
          <p:nvPr/>
        </p:nvSpPr>
        <p:spPr>
          <a:xfrm>
            <a:off x="4564635" y="1759567"/>
            <a:ext cx="1531364" cy="72620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531364" y="0"/>
                </a:moveTo>
                <a:lnTo>
                  <a:pt x="1531364" y="643322"/>
                </a:lnTo>
                <a:lnTo>
                  <a:pt x="0" y="643322"/>
                </a:lnTo>
                <a:lnTo>
                  <a:pt x="0" y="726204"/>
                </a:lnTo>
              </a:path>
            </a:pathLst>
          </a:custGeom>
          <a:noFill/>
        </p:spPr>
        <p:style>
          <a:lnRef idx="2">
            <a:schemeClr val="accent6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0" name="Freeform 19"/>
          <p:cNvSpPr/>
          <p:nvPr/>
        </p:nvSpPr>
        <p:spPr>
          <a:xfrm>
            <a:off x="3000247" y="1759567"/>
            <a:ext cx="3095752" cy="72620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3095752" y="0"/>
                </a:moveTo>
                <a:lnTo>
                  <a:pt x="3095752" y="643322"/>
                </a:lnTo>
                <a:lnTo>
                  <a:pt x="0" y="643322"/>
                </a:lnTo>
                <a:lnTo>
                  <a:pt x="0" y="726204"/>
                </a:lnTo>
              </a:path>
            </a:pathLst>
          </a:custGeom>
          <a:noFill/>
        </p:spPr>
        <p:style>
          <a:lnRef idx="2">
            <a:schemeClr val="accent6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1" name="Freeform 20"/>
          <p:cNvSpPr/>
          <p:nvPr/>
        </p:nvSpPr>
        <p:spPr>
          <a:xfrm>
            <a:off x="5559827" y="1364890"/>
            <a:ext cx="1072344" cy="394676"/>
          </a:xfrm>
          <a:custGeom>
            <a:avLst/>
            <a:gdLst>
              <a:gd name="connsiteX0" fmla="*/ 0 w 1072344"/>
              <a:gd name="connsiteY0" fmla="*/ 0 h 394676"/>
              <a:gd name="connsiteX1" fmla="*/ 1072344 w 1072344"/>
              <a:gd name="connsiteY1" fmla="*/ 0 h 394676"/>
              <a:gd name="connsiteX2" fmla="*/ 1072344 w 1072344"/>
              <a:gd name="connsiteY2" fmla="*/ 394676 h 394676"/>
              <a:gd name="connsiteX3" fmla="*/ 0 w 1072344"/>
              <a:gd name="connsiteY3" fmla="*/ 394676 h 394676"/>
              <a:gd name="connsiteX4" fmla="*/ 0 w 1072344"/>
              <a:gd name="connsiteY4" fmla="*/ 0 h 39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2344" h="394676">
                <a:moveTo>
                  <a:pt x="0" y="0"/>
                </a:moveTo>
                <a:lnTo>
                  <a:pt x="1072344" y="0"/>
                </a:lnTo>
                <a:lnTo>
                  <a:pt x="1072344" y="394676"/>
                </a:lnTo>
                <a:lnTo>
                  <a:pt x="0" y="39467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000" b="1" kern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Directeur général</a:t>
            </a:r>
            <a:endParaRPr lang="en-US" sz="1000" b="1" kern="120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2151800" y="2485771"/>
            <a:ext cx="1547760" cy="394677"/>
          </a:xfrm>
          <a:custGeom>
            <a:avLst/>
            <a:gdLst>
              <a:gd name="connsiteX0" fmla="*/ 0 w 1398623"/>
              <a:gd name="connsiteY0" fmla="*/ 0 h 394676"/>
              <a:gd name="connsiteX1" fmla="*/ 1398623 w 1398623"/>
              <a:gd name="connsiteY1" fmla="*/ 0 h 394676"/>
              <a:gd name="connsiteX2" fmla="*/ 1398623 w 1398623"/>
              <a:gd name="connsiteY2" fmla="*/ 394676 h 394676"/>
              <a:gd name="connsiteX3" fmla="*/ 0 w 1398623"/>
              <a:gd name="connsiteY3" fmla="*/ 394676 h 394676"/>
              <a:gd name="connsiteX4" fmla="*/ 0 w 1398623"/>
              <a:gd name="connsiteY4" fmla="*/ 0 h 39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8623" h="394676">
                <a:moveTo>
                  <a:pt x="0" y="0"/>
                </a:moveTo>
                <a:lnTo>
                  <a:pt x="1398623" y="0"/>
                </a:lnTo>
                <a:lnTo>
                  <a:pt x="1398623" y="394676"/>
                </a:lnTo>
                <a:lnTo>
                  <a:pt x="0" y="39467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000" b="1" i="0" u="none" kern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Activités de contrôle et de gestion de risque crédit</a:t>
            </a:r>
            <a:endParaRPr lang="en-US" sz="1000" b="1" i="0" u="none" kern="120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3" name="Freeform 22"/>
          <p:cNvSpPr/>
          <p:nvPr/>
        </p:nvSpPr>
        <p:spPr>
          <a:xfrm>
            <a:off x="3865323" y="2485772"/>
            <a:ext cx="1398623" cy="394676"/>
          </a:xfrm>
          <a:custGeom>
            <a:avLst/>
            <a:gdLst>
              <a:gd name="connsiteX0" fmla="*/ 0 w 1398623"/>
              <a:gd name="connsiteY0" fmla="*/ 0 h 394676"/>
              <a:gd name="connsiteX1" fmla="*/ 1398623 w 1398623"/>
              <a:gd name="connsiteY1" fmla="*/ 0 h 394676"/>
              <a:gd name="connsiteX2" fmla="*/ 1398623 w 1398623"/>
              <a:gd name="connsiteY2" fmla="*/ 394676 h 394676"/>
              <a:gd name="connsiteX3" fmla="*/ 0 w 1398623"/>
              <a:gd name="connsiteY3" fmla="*/ 394676 h 394676"/>
              <a:gd name="connsiteX4" fmla="*/ 0 w 1398623"/>
              <a:gd name="connsiteY4" fmla="*/ 0 h 39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8623" h="394676">
                <a:moveTo>
                  <a:pt x="0" y="0"/>
                </a:moveTo>
                <a:lnTo>
                  <a:pt x="1398623" y="0"/>
                </a:lnTo>
                <a:lnTo>
                  <a:pt x="1398623" y="394676"/>
                </a:lnTo>
                <a:lnTo>
                  <a:pt x="0" y="39467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kern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Business Intelligence</a:t>
            </a:r>
          </a:p>
        </p:txBody>
      </p:sp>
      <p:sp>
        <p:nvSpPr>
          <p:cNvPr id="24" name="Freeform 23"/>
          <p:cNvSpPr/>
          <p:nvPr/>
        </p:nvSpPr>
        <p:spPr>
          <a:xfrm>
            <a:off x="5429710" y="2485772"/>
            <a:ext cx="1398623" cy="394676"/>
          </a:xfrm>
          <a:custGeom>
            <a:avLst/>
            <a:gdLst>
              <a:gd name="connsiteX0" fmla="*/ 0 w 1398623"/>
              <a:gd name="connsiteY0" fmla="*/ 0 h 394676"/>
              <a:gd name="connsiteX1" fmla="*/ 1398623 w 1398623"/>
              <a:gd name="connsiteY1" fmla="*/ 0 h 394676"/>
              <a:gd name="connsiteX2" fmla="*/ 1398623 w 1398623"/>
              <a:gd name="connsiteY2" fmla="*/ 394676 h 394676"/>
              <a:gd name="connsiteX3" fmla="*/ 0 w 1398623"/>
              <a:gd name="connsiteY3" fmla="*/ 394676 h 394676"/>
              <a:gd name="connsiteX4" fmla="*/ 0 w 1398623"/>
              <a:gd name="connsiteY4" fmla="*/ 0 h 39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8623" h="394676">
                <a:moveTo>
                  <a:pt x="0" y="0"/>
                </a:moveTo>
                <a:lnTo>
                  <a:pt x="1398623" y="0"/>
                </a:lnTo>
                <a:lnTo>
                  <a:pt x="1398623" y="394676"/>
                </a:lnTo>
                <a:lnTo>
                  <a:pt x="0" y="39467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000" b="1" kern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Ingénierie financière</a:t>
            </a:r>
            <a:endParaRPr lang="en-US" sz="1000" b="1" kern="120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6994097" y="2485216"/>
            <a:ext cx="1568993" cy="514080"/>
          </a:xfrm>
          <a:custGeom>
            <a:avLst/>
            <a:gdLst>
              <a:gd name="connsiteX0" fmla="*/ 0 w 1456806"/>
              <a:gd name="connsiteY0" fmla="*/ 0 h 394676"/>
              <a:gd name="connsiteX1" fmla="*/ 1456806 w 1456806"/>
              <a:gd name="connsiteY1" fmla="*/ 0 h 394676"/>
              <a:gd name="connsiteX2" fmla="*/ 1456806 w 1456806"/>
              <a:gd name="connsiteY2" fmla="*/ 394676 h 394676"/>
              <a:gd name="connsiteX3" fmla="*/ 0 w 1456806"/>
              <a:gd name="connsiteY3" fmla="*/ 394676 h 394676"/>
              <a:gd name="connsiteX4" fmla="*/ 0 w 1456806"/>
              <a:gd name="connsiteY4" fmla="*/ 0 h 39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6806" h="394676">
                <a:moveTo>
                  <a:pt x="0" y="0"/>
                </a:moveTo>
                <a:lnTo>
                  <a:pt x="1456806" y="0"/>
                </a:lnTo>
                <a:lnTo>
                  <a:pt x="1456806" y="394676"/>
                </a:lnTo>
                <a:lnTo>
                  <a:pt x="0" y="394676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300" b="1" kern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Recherche et développement</a:t>
            </a:r>
            <a:endParaRPr lang="en-US" sz="1300" b="1" kern="120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6372707" y="3131272"/>
            <a:ext cx="789353" cy="394676"/>
          </a:xfrm>
          <a:custGeom>
            <a:avLst/>
            <a:gdLst>
              <a:gd name="connsiteX0" fmla="*/ 0 w 789353"/>
              <a:gd name="connsiteY0" fmla="*/ 0 h 394676"/>
              <a:gd name="connsiteX1" fmla="*/ 789353 w 789353"/>
              <a:gd name="connsiteY1" fmla="*/ 0 h 394676"/>
              <a:gd name="connsiteX2" fmla="*/ 789353 w 789353"/>
              <a:gd name="connsiteY2" fmla="*/ 394676 h 394676"/>
              <a:gd name="connsiteX3" fmla="*/ 0 w 789353"/>
              <a:gd name="connsiteY3" fmla="*/ 394676 h 394676"/>
              <a:gd name="connsiteX4" fmla="*/ 0 w 789353"/>
              <a:gd name="connsiteY4" fmla="*/ 0 h 39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9353" h="394676">
                <a:moveTo>
                  <a:pt x="0" y="0"/>
                </a:moveTo>
                <a:lnTo>
                  <a:pt x="789353" y="0"/>
                </a:lnTo>
                <a:lnTo>
                  <a:pt x="789353" y="394676"/>
                </a:lnTo>
                <a:lnTo>
                  <a:pt x="0" y="39467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000" b="1" kern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QUANT</a:t>
            </a:r>
            <a:endParaRPr lang="en-US" sz="1000" b="1" kern="120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7327825" y="3131272"/>
            <a:ext cx="789353" cy="394676"/>
          </a:xfrm>
          <a:custGeom>
            <a:avLst/>
            <a:gdLst>
              <a:gd name="connsiteX0" fmla="*/ 0 w 789353"/>
              <a:gd name="connsiteY0" fmla="*/ 0 h 394676"/>
              <a:gd name="connsiteX1" fmla="*/ 789353 w 789353"/>
              <a:gd name="connsiteY1" fmla="*/ 0 h 394676"/>
              <a:gd name="connsiteX2" fmla="*/ 789353 w 789353"/>
              <a:gd name="connsiteY2" fmla="*/ 394676 h 394676"/>
              <a:gd name="connsiteX3" fmla="*/ 0 w 789353"/>
              <a:gd name="connsiteY3" fmla="*/ 394676 h 394676"/>
              <a:gd name="connsiteX4" fmla="*/ 0 w 789353"/>
              <a:gd name="connsiteY4" fmla="*/ 0 h 39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9353" h="394676">
                <a:moveTo>
                  <a:pt x="0" y="0"/>
                </a:moveTo>
                <a:lnTo>
                  <a:pt x="789353" y="0"/>
                </a:lnTo>
                <a:lnTo>
                  <a:pt x="789353" y="394676"/>
                </a:lnTo>
                <a:lnTo>
                  <a:pt x="0" y="394676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300" b="1" kern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SET</a:t>
            </a:r>
          </a:p>
        </p:txBody>
      </p:sp>
      <p:sp>
        <p:nvSpPr>
          <p:cNvPr id="28" name="Freeform 27"/>
          <p:cNvSpPr/>
          <p:nvPr/>
        </p:nvSpPr>
        <p:spPr>
          <a:xfrm>
            <a:off x="7525163" y="3691713"/>
            <a:ext cx="1075146" cy="340290"/>
          </a:xfrm>
          <a:custGeom>
            <a:avLst/>
            <a:gdLst>
              <a:gd name="connsiteX0" fmla="*/ 0 w 1075146"/>
              <a:gd name="connsiteY0" fmla="*/ 0 h 340290"/>
              <a:gd name="connsiteX1" fmla="*/ 1075146 w 1075146"/>
              <a:gd name="connsiteY1" fmla="*/ 0 h 340290"/>
              <a:gd name="connsiteX2" fmla="*/ 1075146 w 1075146"/>
              <a:gd name="connsiteY2" fmla="*/ 340290 h 340290"/>
              <a:gd name="connsiteX3" fmla="*/ 0 w 1075146"/>
              <a:gd name="connsiteY3" fmla="*/ 340290 h 340290"/>
              <a:gd name="connsiteX4" fmla="*/ 0 w 1075146"/>
              <a:gd name="connsiteY4" fmla="*/ 0 h 340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146" h="340290">
                <a:moveTo>
                  <a:pt x="0" y="0"/>
                </a:moveTo>
                <a:lnTo>
                  <a:pt x="1075146" y="0"/>
                </a:lnTo>
                <a:lnTo>
                  <a:pt x="1075146" y="340290"/>
                </a:lnTo>
                <a:lnTo>
                  <a:pt x="0" y="34029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000" b="1" kern="120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Highway</a:t>
            </a:r>
            <a:endParaRPr lang="en-US" sz="1000" b="1" kern="120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7525163" y="4197768"/>
            <a:ext cx="1056714" cy="322296"/>
          </a:xfrm>
          <a:custGeom>
            <a:avLst/>
            <a:gdLst>
              <a:gd name="connsiteX0" fmla="*/ 0 w 1056714"/>
              <a:gd name="connsiteY0" fmla="*/ 0 h 322296"/>
              <a:gd name="connsiteX1" fmla="*/ 1056714 w 1056714"/>
              <a:gd name="connsiteY1" fmla="*/ 0 h 322296"/>
              <a:gd name="connsiteX2" fmla="*/ 1056714 w 1056714"/>
              <a:gd name="connsiteY2" fmla="*/ 322296 h 322296"/>
              <a:gd name="connsiteX3" fmla="*/ 0 w 1056714"/>
              <a:gd name="connsiteY3" fmla="*/ 322296 h 322296"/>
              <a:gd name="connsiteX4" fmla="*/ 0 w 1056714"/>
              <a:gd name="connsiteY4" fmla="*/ 0 h 322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6714" h="322296">
                <a:moveTo>
                  <a:pt x="0" y="0"/>
                </a:moveTo>
                <a:lnTo>
                  <a:pt x="1056714" y="0"/>
                </a:lnTo>
                <a:lnTo>
                  <a:pt x="1056714" y="322296"/>
                </a:lnTo>
                <a:lnTo>
                  <a:pt x="0" y="32229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000" b="1" kern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RDWS</a:t>
            </a:r>
            <a:endParaRPr lang="en-US" sz="1000" b="1" kern="120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7525163" y="4685829"/>
            <a:ext cx="1037928" cy="356949"/>
          </a:xfrm>
          <a:custGeom>
            <a:avLst/>
            <a:gdLst>
              <a:gd name="connsiteX0" fmla="*/ 0 w 1037928"/>
              <a:gd name="connsiteY0" fmla="*/ 0 h 356949"/>
              <a:gd name="connsiteX1" fmla="*/ 1037928 w 1037928"/>
              <a:gd name="connsiteY1" fmla="*/ 0 h 356949"/>
              <a:gd name="connsiteX2" fmla="*/ 1037928 w 1037928"/>
              <a:gd name="connsiteY2" fmla="*/ 356949 h 356949"/>
              <a:gd name="connsiteX3" fmla="*/ 0 w 1037928"/>
              <a:gd name="connsiteY3" fmla="*/ 356949 h 356949"/>
              <a:gd name="connsiteX4" fmla="*/ 0 w 1037928"/>
              <a:gd name="connsiteY4" fmla="*/ 0 h 356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7928" h="356949">
                <a:moveTo>
                  <a:pt x="0" y="0"/>
                </a:moveTo>
                <a:lnTo>
                  <a:pt x="1037928" y="0"/>
                </a:lnTo>
                <a:lnTo>
                  <a:pt x="1037928" y="356949"/>
                </a:lnTo>
                <a:lnTo>
                  <a:pt x="0" y="356949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000" b="1" kern="120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CloudOps</a:t>
            </a:r>
            <a:endParaRPr lang="en-US" sz="1000" b="1" kern="120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7525163" y="5208542"/>
            <a:ext cx="1048797" cy="390982"/>
          </a:xfrm>
          <a:custGeom>
            <a:avLst/>
            <a:gdLst>
              <a:gd name="connsiteX0" fmla="*/ 0 w 1048797"/>
              <a:gd name="connsiteY0" fmla="*/ 0 h 390982"/>
              <a:gd name="connsiteX1" fmla="*/ 1048797 w 1048797"/>
              <a:gd name="connsiteY1" fmla="*/ 0 h 390982"/>
              <a:gd name="connsiteX2" fmla="*/ 1048797 w 1048797"/>
              <a:gd name="connsiteY2" fmla="*/ 390982 h 390982"/>
              <a:gd name="connsiteX3" fmla="*/ 0 w 1048797"/>
              <a:gd name="connsiteY3" fmla="*/ 390982 h 390982"/>
              <a:gd name="connsiteX4" fmla="*/ 0 w 1048797"/>
              <a:gd name="connsiteY4" fmla="*/ 0 h 390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97" h="390982">
                <a:moveTo>
                  <a:pt x="0" y="0"/>
                </a:moveTo>
                <a:lnTo>
                  <a:pt x="1048797" y="0"/>
                </a:lnTo>
                <a:lnTo>
                  <a:pt x="1048797" y="390982"/>
                </a:lnTo>
                <a:lnTo>
                  <a:pt x="0" y="39098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000" b="1" kern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Applicative UX</a:t>
            </a:r>
            <a:endParaRPr lang="en-US" sz="1000" b="1" kern="120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7504505" y="5773995"/>
            <a:ext cx="1083884" cy="372176"/>
          </a:xfrm>
          <a:custGeom>
            <a:avLst/>
            <a:gdLst>
              <a:gd name="connsiteX0" fmla="*/ 0 w 1083884"/>
              <a:gd name="connsiteY0" fmla="*/ 0 h 372176"/>
              <a:gd name="connsiteX1" fmla="*/ 1083884 w 1083884"/>
              <a:gd name="connsiteY1" fmla="*/ 0 h 372176"/>
              <a:gd name="connsiteX2" fmla="*/ 1083884 w 1083884"/>
              <a:gd name="connsiteY2" fmla="*/ 372176 h 372176"/>
              <a:gd name="connsiteX3" fmla="*/ 0 w 1083884"/>
              <a:gd name="connsiteY3" fmla="*/ 372176 h 372176"/>
              <a:gd name="connsiteX4" fmla="*/ 0 w 1083884"/>
              <a:gd name="connsiteY4" fmla="*/ 0 h 372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3884" h="372176">
                <a:moveTo>
                  <a:pt x="0" y="0"/>
                </a:moveTo>
                <a:lnTo>
                  <a:pt x="1083884" y="0"/>
                </a:lnTo>
                <a:lnTo>
                  <a:pt x="1083884" y="372176"/>
                </a:lnTo>
                <a:lnTo>
                  <a:pt x="0" y="372176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300" b="1" kern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INFRA</a:t>
            </a:r>
            <a:endParaRPr lang="en-US" sz="1300" b="1" kern="120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8282942" y="3131272"/>
            <a:ext cx="789353" cy="394676"/>
          </a:xfrm>
          <a:custGeom>
            <a:avLst/>
            <a:gdLst>
              <a:gd name="connsiteX0" fmla="*/ 0 w 789353"/>
              <a:gd name="connsiteY0" fmla="*/ 0 h 394676"/>
              <a:gd name="connsiteX1" fmla="*/ 789353 w 789353"/>
              <a:gd name="connsiteY1" fmla="*/ 0 h 394676"/>
              <a:gd name="connsiteX2" fmla="*/ 789353 w 789353"/>
              <a:gd name="connsiteY2" fmla="*/ 394676 h 394676"/>
              <a:gd name="connsiteX3" fmla="*/ 0 w 789353"/>
              <a:gd name="connsiteY3" fmla="*/ 394676 h 394676"/>
              <a:gd name="connsiteX4" fmla="*/ 0 w 789353"/>
              <a:gd name="connsiteY4" fmla="*/ 0 h 39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9353" h="394676">
                <a:moveTo>
                  <a:pt x="0" y="0"/>
                </a:moveTo>
                <a:lnTo>
                  <a:pt x="789353" y="0"/>
                </a:lnTo>
                <a:lnTo>
                  <a:pt x="789353" y="394676"/>
                </a:lnTo>
                <a:lnTo>
                  <a:pt x="0" y="39467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kern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QARM</a:t>
            </a:r>
          </a:p>
        </p:txBody>
      </p:sp>
      <p:sp>
        <p:nvSpPr>
          <p:cNvPr id="34" name="Freeform 33"/>
          <p:cNvSpPr/>
          <p:nvPr/>
        </p:nvSpPr>
        <p:spPr>
          <a:xfrm>
            <a:off x="8616669" y="2485772"/>
            <a:ext cx="1274394" cy="394676"/>
          </a:xfrm>
          <a:custGeom>
            <a:avLst/>
            <a:gdLst>
              <a:gd name="connsiteX0" fmla="*/ 0 w 1274394"/>
              <a:gd name="connsiteY0" fmla="*/ 0 h 394676"/>
              <a:gd name="connsiteX1" fmla="*/ 1274394 w 1274394"/>
              <a:gd name="connsiteY1" fmla="*/ 0 h 394676"/>
              <a:gd name="connsiteX2" fmla="*/ 1274394 w 1274394"/>
              <a:gd name="connsiteY2" fmla="*/ 394676 h 394676"/>
              <a:gd name="connsiteX3" fmla="*/ 0 w 1274394"/>
              <a:gd name="connsiteY3" fmla="*/ 394676 h 394676"/>
              <a:gd name="connsiteX4" fmla="*/ 0 w 1274394"/>
              <a:gd name="connsiteY4" fmla="*/ 0 h 39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4394" h="394676">
                <a:moveTo>
                  <a:pt x="0" y="0"/>
                </a:moveTo>
                <a:lnTo>
                  <a:pt x="1274394" y="0"/>
                </a:lnTo>
                <a:lnTo>
                  <a:pt x="1274394" y="394676"/>
                </a:lnTo>
                <a:lnTo>
                  <a:pt x="0" y="39467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000" b="1" i="0" u="none" kern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Activité de gestion de processus</a:t>
            </a:r>
            <a:endParaRPr lang="en-US" sz="1000" b="1" u="none" kern="120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4702894" y="1984116"/>
            <a:ext cx="1310223" cy="277106"/>
          </a:xfrm>
          <a:custGeom>
            <a:avLst/>
            <a:gdLst>
              <a:gd name="connsiteX0" fmla="*/ 0 w 1310223"/>
              <a:gd name="connsiteY0" fmla="*/ 0 h 277106"/>
              <a:gd name="connsiteX1" fmla="*/ 1310223 w 1310223"/>
              <a:gd name="connsiteY1" fmla="*/ 0 h 277106"/>
              <a:gd name="connsiteX2" fmla="*/ 1310223 w 1310223"/>
              <a:gd name="connsiteY2" fmla="*/ 277106 h 277106"/>
              <a:gd name="connsiteX3" fmla="*/ 0 w 1310223"/>
              <a:gd name="connsiteY3" fmla="*/ 277106 h 277106"/>
              <a:gd name="connsiteX4" fmla="*/ 0 w 1310223"/>
              <a:gd name="connsiteY4" fmla="*/ 0 h 277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10223" h="277106">
                <a:moveTo>
                  <a:pt x="0" y="0"/>
                </a:moveTo>
                <a:lnTo>
                  <a:pt x="1310223" y="0"/>
                </a:lnTo>
                <a:lnTo>
                  <a:pt x="1310223" y="277106"/>
                </a:lnTo>
                <a:lnTo>
                  <a:pt x="0" y="277106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fr-FR" sz="1000" b="1" kern="120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Chief</a:t>
            </a:r>
            <a:r>
              <a:rPr lang="fr-FR" sz="1000" b="1" kern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operating </a:t>
            </a:r>
            <a:r>
              <a:rPr lang="fr-FR" sz="1000" b="1" kern="120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officer</a:t>
            </a:r>
            <a:endParaRPr lang="en-US" sz="1000" b="1" kern="120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9" name="Date Placeholder 4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50" name="Footer Placeholder 49"/>
          <p:cNvSpPr>
            <a:spLocks noGrp="1"/>
          </p:cNvSpPr>
          <p:nvPr>
            <p:ph type="ftr" sz="quarter" idx="11"/>
          </p:nvPr>
        </p:nvSpPr>
        <p:spPr>
          <a:xfrm>
            <a:off x="2925679" y="6356350"/>
            <a:ext cx="6340642" cy="365125"/>
          </a:xfrm>
        </p:spPr>
        <p:txBody>
          <a:bodyPr/>
          <a:lstStyle/>
          <a:p>
            <a:r>
              <a:rPr lang="fr-FR" dirty="0"/>
              <a:t>Conception et réalisation d’un outil intelligent d’aide à la validation des développements</a:t>
            </a:r>
            <a:endParaRPr lang="en-US" dirty="0"/>
          </a:p>
        </p:txBody>
      </p:sp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4</a:t>
            </a:fld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F57358D9-FC39-4A57-8A04-8307F82BF3E0}"/>
              </a:ext>
            </a:extLst>
          </p:cNvPr>
          <p:cNvGrpSpPr/>
          <p:nvPr/>
        </p:nvGrpSpPr>
        <p:grpSpPr>
          <a:xfrm>
            <a:off x="0" y="0"/>
            <a:ext cx="12168000" cy="360000"/>
            <a:chOff x="387926" y="6889"/>
            <a:chExt cx="11804074" cy="1310604"/>
          </a:xfrm>
        </p:grpSpPr>
        <p:sp>
          <p:nvSpPr>
            <p:cNvPr id="42" name="Chevron 43">
              <a:extLst>
                <a:ext uri="{FF2B5EF4-FFF2-40B4-BE49-F238E27FC236}">
                  <a16:creationId xmlns:a16="http://schemas.microsoft.com/office/drawing/2014/main" xmlns="" id="{E28A5FA0-54D4-4455-A438-399E53314D1C}"/>
                </a:ext>
              </a:extLst>
            </p:cNvPr>
            <p:cNvSpPr/>
            <p:nvPr/>
          </p:nvSpPr>
          <p:spPr>
            <a:xfrm>
              <a:off x="3172691" y="161889"/>
              <a:ext cx="2351561" cy="1011383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2" name="Chevron 44">
              <a:extLst>
                <a:ext uri="{FF2B5EF4-FFF2-40B4-BE49-F238E27FC236}">
                  <a16:creationId xmlns:a16="http://schemas.microsoft.com/office/drawing/2014/main" xmlns="" id="{55E5674B-82C8-41AA-B31D-8B16DC9BFF62}"/>
                </a:ext>
              </a:extLst>
            </p:cNvPr>
            <p:cNvSpPr/>
            <p:nvPr/>
          </p:nvSpPr>
          <p:spPr>
            <a:xfrm>
              <a:off x="5327072" y="161191"/>
              <a:ext cx="2351562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3" name="Chevron 45">
              <a:extLst>
                <a:ext uri="{FF2B5EF4-FFF2-40B4-BE49-F238E27FC236}">
                  <a16:creationId xmlns:a16="http://schemas.microsoft.com/office/drawing/2014/main" xmlns="" id="{8AF1A55E-D9BC-4F4E-A3BE-1A124C6C629F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4" name="Chevron 46">
              <a:extLst>
                <a:ext uri="{FF2B5EF4-FFF2-40B4-BE49-F238E27FC236}">
                  <a16:creationId xmlns:a16="http://schemas.microsoft.com/office/drawing/2014/main" xmlns="" id="{BE638438-6380-413A-9F89-97C62A95DE08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5" name="Chevron 47">
              <a:extLst>
                <a:ext uri="{FF2B5EF4-FFF2-40B4-BE49-F238E27FC236}">
                  <a16:creationId xmlns:a16="http://schemas.microsoft.com/office/drawing/2014/main" xmlns="" id="{2A311CFF-1665-4DFD-AB1E-BB50BCC3C219}"/>
                </a:ext>
              </a:extLst>
            </p:cNvPr>
            <p:cNvSpPr/>
            <p:nvPr/>
          </p:nvSpPr>
          <p:spPr>
            <a:xfrm>
              <a:off x="387926" y="6889"/>
              <a:ext cx="2981943" cy="1310604"/>
            </a:xfrm>
            <a:prstGeom prst="chevron">
              <a:avLst/>
            </a:prstGeom>
            <a:solidFill>
              <a:srgbClr val="20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31889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Mise en situation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746758" y="2288437"/>
            <a:ext cx="890173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just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Dépôt</a:t>
            </a:r>
            <a:r>
              <a:rPr lang="en-US" sz="2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central avec </a:t>
            </a:r>
            <a:r>
              <a:rPr lang="en-US" sz="24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+2 Go </a:t>
            </a:r>
            <a:r>
              <a:rPr lang="en-US" sz="2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du code et </a:t>
            </a:r>
            <a:r>
              <a:rPr lang="en-US" sz="24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+1300 </a:t>
            </a:r>
            <a:r>
              <a:rPr lang="en-US" sz="2400" b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projets</a:t>
            </a:r>
            <a:r>
              <a:rPr lang="en-US" sz="2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fr-FR" sz="2400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dirty="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Serveur</a:t>
            </a:r>
            <a:r>
              <a:rPr lang="en-US" sz="2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sz="2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d’intégration</a:t>
            </a:r>
            <a:r>
              <a:rPr lang="en-US" sz="2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continue avec  </a:t>
            </a:r>
            <a:r>
              <a:rPr lang="en-US" sz="24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+100 000 tests </a:t>
            </a:r>
            <a:r>
              <a:rPr lang="fr-FR" sz="24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répartis </a:t>
            </a:r>
            <a:r>
              <a:rPr lang="fr-FR" sz="2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en +60 BuildConfig</a:t>
            </a:r>
            <a:r>
              <a:rPr lang="en-US" sz="2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042" y="1829174"/>
            <a:ext cx="1286068" cy="128606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050" y="4237516"/>
            <a:ext cx="746569" cy="74656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042" y="1620675"/>
            <a:ext cx="1057329" cy="42752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2677" y="3945007"/>
            <a:ext cx="1073224" cy="282686"/>
          </a:xfrm>
          <a:prstGeom prst="rect">
            <a:avLst/>
          </a:prstGeom>
        </p:spPr>
      </p:pic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>
          <a:xfrm>
            <a:off x="3458386" y="6356350"/>
            <a:ext cx="5715000" cy="365125"/>
          </a:xfrm>
        </p:spPr>
        <p:txBody>
          <a:bodyPr/>
          <a:lstStyle/>
          <a:p>
            <a:r>
              <a:rPr lang="fr-FR" dirty="0"/>
              <a:t>Conception et réalisation d’un outil intelligent d’aide à la validation des développements</a:t>
            </a:r>
            <a:endParaRPr lang="en-US" dirty="0"/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5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A0695FE2-4AB4-4455-9C23-269A4AE9230F}"/>
              </a:ext>
            </a:extLst>
          </p:cNvPr>
          <p:cNvGrpSpPr/>
          <p:nvPr/>
        </p:nvGrpSpPr>
        <p:grpSpPr>
          <a:xfrm>
            <a:off x="0" y="0"/>
            <a:ext cx="12168000" cy="360000"/>
            <a:chOff x="387926" y="6889"/>
            <a:chExt cx="11804074" cy="1310604"/>
          </a:xfrm>
        </p:grpSpPr>
        <p:sp>
          <p:nvSpPr>
            <p:cNvPr id="28" name="Chevron 43">
              <a:extLst>
                <a:ext uri="{FF2B5EF4-FFF2-40B4-BE49-F238E27FC236}">
                  <a16:creationId xmlns:a16="http://schemas.microsoft.com/office/drawing/2014/main" xmlns="" id="{A4D2FF39-7092-4316-A963-B9813FDDCBD2}"/>
                </a:ext>
              </a:extLst>
            </p:cNvPr>
            <p:cNvSpPr/>
            <p:nvPr/>
          </p:nvSpPr>
          <p:spPr>
            <a:xfrm>
              <a:off x="3172691" y="161889"/>
              <a:ext cx="2351561" cy="1011383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9" name="Chevron 44">
              <a:extLst>
                <a:ext uri="{FF2B5EF4-FFF2-40B4-BE49-F238E27FC236}">
                  <a16:creationId xmlns:a16="http://schemas.microsoft.com/office/drawing/2014/main" xmlns="" id="{501EF880-AFCC-4651-BAA1-D0B65C93CFD9}"/>
                </a:ext>
              </a:extLst>
            </p:cNvPr>
            <p:cNvSpPr/>
            <p:nvPr/>
          </p:nvSpPr>
          <p:spPr>
            <a:xfrm>
              <a:off x="5327072" y="161191"/>
              <a:ext cx="2351562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30" name="Chevron 45">
              <a:extLst>
                <a:ext uri="{FF2B5EF4-FFF2-40B4-BE49-F238E27FC236}">
                  <a16:creationId xmlns:a16="http://schemas.microsoft.com/office/drawing/2014/main" xmlns="" id="{B15308E8-4930-4669-8DE0-B7AE41EAB2CB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31" name="Chevron 46">
              <a:extLst>
                <a:ext uri="{FF2B5EF4-FFF2-40B4-BE49-F238E27FC236}">
                  <a16:creationId xmlns:a16="http://schemas.microsoft.com/office/drawing/2014/main" xmlns="" id="{CE40061A-EC3F-417F-B021-4A1448F92372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32" name="Chevron 47">
              <a:extLst>
                <a:ext uri="{FF2B5EF4-FFF2-40B4-BE49-F238E27FC236}">
                  <a16:creationId xmlns:a16="http://schemas.microsoft.com/office/drawing/2014/main" xmlns="" id="{90B941EA-F144-4164-90CB-3B4A1D583123}"/>
                </a:ext>
              </a:extLst>
            </p:cNvPr>
            <p:cNvSpPr/>
            <p:nvPr/>
          </p:nvSpPr>
          <p:spPr>
            <a:xfrm>
              <a:off x="387926" y="6889"/>
              <a:ext cx="2981943" cy="1310604"/>
            </a:xfrm>
            <a:prstGeom prst="chevron">
              <a:avLst/>
            </a:prstGeom>
            <a:solidFill>
              <a:srgbClr val="20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6558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631111" y="1624474"/>
            <a:ext cx="2473645" cy="3372809"/>
            <a:chOff x="9728497" y="1865988"/>
            <a:chExt cx="2369751" cy="3372809"/>
          </a:xfrm>
        </p:grpSpPr>
        <p:sp>
          <p:nvSpPr>
            <p:cNvPr id="8" name="Rectangle 7"/>
            <p:cNvSpPr/>
            <p:nvPr/>
          </p:nvSpPr>
          <p:spPr>
            <a:xfrm>
              <a:off x="9728497" y="1865988"/>
              <a:ext cx="2363091" cy="3372809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1">
                <a:lnSpc>
                  <a:spcPct val="150000"/>
                </a:lnSpc>
              </a:pPr>
              <a:r>
                <a:rPr lang="fr-FR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PerimeterAUnitTests</a:t>
              </a: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PerimeterBUnitTests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PerimeterCUnitTests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PerimeterACodeAnalysis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PerimeterBCodeAnalysis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PerimeterCCodeCoverage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PerimeterACodeCoverage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PerimeterBCodeCoverage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PerimeterCCodeCoverage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DeadCodeChecker</a:t>
              </a: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ThreadSafetyChecker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…</a:t>
              </a:r>
              <a:endParaRPr lang="en-US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 flipV="1">
              <a:off x="9729952" y="21791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9729952" y="24585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9729952" y="27379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9729952" y="30173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9729952" y="32840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9729952" y="35634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9729952" y="38428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9729952" y="41095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9729952" y="43889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9729952" y="46556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9729952" y="49350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622" y="4746284"/>
            <a:ext cx="1002995" cy="100299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385" y="771192"/>
            <a:ext cx="1195468" cy="119546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562" y="2762549"/>
            <a:ext cx="839470" cy="83947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05706" y="1891081"/>
            <a:ext cx="1721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Dépôt central du code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38286" y="3603651"/>
            <a:ext cx="2445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Serveur </a:t>
            </a:r>
          </a:p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d’intégration continue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858" y="4970361"/>
            <a:ext cx="896521" cy="89652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408954" y="1021602"/>
            <a:ext cx="3313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Exécuter les tests automatisés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29880" y="5080045"/>
            <a:ext cx="2560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Notifier le développeur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4944" y="4192753"/>
            <a:ext cx="167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Changement du code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34299" y="2315462"/>
            <a:ext cx="1717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~3 heures</a:t>
            </a:r>
            <a:endParaRPr lang="en-US" sz="2400" b="1" dirty="0"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47" y="1942397"/>
            <a:ext cx="266700" cy="2667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023" y="2215872"/>
            <a:ext cx="266700" cy="2667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6926" y="2492331"/>
            <a:ext cx="266700" cy="2667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023" y="2774198"/>
            <a:ext cx="266700" cy="2667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023" y="3053232"/>
            <a:ext cx="266700" cy="2667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39" y="1669409"/>
            <a:ext cx="266700" cy="26670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311" y="3332889"/>
            <a:ext cx="266700" cy="26670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47" y="3612910"/>
            <a:ext cx="266700" cy="26670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47" y="3892568"/>
            <a:ext cx="266700" cy="26670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947" y="4172460"/>
            <a:ext cx="266700" cy="26670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023" y="4451422"/>
            <a:ext cx="266700" cy="266700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311" y="4730513"/>
            <a:ext cx="266700" cy="26670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387" y="1669339"/>
            <a:ext cx="273656" cy="273656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88" y="1945923"/>
            <a:ext cx="273656" cy="273656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803" y="2226002"/>
            <a:ext cx="273656" cy="273656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3" y="2781654"/>
            <a:ext cx="273656" cy="273656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88" y="2503418"/>
            <a:ext cx="273656" cy="273656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3" y="4703465"/>
            <a:ext cx="273656" cy="273656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290" y="3323722"/>
            <a:ext cx="273656" cy="27365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3" y="3054663"/>
            <a:ext cx="273656" cy="273656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3" y="4420500"/>
            <a:ext cx="273656" cy="273656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583" y="3600292"/>
            <a:ext cx="273656" cy="273656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583" y="4146437"/>
            <a:ext cx="273656" cy="273656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246" y="3867893"/>
            <a:ext cx="273656" cy="273656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55" y="1278168"/>
            <a:ext cx="1076252" cy="435180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028" y="4192753"/>
            <a:ext cx="1138567" cy="299896"/>
          </a:xfrm>
          <a:prstGeom prst="rect">
            <a:avLst/>
          </a:prstGeom>
        </p:spPr>
      </p:pic>
      <p:cxnSp>
        <p:nvCxnSpPr>
          <p:cNvPr id="57" name="Elbow Connector 56"/>
          <p:cNvCxnSpPr/>
          <p:nvPr/>
        </p:nvCxnSpPr>
        <p:spPr>
          <a:xfrm rot="10800000" flipV="1">
            <a:off x="3340935" y="3269309"/>
            <a:ext cx="4462701" cy="2223216"/>
          </a:xfrm>
          <a:prstGeom prst="bentConnector3">
            <a:avLst>
              <a:gd name="adj1" fmla="val 24388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8" name="Elbow Connector 57"/>
          <p:cNvCxnSpPr/>
          <p:nvPr/>
        </p:nvCxnSpPr>
        <p:spPr>
          <a:xfrm>
            <a:off x="3333179" y="1434083"/>
            <a:ext cx="4470457" cy="1634421"/>
          </a:xfrm>
          <a:prstGeom prst="bentConnector3">
            <a:avLst>
              <a:gd name="adj1" fmla="val 75478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0184375" y="1263415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Continuous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234803" y="4163986"/>
            <a:ext cx="774843" cy="4579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file1</a:t>
            </a:r>
            <a:r>
              <a:rPr lang="fr-FR" sz="1200" dirty="0">
                <a:solidFill>
                  <a:srgbClr val="00B050"/>
                </a:solidFill>
              </a:rPr>
              <a:t> ++</a:t>
            </a:r>
            <a:r>
              <a:rPr lang="fr-FR" sz="1200" dirty="0">
                <a:solidFill>
                  <a:srgbClr val="FF0000"/>
                </a:solidFill>
              </a:rPr>
              <a:t>--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file2</a:t>
            </a:r>
            <a:r>
              <a:rPr lang="fr-FR" sz="1200" dirty="0">
                <a:solidFill>
                  <a:srgbClr val="00B050"/>
                </a:solidFill>
              </a:rPr>
              <a:t> +</a:t>
            </a:r>
            <a:r>
              <a:rPr lang="fr-FR" sz="1200" dirty="0">
                <a:solidFill>
                  <a:srgbClr val="FF0000"/>
                </a:solidFill>
              </a:rPr>
              <a:t>----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25793" y="5934261"/>
            <a:ext cx="1081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Développeur</a:t>
            </a:r>
          </a:p>
        </p:txBody>
      </p:sp>
      <p:cxnSp>
        <p:nvCxnSpPr>
          <p:cNvPr id="62" name="Straight Arrow Connector 61"/>
          <p:cNvCxnSpPr/>
          <p:nvPr/>
        </p:nvCxnSpPr>
        <p:spPr>
          <a:xfrm flipV="1">
            <a:off x="2081588" y="2221003"/>
            <a:ext cx="0" cy="20337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63" name="Picture 4" descr="P:\Docs du stage\Présentation\icons\icons8-clock-alert-64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161616" y="1757502"/>
            <a:ext cx="609600" cy="609600"/>
          </a:xfrm>
          <a:prstGeom prst="rect">
            <a:avLst/>
          </a:prstGeom>
          <a:noFill/>
        </p:spPr>
      </p:pic>
      <p:sp>
        <p:nvSpPr>
          <p:cNvPr id="75" name="Title 1"/>
          <p:cNvSpPr>
            <a:spLocks noGrp="1"/>
          </p:cNvSpPr>
          <p:nvPr>
            <p:ph type="title"/>
          </p:nvPr>
        </p:nvSpPr>
        <p:spPr>
          <a:xfrm>
            <a:off x="932589" y="26119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Processus d’intégration continue</a:t>
            </a:r>
            <a:endParaRPr lang="en-US" sz="36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8" name="Date Placeholder 8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89" name="Footer Placeholder 8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90" name="Slide Number Placeholder 8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6</a:t>
            </a:fld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xmlns="" id="{D2B18342-9B7E-46F2-B3A9-632C1ABEA165}"/>
              </a:ext>
            </a:extLst>
          </p:cNvPr>
          <p:cNvGrpSpPr/>
          <p:nvPr/>
        </p:nvGrpSpPr>
        <p:grpSpPr>
          <a:xfrm>
            <a:off x="0" y="0"/>
            <a:ext cx="12168000" cy="360000"/>
            <a:chOff x="387926" y="6889"/>
            <a:chExt cx="11804074" cy="1310604"/>
          </a:xfrm>
        </p:grpSpPr>
        <p:sp>
          <p:nvSpPr>
            <p:cNvPr id="77" name="Chevron 43">
              <a:extLst>
                <a:ext uri="{FF2B5EF4-FFF2-40B4-BE49-F238E27FC236}">
                  <a16:creationId xmlns:a16="http://schemas.microsoft.com/office/drawing/2014/main" xmlns="" id="{112E4507-5BC7-47E0-8CC6-26570A8EA6C2}"/>
                </a:ext>
              </a:extLst>
            </p:cNvPr>
            <p:cNvSpPr/>
            <p:nvPr/>
          </p:nvSpPr>
          <p:spPr>
            <a:xfrm>
              <a:off x="3172691" y="161889"/>
              <a:ext cx="2351561" cy="1011383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78" name="Chevron 44">
              <a:extLst>
                <a:ext uri="{FF2B5EF4-FFF2-40B4-BE49-F238E27FC236}">
                  <a16:creationId xmlns:a16="http://schemas.microsoft.com/office/drawing/2014/main" xmlns="" id="{F4577249-F833-4FC6-A215-5EE12F2BB56E}"/>
                </a:ext>
              </a:extLst>
            </p:cNvPr>
            <p:cNvSpPr/>
            <p:nvPr/>
          </p:nvSpPr>
          <p:spPr>
            <a:xfrm>
              <a:off x="5327072" y="161191"/>
              <a:ext cx="2351562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79" name="Chevron 45">
              <a:extLst>
                <a:ext uri="{FF2B5EF4-FFF2-40B4-BE49-F238E27FC236}">
                  <a16:creationId xmlns:a16="http://schemas.microsoft.com/office/drawing/2014/main" xmlns="" id="{55BC9C5C-5DB1-47DD-BC9C-EB000741D00E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80" name="Chevron 46">
              <a:extLst>
                <a:ext uri="{FF2B5EF4-FFF2-40B4-BE49-F238E27FC236}">
                  <a16:creationId xmlns:a16="http://schemas.microsoft.com/office/drawing/2014/main" xmlns="" id="{A6F417EE-C5C5-4A09-8283-291A2EFC173C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81" name="Chevron 47">
              <a:extLst>
                <a:ext uri="{FF2B5EF4-FFF2-40B4-BE49-F238E27FC236}">
                  <a16:creationId xmlns:a16="http://schemas.microsoft.com/office/drawing/2014/main" xmlns="" id="{E61E94D7-2396-4AB0-B2AE-5417423C56B3}"/>
                </a:ext>
              </a:extLst>
            </p:cNvPr>
            <p:cNvSpPr/>
            <p:nvPr/>
          </p:nvSpPr>
          <p:spPr>
            <a:xfrm>
              <a:off x="387926" y="6889"/>
              <a:ext cx="2981943" cy="1310604"/>
            </a:xfrm>
            <a:prstGeom prst="chevron">
              <a:avLst/>
            </a:prstGeom>
            <a:solidFill>
              <a:srgbClr val="20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2" name="Rectangle à coins arrondis 1"/>
          <p:cNvSpPr/>
          <p:nvPr/>
        </p:nvSpPr>
        <p:spPr>
          <a:xfrm>
            <a:off x="1102673" y="544199"/>
            <a:ext cx="1975345" cy="407778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72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4.44444E-6 L 0.00105 -0.52152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26088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7.40741E-7 L -0.07904 7.40741E-7 C -0.11433 7.40741E-7 -0.15769 -0.11991 -0.15769 -0.21713 L -0.15769 -0.4338 " pathEditMode="relative" rAng="0" ptsTypes="AAAA">
                                      <p:cBhvr>
                                        <p:cTn id="82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91" y="-216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4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3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6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5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8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1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4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7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1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1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6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6" grpId="0"/>
      <p:bldP spid="27" grpId="0"/>
      <p:bldP spid="28" grpId="0"/>
      <p:bldP spid="28" grpId="1"/>
      <p:bldP spid="29" grpId="0"/>
      <p:bldP spid="59" grpId="0"/>
      <p:bldP spid="60" grpId="0" animBg="1"/>
      <p:bldP spid="60" grpId="1" animBg="1"/>
      <p:bldP spid="61" grpId="0"/>
      <p:bldP spid="75" grpId="0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538" y="4858578"/>
            <a:ext cx="1002995" cy="1002995"/>
          </a:xfrm>
          <a:prstGeom prst="rect">
            <a:avLst/>
          </a:prstGeom>
        </p:spPr>
      </p:pic>
      <p:pic>
        <p:nvPicPr>
          <p:cNvPr id="86" name="Picture 8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301" y="979738"/>
            <a:ext cx="1195468" cy="1195468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478" y="3019222"/>
            <a:ext cx="839470" cy="83947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217075" y="2138740"/>
            <a:ext cx="1721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Dépôt central du code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237074" y="3861324"/>
            <a:ext cx="2445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Serveur </a:t>
            </a:r>
          </a:p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d’intégration continue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90" name="Picture 8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774" y="5114739"/>
            <a:ext cx="896521" cy="896521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3430879" y="1044491"/>
            <a:ext cx="3341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Exécuter les tests sélectionnés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3635894" y="5283001"/>
            <a:ext cx="2560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Notifier le développeur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36295" y="4512878"/>
            <a:ext cx="167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Changement du code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94" name="Picture 9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439" y="1544770"/>
            <a:ext cx="1076252" cy="435180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028" y="4462814"/>
            <a:ext cx="1138567" cy="299896"/>
          </a:xfrm>
          <a:prstGeom prst="rect">
            <a:avLst/>
          </a:prstGeom>
        </p:spPr>
      </p:pic>
      <p:cxnSp>
        <p:nvCxnSpPr>
          <p:cNvPr id="96" name="Elbow Connector 95"/>
          <p:cNvCxnSpPr/>
          <p:nvPr/>
        </p:nvCxnSpPr>
        <p:spPr>
          <a:xfrm rot="10800000" flipV="1">
            <a:off x="2900855" y="3589562"/>
            <a:ext cx="4875916" cy="2086024"/>
          </a:xfrm>
          <a:prstGeom prst="bentConnector3">
            <a:avLst>
              <a:gd name="adj1" fmla="val 19731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7" name="Elbow Connector 96"/>
          <p:cNvCxnSpPr/>
          <p:nvPr/>
        </p:nvCxnSpPr>
        <p:spPr>
          <a:xfrm>
            <a:off x="3181084" y="1424853"/>
            <a:ext cx="4595687" cy="1858768"/>
          </a:xfrm>
          <a:prstGeom prst="bentConnector3">
            <a:avLst>
              <a:gd name="adj1" fmla="val 79322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99" name="Picture 9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687" y="1346089"/>
            <a:ext cx="227334" cy="363735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2459364" y="1809662"/>
            <a:ext cx="1518493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OnDemand Branch</a:t>
            </a:r>
            <a:endParaRPr lang="en-US" sz="1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102" name="Elbow Connector 101"/>
          <p:cNvCxnSpPr/>
          <p:nvPr/>
        </p:nvCxnSpPr>
        <p:spPr>
          <a:xfrm flipV="1">
            <a:off x="2648607" y="3446817"/>
            <a:ext cx="5128164" cy="872936"/>
          </a:xfrm>
          <a:prstGeom prst="bentConnector3">
            <a:avLst>
              <a:gd name="adj1" fmla="val 70021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72" name="Group 71"/>
          <p:cNvGrpSpPr/>
          <p:nvPr/>
        </p:nvGrpSpPr>
        <p:grpSpPr>
          <a:xfrm>
            <a:off x="9599027" y="1881147"/>
            <a:ext cx="2508746" cy="3372809"/>
            <a:chOff x="9728497" y="1865988"/>
            <a:chExt cx="2508746" cy="3372809"/>
          </a:xfrm>
        </p:grpSpPr>
        <p:sp>
          <p:nvSpPr>
            <p:cNvPr id="73" name="Rectangle 72"/>
            <p:cNvSpPr/>
            <p:nvPr/>
          </p:nvSpPr>
          <p:spPr>
            <a:xfrm>
              <a:off x="9728497" y="1865988"/>
              <a:ext cx="2499034" cy="3372809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1">
                <a:lnSpc>
                  <a:spcPct val="150000"/>
                </a:lnSpc>
              </a:pPr>
              <a:r>
                <a:rPr lang="fr-FR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PerimeterAUnitTests</a:t>
              </a: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PerimeterBUnitTests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PerimeterCUnitTests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PerimeterACodeAnalysis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PerimeterBCodeAnalysis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PerimeterCCodeCoverage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PerimeterACodeCoverage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PerimeterBCodeCoverage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PerimeterCCodeCoverage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DeadCodeChecker</a:t>
              </a: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ThreadSafetyChecker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…</a:t>
              </a:r>
              <a:endParaRPr lang="en-US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cxnSp>
          <p:nvCxnSpPr>
            <p:cNvPr id="74" name="Straight Connector 73"/>
            <p:cNvCxnSpPr/>
            <p:nvPr/>
          </p:nvCxnSpPr>
          <p:spPr>
            <a:xfrm flipV="1">
              <a:off x="9729952" y="2156745"/>
              <a:ext cx="2497579" cy="23218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V="1">
              <a:off x="9729952" y="2450611"/>
              <a:ext cx="2507291" cy="8751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9729952" y="2738762"/>
              <a:ext cx="2497579" cy="617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flipV="1">
              <a:off x="9729952" y="3000545"/>
              <a:ext cx="2497579" cy="17617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flipV="1">
              <a:off x="9729952" y="3282412"/>
              <a:ext cx="2497579" cy="245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endCxn id="73" idx="3"/>
            </p:cNvCxnSpPr>
            <p:nvPr/>
          </p:nvCxnSpPr>
          <p:spPr>
            <a:xfrm flipV="1">
              <a:off x="9729952" y="3552393"/>
              <a:ext cx="2497579" cy="118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flipV="1">
              <a:off x="9729952" y="3834622"/>
              <a:ext cx="2497579" cy="904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flipV="1">
              <a:off x="9729952" y="4109592"/>
              <a:ext cx="2497579" cy="77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flipV="1">
              <a:off x="9729952" y="4387951"/>
              <a:ext cx="2497579" cy="1811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V="1">
              <a:off x="9729952" y="4655692"/>
              <a:ext cx="2497579" cy="77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flipV="1">
              <a:off x="9729952" y="4935092"/>
              <a:ext cx="2497579" cy="77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9596513" y="1882298"/>
            <a:ext cx="2511260" cy="3372809"/>
            <a:chOff x="9725983" y="1867139"/>
            <a:chExt cx="2372265" cy="3372809"/>
          </a:xfrm>
        </p:grpSpPr>
        <p:sp>
          <p:nvSpPr>
            <p:cNvPr id="105" name="Rectangle 104"/>
            <p:cNvSpPr/>
            <p:nvPr/>
          </p:nvSpPr>
          <p:spPr>
            <a:xfrm>
              <a:off x="9725983" y="1867139"/>
              <a:ext cx="2363091" cy="3372809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1">
                <a:lnSpc>
                  <a:spcPct val="150000"/>
                </a:lnSpc>
              </a:pPr>
              <a:r>
                <a:rPr lang="fr-FR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PerimeterAUnitTests</a:t>
              </a: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PerimeterBUnitTests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PerimeterCUnitTests</a:t>
              </a:r>
              <a:endParaRPr lang="fr-FR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PerimeterACodeAnalysis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PerimeterBCodeAnalysis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PerimeterCCodeCoverage</a:t>
              </a:r>
              <a:endParaRPr lang="fr-FR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PerimeterACodeCoverage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PerimeterBCodeCoverage</a:t>
              </a:r>
              <a:endPara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PerimeterCCodeCoverage</a:t>
              </a:r>
              <a:endParaRPr lang="fr-FR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DeadCodeChecker</a:t>
              </a:r>
            </a:p>
            <a:p>
              <a:pPr lvl="1">
                <a:lnSpc>
                  <a:spcPct val="150000"/>
                </a:lnSpc>
              </a:pPr>
              <a:r>
                <a:rPr lang="fr-FR" sz="1200" dirty="0" err="1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ThreadSafetyChecker</a:t>
              </a:r>
              <a:endParaRPr lang="fr-FR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lvl="1">
                <a:lnSpc>
                  <a:spcPct val="150000"/>
                </a:lnSpc>
              </a:pPr>
              <a:r>
                <a:rPr lang="fr-FR" sz="12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…</a:t>
              </a:r>
              <a:endParaRPr lang="en-US" sz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cxnSp>
          <p:nvCxnSpPr>
            <p:cNvPr id="106" name="Straight Connector 105"/>
            <p:cNvCxnSpPr/>
            <p:nvPr/>
          </p:nvCxnSpPr>
          <p:spPr>
            <a:xfrm flipV="1">
              <a:off x="9729952" y="21791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 flipV="1">
              <a:off x="9729952" y="24585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 flipV="1">
              <a:off x="9729952" y="27379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 flipV="1">
              <a:off x="9729952" y="30173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729952" y="32840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9729952" y="35634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9729952" y="38428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9729952" y="41095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9729952" y="43889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9729952" y="46556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 flipV="1">
              <a:off x="9729952" y="4935092"/>
              <a:ext cx="2368296" cy="769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03" name="TextBox 102"/>
          <p:cNvSpPr txBox="1"/>
          <p:nvPr/>
        </p:nvSpPr>
        <p:spPr>
          <a:xfrm>
            <a:off x="3792784" y="3943779"/>
            <a:ext cx="2379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Sélectionner les tests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117" name="Picture 11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863" y="2199070"/>
            <a:ext cx="266700" cy="266700"/>
          </a:xfrm>
          <a:prstGeom prst="rect">
            <a:avLst/>
          </a:prstGeom>
        </p:spPr>
      </p:pic>
      <p:pic>
        <p:nvPicPr>
          <p:cNvPr id="118" name="Picture 1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842" y="2749004"/>
            <a:ext cx="266700" cy="266700"/>
          </a:xfrm>
          <a:prstGeom prst="rect">
            <a:avLst/>
          </a:prstGeom>
        </p:spPr>
      </p:pic>
      <p:pic>
        <p:nvPicPr>
          <p:cNvPr id="119" name="Picture 11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939" y="3030871"/>
            <a:ext cx="266700" cy="266700"/>
          </a:xfrm>
          <a:prstGeom prst="rect">
            <a:avLst/>
          </a:prstGeom>
        </p:spPr>
      </p:pic>
      <p:pic>
        <p:nvPicPr>
          <p:cNvPr id="120" name="Picture 11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555" y="1926082"/>
            <a:ext cx="266700" cy="266700"/>
          </a:xfrm>
          <a:prstGeom prst="rect">
            <a:avLst/>
          </a:prstGeom>
        </p:spPr>
      </p:pic>
      <p:pic>
        <p:nvPicPr>
          <p:cNvPr id="121" name="Picture 12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0227" y="3589562"/>
            <a:ext cx="266700" cy="266700"/>
          </a:xfrm>
          <a:prstGeom prst="rect">
            <a:avLst/>
          </a:prstGeom>
        </p:spPr>
      </p:pic>
      <p:pic>
        <p:nvPicPr>
          <p:cNvPr id="122" name="Picture 12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863" y="3869583"/>
            <a:ext cx="266700" cy="266700"/>
          </a:xfrm>
          <a:prstGeom prst="rect">
            <a:avLst/>
          </a:prstGeom>
        </p:spPr>
      </p:pic>
      <p:pic>
        <p:nvPicPr>
          <p:cNvPr id="123" name="Picture 12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863" y="4429133"/>
            <a:ext cx="266700" cy="266700"/>
          </a:xfrm>
          <a:prstGeom prst="rect">
            <a:avLst/>
          </a:prstGeom>
        </p:spPr>
      </p:pic>
      <p:pic>
        <p:nvPicPr>
          <p:cNvPr id="124" name="Picture 12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863" y="1926012"/>
            <a:ext cx="273656" cy="273656"/>
          </a:xfrm>
          <a:prstGeom prst="rect">
            <a:avLst/>
          </a:prstGeom>
        </p:spPr>
      </p:pic>
      <p:pic>
        <p:nvPicPr>
          <p:cNvPr id="125" name="Picture 12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104" y="2202596"/>
            <a:ext cx="273656" cy="273656"/>
          </a:xfrm>
          <a:prstGeom prst="rect">
            <a:avLst/>
          </a:prstGeom>
        </p:spPr>
      </p:pic>
      <p:pic>
        <p:nvPicPr>
          <p:cNvPr id="126" name="Picture 12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059" y="3038327"/>
            <a:ext cx="273656" cy="273656"/>
          </a:xfrm>
          <a:prstGeom prst="rect">
            <a:avLst/>
          </a:prstGeom>
        </p:spPr>
      </p:pic>
      <p:pic>
        <p:nvPicPr>
          <p:cNvPr id="127" name="Picture 1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104" y="2760091"/>
            <a:ext cx="273656" cy="273656"/>
          </a:xfrm>
          <a:prstGeom prst="rect">
            <a:avLst/>
          </a:prstGeom>
        </p:spPr>
      </p:pic>
      <p:pic>
        <p:nvPicPr>
          <p:cNvPr id="128" name="Picture 12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206" y="3580395"/>
            <a:ext cx="273656" cy="273656"/>
          </a:xfrm>
          <a:prstGeom prst="rect">
            <a:avLst/>
          </a:prstGeom>
        </p:spPr>
      </p:pic>
      <p:pic>
        <p:nvPicPr>
          <p:cNvPr id="129" name="Picture 12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499" y="3856965"/>
            <a:ext cx="273656" cy="273656"/>
          </a:xfrm>
          <a:prstGeom prst="rect">
            <a:avLst/>
          </a:prstGeom>
        </p:spPr>
      </p:pic>
      <p:pic>
        <p:nvPicPr>
          <p:cNvPr id="130" name="Picture 12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499" y="4403110"/>
            <a:ext cx="273656" cy="273656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10150322" y="1519494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OnDemand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3121549" y="4531296"/>
            <a:ext cx="824827" cy="4579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file1</a:t>
            </a:r>
            <a:r>
              <a:rPr lang="fr-FR" sz="1200" dirty="0">
                <a:solidFill>
                  <a:srgbClr val="00B05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++</a:t>
            </a:r>
            <a:r>
              <a:rPr lang="fr-FR" sz="1200" dirty="0">
                <a:solidFill>
                  <a:srgbClr val="FF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--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file2</a:t>
            </a:r>
            <a:r>
              <a:rPr lang="fr-FR" sz="1200" dirty="0">
                <a:solidFill>
                  <a:srgbClr val="00B05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+</a:t>
            </a:r>
            <a:r>
              <a:rPr lang="fr-FR" sz="1200" dirty="0">
                <a:solidFill>
                  <a:srgbClr val="FF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----</a:t>
            </a:r>
          </a:p>
        </p:txBody>
      </p:sp>
      <p:cxnSp>
        <p:nvCxnSpPr>
          <p:cNvPr id="133" name="Straight Arrow Connector 132"/>
          <p:cNvCxnSpPr>
            <a:endCxn id="88" idx="2"/>
          </p:cNvCxnSpPr>
          <p:nvPr/>
        </p:nvCxnSpPr>
        <p:spPr>
          <a:xfrm flipV="1">
            <a:off x="2049519" y="2508072"/>
            <a:ext cx="28241" cy="12125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1557691" y="5983881"/>
            <a:ext cx="1081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Développeur</a:t>
            </a:r>
          </a:p>
        </p:txBody>
      </p:sp>
      <p:sp>
        <p:nvSpPr>
          <p:cNvPr id="185" name="Title 1"/>
          <p:cNvSpPr txBox="1">
            <a:spLocks/>
          </p:cNvSpPr>
          <p:nvPr/>
        </p:nvSpPr>
        <p:spPr>
          <a:xfrm>
            <a:off x="932589" y="261195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Processus de OnDemand</a:t>
            </a:r>
            <a:endParaRPr lang="en-US" sz="36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92" name="Date Placeholder 19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193" name="Footer Placeholder 19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194" name="Slide Number Placeholder 19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7</a:t>
            </a:fld>
            <a:endParaRPr lang="en-US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xmlns="" id="{EE350E58-4310-4751-B313-FCDD99FE304B}"/>
              </a:ext>
            </a:extLst>
          </p:cNvPr>
          <p:cNvGrpSpPr/>
          <p:nvPr/>
        </p:nvGrpSpPr>
        <p:grpSpPr>
          <a:xfrm>
            <a:off x="0" y="0"/>
            <a:ext cx="12168000" cy="360000"/>
            <a:chOff x="387926" y="6889"/>
            <a:chExt cx="11804074" cy="1310604"/>
          </a:xfrm>
        </p:grpSpPr>
        <p:sp>
          <p:nvSpPr>
            <p:cNvPr id="142" name="Chevron 43">
              <a:extLst>
                <a:ext uri="{FF2B5EF4-FFF2-40B4-BE49-F238E27FC236}">
                  <a16:creationId xmlns:a16="http://schemas.microsoft.com/office/drawing/2014/main" xmlns="" id="{8B97CFF5-AB12-4E74-A209-00C6201D1A7A}"/>
                </a:ext>
              </a:extLst>
            </p:cNvPr>
            <p:cNvSpPr/>
            <p:nvPr/>
          </p:nvSpPr>
          <p:spPr>
            <a:xfrm>
              <a:off x="3172691" y="161889"/>
              <a:ext cx="2351561" cy="1011383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43" name="Chevron 44">
              <a:extLst>
                <a:ext uri="{FF2B5EF4-FFF2-40B4-BE49-F238E27FC236}">
                  <a16:creationId xmlns:a16="http://schemas.microsoft.com/office/drawing/2014/main" xmlns="" id="{4D253680-6A7D-46C2-8804-A1A58976CCF1}"/>
                </a:ext>
              </a:extLst>
            </p:cNvPr>
            <p:cNvSpPr/>
            <p:nvPr/>
          </p:nvSpPr>
          <p:spPr>
            <a:xfrm>
              <a:off x="5327072" y="161191"/>
              <a:ext cx="2351562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44" name="Chevron 45">
              <a:extLst>
                <a:ext uri="{FF2B5EF4-FFF2-40B4-BE49-F238E27FC236}">
                  <a16:creationId xmlns:a16="http://schemas.microsoft.com/office/drawing/2014/main" xmlns="" id="{00D4CF4B-82DA-45BC-A7EC-AB418437FACA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45" name="Chevron 46">
              <a:extLst>
                <a:ext uri="{FF2B5EF4-FFF2-40B4-BE49-F238E27FC236}">
                  <a16:creationId xmlns:a16="http://schemas.microsoft.com/office/drawing/2014/main" xmlns="" id="{C6BF607B-418F-4F6C-9C30-7B5B2133D5BB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46" name="Chevron 47">
              <a:extLst>
                <a:ext uri="{FF2B5EF4-FFF2-40B4-BE49-F238E27FC236}">
                  <a16:creationId xmlns:a16="http://schemas.microsoft.com/office/drawing/2014/main" xmlns="" id="{A3F8CA66-061F-4252-8DFA-57EC6A69E02C}"/>
                </a:ext>
              </a:extLst>
            </p:cNvPr>
            <p:cNvSpPr/>
            <p:nvPr/>
          </p:nvSpPr>
          <p:spPr>
            <a:xfrm>
              <a:off x="387926" y="6889"/>
              <a:ext cx="2981943" cy="1310604"/>
            </a:xfrm>
            <a:prstGeom prst="chevron">
              <a:avLst/>
            </a:prstGeom>
            <a:solidFill>
              <a:srgbClr val="20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2" name="Rectangle à coins arrondis 1"/>
          <p:cNvSpPr/>
          <p:nvPr/>
        </p:nvSpPr>
        <p:spPr>
          <a:xfrm>
            <a:off x="1454213" y="3514121"/>
            <a:ext cx="1194306" cy="1043337"/>
          </a:xfrm>
          <a:prstGeom prst="roundRect">
            <a:avLst/>
          </a:prstGeom>
          <a:solidFill>
            <a:srgbClr val="F5052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5" name="Picture 97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326" y="3846342"/>
            <a:ext cx="697599" cy="697599"/>
          </a:xfrm>
          <a:prstGeom prst="rect">
            <a:avLst/>
          </a:prstGeom>
        </p:spPr>
      </p:pic>
      <p:sp>
        <p:nvSpPr>
          <p:cNvPr id="136" name="TextBox 100"/>
          <p:cNvSpPr txBox="1"/>
          <p:nvPr/>
        </p:nvSpPr>
        <p:spPr>
          <a:xfrm>
            <a:off x="1557357" y="3583942"/>
            <a:ext cx="979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OnDemand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41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98 0.00811 L -0.00807 -0.54213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27523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4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48148E-6 L -0.09232 -1.48148E-6 C -0.13346 -1.48148E-6 -0.18372 -0.12477 -0.18372 -0.22569 L -0.18372 -0.45023 " pathEditMode="relative" rAng="0" ptsTypes="AAAA">
                                      <p:cBhvr>
                                        <p:cTn id="110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93" y="-22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9"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2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5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8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1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4"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7"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6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1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6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1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6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1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89" grpId="0"/>
      <p:bldP spid="91" grpId="0"/>
      <p:bldP spid="92" grpId="0"/>
      <p:bldP spid="93" grpId="0"/>
      <p:bldP spid="93" grpId="1"/>
      <p:bldP spid="100" grpId="0"/>
      <p:bldP spid="103" grpId="0"/>
      <p:bldP spid="131" grpId="0"/>
      <p:bldP spid="132" grpId="0" animBg="1"/>
      <p:bldP spid="132" grpId="1" animBg="1"/>
      <p:bldP spid="134" grpId="0"/>
      <p:bldP spid="185" grpId="0"/>
      <p:bldP spid="2" grpId="0" animBg="1"/>
      <p:bldP spid="1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lvl="1"/>
            <a:r>
              <a:rPr lang="fr-FR" sz="2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Choix de tests non nécessaires à la validation.</a:t>
            </a:r>
          </a:p>
          <a:p>
            <a:pPr lvl="1"/>
            <a:endParaRPr lang="fr-FR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lvl="1"/>
            <a:endParaRPr lang="fr-FR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lvl="1" indent="0">
              <a:buNone/>
            </a:pPr>
            <a:endParaRPr lang="fr-FR" sz="18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lvl="1"/>
            <a:r>
              <a:rPr lang="fr-FR" sz="2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Non choix des tests nécessaires à la validation.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120" y="3162694"/>
            <a:ext cx="1157524" cy="115752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979" y="3574885"/>
            <a:ext cx="275092" cy="2750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5430" y="1721418"/>
            <a:ext cx="627598" cy="62759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647" y="2208239"/>
            <a:ext cx="349667" cy="3496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1098" y="4167986"/>
            <a:ext cx="23575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Mauvais code au dépôt</a:t>
            </a: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23224" y="2359126"/>
            <a:ext cx="35920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Problème de temps et de ressources</a:t>
            </a: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69994" y="5101951"/>
            <a:ext cx="842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Impacte négatif sur la </a:t>
            </a:r>
            <a:r>
              <a:rPr lang="fr-FR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</a:t>
            </a:r>
            <a:r>
              <a:rPr lang="fr-FR" sz="2800" b="1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roductivité </a:t>
            </a:r>
            <a:r>
              <a:rPr lang="fr-FR" sz="2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 développeurs</a:t>
            </a:r>
            <a:endParaRPr lang="en-US" sz="28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Problématique</a:t>
            </a:r>
            <a:endParaRPr lang="en-US" sz="36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8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513C072D-C810-4409-BD32-96EE5B6E920E}"/>
              </a:ext>
            </a:extLst>
          </p:cNvPr>
          <p:cNvGrpSpPr/>
          <p:nvPr/>
        </p:nvGrpSpPr>
        <p:grpSpPr>
          <a:xfrm>
            <a:off x="0" y="0"/>
            <a:ext cx="12168000" cy="360000"/>
            <a:chOff x="387926" y="6889"/>
            <a:chExt cx="11804074" cy="1310604"/>
          </a:xfrm>
        </p:grpSpPr>
        <p:sp>
          <p:nvSpPr>
            <p:cNvPr id="22" name="Chevron 43">
              <a:extLst>
                <a:ext uri="{FF2B5EF4-FFF2-40B4-BE49-F238E27FC236}">
                  <a16:creationId xmlns:a16="http://schemas.microsoft.com/office/drawing/2014/main" xmlns="" id="{1E0A51E6-D618-4A5E-9659-58C049AEFDD9}"/>
                </a:ext>
              </a:extLst>
            </p:cNvPr>
            <p:cNvSpPr/>
            <p:nvPr/>
          </p:nvSpPr>
          <p:spPr>
            <a:xfrm>
              <a:off x="3172691" y="161889"/>
              <a:ext cx="2351561" cy="1011383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3" name="Chevron 44">
              <a:extLst>
                <a:ext uri="{FF2B5EF4-FFF2-40B4-BE49-F238E27FC236}">
                  <a16:creationId xmlns:a16="http://schemas.microsoft.com/office/drawing/2014/main" xmlns="" id="{A359BAE2-F019-480A-8EF1-33886414E537}"/>
                </a:ext>
              </a:extLst>
            </p:cNvPr>
            <p:cNvSpPr/>
            <p:nvPr/>
          </p:nvSpPr>
          <p:spPr>
            <a:xfrm>
              <a:off x="5327072" y="161191"/>
              <a:ext cx="2351562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33" name="Chevron 45">
              <a:extLst>
                <a:ext uri="{FF2B5EF4-FFF2-40B4-BE49-F238E27FC236}">
                  <a16:creationId xmlns:a16="http://schemas.microsoft.com/office/drawing/2014/main" xmlns="" id="{7BADD58A-E2B2-4511-97B2-FC174CF6BBF0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34" name="Chevron 46">
              <a:extLst>
                <a:ext uri="{FF2B5EF4-FFF2-40B4-BE49-F238E27FC236}">
                  <a16:creationId xmlns:a16="http://schemas.microsoft.com/office/drawing/2014/main" xmlns="" id="{BF59084C-2A62-4220-B686-2B61EC5AC57D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35" name="Chevron 47">
              <a:extLst>
                <a:ext uri="{FF2B5EF4-FFF2-40B4-BE49-F238E27FC236}">
                  <a16:creationId xmlns:a16="http://schemas.microsoft.com/office/drawing/2014/main" xmlns="" id="{B23B11C4-EF9E-476A-B907-0D8AEC84A295}"/>
                </a:ext>
              </a:extLst>
            </p:cNvPr>
            <p:cNvSpPr/>
            <p:nvPr/>
          </p:nvSpPr>
          <p:spPr>
            <a:xfrm>
              <a:off x="387926" y="6889"/>
              <a:ext cx="2981943" cy="1310604"/>
            </a:xfrm>
            <a:prstGeom prst="chevron">
              <a:avLst/>
            </a:prstGeom>
            <a:solidFill>
              <a:srgbClr val="2099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969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Besoins fonctionnels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7157028" y="2608415"/>
            <a:ext cx="2376000" cy="2377440"/>
          </a:xfrm>
          <a:prstGeom prst="ellipse">
            <a:avLst/>
          </a:prstGeom>
          <a:solidFill>
            <a:srgbClr val="50ADE7"/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Intégration </a:t>
            </a:r>
            <a:r>
              <a:rPr lang="fr-FR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à l’outil OnDemand</a:t>
            </a:r>
            <a:endParaRPr lang="fr-FR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2715423" y="2670666"/>
            <a:ext cx="2376000" cy="2377440"/>
          </a:xfrm>
          <a:prstGeom prst="ellipse">
            <a:avLst/>
          </a:prstGeom>
          <a:solidFill>
            <a:srgbClr val="3CA4E4">
              <a:alpha val="89804"/>
            </a:srgb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Détection des tests de validation en fonction des changements du code</a:t>
            </a:r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9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1B2EAA30-0F44-410E-BE5C-F4082DF01B42}"/>
              </a:ext>
            </a:extLst>
          </p:cNvPr>
          <p:cNvGrpSpPr/>
          <p:nvPr/>
        </p:nvGrpSpPr>
        <p:grpSpPr>
          <a:xfrm>
            <a:off x="0" y="0"/>
            <a:ext cx="12168000" cy="360000"/>
            <a:chOff x="387926" y="6889"/>
            <a:chExt cx="11804074" cy="1310604"/>
          </a:xfrm>
        </p:grpSpPr>
        <p:sp>
          <p:nvSpPr>
            <p:cNvPr id="25" name="Chevron 16">
              <a:extLst>
                <a:ext uri="{FF2B5EF4-FFF2-40B4-BE49-F238E27FC236}">
                  <a16:creationId xmlns:a16="http://schemas.microsoft.com/office/drawing/2014/main" xmlns="" id="{0F207FE9-EB8D-4091-9B26-98ECF7854591}"/>
                </a:ext>
              </a:extLst>
            </p:cNvPr>
            <p:cNvSpPr/>
            <p:nvPr/>
          </p:nvSpPr>
          <p:spPr>
            <a:xfrm>
              <a:off x="387926" y="156499"/>
              <a:ext cx="2351561" cy="1001971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6" name="Chevron 17">
              <a:extLst>
                <a:ext uri="{FF2B5EF4-FFF2-40B4-BE49-F238E27FC236}">
                  <a16:creationId xmlns:a16="http://schemas.microsoft.com/office/drawing/2014/main" xmlns="" id="{8B8C74C5-9475-4209-8392-A376CE7EA6B8}"/>
                </a:ext>
              </a:extLst>
            </p:cNvPr>
            <p:cNvSpPr/>
            <p:nvPr/>
          </p:nvSpPr>
          <p:spPr>
            <a:xfrm>
              <a:off x="5327072" y="161191"/>
              <a:ext cx="2351562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7" name="Chevron 18">
              <a:extLst>
                <a:ext uri="{FF2B5EF4-FFF2-40B4-BE49-F238E27FC236}">
                  <a16:creationId xmlns:a16="http://schemas.microsoft.com/office/drawing/2014/main" xmlns="" id="{777C556B-5477-4A73-A7E3-C53C522B30EA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8" name="Chevron 19">
              <a:extLst>
                <a:ext uri="{FF2B5EF4-FFF2-40B4-BE49-F238E27FC236}">
                  <a16:creationId xmlns:a16="http://schemas.microsoft.com/office/drawing/2014/main" xmlns="" id="{69342354-327E-4916-B304-8D6E9D41AA68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9" name="Chevron 20">
              <a:extLst>
                <a:ext uri="{FF2B5EF4-FFF2-40B4-BE49-F238E27FC236}">
                  <a16:creationId xmlns:a16="http://schemas.microsoft.com/office/drawing/2014/main" xmlns="" id="{4D9EEF6C-60BB-4A0A-A2EE-CCA5F2CCC405}"/>
                </a:ext>
              </a:extLst>
            </p:cNvPr>
            <p:cNvSpPr/>
            <p:nvPr/>
          </p:nvSpPr>
          <p:spPr>
            <a:xfrm>
              <a:off x="2508136" y="6889"/>
              <a:ext cx="2981943" cy="1310604"/>
            </a:xfrm>
            <a:prstGeom prst="chevron">
              <a:avLst/>
            </a:prstGeom>
            <a:solidFill>
              <a:srgbClr val="239C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268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Besoins non fonctionnels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908345" y="2699054"/>
            <a:ext cx="2376000" cy="2377440"/>
          </a:xfrm>
          <a:prstGeom prst="ellipse">
            <a:avLst/>
          </a:prstGeom>
          <a:solidFill>
            <a:srgbClr val="50ADE7"/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kern="0" dirty="0">
                <a:latin typeface="Open Sans Light"/>
              </a:rPr>
              <a:t>Maintenabilité</a:t>
            </a:r>
            <a:endParaRPr lang="fr-FR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729253" y="2710092"/>
            <a:ext cx="2376000" cy="2377440"/>
          </a:xfrm>
          <a:prstGeom prst="ellipse">
            <a:avLst/>
          </a:prstGeom>
          <a:solidFill>
            <a:srgbClr val="3CA4E4">
              <a:alpha val="89804"/>
            </a:srgb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kern="0" dirty="0">
                <a:latin typeface="Open Sans Light"/>
              </a:rPr>
              <a:t>Performance</a:t>
            </a:r>
            <a:endParaRPr lang="fr-FR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10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1B2EAA30-0F44-410E-BE5C-F4082DF01B42}"/>
              </a:ext>
            </a:extLst>
          </p:cNvPr>
          <p:cNvGrpSpPr/>
          <p:nvPr/>
        </p:nvGrpSpPr>
        <p:grpSpPr>
          <a:xfrm>
            <a:off x="0" y="0"/>
            <a:ext cx="12168000" cy="360000"/>
            <a:chOff x="387926" y="6889"/>
            <a:chExt cx="11804074" cy="1310604"/>
          </a:xfrm>
        </p:grpSpPr>
        <p:sp>
          <p:nvSpPr>
            <p:cNvPr id="25" name="Chevron 16">
              <a:extLst>
                <a:ext uri="{FF2B5EF4-FFF2-40B4-BE49-F238E27FC236}">
                  <a16:creationId xmlns:a16="http://schemas.microsoft.com/office/drawing/2014/main" xmlns="" id="{0F207FE9-EB8D-4091-9B26-98ECF7854591}"/>
                </a:ext>
              </a:extLst>
            </p:cNvPr>
            <p:cNvSpPr/>
            <p:nvPr/>
          </p:nvSpPr>
          <p:spPr>
            <a:xfrm>
              <a:off x="387926" y="156499"/>
              <a:ext cx="2351561" cy="1001971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6" name="Chevron 17">
              <a:extLst>
                <a:ext uri="{FF2B5EF4-FFF2-40B4-BE49-F238E27FC236}">
                  <a16:creationId xmlns:a16="http://schemas.microsoft.com/office/drawing/2014/main" xmlns="" id="{8B8C74C5-9475-4209-8392-A376CE7EA6B8}"/>
                </a:ext>
              </a:extLst>
            </p:cNvPr>
            <p:cNvSpPr/>
            <p:nvPr/>
          </p:nvSpPr>
          <p:spPr>
            <a:xfrm>
              <a:off x="5327072" y="161191"/>
              <a:ext cx="2351562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7" name="Chevron 18">
              <a:extLst>
                <a:ext uri="{FF2B5EF4-FFF2-40B4-BE49-F238E27FC236}">
                  <a16:creationId xmlns:a16="http://schemas.microsoft.com/office/drawing/2014/main" xmlns="" id="{777C556B-5477-4A73-A7E3-C53C522B30EA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8" name="Chevron 19">
              <a:extLst>
                <a:ext uri="{FF2B5EF4-FFF2-40B4-BE49-F238E27FC236}">
                  <a16:creationId xmlns:a16="http://schemas.microsoft.com/office/drawing/2014/main" xmlns="" id="{69342354-327E-4916-B304-8D6E9D41AA68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9" name="Chevron 20">
              <a:extLst>
                <a:ext uri="{FF2B5EF4-FFF2-40B4-BE49-F238E27FC236}">
                  <a16:creationId xmlns:a16="http://schemas.microsoft.com/office/drawing/2014/main" xmlns="" id="{4D9EEF6C-60BB-4A0A-A2EE-CCA5F2CCC405}"/>
                </a:ext>
              </a:extLst>
            </p:cNvPr>
            <p:cNvSpPr/>
            <p:nvPr/>
          </p:nvSpPr>
          <p:spPr>
            <a:xfrm>
              <a:off x="2508136" y="6889"/>
              <a:ext cx="2981943" cy="1310604"/>
            </a:xfrm>
            <a:prstGeom prst="chevron">
              <a:avLst/>
            </a:prstGeom>
            <a:solidFill>
              <a:srgbClr val="239C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16" name="Oval 6"/>
          <p:cNvSpPr/>
          <p:nvPr/>
        </p:nvSpPr>
        <p:spPr>
          <a:xfrm>
            <a:off x="8794200" y="2608415"/>
            <a:ext cx="2376000" cy="2377440"/>
          </a:xfrm>
          <a:prstGeom prst="ellipse">
            <a:avLst/>
          </a:prstGeom>
          <a:solidFill>
            <a:srgbClr val="50ADE7"/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kern="0" dirty="0">
                <a:latin typeface="Open Sans Light"/>
              </a:rPr>
              <a:t>Évolutivité</a:t>
            </a:r>
            <a:endParaRPr lang="fr-FR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66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Principe: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Déterminer les projets de tests qui dépendent transitivement d’un projet changé</a:t>
            </a:r>
          </a:p>
          <a:p>
            <a:r>
              <a:rPr lang="fr-FR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Avantages :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Temps de </a:t>
            </a:r>
            <a:r>
              <a:rPr lang="fr-FR" sz="20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calcul raisonnable</a:t>
            </a:r>
            <a:endParaRPr lang="fr-FR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Inconvénients : 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Grand nombre de tests à exécuter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Valable que pour les tests unitaires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27145" y="2238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Étude </a:t>
            </a:r>
            <a:r>
              <a:rPr lang="fr-FR" sz="32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comparative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320937" y="2537861"/>
            <a:ext cx="6345569" cy="2926866"/>
            <a:chOff x="5569565" y="3445526"/>
            <a:chExt cx="6345569" cy="2926866"/>
          </a:xfrm>
        </p:grpSpPr>
        <p:sp>
          <p:nvSpPr>
            <p:cNvPr id="15" name="Diamond 14"/>
            <p:cNvSpPr/>
            <p:nvPr/>
          </p:nvSpPr>
          <p:spPr>
            <a:xfrm>
              <a:off x="7011924" y="6102781"/>
              <a:ext cx="252695" cy="269611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6" name="Diamond 15"/>
            <p:cNvSpPr/>
            <p:nvPr/>
          </p:nvSpPr>
          <p:spPr>
            <a:xfrm>
              <a:off x="8182443" y="6102781"/>
              <a:ext cx="252695" cy="269611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7" name="Diamond 16"/>
            <p:cNvSpPr/>
            <p:nvPr/>
          </p:nvSpPr>
          <p:spPr>
            <a:xfrm>
              <a:off x="8766226" y="6102781"/>
              <a:ext cx="252695" cy="269611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8" name="Diamond 17"/>
            <p:cNvSpPr/>
            <p:nvPr/>
          </p:nvSpPr>
          <p:spPr>
            <a:xfrm>
              <a:off x="11121816" y="6102781"/>
              <a:ext cx="252695" cy="269611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635908" y="5398862"/>
              <a:ext cx="176071" cy="1881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804537" y="5398862"/>
              <a:ext cx="176071" cy="1881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9399598" y="4599086"/>
              <a:ext cx="176071" cy="1881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1160128" y="5404087"/>
              <a:ext cx="176071" cy="1881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663724" y="4599086"/>
              <a:ext cx="176071" cy="1881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1680372" y="4599086"/>
              <a:ext cx="176071" cy="1881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7149650" y="4536385"/>
              <a:ext cx="293452" cy="3135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1</a:t>
              </a:r>
              <a:endParaRPr lang="en-US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8015334" y="4536385"/>
              <a:ext cx="293452" cy="3135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2</a:t>
              </a:r>
              <a:endParaRPr lang="en-US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8892573" y="3726356"/>
              <a:ext cx="293452" cy="3135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3</a:t>
              </a:r>
              <a:endParaRPr lang="en-US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10622090" y="3726356"/>
              <a:ext cx="293452" cy="3135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4</a:t>
              </a:r>
              <a:endParaRPr lang="en-US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9785218" y="3726356"/>
              <a:ext cx="293452" cy="3135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5</a:t>
              </a:r>
              <a:endParaRPr lang="en-US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11621682" y="3726356"/>
              <a:ext cx="293452" cy="3135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6</a:t>
              </a:r>
              <a:endParaRPr lang="en-US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rot="2700000" flipV="1">
              <a:off x="7457137" y="5536577"/>
              <a:ext cx="0" cy="7099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V="1">
              <a:off x="8886128" y="5666270"/>
              <a:ext cx="0" cy="3819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rot="2700000" flipV="1">
              <a:off x="9251287" y="4745911"/>
              <a:ext cx="0" cy="7099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2340000" flipV="1">
              <a:off x="11559291" y="4767985"/>
              <a:ext cx="0" cy="7099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V="1">
              <a:off x="11248163" y="5650504"/>
              <a:ext cx="0" cy="3819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V="1">
              <a:off x="10751760" y="4154461"/>
              <a:ext cx="0" cy="3819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V="1">
              <a:off x="11768408" y="4154461"/>
              <a:ext cx="0" cy="3819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rot="19260000" flipV="1">
              <a:off x="10960877" y="4758994"/>
              <a:ext cx="0" cy="7099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rot="18900000" flipV="1">
              <a:off x="7994205" y="5559279"/>
              <a:ext cx="0" cy="6645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rot="18900000" flipV="1">
              <a:off x="8545190" y="4765825"/>
              <a:ext cx="0" cy="6645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9260000" flipV="1">
              <a:off x="7478935" y="4856503"/>
              <a:ext cx="0" cy="5329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rot="2340000" flipV="1">
              <a:off x="7973597" y="4856503"/>
              <a:ext cx="0" cy="5329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rot="2340000" flipV="1">
              <a:off x="9766914" y="4055334"/>
              <a:ext cx="0" cy="5329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rot="19260000" flipV="1">
              <a:off x="9216323" y="4055334"/>
              <a:ext cx="0" cy="5329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6174135" y="5492912"/>
              <a:ext cx="13447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5569565" y="5351923"/>
              <a:ext cx="6640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Projets</a:t>
              </a:r>
              <a:endParaRPr lang="en-US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6161844" y="4689053"/>
              <a:ext cx="8803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5573024" y="4372491"/>
              <a:ext cx="66409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2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Projets</a:t>
              </a:r>
            </a:p>
            <a:p>
              <a:pPr algn="ctr"/>
              <a:r>
                <a:rPr lang="fr-FR" sz="12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de</a:t>
              </a:r>
            </a:p>
            <a:p>
              <a:pPr algn="ctr"/>
              <a:r>
                <a:rPr lang="fr-FR" sz="12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Tests</a:t>
              </a:r>
              <a:endParaRPr lang="en-US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cxnSp>
          <p:nvCxnSpPr>
            <p:cNvPr id="49" name="Straight Arrow Connector 48"/>
            <p:cNvCxnSpPr/>
            <p:nvPr/>
          </p:nvCxnSpPr>
          <p:spPr>
            <a:xfrm flipH="1">
              <a:off x="9609944" y="4689053"/>
              <a:ext cx="9950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6925120" y="4259386"/>
              <a:ext cx="7425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Impacté</a:t>
              </a:r>
              <a:endParaRPr lang="en-US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790804" y="4252754"/>
              <a:ext cx="7425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Impacté</a:t>
              </a:r>
              <a:endParaRPr lang="en-US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668043" y="3445526"/>
              <a:ext cx="7425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Impacté</a:t>
              </a:r>
              <a:endParaRPr lang="en-US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560688" y="3452919"/>
              <a:ext cx="7425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Impacté</a:t>
              </a:r>
              <a:endParaRPr lang="en-US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58" name="Date Placeholder 5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59" name="Footer Placeholder 5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60" name="Slide Number Placeholder 5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11</a:t>
            </a:fld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xmlns="" id="{965E6DBC-6C4B-4020-89E4-106299C04015}"/>
              </a:ext>
            </a:extLst>
          </p:cNvPr>
          <p:cNvGrpSpPr/>
          <p:nvPr/>
        </p:nvGrpSpPr>
        <p:grpSpPr>
          <a:xfrm>
            <a:off x="0" y="0"/>
            <a:ext cx="12168000" cy="360000"/>
            <a:chOff x="387926" y="6889"/>
            <a:chExt cx="11804074" cy="1310604"/>
          </a:xfrm>
        </p:grpSpPr>
        <p:sp>
          <p:nvSpPr>
            <p:cNvPr id="73" name="Chevron 16">
              <a:extLst>
                <a:ext uri="{FF2B5EF4-FFF2-40B4-BE49-F238E27FC236}">
                  <a16:creationId xmlns:a16="http://schemas.microsoft.com/office/drawing/2014/main" xmlns="" id="{9BD63203-2458-4ECA-AB22-8A14AD54966F}"/>
                </a:ext>
              </a:extLst>
            </p:cNvPr>
            <p:cNvSpPr/>
            <p:nvPr/>
          </p:nvSpPr>
          <p:spPr>
            <a:xfrm>
              <a:off x="387926" y="156499"/>
              <a:ext cx="2351561" cy="1001971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74" name="Chevron 17">
              <a:extLst>
                <a:ext uri="{FF2B5EF4-FFF2-40B4-BE49-F238E27FC236}">
                  <a16:creationId xmlns:a16="http://schemas.microsoft.com/office/drawing/2014/main" xmlns="" id="{B71BB7F3-C517-4CEE-9811-95B9D0A635B9}"/>
                </a:ext>
              </a:extLst>
            </p:cNvPr>
            <p:cNvSpPr/>
            <p:nvPr/>
          </p:nvSpPr>
          <p:spPr>
            <a:xfrm>
              <a:off x="5327072" y="161191"/>
              <a:ext cx="2351562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75" name="Chevron 18">
              <a:extLst>
                <a:ext uri="{FF2B5EF4-FFF2-40B4-BE49-F238E27FC236}">
                  <a16:creationId xmlns:a16="http://schemas.microsoft.com/office/drawing/2014/main" xmlns="" id="{C086C3C3-336F-497A-A938-32233E61F62E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76" name="Chevron 19">
              <a:extLst>
                <a:ext uri="{FF2B5EF4-FFF2-40B4-BE49-F238E27FC236}">
                  <a16:creationId xmlns:a16="http://schemas.microsoft.com/office/drawing/2014/main" xmlns="" id="{95931E01-13B3-4C9E-8947-C3146E4A4664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77" name="Chevron 20">
              <a:extLst>
                <a:ext uri="{FF2B5EF4-FFF2-40B4-BE49-F238E27FC236}">
                  <a16:creationId xmlns:a16="http://schemas.microsoft.com/office/drawing/2014/main" xmlns="" id="{E9F9A1F8-CEC5-40C7-B21E-8EBE6B2ECD6F}"/>
                </a:ext>
              </a:extLst>
            </p:cNvPr>
            <p:cNvSpPr/>
            <p:nvPr/>
          </p:nvSpPr>
          <p:spPr>
            <a:xfrm>
              <a:off x="2508136" y="6889"/>
              <a:ext cx="2981943" cy="1310604"/>
            </a:xfrm>
            <a:prstGeom prst="chevron">
              <a:avLst/>
            </a:prstGeom>
            <a:solidFill>
              <a:srgbClr val="239C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2ADAFB51-F8FB-4337-BC19-C2D7714D6515}"/>
              </a:ext>
            </a:extLst>
          </p:cNvPr>
          <p:cNvSpPr txBox="1"/>
          <p:nvPr/>
        </p:nvSpPr>
        <p:spPr>
          <a:xfrm>
            <a:off x="838200" y="1290578"/>
            <a:ext cx="5741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solidFill>
                  <a:srgbClr val="2FC9FF"/>
                </a:solidFill>
              </a:rPr>
              <a:t>Approche dépendance de compilation</a:t>
            </a:r>
          </a:p>
        </p:txBody>
      </p:sp>
    </p:spTree>
    <p:extLst>
      <p:ext uri="{BB962C8B-B14F-4D97-AF65-F5344CB8AC3E}">
        <p14:creationId xmlns:p14="http://schemas.microsoft.com/office/powerpoint/2010/main" val="223775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2266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Étude comparative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Principe: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Suivre les appels de méthodes et instanciations de classes</a:t>
            </a:r>
          </a:p>
          <a:p>
            <a:r>
              <a:rPr lang="fr-FR" sz="22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Avantage </a:t>
            </a:r>
            <a:r>
              <a:rPr lang="fr-FR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Moins de tests à exécuter</a:t>
            </a:r>
          </a:p>
          <a:p>
            <a:r>
              <a:rPr lang="fr-FR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Inconvénients : 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</a:t>
            </a:r>
            <a:r>
              <a:rPr lang="fr-FR" sz="20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emps </a:t>
            </a:r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 </a:t>
            </a:r>
            <a:r>
              <a:rPr lang="fr-FR" sz="20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calcul considérable</a:t>
            </a:r>
            <a:endParaRPr lang="fr-FR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Valable que pour les tests unitaires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12</a:t>
            </a:fld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8EEA94A0-863D-420A-B153-218CD8C54A76}"/>
              </a:ext>
            </a:extLst>
          </p:cNvPr>
          <p:cNvGrpSpPr/>
          <p:nvPr/>
        </p:nvGrpSpPr>
        <p:grpSpPr>
          <a:xfrm>
            <a:off x="0" y="0"/>
            <a:ext cx="12168000" cy="360000"/>
            <a:chOff x="387926" y="6889"/>
            <a:chExt cx="11804074" cy="1310604"/>
          </a:xfrm>
        </p:grpSpPr>
        <p:sp>
          <p:nvSpPr>
            <p:cNvPr id="25" name="Chevron 16">
              <a:extLst>
                <a:ext uri="{FF2B5EF4-FFF2-40B4-BE49-F238E27FC236}">
                  <a16:creationId xmlns:a16="http://schemas.microsoft.com/office/drawing/2014/main" xmlns="" id="{6DD31F38-6313-48DB-9C8B-70281735B02F}"/>
                </a:ext>
              </a:extLst>
            </p:cNvPr>
            <p:cNvSpPr/>
            <p:nvPr/>
          </p:nvSpPr>
          <p:spPr>
            <a:xfrm>
              <a:off x="387926" y="156499"/>
              <a:ext cx="2351561" cy="1001971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6" name="Chevron 17">
              <a:extLst>
                <a:ext uri="{FF2B5EF4-FFF2-40B4-BE49-F238E27FC236}">
                  <a16:creationId xmlns:a16="http://schemas.microsoft.com/office/drawing/2014/main" xmlns="" id="{EE87E82F-9D36-4DD2-B4B0-9E3DABB93AD0}"/>
                </a:ext>
              </a:extLst>
            </p:cNvPr>
            <p:cNvSpPr/>
            <p:nvPr/>
          </p:nvSpPr>
          <p:spPr>
            <a:xfrm>
              <a:off x="5327072" y="161191"/>
              <a:ext cx="2351562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7" name="Chevron 18">
              <a:extLst>
                <a:ext uri="{FF2B5EF4-FFF2-40B4-BE49-F238E27FC236}">
                  <a16:creationId xmlns:a16="http://schemas.microsoft.com/office/drawing/2014/main" xmlns="" id="{FFEEFEE2-7BED-4500-BDD3-BEC662ABEEB0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8" name="Chevron 19">
              <a:extLst>
                <a:ext uri="{FF2B5EF4-FFF2-40B4-BE49-F238E27FC236}">
                  <a16:creationId xmlns:a16="http://schemas.microsoft.com/office/drawing/2014/main" xmlns="" id="{A6D16034-A5D5-47C2-9A4D-E28B4D1DAEA3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9" name="Chevron 20">
              <a:extLst>
                <a:ext uri="{FF2B5EF4-FFF2-40B4-BE49-F238E27FC236}">
                  <a16:creationId xmlns:a16="http://schemas.microsoft.com/office/drawing/2014/main" xmlns="" id="{72544D5B-FC88-4ECD-A3E7-0065CDC60089}"/>
                </a:ext>
              </a:extLst>
            </p:cNvPr>
            <p:cNvSpPr/>
            <p:nvPr/>
          </p:nvSpPr>
          <p:spPr>
            <a:xfrm>
              <a:off x="2508136" y="6889"/>
              <a:ext cx="2981943" cy="1310604"/>
            </a:xfrm>
            <a:prstGeom prst="chevron">
              <a:avLst/>
            </a:prstGeom>
            <a:solidFill>
              <a:srgbClr val="239C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FFA0D308-C84B-4513-AEC7-1F7B3EB2396C}"/>
              </a:ext>
            </a:extLst>
          </p:cNvPr>
          <p:cNvSpPr txBox="1"/>
          <p:nvPr/>
        </p:nvSpPr>
        <p:spPr>
          <a:xfrm>
            <a:off x="838200" y="1290578"/>
            <a:ext cx="64520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solidFill>
                  <a:srgbClr val="2FC9FF"/>
                </a:solidFill>
              </a:rPr>
              <a:t>Approche des références statiques du code</a:t>
            </a:r>
          </a:p>
        </p:txBody>
      </p:sp>
    </p:spTree>
    <p:extLst>
      <p:ext uri="{BB962C8B-B14F-4D97-AF65-F5344CB8AC3E}">
        <p14:creationId xmlns:p14="http://schemas.microsoft.com/office/powerpoint/2010/main" val="340297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31631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Étude comparative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838200" y="2180467"/>
            <a:ext cx="10515600" cy="337417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Principe: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Enregistrer les blocks de code exécutés par les tests.</a:t>
            </a:r>
          </a:p>
          <a:p>
            <a:r>
              <a:rPr lang="fr-FR" sz="22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Avantage </a:t>
            </a:r>
            <a:r>
              <a:rPr lang="fr-FR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Moins de tests à exécuter</a:t>
            </a:r>
          </a:p>
          <a:p>
            <a:r>
              <a:rPr lang="fr-FR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Inconvénients : 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Temps de </a:t>
            </a:r>
            <a:r>
              <a:rPr lang="fr-FR" sz="20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calcul considérable</a:t>
            </a:r>
            <a:endParaRPr lang="fr-FR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Précision instable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Valable que pour les tests unitaires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13</a:t>
            </a:fld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B49CA64D-03F0-4D59-BD70-64EB50DE0366}"/>
              </a:ext>
            </a:extLst>
          </p:cNvPr>
          <p:cNvGrpSpPr/>
          <p:nvPr/>
        </p:nvGrpSpPr>
        <p:grpSpPr>
          <a:xfrm>
            <a:off x="0" y="0"/>
            <a:ext cx="12168000" cy="360000"/>
            <a:chOff x="387926" y="6889"/>
            <a:chExt cx="11804074" cy="1310604"/>
          </a:xfrm>
        </p:grpSpPr>
        <p:sp>
          <p:nvSpPr>
            <p:cNvPr id="25" name="Chevron 16">
              <a:extLst>
                <a:ext uri="{FF2B5EF4-FFF2-40B4-BE49-F238E27FC236}">
                  <a16:creationId xmlns:a16="http://schemas.microsoft.com/office/drawing/2014/main" xmlns="" id="{7B7B76EA-9BB6-4E9A-9CBF-2A1DD0CBD46B}"/>
                </a:ext>
              </a:extLst>
            </p:cNvPr>
            <p:cNvSpPr/>
            <p:nvPr/>
          </p:nvSpPr>
          <p:spPr>
            <a:xfrm>
              <a:off x="387926" y="156499"/>
              <a:ext cx="2351561" cy="1001971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6" name="Chevron 17">
              <a:extLst>
                <a:ext uri="{FF2B5EF4-FFF2-40B4-BE49-F238E27FC236}">
                  <a16:creationId xmlns:a16="http://schemas.microsoft.com/office/drawing/2014/main" xmlns="" id="{1843DB9A-E5E9-4C1A-85F3-1157DC7C6857}"/>
                </a:ext>
              </a:extLst>
            </p:cNvPr>
            <p:cNvSpPr/>
            <p:nvPr/>
          </p:nvSpPr>
          <p:spPr>
            <a:xfrm>
              <a:off x="5327072" y="161191"/>
              <a:ext cx="2351562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7" name="Chevron 18">
              <a:extLst>
                <a:ext uri="{FF2B5EF4-FFF2-40B4-BE49-F238E27FC236}">
                  <a16:creationId xmlns:a16="http://schemas.microsoft.com/office/drawing/2014/main" xmlns="" id="{3ABDCE28-5EEF-41F8-A3A7-89049FFA7A9B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8" name="Chevron 19">
              <a:extLst>
                <a:ext uri="{FF2B5EF4-FFF2-40B4-BE49-F238E27FC236}">
                  <a16:creationId xmlns:a16="http://schemas.microsoft.com/office/drawing/2014/main" xmlns="" id="{968DF0F7-AF2B-4DF3-BE6D-2C2A7AF0BA60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9" name="Chevron 20">
              <a:extLst>
                <a:ext uri="{FF2B5EF4-FFF2-40B4-BE49-F238E27FC236}">
                  <a16:creationId xmlns:a16="http://schemas.microsoft.com/office/drawing/2014/main" xmlns="" id="{5468D476-0D25-4EA2-8EBD-7427FA8EDF52}"/>
                </a:ext>
              </a:extLst>
            </p:cNvPr>
            <p:cNvSpPr/>
            <p:nvPr/>
          </p:nvSpPr>
          <p:spPr>
            <a:xfrm>
              <a:off x="2508136" y="6889"/>
              <a:ext cx="2981943" cy="1310604"/>
            </a:xfrm>
            <a:prstGeom prst="chevron">
              <a:avLst/>
            </a:prstGeom>
            <a:solidFill>
              <a:srgbClr val="239C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CB2D61B9-BB55-47DC-8AE5-BE5FBA58F6BC}"/>
              </a:ext>
            </a:extLst>
          </p:cNvPr>
          <p:cNvSpPr txBox="1"/>
          <p:nvPr/>
        </p:nvSpPr>
        <p:spPr>
          <a:xfrm>
            <a:off x="838200" y="1495689"/>
            <a:ext cx="4760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solidFill>
                  <a:srgbClr val="2FC9FF"/>
                </a:solidFill>
              </a:rPr>
              <a:t>Approche d’Analyse dynamique</a:t>
            </a:r>
          </a:p>
        </p:txBody>
      </p:sp>
    </p:spTree>
    <p:extLst>
      <p:ext uri="{BB962C8B-B14F-4D97-AF65-F5344CB8AC3E}">
        <p14:creationId xmlns:p14="http://schemas.microsoft.com/office/powerpoint/2010/main" val="2069746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10414" y="3275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Étude comparative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838200" y="2546251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Principe:</a:t>
            </a:r>
          </a:p>
          <a:p>
            <a:pPr lvl="1"/>
            <a:r>
              <a:rPr lang="fr-FR" sz="20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Entraînement </a:t>
            </a:r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d’un modèle utilisant les données historiques</a:t>
            </a:r>
          </a:p>
          <a:p>
            <a:r>
              <a:rPr lang="fr-FR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Avantages :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Prédit le succès ou l’échec de tests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Temps de calcul raisonnable</a:t>
            </a:r>
          </a:p>
          <a:p>
            <a:r>
              <a:rPr lang="fr-FR" sz="2200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Inconvénient </a:t>
            </a:r>
            <a:r>
              <a:rPr lang="fr-FR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endParaRPr lang="fr-FR" sz="2200" dirty="0" smtClean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Dépend de la précision du modèle </a:t>
            </a:r>
            <a:r>
              <a:rPr lang="fr-FR" sz="20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statistique</a:t>
            </a: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14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411D33A8-70CC-49FD-9232-9BAC7E4140B2}"/>
              </a:ext>
            </a:extLst>
          </p:cNvPr>
          <p:cNvGrpSpPr/>
          <p:nvPr/>
        </p:nvGrpSpPr>
        <p:grpSpPr>
          <a:xfrm>
            <a:off x="0" y="0"/>
            <a:ext cx="12168000" cy="360000"/>
            <a:chOff x="387926" y="6889"/>
            <a:chExt cx="11804074" cy="1310604"/>
          </a:xfrm>
        </p:grpSpPr>
        <p:sp>
          <p:nvSpPr>
            <p:cNvPr id="27" name="Chevron 16">
              <a:extLst>
                <a:ext uri="{FF2B5EF4-FFF2-40B4-BE49-F238E27FC236}">
                  <a16:creationId xmlns:a16="http://schemas.microsoft.com/office/drawing/2014/main" xmlns="" id="{38349969-1733-4FE3-BB28-B07E44F2A995}"/>
                </a:ext>
              </a:extLst>
            </p:cNvPr>
            <p:cNvSpPr/>
            <p:nvPr/>
          </p:nvSpPr>
          <p:spPr>
            <a:xfrm>
              <a:off x="387926" y="156499"/>
              <a:ext cx="2351561" cy="1001971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8" name="Chevron 17">
              <a:extLst>
                <a:ext uri="{FF2B5EF4-FFF2-40B4-BE49-F238E27FC236}">
                  <a16:creationId xmlns:a16="http://schemas.microsoft.com/office/drawing/2014/main" xmlns="" id="{88AF425E-1C75-4690-9BB1-BF95197ACB39}"/>
                </a:ext>
              </a:extLst>
            </p:cNvPr>
            <p:cNvSpPr/>
            <p:nvPr/>
          </p:nvSpPr>
          <p:spPr>
            <a:xfrm>
              <a:off x="5327072" y="161191"/>
              <a:ext cx="2351562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9" name="Chevron 18">
              <a:extLst>
                <a:ext uri="{FF2B5EF4-FFF2-40B4-BE49-F238E27FC236}">
                  <a16:creationId xmlns:a16="http://schemas.microsoft.com/office/drawing/2014/main" xmlns="" id="{D9E9D22D-A67C-41EC-BAFC-92F2A0FB48B7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30" name="Chevron 19">
              <a:extLst>
                <a:ext uri="{FF2B5EF4-FFF2-40B4-BE49-F238E27FC236}">
                  <a16:creationId xmlns:a16="http://schemas.microsoft.com/office/drawing/2014/main" xmlns="" id="{44CFD4CA-48EE-4BBE-9FEC-12AD24C5B254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31" name="Chevron 20">
              <a:extLst>
                <a:ext uri="{FF2B5EF4-FFF2-40B4-BE49-F238E27FC236}">
                  <a16:creationId xmlns:a16="http://schemas.microsoft.com/office/drawing/2014/main" xmlns="" id="{DDABA88B-7C3F-449E-BEEB-C0EDA470FAE1}"/>
                </a:ext>
              </a:extLst>
            </p:cNvPr>
            <p:cNvSpPr/>
            <p:nvPr/>
          </p:nvSpPr>
          <p:spPr>
            <a:xfrm>
              <a:off x="2508136" y="6889"/>
              <a:ext cx="2981943" cy="1310604"/>
            </a:xfrm>
            <a:prstGeom prst="chevron">
              <a:avLst/>
            </a:prstGeom>
            <a:solidFill>
              <a:srgbClr val="239C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DB061DDD-C913-4EDC-9779-216F3CE7201C}"/>
              </a:ext>
            </a:extLst>
          </p:cNvPr>
          <p:cNvSpPr txBox="1"/>
          <p:nvPr/>
        </p:nvSpPr>
        <p:spPr>
          <a:xfrm>
            <a:off x="810414" y="1696794"/>
            <a:ext cx="3227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solidFill>
                  <a:srgbClr val="2FC9FF"/>
                </a:solidFill>
              </a:rPr>
              <a:t>Approche Statistique</a:t>
            </a:r>
          </a:p>
        </p:txBody>
      </p:sp>
    </p:spTree>
    <p:extLst>
      <p:ext uri="{BB962C8B-B14F-4D97-AF65-F5344CB8AC3E}">
        <p14:creationId xmlns:p14="http://schemas.microsoft.com/office/powerpoint/2010/main" val="336800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/>
        </p:nvSpPr>
        <p:spPr>
          <a:xfrm>
            <a:off x="3896187" y="2020924"/>
            <a:ext cx="2580253" cy="2580251"/>
          </a:xfrm>
          <a:prstGeom prst="ellipse">
            <a:avLst/>
          </a:prstGeom>
          <a:solidFill>
            <a:srgbClr val="2099D8">
              <a:alpha val="80000"/>
            </a:srgbClr>
          </a:solidFill>
          <a:ln w="9525" cap="flat" cmpd="sng" algn="ctr">
            <a:solidFill>
              <a:srgbClr val="2099D8">
                <a:alpha val="8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Light"/>
              </a:rPr>
              <a:t>Dépendance</a:t>
            </a:r>
            <a:r>
              <a:rPr lang="fr-FR" sz="2000" kern="0" dirty="0" smtClean="0">
                <a:solidFill>
                  <a:schemeClr val="bg1"/>
                </a:solidFill>
                <a:latin typeface="Open Sans Light"/>
              </a:rPr>
              <a:t> </a:t>
            </a:r>
            <a:r>
              <a:rPr lang="fr-FR" sz="2000" kern="0" dirty="0">
                <a:solidFill>
                  <a:schemeClr val="bg1"/>
                </a:solidFill>
                <a:latin typeface="Open Sans Light"/>
              </a:rPr>
              <a:t>de compilation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Open Sans Light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119619" y="2020924"/>
            <a:ext cx="2580253" cy="2580251"/>
          </a:xfrm>
          <a:prstGeom prst="ellipse">
            <a:avLst/>
          </a:prstGeom>
          <a:solidFill>
            <a:srgbClr val="5BBE77">
              <a:alpha val="85000"/>
            </a:srgbClr>
          </a:solidFill>
          <a:ln w="9525" cap="flat" cmpd="sng" algn="ctr">
            <a:solidFill>
              <a:srgbClr val="5BBE77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Light"/>
                <a:ea typeface="+mn-ea"/>
                <a:cs typeface="+mn-cs"/>
              </a:rPr>
              <a:t>Approche statistique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763467" y="4970464"/>
            <a:ext cx="3165376" cy="404150"/>
          </a:xfrm>
          <a:prstGeom prst="rect">
            <a:avLst/>
          </a:prstGeom>
          <a:solidFill>
            <a:srgbClr val="57565A">
              <a:lumMod val="50000"/>
            </a:srgbClr>
          </a:solidFill>
        </p:spPr>
        <p:txBody>
          <a:bodyPr wrap="square">
            <a:spAutoFit/>
          </a:bodyPr>
          <a:lstStyle/>
          <a:p>
            <a:pPr marL="0" marR="0" lvl="0" indent="0" algn="ctr" defTabSz="121917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Light"/>
              </a:rPr>
              <a:t>TestsSelector</a:t>
            </a:r>
          </a:p>
        </p:txBody>
      </p:sp>
      <p:sp>
        <p:nvSpPr>
          <p:cNvPr id="21" name="Oval 20"/>
          <p:cNvSpPr/>
          <p:nvPr/>
        </p:nvSpPr>
        <p:spPr>
          <a:xfrm>
            <a:off x="6215913" y="3215039"/>
            <a:ext cx="192021" cy="192021"/>
          </a:xfrm>
          <a:prstGeom prst="ellipse">
            <a:avLst/>
          </a:prstGeom>
          <a:solidFill>
            <a:srgbClr val="57565A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cxnSp>
        <p:nvCxnSpPr>
          <p:cNvPr id="22" name="Straight Connector 21"/>
          <p:cNvCxnSpPr>
            <a:stCxn id="21" idx="4"/>
            <a:endCxn id="20" idx="0"/>
          </p:cNvCxnSpPr>
          <p:nvPr/>
        </p:nvCxnSpPr>
        <p:spPr>
          <a:xfrm>
            <a:off x="6311924" y="3407060"/>
            <a:ext cx="34231" cy="1563404"/>
          </a:xfrm>
          <a:prstGeom prst="line">
            <a:avLst/>
          </a:prstGeom>
          <a:noFill/>
          <a:ln w="9525" cap="flat" cmpd="sng" algn="ctr">
            <a:solidFill>
              <a:srgbClr val="57565A">
                <a:lumMod val="50000"/>
              </a:srgbClr>
            </a:solidFill>
            <a:prstDash val="solid"/>
          </a:ln>
          <a:effectLst/>
        </p:spPr>
      </p:cxn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861819" y="38344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Approche adoptée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15</a:t>
            </a:fld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xmlns="" id="{6A268B2A-F9EE-485B-BE62-34CB51621E7C}"/>
              </a:ext>
            </a:extLst>
          </p:cNvPr>
          <p:cNvGrpSpPr/>
          <p:nvPr/>
        </p:nvGrpSpPr>
        <p:grpSpPr>
          <a:xfrm>
            <a:off x="0" y="0"/>
            <a:ext cx="12168000" cy="360000"/>
            <a:chOff x="387926" y="6889"/>
            <a:chExt cx="11804074" cy="1310604"/>
          </a:xfrm>
        </p:grpSpPr>
        <p:sp>
          <p:nvSpPr>
            <p:cNvPr id="39" name="Chevron 16">
              <a:extLst>
                <a:ext uri="{FF2B5EF4-FFF2-40B4-BE49-F238E27FC236}">
                  <a16:creationId xmlns:a16="http://schemas.microsoft.com/office/drawing/2014/main" xmlns="" id="{090EDEE8-B8FC-41CA-A330-A6F763ED7329}"/>
                </a:ext>
              </a:extLst>
            </p:cNvPr>
            <p:cNvSpPr/>
            <p:nvPr/>
          </p:nvSpPr>
          <p:spPr>
            <a:xfrm>
              <a:off x="387926" y="156499"/>
              <a:ext cx="2351561" cy="1001971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0" name="Chevron 17">
              <a:extLst>
                <a:ext uri="{FF2B5EF4-FFF2-40B4-BE49-F238E27FC236}">
                  <a16:creationId xmlns:a16="http://schemas.microsoft.com/office/drawing/2014/main" xmlns="" id="{5EF7F8A4-AB48-42B4-B3B6-9FB800924D7F}"/>
                </a:ext>
              </a:extLst>
            </p:cNvPr>
            <p:cNvSpPr/>
            <p:nvPr/>
          </p:nvSpPr>
          <p:spPr>
            <a:xfrm>
              <a:off x="5327072" y="161191"/>
              <a:ext cx="2351562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1" name="Chevron 18">
              <a:extLst>
                <a:ext uri="{FF2B5EF4-FFF2-40B4-BE49-F238E27FC236}">
                  <a16:creationId xmlns:a16="http://schemas.microsoft.com/office/drawing/2014/main" xmlns="" id="{70D76403-1F2C-4883-86E1-11928E7E346B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2" name="Chevron 19">
              <a:extLst>
                <a:ext uri="{FF2B5EF4-FFF2-40B4-BE49-F238E27FC236}">
                  <a16:creationId xmlns:a16="http://schemas.microsoft.com/office/drawing/2014/main" xmlns="" id="{C56ABC55-A060-4F14-915B-5270B7EE7612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3" name="Chevron 20">
              <a:extLst>
                <a:ext uri="{FF2B5EF4-FFF2-40B4-BE49-F238E27FC236}">
                  <a16:creationId xmlns:a16="http://schemas.microsoft.com/office/drawing/2014/main" xmlns="" id="{0A0B7C50-1397-4CF3-B64D-C715801CA043}"/>
                </a:ext>
              </a:extLst>
            </p:cNvPr>
            <p:cNvSpPr/>
            <p:nvPr/>
          </p:nvSpPr>
          <p:spPr>
            <a:xfrm>
              <a:off x="2508136" y="6889"/>
              <a:ext cx="2981943" cy="1310604"/>
            </a:xfrm>
            <a:prstGeom prst="chevron">
              <a:avLst/>
            </a:prstGeom>
            <a:solidFill>
              <a:srgbClr val="239C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623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0"/>
          <p:cNvSpPr txBox="1">
            <a:spLocks/>
          </p:cNvSpPr>
          <p:nvPr/>
        </p:nvSpPr>
        <p:spPr>
          <a:xfrm>
            <a:off x="1007823" y="2645536"/>
            <a:ext cx="5429385" cy="211335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gradFill>
                  <a:gsLst>
                    <a:gs pos="15000">
                      <a:schemeClr val="tx1"/>
                    </a:gs>
                    <a:gs pos="47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Petites </a:t>
            </a:r>
            <a:r>
              <a:rPr lang="fr-F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livraisons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Peer </a:t>
            </a:r>
            <a:r>
              <a:rPr lang="fr-FR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programming</a:t>
            </a:r>
            <a:endParaRPr lang="fr-FR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Tests unitaires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Revues de code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Refactoring</a:t>
            </a:r>
            <a:endParaRPr lang="fr-FR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Placeholder 20"/>
          <p:cNvSpPr txBox="1">
            <a:spLocks/>
          </p:cNvSpPr>
          <p:nvPr/>
        </p:nvSpPr>
        <p:spPr>
          <a:xfrm>
            <a:off x="3385340" y="1544241"/>
            <a:ext cx="5837485" cy="78905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gradFill>
                  <a:gsLst>
                    <a:gs pos="15000">
                      <a:schemeClr val="tx1"/>
                    </a:gs>
                    <a:gs pos="47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Méthode de gestion de projet 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eXtreme</a:t>
            </a:r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Programming</a:t>
            </a:r>
            <a:endParaRPr lang="fr-FR" b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Gestion de projet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16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FBB5DFF5-22B6-4B59-8850-D30272ADCF29}"/>
              </a:ext>
            </a:extLst>
          </p:cNvPr>
          <p:cNvGrpSpPr/>
          <p:nvPr/>
        </p:nvGrpSpPr>
        <p:grpSpPr>
          <a:xfrm>
            <a:off x="0" y="0"/>
            <a:ext cx="12168000" cy="360000"/>
            <a:chOff x="387926" y="6889"/>
            <a:chExt cx="11804074" cy="1310604"/>
          </a:xfrm>
        </p:grpSpPr>
        <p:sp>
          <p:nvSpPr>
            <p:cNvPr id="23" name="Chevron 16">
              <a:extLst>
                <a:ext uri="{FF2B5EF4-FFF2-40B4-BE49-F238E27FC236}">
                  <a16:creationId xmlns:a16="http://schemas.microsoft.com/office/drawing/2014/main" xmlns="" id="{228535F2-C608-4ECD-AB1C-4E46B5EED7DA}"/>
                </a:ext>
              </a:extLst>
            </p:cNvPr>
            <p:cNvSpPr/>
            <p:nvPr/>
          </p:nvSpPr>
          <p:spPr>
            <a:xfrm>
              <a:off x="387926" y="156499"/>
              <a:ext cx="2351561" cy="1001971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4" name="Chevron 17">
              <a:extLst>
                <a:ext uri="{FF2B5EF4-FFF2-40B4-BE49-F238E27FC236}">
                  <a16:creationId xmlns:a16="http://schemas.microsoft.com/office/drawing/2014/main" xmlns="" id="{4322D53E-90BB-4127-9467-B0646DFFE169}"/>
                </a:ext>
              </a:extLst>
            </p:cNvPr>
            <p:cNvSpPr/>
            <p:nvPr/>
          </p:nvSpPr>
          <p:spPr>
            <a:xfrm>
              <a:off x="5327072" y="161191"/>
              <a:ext cx="2351562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5" name="Chevron 18">
              <a:extLst>
                <a:ext uri="{FF2B5EF4-FFF2-40B4-BE49-F238E27FC236}">
                  <a16:creationId xmlns:a16="http://schemas.microsoft.com/office/drawing/2014/main" xmlns="" id="{4269D17C-3DA2-4F34-B039-AB405CEB2D7E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6" name="Chevron 19">
              <a:extLst>
                <a:ext uri="{FF2B5EF4-FFF2-40B4-BE49-F238E27FC236}">
                  <a16:creationId xmlns:a16="http://schemas.microsoft.com/office/drawing/2014/main" xmlns="" id="{942A6C9E-28DE-4330-BD34-52AD633FF230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7" name="Chevron 20">
              <a:extLst>
                <a:ext uri="{FF2B5EF4-FFF2-40B4-BE49-F238E27FC236}">
                  <a16:creationId xmlns:a16="http://schemas.microsoft.com/office/drawing/2014/main" xmlns="" id="{4D2DE923-2F82-46C8-ADB5-FD4A11DE53BF}"/>
                </a:ext>
              </a:extLst>
            </p:cNvPr>
            <p:cNvSpPr/>
            <p:nvPr/>
          </p:nvSpPr>
          <p:spPr>
            <a:xfrm>
              <a:off x="2508136" y="6889"/>
              <a:ext cx="2981943" cy="1310604"/>
            </a:xfrm>
            <a:prstGeom prst="chevron">
              <a:avLst/>
            </a:prstGeom>
            <a:solidFill>
              <a:srgbClr val="239C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4054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4629"/>
            <a:ext cx="12192000" cy="360000"/>
            <a:chOff x="387926" y="-3642"/>
            <a:chExt cx="11804074" cy="1310604"/>
          </a:xfrm>
        </p:grpSpPr>
        <p:sp>
          <p:nvSpPr>
            <p:cNvPr id="8" name="Chevron 7"/>
            <p:cNvSpPr/>
            <p:nvPr/>
          </p:nvSpPr>
          <p:spPr>
            <a:xfrm>
              <a:off x="387926" y="156500"/>
              <a:ext cx="2351561" cy="1011382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9" name="Chevron 8"/>
            <p:cNvSpPr/>
            <p:nvPr/>
          </p:nvSpPr>
          <p:spPr>
            <a:xfrm>
              <a:off x="2532177" y="161191"/>
              <a:ext cx="2351562" cy="1011382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0" name="Chevron 9"/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1" name="Chevron 10"/>
            <p:cNvSpPr/>
            <p:nvPr/>
          </p:nvSpPr>
          <p:spPr>
            <a:xfrm>
              <a:off x="9635836" y="161192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2" name="Chevron 11"/>
            <p:cNvSpPr/>
            <p:nvPr/>
          </p:nvSpPr>
          <p:spPr>
            <a:xfrm>
              <a:off x="4660336" y="-3642"/>
              <a:ext cx="2981943" cy="1310604"/>
            </a:xfrm>
            <a:prstGeom prst="chevron">
              <a:avLst/>
            </a:prstGeom>
            <a:solidFill>
              <a:srgbClr val="27A6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Phases de détection de BuildConfig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4" name="Line 7"/>
          <p:cNvSpPr>
            <a:spLocks noChangeShapeType="1"/>
          </p:cNvSpPr>
          <p:nvPr/>
        </p:nvSpPr>
        <p:spPr bwMode="auto">
          <a:xfrm>
            <a:off x="1899720" y="2211807"/>
            <a:ext cx="6482281" cy="30231"/>
          </a:xfrm>
          <a:prstGeom prst="line">
            <a:avLst/>
          </a:prstGeom>
          <a:noFill/>
          <a:ln w="88900" cap="rnd">
            <a:gradFill>
              <a:gsLst>
                <a:gs pos="0">
                  <a:srgbClr val="2099D8">
                    <a:lumMod val="75000"/>
                  </a:srgbClr>
                </a:gs>
                <a:gs pos="25000">
                  <a:srgbClr val="2099D8"/>
                </a:gs>
              </a:gsLst>
              <a:lin ang="19800000" scaled="0"/>
            </a:gradFill>
            <a:prstDash val="solid"/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</a:endParaRPr>
          </a:p>
        </p:txBody>
      </p:sp>
      <p:sp>
        <p:nvSpPr>
          <p:cNvPr id="75" name="Freeform 5"/>
          <p:cNvSpPr>
            <a:spLocks/>
          </p:cNvSpPr>
          <p:nvPr/>
        </p:nvSpPr>
        <p:spPr bwMode="auto">
          <a:xfrm>
            <a:off x="1499132" y="2211806"/>
            <a:ext cx="400589" cy="802251"/>
          </a:xfrm>
          <a:custGeom>
            <a:avLst/>
            <a:gdLst>
              <a:gd name="T0" fmla="*/ 129 w 129"/>
              <a:gd name="T1" fmla="*/ 258 h 258"/>
              <a:gd name="T2" fmla="*/ 0 w 129"/>
              <a:gd name="T3" fmla="*/ 129 h 258"/>
              <a:gd name="T4" fmla="*/ 129 w 129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9" h="258">
                <a:moveTo>
                  <a:pt x="129" y="258"/>
                </a:moveTo>
                <a:cubicBezTo>
                  <a:pt x="57" y="258"/>
                  <a:pt x="0" y="200"/>
                  <a:pt x="0" y="129"/>
                </a:cubicBezTo>
                <a:cubicBezTo>
                  <a:pt x="0" y="57"/>
                  <a:pt x="57" y="0"/>
                  <a:pt x="129" y="0"/>
                </a:cubicBezTo>
              </a:path>
            </a:pathLst>
          </a:custGeom>
          <a:noFill/>
          <a:ln w="88900" cap="rnd">
            <a:gradFill>
              <a:gsLst>
                <a:gs pos="0">
                  <a:srgbClr val="2099D8">
                    <a:lumMod val="75000"/>
                  </a:srgbClr>
                </a:gs>
                <a:gs pos="32000">
                  <a:srgbClr val="2099D8"/>
                </a:gs>
              </a:gsLst>
              <a:lin ang="5400000" scaled="1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</a:endParaRPr>
          </a:p>
        </p:txBody>
      </p:sp>
      <p:sp>
        <p:nvSpPr>
          <p:cNvPr id="76" name="Freeform 6"/>
          <p:cNvSpPr>
            <a:spLocks/>
          </p:cNvSpPr>
          <p:nvPr/>
        </p:nvSpPr>
        <p:spPr bwMode="auto">
          <a:xfrm>
            <a:off x="1899720" y="2211806"/>
            <a:ext cx="400589" cy="802251"/>
          </a:xfrm>
          <a:custGeom>
            <a:avLst/>
            <a:gdLst>
              <a:gd name="T0" fmla="*/ 0 w 129"/>
              <a:gd name="T1" fmla="*/ 0 h 258"/>
              <a:gd name="T2" fmla="*/ 129 w 129"/>
              <a:gd name="T3" fmla="*/ 129 h 258"/>
              <a:gd name="T4" fmla="*/ 0 w 129"/>
              <a:gd name="T5" fmla="*/ 258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9" h="258">
                <a:moveTo>
                  <a:pt x="0" y="0"/>
                </a:moveTo>
                <a:cubicBezTo>
                  <a:pt x="71" y="0"/>
                  <a:pt x="129" y="57"/>
                  <a:pt x="129" y="129"/>
                </a:cubicBezTo>
                <a:cubicBezTo>
                  <a:pt x="129" y="200"/>
                  <a:pt x="71" y="258"/>
                  <a:pt x="0" y="258"/>
                </a:cubicBezTo>
              </a:path>
            </a:pathLst>
          </a:custGeom>
          <a:noFill/>
          <a:ln w="88900" cap="rnd">
            <a:solidFill>
              <a:srgbClr val="2099D8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</a:endParaRPr>
          </a:p>
        </p:txBody>
      </p:sp>
      <p:sp>
        <p:nvSpPr>
          <p:cNvPr id="77" name="Line 8"/>
          <p:cNvSpPr>
            <a:spLocks noChangeShapeType="1"/>
          </p:cNvSpPr>
          <p:nvPr/>
        </p:nvSpPr>
        <p:spPr bwMode="auto">
          <a:xfrm flipH="1" flipV="1">
            <a:off x="-1473199" y="2207123"/>
            <a:ext cx="3372921" cy="4684"/>
          </a:xfrm>
          <a:prstGeom prst="line">
            <a:avLst/>
          </a:prstGeom>
          <a:noFill/>
          <a:ln w="88900" cap="rnd">
            <a:solidFill>
              <a:srgbClr val="2099D8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573353" y="2320545"/>
            <a:ext cx="652743" cy="584775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 defTabSz="1219170"/>
            <a:r>
              <a:rPr lang="en-US" sz="3200" dirty="0">
                <a:solidFill>
                  <a:srgbClr val="57565A"/>
                </a:solidFill>
                <a:latin typeface="Open Sans Light"/>
              </a:rPr>
              <a:t>01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845077" y="2007068"/>
            <a:ext cx="26275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fr-FR" sz="2000" dirty="0">
                <a:latin typeface="Open Sans Light"/>
              </a:rPr>
              <a:t>Valable </a:t>
            </a:r>
            <a:r>
              <a:rPr lang="fr-FR" sz="2000" dirty="0" smtClean="0">
                <a:latin typeface="Open Sans Light"/>
              </a:rPr>
              <a:t>aux </a:t>
            </a:r>
            <a:r>
              <a:rPr lang="fr-FR" sz="2000" dirty="0">
                <a:latin typeface="Open Sans Light"/>
              </a:rPr>
              <a:t>tests unitaires</a:t>
            </a:r>
            <a:endParaRPr lang="en-US" sz="2000" dirty="0">
              <a:latin typeface="Open Sans Light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2503213" y="2331286"/>
            <a:ext cx="331578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en-US" sz="2000" dirty="0">
                <a:latin typeface="Open Sans Light"/>
              </a:rPr>
              <a:t>Phase </a:t>
            </a:r>
            <a:r>
              <a:rPr lang="en-US" sz="2000" dirty="0" err="1">
                <a:latin typeface="Open Sans Light"/>
              </a:rPr>
              <a:t>déterministe</a:t>
            </a:r>
            <a:r>
              <a:rPr lang="en-US" sz="2000" dirty="0">
                <a:latin typeface="Open Sans Light"/>
              </a:rPr>
              <a:t> </a:t>
            </a:r>
            <a:r>
              <a:rPr lang="en-US" sz="2000" dirty="0" err="1">
                <a:latin typeface="Open Sans Light"/>
              </a:rPr>
              <a:t>basée</a:t>
            </a:r>
            <a:r>
              <a:rPr lang="en-US" sz="2000" dirty="0">
                <a:latin typeface="Open Sans Light"/>
              </a:rPr>
              <a:t> sur les </a:t>
            </a:r>
            <a:r>
              <a:rPr lang="en-US" sz="2000" dirty="0" err="1">
                <a:latin typeface="Open Sans Light"/>
              </a:rPr>
              <a:t>dépendances</a:t>
            </a:r>
            <a:r>
              <a:rPr lang="en-US" sz="2000" dirty="0">
                <a:latin typeface="Open Sans Light"/>
              </a:rPr>
              <a:t> </a:t>
            </a:r>
            <a:r>
              <a:rPr lang="en-US" sz="2000" dirty="0" smtClean="0">
                <a:latin typeface="Open Sans Light"/>
              </a:rPr>
              <a:t>entre </a:t>
            </a:r>
            <a:r>
              <a:rPr lang="en-US" sz="2000" dirty="0" err="1">
                <a:latin typeface="Open Sans Light"/>
              </a:rPr>
              <a:t>projets</a:t>
            </a:r>
            <a:endParaRPr lang="en-US" sz="2000" dirty="0">
              <a:latin typeface="Open Sans Light"/>
            </a:endParaRPr>
          </a:p>
        </p:txBody>
      </p:sp>
      <p:sp>
        <p:nvSpPr>
          <p:cNvPr id="114" name="Line 7"/>
          <p:cNvSpPr>
            <a:spLocks noChangeShapeType="1"/>
          </p:cNvSpPr>
          <p:nvPr/>
        </p:nvSpPr>
        <p:spPr bwMode="auto">
          <a:xfrm>
            <a:off x="1891700" y="4626143"/>
            <a:ext cx="6482281" cy="30231"/>
          </a:xfrm>
          <a:prstGeom prst="line">
            <a:avLst/>
          </a:prstGeom>
          <a:noFill/>
          <a:ln w="88900" cap="rnd">
            <a:gradFill>
              <a:gsLst>
                <a:gs pos="0">
                  <a:srgbClr val="5BBE77">
                    <a:lumMod val="75000"/>
                  </a:srgbClr>
                </a:gs>
                <a:gs pos="25000">
                  <a:srgbClr val="5BBE77"/>
                </a:gs>
              </a:gsLst>
              <a:lin ang="19800000" scaled="0"/>
            </a:gradFill>
            <a:prstDash val="solid"/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3200" kern="0">
              <a:solidFill>
                <a:srgbClr val="57565A"/>
              </a:solidFill>
              <a:latin typeface="Open Sans Light"/>
            </a:endParaRPr>
          </a:p>
        </p:txBody>
      </p:sp>
      <p:sp>
        <p:nvSpPr>
          <p:cNvPr id="115" name="Freeform 5"/>
          <p:cNvSpPr>
            <a:spLocks/>
          </p:cNvSpPr>
          <p:nvPr/>
        </p:nvSpPr>
        <p:spPr bwMode="auto">
          <a:xfrm>
            <a:off x="1491112" y="4626142"/>
            <a:ext cx="400589" cy="802251"/>
          </a:xfrm>
          <a:custGeom>
            <a:avLst/>
            <a:gdLst>
              <a:gd name="T0" fmla="*/ 129 w 129"/>
              <a:gd name="T1" fmla="*/ 258 h 258"/>
              <a:gd name="T2" fmla="*/ 0 w 129"/>
              <a:gd name="T3" fmla="*/ 129 h 258"/>
              <a:gd name="T4" fmla="*/ 129 w 129"/>
              <a:gd name="T5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9" h="258">
                <a:moveTo>
                  <a:pt x="129" y="258"/>
                </a:moveTo>
                <a:cubicBezTo>
                  <a:pt x="57" y="258"/>
                  <a:pt x="0" y="200"/>
                  <a:pt x="0" y="129"/>
                </a:cubicBezTo>
                <a:cubicBezTo>
                  <a:pt x="0" y="57"/>
                  <a:pt x="57" y="0"/>
                  <a:pt x="129" y="0"/>
                </a:cubicBezTo>
              </a:path>
            </a:pathLst>
          </a:custGeom>
          <a:noFill/>
          <a:ln w="88900" cap="rnd">
            <a:gradFill>
              <a:gsLst>
                <a:gs pos="0">
                  <a:srgbClr val="5BBE77">
                    <a:lumMod val="75000"/>
                  </a:srgbClr>
                </a:gs>
                <a:gs pos="32000">
                  <a:srgbClr val="5BBE77"/>
                </a:gs>
              </a:gsLst>
              <a:lin ang="5400000" scaled="1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3200" kern="0">
              <a:solidFill>
                <a:srgbClr val="57565A"/>
              </a:solidFill>
              <a:latin typeface="Open Sans Light"/>
            </a:endParaRPr>
          </a:p>
        </p:txBody>
      </p:sp>
      <p:sp>
        <p:nvSpPr>
          <p:cNvPr id="116" name="Freeform 6"/>
          <p:cNvSpPr>
            <a:spLocks/>
          </p:cNvSpPr>
          <p:nvPr/>
        </p:nvSpPr>
        <p:spPr bwMode="auto">
          <a:xfrm>
            <a:off x="1891700" y="4626142"/>
            <a:ext cx="400589" cy="802251"/>
          </a:xfrm>
          <a:custGeom>
            <a:avLst/>
            <a:gdLst>
              <a:gd name="T0" fmla="*/ 0 w 129"/>
              <a:gd name="T1" fmla="*/ 0 h 258"/>
              <a:gd name="T2" fmla="*/ 129 w 129"/>
              <a:gd name="T3" fmla="*/ 129 h 258"/>
              <a:gd name="T4" fmla="*/ 0 w 129"/>
              <a:gd name="T5" fmla="*/ 258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9" h="258">
                <a:moveTo>
                  <a:pt x="0" y="0"/>
                </a:moveTo>
                <a:cubicBezTo>
                  <a:pt x="71" y="0"/>
                  <a:pt x="129" y="57"/>
                  <a:pt x="129" y="129"/>
                </a:cubicBezTo>
                <a:cubicBezTo>
                  <a:pt x="129" y="200"/>
                  <a:pt x="71" y="258"/>
                  <a:pt x="0" y="258"/>
                </a:cubicBezTo>
              </a:path>
            </a:pathLst>
          </a:custGeom>
          <a:noFill/>
          <a:ln w="88900" cap="rnd">
            <a:solidFill>
              <a:srgbClr val="5BBE77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3200" kern="0">
              <a:solidFill>
                <a:srgbClr val="57565A"/>
              </a:solidFill>
              <a:latin typeface="Open Sans Light"/>
            </a:endParaRPr>
          </a:p>
        </p:txBody>
      </p:sp>
      <p:sp>
        <p:nvSpPr>
          <p:cNvPr id="117" name="Line 8"/>
          <p:cNvSpPr>
            <a:spLocks noChangeShapeType="1"/>
          </p:cNvSpPr>
          <p:nvPr/>
        </p:nvSpPr>
        <p:spPr bwMode="auto">
          <a:xfrm flipH="1" flipV="1">
            <a:off x="-1481219" y="4621459"/>
            <a:ext cx="3372921" cy="4684"/>
          </a:xfrm>
          <a:prstGeom prst="line">
            <a:avLst/>
          </a:prstGeom>
          <a:noFill/>
          <a:ln w="88900" cap="rnd">
            <a:solidFill>
              <a:srgbClr val="5BBE77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219170"/>
            <a:endParaRPr lang="en-US" sz="3200" kern="0">
              <a:solidFill>
                <a:srgbClr val="57565A"/>
              </a:solidFill>
              <a:latin typeface="Open Sans Light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1565333" y="4734881"/>
            <a:ext cx="652743" cy="584775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 defTabSz="1219170"/>
            <a:r>
              <a:rPr lang="en-US" sz="3200" dirty="0">
                <a:solidFill>
                  <a:srgbClr val="57565A"/>
                </a:solidFill>
                <a:latin typeface="Open Sans Light"/>
              </a:rPr>
              <a:t>02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977473" y="4267516"/>
            <a:ext cx="262758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en-US" sz="2000" dirty="0">
                <a:latin typeface="Open Sans Light"/>
              </a:rPr>
              <a:t>Adaptable </a:t>
            </a:r>
            <a:r>
              <a:rPr lang="en-US" sz="2000" dirty="0" smtClean="0">
                <a:latin typeface="Open Sans Light"/>
              </a:rPr>
              <a:t>à </a:t>
            </a:r>
            <a:r>
              <a:rPr lang="en-US" sz="2000" dirty="0" err="1">
                <a:latin typeface="Open Sans Light"/>
              </a:rPr>
              <a:t>toutes</a:t>
            </a:r>
            <a:r>
              <a:rPr lang="en-US" sz="2000" dirty="0">
                <a:latin typeface="Open Sans Light"/>
              </a:rPr>
              <a:t> les categories de tests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495193" y="4745622"/>
            <a:ext cx="33238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fr-FR" sz="2000" dirty="0">
                <a:latin typeface="Open Sans Light"/>
              </a:rPr>
              <a:t>Phase probabiliste basée sur des modèles de Machine Learning</a:t>
            </a:r>
            <a:endParaRPr lang="en-US" sz="2000" dirty="0">
              <a:latin typeface="Open Sans Light"/>
            </a:endParaRPr>
          </a:p>
        </p:txBody>
      </p:sp>
      <p:sp>
        <p:nvSpPr>
          <p:cNvPr id="149" name="Date Placeholder 14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150" name="Footer Placeholder 14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151" name="Slide Number Placeholder 1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93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5" grpId="0" animBg="1"/>
      <p:bldP spid="76" grpId="0" animBg="1"/>
      <p:bldP spid="77" grpId="0" animBg="1"/>
      <p:bldP spid="78" grpId="0"/>
      <p:bldP spid="79" grpId="0"/>
      <p:bldP spid="80" grpId="0"/>
      <p:bldP spid="114" grpId="0" animBg="1"/>
      <p:bldP spid="115" grpId="0" animBg="1"/>
      <p:bldP spid="116" grpId="0" animBg="1"/>
      <p:bldP spid="117" grpId="0" animBg="1"/>
      <p:bldP spid="118" grpId="0"/>
      <p:bldP spid="119" grpId="0"/>
      <p:bldP spid="1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/>
          <p:cNvCxnSpPr/>
          <p:nvPr/>
        </p:nvCxnSpPr>
        <p:spPr>
          <a:xfrm rot="2700000" flipV="1">
            <a:off x="4632856" y="4489003"/>
            <a:ext cx="0" cy="10354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6897436" y="4655151"/>
            <a:ext cx="0" cy="5569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2700000" flipV="1">
            <a:off x="7428150" y="3335921"/>
            <a:ext cx="0" cy="10354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-2700000" flipV="1">
            <a:off x="6328048" y="3331853"/>
            <a:ext cx="0" cy="10354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-2340000" flipV="1">
            <a:off x="4666815" y="3497204"/>
            <a:ext cx="0" cy="7772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2340000" flipV="1">
            <a:off x="5437502" y="3497205"/>
            <a:ext cx="0" cy="7772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2340000" flipV="1">
            <a:off x="8231500" y="2328805"/>
            <a:ext cx="0" cy="7772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-2340000" flipV="1">
            <a:off x="7373676" y="2328804"/>
            <a:ext cx="0" cy="7772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iamond 14"/>
          <p:cNvSpPr/>
          <p:nvPr/>
        </p:nvSpPr>
        <p:spPr>
          <a:xfrm>
            <a:off x="3955461" y="5317312"/>
            <a:ext cx="393700" cy="39319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iamond 15"/>
          <p:cNvSpPr/>
          <p:nvPr/>
        </p:nvSpPr>
        <p:spPr>
          <a:xfrm>
            <a:off x="5779129" y="5317312"/>
            <a:ext cx="393700" cy="39319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mond 16"/>
          <p:cNvSpPr/>
          <p:nvPr/>
        </p:nvSpPr>
        <p:spPr>
          <a:xfrm>
            <a:off x="6688673" y="5317312"/>
            <a:ext cx="393700" cy="39319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iamond 17"/>
          <p:cNvSpPr/>
          <p:nvPr/>
        </p:nvSpPr>
        <p:spPr>
          <a:xfrm>
            <a:off x="10358689" y="5317312"/>
            <a:ext cx="393700" cy="39319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927632" y="4290738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748363" y="4290738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675463" y="3124370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0418379" y="4298358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9644979" y="3124370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1228923" y="3124370"/>
            <a:ext cx="274320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4170039" y="303293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518779" y="303293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2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885523" y="185160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3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8302843" y="185160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4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9553539" y="185160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5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1137483" y="1851608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6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 rot="2700000" flipV="1">
            <a:off x="4649105" y="4491578"/>
            <a:ext cx="0" cy="1035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2700000" flipV="1">
            <a:off x="7444401" y="3338496"/>
            <a:ext cx="0" cy="1035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2340000" flipV="1">
            <a:off x="11040277" y="3370688"/>
            <a:ext cx="0" cy="1035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6897436" y="4655151"/>
            <a:ext cx="0" cy="556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10555539" y="4728221"/>
            <a:ext cx="0" cy="556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9782139" y="2475944"/>
            <a:ext cx="0" cy="556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11366083" y="2475944"/>
            <a:ext cx="0" cy="556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rot="-2340000" flipV="1">
            <a:off x="10107945" y="3357575"/>
            <a:ext cx="0" cy="1035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rot="-2700000" flipV="1">
            <a:off x="5485852" y="4491577"/>
            <a:ext cx="0" cy="1035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rot="-2700000" flipV="1">
            <a:off x="6344299" y="3334428"/>
            <a:ext cx="0" cy="1035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rot="-2340000" flipV="1">
            <a:off x="4683066" y="3499779"/>
            <a:ext cx="0" cy="777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rot="2340000" flipV="1">
            <a:off x="5453753" y="3499780"/>
            <a:ext cx="0" cy="777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2340000" flipV="1">
            <a:off x="8247751" y="2331380"/>
            <a:ext cx="0" cy="777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-2340000" flipV="1">
            <a:off x="7389927" y="2331379"/>
            <a:ext cx="0" cy="777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749896" y="5732275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Fichier A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572037" y="5732275"/>
            <a:ext cx="781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Fichier B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08317" y="5723721"/>
            <a:ext cx="772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Fichier C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169003" y="5732275"/>
            <a:ext cx="788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Fichier D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2650173" y="4427898"/>
            <a:ext cx="20950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826299" y="4218217"/>
            <a:ext cx="903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Projets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2631023" y="3255575"/>
            <a:ext cx="1371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06786" y="2892154"/>
            <a:ext cx="1912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Projets de Tests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8003184" y="3255575"/>
            <a:ext cx="1550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025514" y="265271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Impacté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47449" y="265010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Impacté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700545" y="149230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Impacté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117865" y="147499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Impacté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838205" y="1803727"/>
            <a:ext cx="1326725" cy="640001"/>
            <a:chOff x="9319696" y="772639"/>
            <a:chExt cx="1644363" cy="827391"/>
          </a:xfrm>
        </p:grpSpPr>
        <p:grpSp>
          <p:nvGrpSpPr>
            <p:cNvPr id="59" name="Group 58"/>
            <p:cNvGrpSpPr/>
            <p:nvPr/>
          </p:nvGrpSpPr>
          <p:grpSpPr>
            <a:xfrm rot="5400000">
              <a:off x="9961919" y="227699"/>
              <a:ext cx="457200" cy="1547080"/>
              <a:chOff x="9416979" y="547579"/>
              <a:chExt cx="457200" cy="1547080"/>
            </a:xfrm>
          </p:grpSpPr>
          <p:sp>
            <p:nvSpPr>
              <p:cNvPr id="63" name="Rectangle 62"/>
              <p:cNvSpPr/>
              <p:nvPr/>
            </p:nvSpPr>
            <p:spPr>
              <a:xfrm>
                <a:off x="9508417" y="1820339"/>
                <a:ext cx="274320" cy="27432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9416979" y="547579"/>
                <a:ext cx="457200" cy="45720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cxnSp>
            <p:nvCxnSpPr>
              <p:cNvPr id="65" name="Straight Arrow Connector 64"/>
              <p:cNvCxnSpPr/>
              <p:nvPr/>
            </p:nvCxnSpPr>
            <p:spPr>
              <a:xfrm flipV="1">
                <a:off x="9645575" y="1171917"/>
                <a:ext cx="0" cy="5569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TextBox 59"/>
            <p:cNvSpPr txBox="1"/>
            <p:nvPr/>
          </p:nvSpPr>
          <p:spPr>
            <a:xfrm>
              <a:off x="9377749" y="780420"/>
              <a:ext cx="3032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>
                  <a:solidFill>
                    <a:schemeClr val="bg1"/>
                  </a:solidFill>
                </a:rPr>
                <a:t>A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576601" y="777533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>
                  <a:solidFill>
                    <a:schemeClr val="bg1"/>
                  </a:solidFill>
                </a:rPr>
                <a:t>B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9319696" y="1261476"/>
              <a:ext cx="13997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/>
                <a:t>B dépend de A</a:t>
              </a:r>
              <a:endParaRPr lang="en-US" sz="1600" dirty="0"/>
            </a:p>
          </p:txBody>
        </p:sp>
      </p:grpSp>
      <p:sp>
        <p:nvSpPr>
          <p:cNvPr id="7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Phase déterministe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3" name="Date Placeholder 7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74" name="Footer Placeholder 7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75" name="Slide Number Placeholder 7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18</a:t>
            </a:fld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xmlns="" id="{78FA8297-E2C1-4030-A521-981315A6AA9C}"/>
              </a:ext>
            </a:extLst>
          </p:cNvPr>
          <p:cNvGrpSpPr/>
          <p:nvPr/>
        </p:nvGrpSpPr>
        <p:grpSpPr>
          <a:xfrm>
            <a:off x="0" y="-4629"/>
            <a:ext cx="12192000" cy="360000"/>
            <a:chOff x="387926" y="-3642"/>
            <a:chExt cx="11804074" cy="1310604"/>
          </a:xfrm>
        </p:grpSpPr>
        <p:sp>
          <p:nvSpPr>
            <p:cNvPr id="77" name="Chevron 7">
              <a:extLst>
                <a:ext uri="{FF2B5EF4-FFF2-40B4-BE49-F238E27FC236}">
                  <a16:creationId xmlns:a16="http://schemas.microsoft.com/office/drawing/2014/main" xmlns="" id="{049B8A14-3D67-4A55-A9FF-0DDD936E78E1}"/>
                </a:ext>
              </a:extLst>
            </p:cNvPr>
            <p:cNvSpPr/>
            <p:nvPr/>
          </p:nvSpPr>
          <p:spPr>
            <a:xfrm>
              <a:off x="387926" y="156500"/>
              <a:ext cx="2351561" cy="1011382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78" name="Chevron 8">
              <a:extLst>
                <a:ext uri="{FF2B5EF4-FFF2-40B4-BE49-F238E27FC236}">
                  <a16:creationId xmlns:a16="http://schemas.microsoft.com/office/drawing/2014/main" xmlns="" id="{65AB25C6-BCFD-4075-88B8-EC5B506F2592}"/>
                </a:ext>
              </a:extLst>
            </p:cNvPr>
            <p:cNvSpPr/>
            <p:nvPr/>
          </p:nvSpPr>
          <p:spPr>
            <a:xfrm>
              <a:off x="2532177" y="161191"/>
              <a:ext cx="2351562" cy="1011382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79" name="Chevron 9">
              <a:extLst>
                <a:ext uri="{FF2B5EF4-FFF2-40B4-BE49-F238E27FC236}">
                  <a16:creationId xmlns:a16="http://schemas.microsoft.com/office/drawing/2014/main" xmlns="" id="{7F4EC93E-72C5-4F67-8616-64DD1EEF1CD0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80" name="Chevron 10">
              <a:extLst>
                <a:ext uri="{FF2B5EF4-FFF2-40B4-BE49-F238E27FC236}">
                  <a16:creationId xmlns:a16="http://schemas.microsoft.com/office/drawing/2014/main" xmlns="" id="{93C3B7A2-F8C4-4F59-970D-525D77CD59C6}"/>
                </a:ext>
              </a:extLst>
            </p:cNvPr>
            <p:cNvSpPr/>
            <p:nvPr/>
          </p:nvSpPr>
          <p:spPr>
            <a:xfrm>
              <a:off x="9635836" y="161192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81" name="Chevron 11">
              <a:extLst>
                <a:ext uri="{FF2B5EF4-FFF2-40B4-BE49-F238E27FC236}">
                  <a16:creationId xmlns:a16="http://schemas.microsoft.com/office/drawing/2014/main" xmlns="" id="{A660A7CC-5CA8-4EF2-A2B7-818B46241397}"/>
                </a:ext>
              </a:extLst>
            </p:cNvPr>
            <p:cNvSpPr/>
            <p:nvPr/>
          </p:nvSpPr>
          <p:spPr>
            <a:xfrm>
              <a:off x="4660336" y="-3642"/>
              <a:ext cx="2981943" cy="1310604"/>
            </a:xfrm>
            <a:prstGeom prst="chevron">
              <a:avLst/>
            </a:prstGeom>
            <a:solidFill>
              <a:srgbClr val="27A6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5445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9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3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6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0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9" grpId="0" animBg="1"/>
      <p:bldP spid="20" grpId="0" animBg="1"/>
      <p:bldP spid="21" grpId="0" animBg="1"/>
      <p:bldP spid="50" grpId="0"/>
      <p:bldP spid="52" grpId="0"/>
      <p:bldP spid="54" grpId="0"/>
      <p:bldP spid="55" grpId="0"/>
      <p:bldP spid="56" grpId="0"/>
      <p:bldP spid="5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451" y="1869301"/>
            <a:ext cx="1410921" cy="589176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238" y="1770694"/>
            <a:ext cx="2951186" cy="777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20178" y="2586052"/>
            <a:ext cx="3417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dirty="0">
                <a:latin typeface="Myriad Pro Light" panose="020B0603030403020204" pitchFamily="34" charset="0"/>
                <a:ea typeface="Open Sans Light" panose="020B0306030504020204" pitchFamily="34" charset="0"/>
                <a:cs typeface="Nirmala UI" panose="020B0502040204020203" pitchFamily="34" charset="0"/>
              </a:rPr>
              <a:t>Historique des changements</a:t>
            </a:r>
            <a:endParaRPr lang="en-US" sz="2000" dirty="0">
              <a:latin typeface="Myriad Pro Light" panose="020B0603030403020204" pitchFamily="34" charset="0"/>
              <a:ea typeface="Open Sans Light" panose="020B0306030504020204" pitchFamily="34" charset="0"/>
              <a:cs typeface="Nirmala UI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04318" y="2452157"/>
            <a:ext cx="4604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dirty="0">
                <a:latin typeface="Myriad Pro Light" panose="020B0603030403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Historique des résultats des BuildConfig</a:t>
            </a:r>
            <a:endParaRPr lang="en-US" sz="2000" dirty="0">
              <a:latin typeface="Myriad Pro Light" panose="020B0603030403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2990070" y="3612392"/>
            <a:ext cx="795962" cy="1372110"/>
            <a:chOff x="2545012" y="3240862"/>
            <a:chExt cx="795962" cy="1372110"/>
          </a:xfrm>
        </p:grpSpPr>
        <p:sp>
          <p:nvSpPr>
            <p:cNvPr id="11" name="Rectangle 10"/>
            <p:cNvSpPr/>
            <p:nvPr/>
          </p:nvSpPr>
          <p:spPr>
            <a:xfrm>
              <a:off x="2545012" y="3240862"/>
              <a:ext cx="786384" cy="27700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rgbClr val="00B050"/>
                  </a:solidFill>
                </a:rPr>
                <a:t>+</a:t>
              </a:r>
              <a:r>
                <a:rPr lang="fr-FR" dirty="0">
                  <a:solidFill>
                    <a:srgbClr val="FF0000"/>
                  </a:solidFill>
                </a:rPr>
                <a:t>---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45012" y="3507484"/>
              <a:ext cx="787021" cy="29334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rgbClr val="FF0000"/>
                  </a:solidFill>
                </a:rPr>
                <a:t>---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551349" y="4013484"/>
              <a:ext cx="787021" cy="29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rgbClr val="00B050"/>
                  </a:solidFill>
                </a:rPr>
                <a:t>++</a:t>
              </a:r>
              <a:r>
                <a:rPr lang="fr-FR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553953" y="4311484"/>
              <a:ext cx="787021" cy="30148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rgbClr val="00B050"/>
                  </a:solidFill>
                </a:rPr>
                <a:t>+++</a:t>
              </a:r>
              <a:endParaRPr lang="fr-FR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75080" y="3791021"/>
              <a:ext cx="461665" cy="251031"/>
            </a:xfrm>
            <a:prstGeom prst="rect">
              <a:avLst/>
            </a:prstGeom>
            <a:noFill/>
          </p:spPr>
          <p:txBody>
            <a:bodyPr vert="vert" wrap="none" rtlCol="0">
              <a:spAutoFit/>
            </a:bodyPr>
            <a:lstStyle/>
            <a:p>
              <a:r>
                <a:rPr lang="fr-FR" dirty="0"/>
                <a:t>…</a:t>
              </a:r>
              <a:endParaRPr lang="en-US" dirty="0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8394334" y="3000258"/>
            <a:ext cx="2477581" cy="3372809"/>
            <a:chOff x="7966363" y="3281087"/>
            <a:chExt cx="2477581" cy="3372809"/>
          </a:xfrm>
        </p:grpSpPr>
        <p:grpSp>
          <p:nvGrpSpPr>
            <p:cNvPr id="16" name="Group 15"/>
            <p:cNvGrpSpPr/>
            <p:nvPr/>
          </p:nvGrpSpPr>
          <p:grpSpPr>
            <a:xfrm>
              <a:off x="7966363" y="3281087"/>
              <a:ext cx="2477581" cy="3372809"/>
              <a:chOff x="9728497" y="1865988"/>
              <a:chExt cx="2369751" cy="3372809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9728497" y="1865988"/>
                <a:ext cx="2363091" cy="3372809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1">
                  <a:lnSpc>
                    <a:spcPct val="150000"/>
                  </a:lnSpc>
                </a:pPr>
                <a:r>
                  <a:rPr lang="fr-FR" sz="1200" dirty="0">
                    <a:solidFill>
                      <a:schemeClr val="tx1"/>
                    </a:solidFill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PerimeterAUnitTests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fr-FR" sz="1200" dirty="0" err="1">
                    <a:solidFill>
                      <a:schemeClr val="tx1"/>
                    </a:solidFill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PerimeterBUnitTests</a:t>
                </a:r>
                <a:endParaRPr lang="fr-FR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fr-FR" sz="1200" dirty="0" err="1">
                    <a:solidFill>
                      <a:schemeClr val="tx1"/>
                    </a:solidFill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PerimeterCUnitTests</a:t>
                </a:r>
                <a:endParaRPr lang="fr-FR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fr-FR" sz="1200" dirty="0" err="1">
                    <a:solidFill>
                      <a:schemeClr val="tx1"/>
                    </a:solidFill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PerimeterACodeAnalysis</a:t>
                </a:r>
                <a:endParaRPr lang="fr-FR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fr-FR" sz="1200" dirty="0" err="1">
                    <a:solidFill>
                      <a:schemeClr val="tx1"/>
                    </a:solidFill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PerimeterBCodeAnalysis</a:t>
                </a:r>
                <a:endParaRPr lang="fr-FR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fr-FR" sz="1200" dirty="0" err="1">
                    <a:solidFill>
                      <a:schemeClr val="tx1"/>
                    </a:solidFill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PerimeterCCodeCoverage</a:t>
                </a:r>
                <a:endParaRPr lang="fr-FR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fr-FR" sz="1200" dirty="0" err="1">
                    <a:solidFill>
                      <a:schemeClr val="tx1"/>
                    </a:solidFill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PerimeterACodeCoverage</a:t>
                </a:r>
                <a:endParaRPr lang="fr-FR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fr-FR" sz="1200" dirty="0" err="1">
                    <a:solidFill>
                      <a:schemeClr val="tx1"/>
                    </a:solidFill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PerimeterBCodeCoverage</a:t>
                </a:r>
                <a:endParaRPr lang="fr-FR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fr-FR" sz="1200" dirty="0" err="1">
                    <a:solidFill>
                      <a:schemeClr val="tx1"/>
                    </a:solidFill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PerimeterCCodeCoverage</a:t>
                </a:r>
                <a:endParaRPr lang="fr-FR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fr-FR" sz="1200" dirty="0">
                    <a:solidFill>
                      <a:schemeClr val="tx1"/>
                    </a:solidFill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DeadCodeChecker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fr-FR" sz="1200" dirty="0" err="1">
                    <a:solidFill>
                      <a:schemeClr val="tx1"/>
                    </a:solidFill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ThreadSafetyChecker</a:t>
                </a:r>
                <a:endParaRPr lang="fr-FR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fr-FR" sz="1200" dirty="0">
                    <a:solidFill>
                      <a:schemeClr val="tx1"/>
                    </a:solidFill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…</a:t>
                </a:r>
                <a:endParaRPr lang="en-US" sz="1200" dirty="0">
                  <a:solidFill>
                    <a:schemeClr val="tx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cxnSp>
            <p:nvCxnSpPr>
              <p:cNvPr id="18" name="Straight Connector 17"/>
              <p:cNvCxnSpPr/>
              <p:nvPr/>
            </p:nvCxnSpPr>
            <p:spPr>
              <a:xfrm flipV="1">
                <a:off x="9729952" y="2179192"/>
                <a:ext cx="2368296" cy="769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flipV="1">
                <a:off x="9729952" y="2458592"/>
                <a:ext cx="2368296" cy="769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flipV="1">
                <a:off x="9729952" y="2737992"/>
                <a:ext cx="2368296" cy="769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9729952" y="3017392"/>
                <a:ext cx="2368296" cy="769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V="1">
                <a:off x="9729952" y="3284092"/>
                <a:ext cx="2368296" cy="769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V="1">
                <a:off x="9729952" y="3563492"/>
                <a:ext cx="2368296" cy="769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flipV="1">
                <a:off x="9729952" y="3842892"/>
                <a:ext cx="2368296" cy="769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flipV="1">
                <a:off x="9729952" y="4109592"/>
                <a:ext cx="2368296" cy="769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9729952" y="4388992"/>
                <a:ext cx="2368296" cy="769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V="1">
                <a:off x="9729952" y="4655692"/>
                <a:ext cx="2368296" cy="769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flipV="1">
                <a:off x="9729952" y="4935092"/>
                <a:ext cx="2368296" cy="769"/>
              </a:xfrm>
              <a:prstGeom prst="line">
                <a:avLst/>
              </a:prstGeom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4199" y="3325952"/>
              <a:ext cx="273656" cy="273656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7440" y="3602536"/>
              <a:ext cx="273656" cy="273656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0835" y="3882615"/>
              <a:ext cx="273656" cy="273656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7395" y="4438267"/>
              <a:ext cx="273656" cy="273656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7440" y="4160031"/>
              <a:ext cx="273656" cy="273656"/>
            </a:xfrm>
            <a:prstGeom prst="rect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7395" y="6360078"/>
              <a:ext cx="273656" cy="273656"/>
            </a:xfrm>
            <a:prstGeom prst="rect">
              <a:avLst/>
            </a:prstGeom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1542" y="4980335"/>
              <a:ext cx="273656" cy="273656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7395" y="4711276"/>
              <a:ext cx="273656" cy="273656"/>
            </a:xfrm>
            <a:prstGeom prst="rect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7395" y="6077113"/>
              <a:ext cx="273656" cy="273656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0835" y="5256905"/>
              <a:ext cx="273656" cy="273656"/>
            </a:xfrm>
            <a:prstGeom prst="rect">
              <a:avLst/>
            </a:prstGeom>
          </p:spPr>
        </p:pic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0835" y="5803050"/>
              <a:ext cx="273656" cy="273656"/>
            </a:xfrm>
            <a:prstGeom prst="rect">
              <a:avLst/>
            </a:prstGeom>
          </p:spPr>
        </p:pic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7498" y="5524506"/>
              <a:ext cx="273656" cy="273656"/>
            </a:xfrm>
            <a:prstGeom prst="rect">
              <a:avLst/>
            </a:prstGeom>
          </p:spPr>
        </p:pic>
      </p:grpSp>
      <p:sp>
        <p:nvSpPr>
          <p:cNvPr id="48" name="Title 1"/>
          <p:cNvSpPr>
            <a:spLocks noGrp="1"/>
          </p:cNvSpPr>
          <p:nvPr>
            <p:ph type="title"/>
          </p:nvPr>
        </p:nvSpPr>
        <p:spPr>
          <a:xfrm>
            <a:off x="838200" y="182731"/>
            <a:ext cx="10515600" cy="1375312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Phase probabiliste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2" name="Date Placeholder 5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53" name="Footer Placeholder 5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19</a:t>
            </a:fld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xmlns="" id="{6A3C1D02-6DFB-4DD9-A060-9C4F5683B093}"/>
              </a:ext>
            </a:extLst>
          </p:cNvPr>
          <p:cNvGrpSpPr/>
          <p:nvPr/>
        </p:nvGrpSpPr>
        <p:grpSpPr>
          <a:xfrm>
            <a:off x="0" y="-4629"/>
            <a:ext cx="12192000" cy="360000"/>
            <a:chOff x="387926" y="-3642"/>
            <a:chExt cx="11804074" cy="1310604"/>
          </a:xfrm>
        </p:grpSpPr>
        <p:sp>
          <p:nvSpPr>
            <p:cNvPr id="56" name="Chevron 7">
              <a:extLst>
                <a:ext uri="{FF2B5EF4-FFF2-40B4-BE49-F238E27FC236}">
                  <a16:creationId xmlns:a16="http://schemas.microsoft.com/office/drawing/2014/main" xmlns="" id="{D6BA9A58-F520-419F-B027-C2D4DA4A704B}"/>
                </a:ext>
              </a:extLst>
            </p:cNvPr>
            <p:cNvSpPr/>
            <p:nvPr/>
          </p:nvSpPr>
          <p:spPr>
            <a:xfrm>
              <a:off x="387926" y="156500"/>
              <a:ext cx="2351561" cy="1011382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7" name="Chevron 8">
              <a:extLst>
                <a:ext uri="{FF2B5EF4-FFF2-40B4-BE49-F238E27FC236}">
                  <a16:creationId xmlns:a16="http://schemas.microsoft.com/office/drawing/2014/main" xmlns="" id="{F0087B9F-C627-45A8-8C95-56C7C1C52A04}"/>
                </a:ext>
              </a:extLst>
            </p:cNvPr>
            <p:cNvSpPr/>
            <p:nvPr/>
          </p:nvSpPr>
          <p:spPr>
            <a:xfrm>
              <a:off x="2532177" y="161191"/>
              <a:ext cx="2351562" cy="1011382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8" name="Chevron 9">
              <a:extLst>
                <a:ext uri="{FF2B5EF4-FFF2-40B4-BE49-F238E27FC236}">
                  <a16:creationId xmlns:a16="http://schemas.microsoft.com/office/drawing/2014/main" xmlns="" id="{13E7F793-62C8-4A94-B625-1275E8A1C713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9" name="Chevron 10">
              <a:extLst>
                <a:ext uri="{FF2B5EF4-FFF2-40B4-BE49-F238E27FC236}">
                  <a16:creationId xmlns:a16="http://schemas.microsoft.com/office/drawing/2014/main" xmlns="" id="{250C2CE8-2E71-462F-9629-DC01CF2D2B74}"/>
                </a:ext>
              </a:extLst>
            </p:cNvPr>
            <p:cNvSpPr/>
            <p:nvPr/>
          </p:nvSpPr>
          <p:spPr>
            <a:xfrm>
              <a:off x="9635836" y="161192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60" name="Chevron 11">
              <a:extLst>
                <a:ext uri="{FF2B5EF4-FFF2-40B4-BE49-F238E27FC236}">
                  <a16:creationId xmlns:a16="http://schemas.microsoft.com/office/drawing/2014/main" xmlns="" id="{C13CCDF6-A3E7-4880-A308-65A9CF118E75}"/>
                </a:ext>
              </a:extLst>
            </p:cNvPr>
            <p:cNvSpPr/>
            <p:nvPr/>
          </p:nvSpPr>
          <p:spPr>
            <a:xfrm>
              <a:off x="4660336" y="-3642"/>
              <a:ext cx="2981943" cy="1310604"/>
            </a:xfrm>
            <a:prstGeom prst="chevron">
              <a:avLst/>
            </a:prstGeom>
            <a:solidFill>
              <a:srgbClr val="27A6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6A9200C6-E2B3-470C-B412-C178CD4E9078}"/>
              </a:ext>
            </a:extLst>
          </p:cNvPr>
          <p:cNvSpPr txBox="1"/>
          <p:nvPr/>
        </p:nvSpPr>
        <p:spPr>
          <a:xfrm>
            <a:off x="838200" y="1290578"/>
            <a:ext cx="2976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2FC9FF"/>
                </a:solidFill>
              </a:rPr>
              <a:t>Extraction de données</a:t>
            </a:r>
          </a:p>
        </p:txBody>
      </p:sp>
    </p:spTree>
    <p:extLst>
      <p:ext uri="{BB962C8B-B14F-4D97-AF65-F5344CB8AC3E}">
        <p14:creationId xmlns:p14="http://schemas.microsoft.com/office/powerpoint/2010/main" val="164540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2789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Phase probabiliste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46109" y="3125578"/>
            <a:ext cx="19956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Extraction de données</a:t>
            </a:r>
            <a:endParaRPr lang="en-US" sz="14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838200" y="1696681"/>
            <a:ext cx="10515600" cy="6952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Entraînement </a:t>
            </a:r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d’un modèle de Machine Learning en utilisant l’historique de Git et TeamCity.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951" y="2754326"/>
            <a:ext cx="1219200" cy="1219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51951" y="3923797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Algorithme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6147590" y="3180931"/>
            <a:ext cx="1380017" cy="36599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>
            <a:off x="8923876" y="3193991"/>
            <a:ext cx="1367786" cy="36599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339307" y="2928797"/>
            <a:ext cx="862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Entrée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32520" y="2894871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Sortie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9771" y="3068028"/>
            <a:ext cx="591796" cy="5917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92899" y="3699537"/>
            <a:ext cx="1505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Modélise le phénomène</a:t>
            </a:r>
            <a:endParaRPr lang="en-US" sz="14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30701" y="2730580"/>
            <a:ext cx="2072106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(features</a:t>
            </a:r>
            <a:r>
              <a:rPr lang="fr-FR" sz="1600" baseline="30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</a:t>
            </a:r>
            <a:r>
              <a:rPr lang="fr-FR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lang="fr-FR" sz="16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success</a:t>
            </a:r>
            <a:r>
              <a:rPr lang="fr-FR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)</a:t>
            </a:r>
          </a:p>
          <a:p>
            <a:r>
              <a:rPr lang="fr-FR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(features</a:t>
            </a:r>
            <a:r>
              <a:rPr lang="fr-FR" sz="1600" baseline="30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2</a:t>
            </a:r>
            <a:r>
              <a:rPr lang="fr-FR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lang="fr-FR" sz="1600" dirty="0">
                <a:solidFill>
                  <a:srgbClr val="FF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failure</a:t>
            </a:r>
            <a:r>
              <a:rPr lang="fr-FR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)</a:t>
            </a:r>
          </a:p>
          <a:p>
            <a:endParaRPr lang="fr-FR" sz="16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(features</a:t>
            </a:r>
            <a:r>
              <a:rPr lang="fr-FR" sz="1600" baseline="30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n-1</a:t>
            </a:r>
            <a:r>
              <a:rPr lang="fr-FR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lang="fr-FR" sz="1600" dirty="0">
                <a:solidFill>
                  <a:schemeClr val="accent6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success</a:t>
            </a:r>
            <a:r>
              <a:rPr lang="fr-FR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)</a:t>
            </a:r>
          </a:p>
          <a:p>
            <a:r>
              <a:rPr lang="fr-FR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(features</a:t>
            </a:r>
            <a:r>
              <a:rPr lang="fr-FR" sz="1600" baseline="30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</a:t>
            </a:r>
            <a:r>
              <a:rPr lang="fr-FR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lang="fr-FR" sz="1600" dirty="0">
                <a:solidFill>
                  <a:srgbClr val="FF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failure</a:t>
            </a:r>
            <a:r>
              <a:rPr lang="fr-FR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242382" y="4290341"/>
            <a:ext cx="1380017" cy="36599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60080" y="3970738"/>
            <a:ext cx="862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Entrée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8330894" y="4281069"/>
            <a:ext cx="1367786" cy="36599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8645936" y="3970738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Sortie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0133" y="4325564"/>
            <a:ext cx="13565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newCodeChange</a:t>
            </a:r>
            <a:endParaRPr lang="en-US" sz="1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900914" y="4269180"/>
            <a:ext cx="2158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Failure </a:t>
            </a:r>
            <a:r>
              <a:rPr lang="fr-FR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|</a:t>
            </a:r>
            <a:r>
              <a:rPr lang="fr-FR" dirty="0">
                <a:solidFill>
                  <a:srgbClr val="FF0000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</a:t>
            </a:r>
            <a:r>
              <a:rPr lang="fr-FR" dirty="0">
                <a:solidFill>
                  <a:schemeClr val="accent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success</a:t>
            </a:r>
            <a:endParaRPr lang="en-US" dirty="0">
              <a:solidFill>
                <a:schemeClr val="accent6"/>
              </a:solidFill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332083" y="4178948"/>
            <a:ext cx="787021" cy="5497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B050"/>
                </a:solidFill>
              </a:rPr>
              <a:t>++</a:t>
            </a:r>
            <a:r>
              <a:rPr lang="fr-FR" dirty="0">
                <a:solidFill>
                  <a:srgbClr val="FF0000"/>
                </a:solidFill>
              </a:rPr>
              <a:t>--</a:t>
            </a:r>
          </a:p>
          <a:p>
            <a:pPr algn="ctr"/>
            <a:r>
              <a:rPr lang="fr-FR" dirty="0">
                <a:solidFill>
                  <a:srgbClr val="00B050"/>
                </a:solidFill>
              </a:rPr>
              <a:t>+</a:t>
            </a:r>
            <a:r>
              <a:rPr lang="fr-FR" dirty="0">
                <a:solidFill>
                  <a:srgbClr val="FF0000"/>
                </a:solidFill>
              </a:rPr>
              <a:t>----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66562" y="2665177"/>
            <a:ext cx="786384" cy="2770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B050"/>
                </a:solidFill>
              </a:rPr>
              <a:t>+</a:t>
            </a:r>
            <a:r>
              <a:rPr lang="fr-FR" dirty="0">
                <a:solidFill>
                  <a:srgbClr val="FF0000"/>
                </a:solidFill>
              </a:rPr>
              <a:t>---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61585" y="2928797"/>
            <a:ext cx="787021" cy="2933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---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67922" y="3434797"/>
            <a:ext cx="787021" cy="29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B050"/>
                </a:solidFill>
              </a:rPr>
              <a:t>++</a:t>
            </a:r>
            <a:r>
              <a:rPr lang="fr-FR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70526" y="3732797"/>
            <a:ext cx="787021" cy="3014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B050"/>
                </a:solidFill>
              </a:rPr>
              <a:t>+++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91653" y="3212334"/>
            <a:ext cx="461665" cy="251031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fr-FR" dirty="0"/>
              <a:t>…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4512757" y="3255550"/>
            <a:ext cx="461665" cy="257443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…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371900" y="2695954"/>
            <a:ext cx="1547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Machine Learning Model</a:t>
            </a:r>
            <a:endParaRPr lang="en-US" sz="14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36631" y="2480511"/>
            <a:ext cx="1177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Entrainer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376" y="2988725"/>
            <a:ext cx="724607" cy="724607"/>
          </a:xfrm>
          <a:prstGeom prst="rect">
            <a:avLst/>
          </a:prstGeom>
        </p:spPr>
      </p:pic>
      <p:cxnSp>
        <p:nvCxnSpPr>
          <p:cNvPr id="41" name="Straight Arrow Connector 40"/>
          <p:cNvCxnSpPr/>
          <p:nvPr/>
        </p:nvCxnSpPr>
        <p:spPr>
          <a:xfrm>
            <a:off x="2288704" y="4497585"/>
            <a:ext cx="18745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240046" y="4190349"/>
            <a:ext cx="1953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Extraction de features</a:t>
            </a:r>
            <a:endParaRPr lang="en-US" sz="14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197697" y="4305805"/>
            <a:ext cx="103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features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9824" y="2659558"/>
            <a:ext cx="11320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CodeChange</a:t>
            </a:r>
            <a:r>
              <a:rPr lang="fr-FR" sz="1200" baseline="30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448" y="2934790"/>
            <a:ext cx="11320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CodeChange</a:t>
            </a:r>
            <a:r>
              <a:rPr lang="fr-FR" sz="1200" baseline="30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448" y="3453406"/>
            <a:ext cx="1226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CodeChange</a:t>
            </a:r>
            <a:r>
              <a:rPr lang="fr-FR" sz="1200" baseline="30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n-1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2303788" y="3398289"/>
            <a:ext cx="1858866" cy="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8449" y="3767309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CodeChange</a:t>
            </a:r>
            <a:r>
              <a:rPr lang="fr-FR" sz="1200" baseline="30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689" y="3755768"/>
            <a:ext cx="273656" cy="273656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939" y="2688968"/>
            <a:ext cx="273656" cy="273656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813" y="2961851"/>
            <a:ext cx="273656" cy="273656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815" y="3466350"/>
            <a:ext cx="273656" cy="273656"/>
          </a:xfrm>
          <a:prstGeom prst="rect">
            <a:avLst/>
          </a:prstGeom>
        </p:spPr>
      </p:pic>
      <p:sp>
        <p:nvSpPr>
          <p:cNvPr id="54" name="Date Placeholder 5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55" name="Footer Placeholder 5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56" name="Slide Number Placeholder 5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20</a:t>
            </a:fld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xmlns="" id="{DDF51916-5DD0-45F0-89CA-2BB78707BF5C}"/>
              </a:ext>
            </a:extLst>
          </p:cNvPr>
          <p:cNvGrpSpPr/>
          <p:nvPr/>
        </p:nvGrpSpPr>
        <p:grpSpPr>
          <a:xfrm>
            <a:off x="0" y="-4629"/>
            <a:ext cx="12192000" cy="360000"/>
            <a:chOff x="387926" y="-3642"/>
            <a:chExt cx="11804074" cy="1310604"/>
          </a:xfrm>
        </p:grpSpPr>
        <p:sp>
          <p:nvSpPr>
            <p:cNvPr id="57" name="Chevron 7">
              <a:extLst>
                <a:ext uri="{FF2B5EF4-FFF2-40B4-BE49-F238E27FC236}">
                  <a16:creationId xmlns:a16="http://schemas.microsoft.com/office/drawing/2014/main" xmlns="" id="{FA8B9FEA-6D29-4F55-9358-AFD76E5C869B}"/>
                </a:ext>
              </a:extLst>
            </p:cNvPr>
            <p:cNvSpPr/>
            <p:nvPr/>
          </p:nvSpPr>
          <p:spPr>
            <a:xfrm>
              <a:off x="387926" y="156500"/>
              <a:ext cx="2351561" cy="1011382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8" name="Chevron 8">
              <a:extLst>
                <a:ext uri="{FF2B5EF4-FFF2-40B4-BE49-F238E27FC236}">
                  <a16:creationId xmlns:a16="http://schemas.microsoft.com/office/drawing/2014/main" xmlns="" id="{447235F6-AF7B-49A4-9FC7-8E96CC31C48A}"/>
                </a:ext>
              </a:extLst>
            </p:cNvPr>
            <p:cNvSpPr/>
            <p:nvPr/>
          </p:nvSpPr>
          <p:spPr>
            <a:xfrm>
              <a:off x="2532177" y="161191"/>
              <a:ext cx="2351562" cy="1011382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59" name="Chevron 9">
              <a:extLst>
                <a:ext uri="{FF2B5EF4-FFF2-40B4-BE49-F238E27FC236}">
                  <a16:creationId xmlns:a16="http://schemas.microsoft.com/office/drawing/2014/main" xmlns="" id="{DAAE615A-29CD-4CC1-AA45-A9264CDB4C64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60" name="Chevron 10">
              <a:extLst>
                <a:ext uri="{FF2B5EF4-FFF2-40B4-BE49-F238E27FC236}">
                  <a16:creationId xmlns:a16="http://schemas.microsoft.com/office/drawing/2014/main" xmlns="" id="{820D5D97-63BA-47CA-B111-80FFC297C46A}"/>
                </a:ext>
              </a:extLst>
            </p:cNvPr>
            <p:cNvSpPr/>
            <p:nvPr/>
          </p:nvSpPr>
          <p:spPr>
            <a:xfrm>
              <a:off x="9635836" y="161192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61" name="Chevron 11">
              <a:extLst>
                <a:ext uri="{FF2B5EF4-FFF2-40B4-BE49-F238E27FC236}">
                  <a16:creationId xmlns:a16="http://schemas.microsoft.com/office/drawing/2014/main" xmlns="" id="{6EE35B3F-105F-4889-8049-20EDA9CF42BA}"/>
                </a:ext>
              </a:extLst>
            </p:cNvPr>
            <p:cNvSpPr/>
            <p:nvPr/>
          </p:nvSpPr>
          <p:spPr>
            <a:xfrm>
              <a:off x="4660336" y="-3642"/>
              <a:ext cx="2981943" cy="1310604"/>
            </a:xfrm>
            <a:prstGeom prst="chevron">
              <a:avLst/>
            </a:prstGeom>
            <a:solidFill>
              <a:srgbClr val="27A6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2292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7.40741E-7 L -2.70833E-6 0.08148 C -2.70833E-6 0.11805 -0.08554 0.16366 -0.15481 0.16366 L -0.30924 0.16366 " pathEditMode="relative" rAng="0" ptsTypes="AAAA">
                                      <p:cBhvr>
                                        <p:cTn id="14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69" y="8171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3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7.40741E-7 L -2.5E-6 0.09005 C -2.5E-6 0.13055 -0.0858 0.18125 -0.15534 0.18125 L -0.30963 0.18125 " pathEditMode="relative" rAng="0" ptsTypes="AAAA">
                                      <p:cBhvr>
                                        <p:cTn id="15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82" y="9051"/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3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4.44444E-6 L -2.70833E-6 0.07314 C -2.70833E-6 0.10601 -0.08437 0.14722 -0.15273 0.14722 L -0.30429 0.14722 " pathEditMode="relative" rAng="0" ptsTypes="AAAA">
                                      <p:cBhvr>
                                        <p:cTn id="15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221" y="7361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7" grpId="0"/>
      <p:bldP spid="17" grpId="1"/>
      <p:bldP spid="18" grpId="0" animBg="1"/>
      <p:bldP spid="18" grpId="1" animBg="1"/>
      <p:bldP spid="19" grpId="0" animBg="1"/>
      <p:bldP spid="19" grpId="1" animBg="1"/>
      <p:bldP spid="20" grpId="0"/>
      <p:bldP spid="20" grpId="1"/>
      <p:bldP spid="21" grpId="0"/>
      <p:bldP spid="21" grpId="1"/>
      <p:bldP spid="23" grpId="0"/>
      <p:bldP spid="23" grpId="1"/>
      <p:bldP spid="24" grpId="0"/>
      <p:bldP spid="24" grpId="1"/>
      <p:bldP spid="25" grpId="0" animBg="1"/>
      <p:bldP spid="26" grpId="0"/>
      <p:bldP spid="27" grpId="0" animBg="1"/>
      <p:bldP spid="28" grpId="0"/>
      <p:bldP spid="29" grpId="0"/>
      <p:bldP spid="30" grpId="0"/>
      <p:bldP spid="31" grpId="0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39" grpId="2"/>
      <p:bldP spid="42" grpId="0"/>
      <p:bldP spid="43" grpId="0"/>
      <p:bldP spid="44" grpId="0"/>
      <p:bldP spid="44" grpId="1"/>
      <p:bldP spid="45" grpId="0"/>
      <p:bldP spid="45" grpId="1"/>
      <p:bldP spid="46" grpId="0"/>
      <p:bldP spid="46" grpId="1"/>
      <p:bldP spid="48" grpId="0"/>
      <p:bldP spid="48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27026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Phase probabiliste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Itération 1 : 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Nombre de fichiers (</a:t>
            </a:r>
            <a:r>
              <a:rPr lang="fr-FR" sz="20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Ajoutés, Supprimés, Modifiés, Copiés, Déplacés) </a:t>
            </a:r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par </a:t>
            </a:r>
            <a:r>
              <a:rPr lang="fr-FR" sz="20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type de fichier.</a:t>
            </a:r>
            <a:endParaRPr lang="fr-FR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Nombre total de lignes (</a:t>
            </a:r>
            <a:r>
              <a:rPr lang="fr-FR" sz="20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Ajoutées</a:t>
            </a:r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supprimées) par </a:t>
            </a:r>
            <a:r>
              <a:rPr lang="fr-FR" sz="20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type de fichier.</a:t>
            </a:r>
            <a:endParaRPr lang="fr-FR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Fréquence moyenne des changements des fichiers changés.</a:t>
            </a:r>
          </a:p>
          <a:p>
            <a:r>
              <a:rPr lang="fr-FR" sz="2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Itération 2 :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Nombre de classes </a:t>
            </a:r>
            <a:r>
              <a:rPr lang="fr-FR" sz="20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ajoutées/supprimées/modifiées</a:t>
            </a:r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Nombre de champs </a:t>
            </a:r>
            <a:r>
              <a:rPr lang="fr-FR" sz="20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ajoutés/supprimés/modifiés</a:t>
            </a:r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Nombre de méthodes </a:t>
            </a:r>
            <a:r>
              <a:rPr lang="fr-FR" sz="20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ajoutées/supprimées/modifiées</a:t>
            </a:r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Nombre d’appels de méthodes </a:t>
            </a:r>
            <a:r>
              <a:rPr lang="fr-FR" sz="20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ajoutés/supprimés</a:t>
            </a:r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Nombre de créations d’objet </a:t>
            </a:r>
            <a:r>
              <a:rPr lang="fr-FR" sz="20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ajoutées/supprimées</a:t>
            </a:r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Nombre d’occurrences du nom de chaque périmètre dans les chemins des fichiers changés </a:t>
            </a:r>
          </a:p>
          <a:p>
            <a:pPr lvl="1"/>
            <a:r>
              <a:rPr lang="fr-FR" sz="2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…</a:t>
            </a:r>
          </a:p>
          <a:p>
            <a:pPr lvl="1"/>
            <a:endParaRPr lang="en-US" sz="2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21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7DF2FEE5-1CA0-4908-BEFC-89DD4B307BEE}"/>
              </a:ext>
            </a:extLst>
          </p:cNvPr>
          <p:cNvGrpSpPr/>
          <p:nvPr/>
        </p:nvGrpSpPr>
        <p:grpSpPr>
          <a:xfrm>
            <a:off x="0" y="-4629"/>
            <a:ext cx="12192000" cy="360000"/>
            <a:chOff x="387926" y="-3642"/>
            <a:chExt cx="11804074" cy="1310604"/>
          </a:xfrm>
        </p:grpSpPr>
        <p:sp>
          <p:nvSpPr>
            <p:cNvPr id="20" name="Chevron 7">
              <a:extLst>
                <a:ext uri="{FF2B5EF4-FFF2-40B4-BE49-F238E27FC236}">
                  <a16:creationId xmlns:a16="http://schemas.microsoft.com/office/drawing/2014/main" xmlns="" id="{9C7E77A7-A77A-4607-8AAF-EC3B16B787B1}"/>
                </a:ext>
              </a:extLst>
            </p:cNvPr>
            <p:cNvSpPr/>
            <p:nvPr/>
          </p:nvSpPr>
          <p:spPr>
            <a:xfrm>
              <a:off x="387926" y="156500"/>
              <a:ext cx="2351561" cy="1011382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1" name="Chevron 8">
              <a:extLst>
                <a:ext uri="{FF2B5EF4-FFF2-40B4-BE49-F238E27FC236}">
                  <a16:creationId xmlns:a16="http://schemas.microsoft.com/office/drawing/2014/main" xmlns="" id="{224A3DA1-90AE-45C2-B6CE-E4737DEA626F}"/>
                </a:ext>
              </a:extLst>
            </p:cNvPr>
            <p:cNvSpPr/>
            <p:nvPr/>
          </p:nvSpPr>
          <p:spPr>
            <a:xfrm>
              <a:off x="2532177" y="161191"/>
              <a:ext cx="2351562" cy="1011382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2" name="Chevron 9">
              <a:extLst>
                <a:ext uri="{FF2B5EF4-FFF2-40B4-BE49-F238E27FC236}">
                  <a16:creationId xmlns:a16="http://schemas.microsoft.com/office/drawing/2014/main" xmlns="" id="{3D097EC7-DA59-4B3F-B4FC-BE3889A6B33E}"/>
                </a:ext>
              </a:extLst>
            </p:cNvPr>
            <p:cNvSpPr/>
            <p:nvPr/>
          </p:nvSpPr>
          <p:spPr>
            <a:xfrm>
              <a:off x="7481454" y="161191"/>
              <a:ext cx="2349731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3" name="Chevron 10">
              <a:extLst>
                <a:ext uri="{FF2B5EF4-FFF2-40B4-BE49-F238E27FC236}">
                  <a16:creationId xmlns:a16="http://schemas.microsoft.com/office/drawing/2014/main" xmlns="" id="{F6609905-2432-4AAE-AFD8-D7386DCA3868}"/>
                </a:ext>
              </a:extLst>
            </p:cNvPr>
            <p:cNvSpPr/>
            <p:nvPr/>
          </p:nvSpPr>
          <p:spPr>
            <a:xfrm>
              <a:off x="9635836" y="161192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4" name="Chevron 11">
              <a:extLst>
                <a:ext uri="{FF2B5EF4-FFF2-40B4-BE49-F238E27FC236}">
                  <a16:creationId xmlns:a16="http://schemas.microsoft.com/office/drawing/2014/main" xmlns="" id="{77BD9C95-1E8C-432D-9759-28A649223F44}"/>
                </a:ext>
              </a:extLst>
            </p:cNvPr>
            <p:cNvSpPr/>
            <p:nvPr/>
          </p:nvSpPr>
          <p:spPr>
            <a:xfrm>
              <a:off x="4660336" y="-3642"/>
              <a:ext cx="2981943" cy="1310604"/>
            </a:xfrm>
            <a:prstGeom prst="chevron">
              <a:avLst/>
            </a:prstGeom>
            <a:solidFill>
              <a:srgbClr val="27A6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C56F54EB-D824-45A5-B07D-572706FE42D2}"/>
              </a:ext>
            </a:extLst>
          </p:cNvPr>
          <p:cNvSpPr txBox="1"/>
          <p:nvPr/>
        </p:nvSpPr>
        <p:spPr>
          <a:xfrm>
            <a:off x="838200" y="1290578"/>
            <a:ext cx="33833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solidFill>
                  <a:srgbClr val="2FC9FF"/>
                </a:solidFill>
              </a:rPr>
              <a:t>Extraction de features</a:t>
            </a:r>
          </a:p>
        </p:txBody>
      </p:sp>
    </p:spTree>
    <p:extLst>
      <p:ext uri="{BB962C8B-B14F-4D97-AF65-F5344CB8AC3E}">
        <p14:creationId xmlns:p14="http://schemas.microsoft.com/office/powerpoint/2010/main" val="395778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Hexagon 27"/>
          <p:cNvSpPr/>
          <p:nvPr/>
        </p:nvSpPr>
        <p:spPr>
          <a:xfrm>
            <a:off x="998620" y="3263480"/>
            <a:ext cx="1844300" cy="865068"/>
          </a:xfrm>
          <a:prstGeom prst="hexagon">
            <a:avLst/>
          </a:prstGeom>
          <a:solidFill>
            <a:srgbClr val="2099D8">
              <a:alpha val="60000"/>
            </a:srgbClr>
          </a:solidFill>
          <a:ln w="76200">
            <a:solidFill>
              <a:srgbClr val="30A0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OnDemand</a:t>
            </a: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Hexagon 30"/>
          <p:cNvSpPr/>
          <p:nvPr/>
        </p:nvSpPr>
        <p:spPr>
          <a:xfrm>
            <a:off x="993365" y="3258225"/>
            <a:ext cx="1844300" cy="865068"/>
          </a:xfrm>
          <a:prstGeom prst="hexagon">
            <a:avLst/>
          </a:prstGeom>
          <a:solidFill>
            <a:srgbClr val="2099D8">
              <a:alpha val="60000"/>
            </a:srgbClr>
          </a:solidFill>
          <a:ln w="76200">
            <a:solidFill>
              <a:srgbClr val="30A0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838200" y="20075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Outil final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4" name="Hexagon 13"/>
          <p:cNvSpPr/>
          <p:nvPr/>
        </p:nvSpPr>
        <p:spPr>
          <a:xfrm>
            <a:off x="6545722" y="1564517"/>
            <a:ext cx="1844300" cy="865068"/>
          </a:xfrm>
          <a:prstGeom prst="hexagon">
            <a:avLst/>
          </a:prstGeom>
          <a:solidFill>
            <a:srgbClr val="2099D8">
              <a:alpha val="60000"/>
            </a:srgbClr>
          </a:solidFill>
          <a:ln w="76200">
            <a:solidFill>
              <a:srgbClr val="30A0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DAGUnitTestsSelector</a:t>
            </a: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Hexagon 14"/>
          <p:cNvSpPr/>
          <p:nvPr/>
        </p:nvSpPr>
        <p:spPr>
          <a:xfrm>
            <a:off x="6545722" y="4971560"/>
            <a:ext cx="1844300" cy="865068"/>
          </a:xfrm>
          <a:prstGeom prst="hexagon">
            <a:avLst/>
          </a:prstGeom>
          <a:solidFill>
            <a:srgbClr val="2099D8">
              <a:alpha val="60000"/>
            </a:srgbClr>
          </a:solidFill>
          <a:ln w="76200">
            <a:solidFill>
              <a:srgbClr val="30A0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GitFeatures</a:t>
            </a:r>
            <a:endParaRPr lang="fr-FR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Extractor</a:t>
            </a: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Hexagon 15"/>
          <p:cNvSpPr/>
          <p:nvPr/>
        </p:nvSpPr>
        <p:spPr>
          <a:xfrm>
            <a:off x="3731488" y="3268038"/>
            <a:ext cx="1844300" cy="865068"/>
          </a:xfrm>
          <a:prstGeom prst="hexagon">
            <a:avLst/>
          </a:prstGeom>
          <a:solidFill>
            <a:srgbClr val="2099D8">
              <a:alpha val="60000"/>
            </a:srgbClr>
          </a:solidFill>
          <a:ln w="76200">
            <a:solidFill>
              <a:srgbClr val="30A0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TestsSelector</a:t>
            </a:r>
          </a:p>
          <a:p>
            <a:pPr algn="ctr"/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API</a:t>
            </a: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983" y="1993375"/>
            <a:ext cx="1039932" cy="103993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983" y="5407520"/>
            <a:ext cx="1039932" cy="103993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750" y="3728668"/>
            <a:ext cx="1039932" cy="1039932"/>
          </a:xfrm>
          <a:prstGeom prst="rect">
            <a:avLst/>
          </a:prstGeom>
        </p:spPr>
      </p:pic>
      <p:sp>
        <p:nvSpPr>
          <p:cNvPr id="20" name="Hexagon 19"/>
          <p:cNvSpPr/>
          <p:nvPr/>
        </p:nvSpPr>
        <p:spPr>
          <a:xfrm>
            <a:off x="9366413" y="3268038"/>
            <a:ext cx="1844300" cy="865068"/>
          </a:xfrm>
          <a:prstGeom prst="hexagon">
            <a:avLst/>
          </a:prstGeom>
          <a:solidFill>
            <a:srgbClr val="2099D8">
              <a:alpha val="60000"/>
            </a:srgbClr>
          </a:solidFill>
          <a:ln w="76200">
            <a:solidFill>
              <a:srgbClr val="30A0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Machine Learning</a:t>
            </a:r>
          </a:p>
          <a:p>
            <a:pPr algn="ctr"/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API</a:t>
            </a: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1" name="Straight Arrow Connector 20"/>
          <p:cNvCxnSpPr>
            <a:stCxn id="16" idx="0"/>
            <a:endCxn id="14" idx="3"/>
          </p:cNvCxnSpPr>
          <p:nvPr/>
        </p:nvCxnSpPr>
        <p:spPr>
          <a:xfrm flipV="1">
            <a:off x="5575788" y="1997051"/>
            <a:ext cx="969934" cy="1703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6" idx="0"/>
            <a:endCxn id="15" idx="3"/>
          </p:cNvCxnSpPr>
          <p:nvPr/>
        </p:nvCxnSpPr>
        <p:spPr>
          <a:xfrm>
            <a:off x="5575788" y="3700572"/>
            <a:ext cx="969934" cy="1703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6" idx="0"/>
          </p:cNvCxnSpPr>
          <p:nvPr/>
        </p:nvCxnSpPr>
        <p:spPr>
          <a:xfrm>
            <a:off x="5575788" y="3700572"/>
            <a:ext cx="3790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413" y="3889258"/>
            <a:ext cx="480449" cy="47858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721" y="5619001"/>
            <a:ext cx="610457" cy="61045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488" y="3955739"/>
            <a:ext cx="610457" cy="61045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722" y="2208113"/>
            <a:ext cx="610457" cy="610457"/>
          </a:xfrm>
          <a:prstGeom prst="rect">
            <a:avLst/>
          </a:prstGeom>
        </p:spPr>
      </p:pic>
      <p:cxnSp>
        <p:nvCxnSpPr>
          <p:cNvPr id="29" name="Straight Arrow Connector 28"/>
          <p:cNvCxnSpPr>
            <a:stCxn id="28" idx="0"/>
            <a:endCxn id="16" idx="3"/>
          </p:cNvCxnSpPr>
          <p:nvPr/>
        </p:nvCxnSpPr>
        <p:spPr>
          <a:xfrm>
            <a:off x="2842920" y="3696014"/>
            <a:ext cx="888568" cy="4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797" y="3866277"/>
            <a:ext cx="686056" cy="686056"/>
          </a:xfrm>
          <a:prstGeom prst="rect">
            <a:avLst/>
          </a:prstGeom>
        </p:spPr>
      </p:pic>
      <p:pic>
        <p:nvPicPr>
          <p:cNvPr id="32" name="Picture 31" descr="github_PNG24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279775" y="3511463"/>
            <a:ext cx="1308538" cy="31323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064386" y="4476669"/>
            <a:ext cx="5725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r>
              <a:rPr lang="en-US" sz="1600" dirty="0">
                <a:solidFill>
                  <a:srgbClr val="FFFFFF"/>
                </a:solidFill>
                <a:latin typeface="Open Sans Light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60266" y="4476669"/>
            <a:ext cx="5725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r>
              <a:rPr lang="en-US" sz="1600" dirty="0">
                <a:solidFill>
                  <a:srgbClr val="FFFFFF"/>
                </a:solidFill>
                <a:latin typeface="Open Sans Light"/>
              </a:rPr>
              <a:t>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34550" y="5879417"/>
            <a:ext cx="2925381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r>
              <a:rPr lang="en-US" sz="2133" dirty="0">
                <a:solidFill>
                  <a:srgbClr val="FFFFFF"/>
                </a:solidFill>
                <a:latin typeface="Open Sans Light"/>
              </a:rPr>
              <a:t>INFOGRAPHIC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34550" y="6518846"/>
            <a:ext cx="2925381" cy="995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/>
            <a:r>
              <a:rPr lang="en-US" sz="1467" dirty="0">
                <a:solidFill>
                  <a:srgbClr val="FFFFFF"/>
                </a:solidFill>
                <a:latin typeface="Open Sans Light"/>
              </a:rPr>
              <a:t>Lorem ipsum dolor sit</a:t>
            </a:r>
          </a:p>
          <a:p>
            <a:pPr algn="ctr" defTabSz="1219170"/>
            <a:r>
              <a:rPr lang="en-US" sz="1467" dirty="0">
                <a:solidFill>
                  <a:srgbClr val="FFFFFF"/>
                </a:solidFill>
                <a:latin typeface="Open Sans Light"/>
              </a:rPr>
              <a:t>amet consequitor</a:t>
            </a:r>
          </a:p>
          <a:p>
            <a:pPr algn="ctr" defTabSz="1219170"/>
            <a:r>
              <a:rPr lang="en-US" sz="1467" dirty="0" err="1">
                <a:solidFill>
                  <a:srgbClr val="FFFFFF"/>
                </a:solidFill>
                <a:latin typeface="Open Sans Light"/>
              </a:rPr>
              <a:t>oragami</a:t>
            </a:r>
            <a:r>
              <a:rPr lang="en-US" sz="1467" dirty="0">
                <a:solidFill>
                  <a:srgbClr val="FFFFFF"/>
                </a:solidFill>
                <a:latin typeface="Open Sans Light"/>
              </a:rPr>
              <a:t> is</a:t>
            </a:r>
          </a:p>
          <a:p>
            <a:pPr algn="ctr" defTabSz="1219170"/>
            <a:r>
              <a:rPr lang="en-US" sz="1467" dirty="0">
                <a:solidFill>
                  <a:srgbClr val="FFFFFF"/>
                </a:solidFill>
                <a:latin typeface="Open Sans Light"/>
              </a:rPr>
              <a:t>radical</a:t>
            </a:r>
          </a:p>
        </p:txBody>
      </p:sp>
      <p:grpSp>
        <p:nvGrpSpPr>
          <p:cNvPr id="63" name="Group 62"/>
          <p:cNvGrpSpPr>
            <a:grpSpLocks noChangeAspect="1"/>
          </p:cNvGrpSpPr>
          <p:nvPr/>
        </p:nvGrpSpPr>
        <p:grpSpPr>
          <a:xfrm>
            <a:off x="4808341" y="5143022"/>
            <a:ext cx="788523" cy="685939"/>
            <a:chOff x="3486150" y="5151438"/>
            <a:chExt cx="1830388" cy="1592262"/>
          </a:xfrm>
        </p:grpSpPr>
        <p:sp>
          <p:nvSpPr>
            <p:cNvPr id="64" name="Freeform 22"/>
            <p:cNvSpPr>
              <a:spLocks noEditPoints="1"/>
            </p:cNvSpPr>
            <p:nvPr/>
          </p:nvSpPr>
          <p:spPr bwMode="auto">
            <a:xfrm>
              <a:off x="3486150" y="5151438"/>
              <a:ext cx="1830388" cy="1592262"/>
            </a:xfrm>
            <a:custGeom>
              <a:avLst/>
              <a:gdLst>
                <a:gd name="T0" fmla="*/ 226 w 228"/>
                <a:gd name="T1" fmla="*/ 75 h 198"/>
                <a:gd name="T2" fmla="*/ 211 w 228"/>
                <a:gd name="T3" fmla="*/ 64 h 198"/>
                <a:gd name="T4" fmla="*/ 211 w 228"/>
                <a:gd name="T5" fmla="*/ 64 h 198"/>
                <a:gd name="T6" fmla="*/ 115 w 228"/>
                <a:gd name="T7" fmla="*/ 0 h 198"/>
                <a:gd name="T8" fmla="*/ 112 w 228"/>
                <a:gd name="T9" fmla="*/ 0 h 198"/>
                <a:gd name="T10" fmla="*/ 71 w 228"/>
                <a:gd name="T11" fmla="*/ 28 h 198"/>
                <a:gd name="T12" fmla="*/ 71 w 228"/>
                <a:gd name="T13" fmla="*/ 10 h 198"/>
                <a:gd name="T14" fmla="*/ 69 w 228"/>
                <a:gd name="T15" fmla="*/ 8 h 198"/>
                <a:gd name="T16" fmla="*/ 41 w 228"/>
                <a:gd name="T17" fmla="*/ 8 h 198"/>
                <a:gd name="T18" fmla="*/ 41 w 228"/>
                <a:gd name="T19" fmla="*/ 8 h 198"/>
                <a:gd name="T20" fmla="*/ 40 w 228"/>
                <a:gd name="T21" fmla="*/ 9 h 198"/>
                <a:gd name="T22" fmla="*/ 39 w 228"/>
                <a:gd name="T23" fmla="*/ 10 h 198"/>
                <a:gd name="T24" fmla="*/ 39 w 228"/>
                <a:gd name="T25" fmla="*/ 49 h 198"/>
                <a:gd name="T26" fmla="*/ 1 w 228"/>
                <a:gd name="T27" fmla="*/ 75 h 198"/>
                <a:gd name="T28" fmla="*/ 1 w 228"/>
                <a:gd name="T29" fmla="*/ 78 h 198"/>
                <a:gd name="T30" fmla="*/ 4 w 228"/>
                <a:gd name="T31" fmla="*/ 78 h 198"/>
                <a:gd name="T32" fmla="*/ 19 w 228"/>
                <a:gd name="T33" fmla="*/ 68 h 198"/>
                <a:gd name="T34" fmla="*/ 19 w 228"/>
                <a:gd name="T35" fmla="*/ 196 h 198"/>
                <a:gd name="T36" fmla="*/ 22 w 228"/>
                <a:gd name="T37" fmla="*/ 198 h 198"/>
                <a:gd name="T38" fmla="*/ 209 w 228"/>
                <a:gd name="T39" fmla="*/ 198 h 198"/>
                <a:gd name="T40" fmla="*/ 212 w 228"/>
                <a:gd name="T41" fmla="*/ 196 h 198"/>
                <a:gd name="T42" fmla="*/ 212 w 228"/>
                <a:gd name="T43" fmla="*/ 70 h 198"/>
                <a:gd name="T44" fmla="*/ 224 w 228"/>
                <a:gd name="T45" fmla="*/ 78 h 198"/>
                <a:gd name="T46" fmla="*/ 225 w 228"/>
                <a:gd name="T47" fmla="*/ 79 h 198"/>
                <a:gd name="T48" fmla="*/ 227 w 228"/>
                <a:gd name="T49" fmla="*/ 78 h 198"/>
                <a:gd name="T50" fmla="*/ 226 w 228"/>
                <a:gd name="T51" fmla="*/ 75 h 198"/>
                <a:gd name="T52" fmla="*/ 44 w 228"/>
                <a:gd name="T53" fmla="*/ 13 h 198"/>
                <a:gd name="T54" fmla="*/ 67 w 228"/>
                <a:gd name="T55" fmla="*/ 13 h 198"/>
                <a:gd name="T56" fmla="*/ 67 w 228"/>
                <a:gd name="T57" fmla="*/ 31 h 198"/>
                <a:gd name="T58" fmla="*/ 44 w 228"/>
                <a:gd name="T59" fmla="*/ 46 h 198"/>
                <a:gd name="T60" fmla="*/ 44 w 228"/>
                <a:gd name="T61" fmla="*/ 13 h 198"/>
                <a:gd name="T62" fmla="*/ 207 w 228"/>
                <a:gd name="T63" fmla="*/ 194 h 198"/>
                <a:gd name="T64" fmla="*/ 24 w 228"/>
                <a:gd name="T65" fmla="*/ 194 h 198"/>
                <a:gd name="T66" fmla="*/ 24 w 228"/>
                <a:gd name="T67" fmla="*/ 65 h 198"/>
                <a:gd name="T68" fmla="*/ 43 w 228"/>
                <a:gd name="T69" fmla="*/ 53 h 198"/>
                <a:gd name="T70" fmla="*/ 43 w 228"/>
                <a:gd name="T71" fmla="*/ 53 h 198"/>
                <a:gd name="T72" fmla="*/ 70 w 228"/>
                <a:gd name="T73" fmla="*/ 34 h 198"/>
                <a:gd name="T74" fmla="*/ 70 w 228"/>
                <a:gd name="T75" fmla="*/ 34 h 198"/>
                <a:gd name="T76" fmla="*/ 114 w 228"/>
                <a:gd name="T77" fmla="*/ 5 h 198"/>
                <a:gd name="T78" fmla="*/ 207 w 228"/>
                <a:gd name="T79" fmla="*/ 67 h 198"/>
                <a:gd name="T80" fmla="*/ 207 w 228"/>
                <a:gd name="T81" fmla="*/ 194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28" h="198">
                  <a:moveTo>
                    <a:pt x="226" y="75"/>
                  </a:moveTo>
                  <a:cubicBezTo>
                    <a:pt x="211" y="64"/>
                    <a:pt x="211" y="64"/>
                    <a:pt x="211" y="64"/>
                  </a:cubicBezTo>
                  <a:cubicBezTo>
                    <a:pt x="211" y="64"/>
                    <a:pt x="211" y="64"/>
                    <a:pt x="211" y="64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4" y="0"/>
                    <a:pt x="113" y="0"/>
                    <a:pt x="112" y="0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71" y="9"/>
                    <a:pt x="70" y="8"/>
                    <a:pt x="69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0" y="8"/>
                    <a:pt x="40" y="9"/>
                  </a:cubicBezTo>
                  <a:cubicBezTo>
                    <a:pt x="39" y="9"/>
                    <a:pt x="39" y="10"/>
                    <a:pt x="39" y="10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0" y="75"/>
                    <a:pt x="0" y="77"/>
                    <a:pt x="1" y="78"/>
                  </a:cubicBezTo>
                  <a:cubicBezTo>
                    <a:pt x="1" y="79"/>
                    <a:pt x="3" y="79"/>
                    <a:pt x="4" y="78"/>
                  </a:cubicBezTo>
                  <a:cubicBezTo>
                    <a:pt x="19" y="68"/>
                    <a:pt x="19" y="68"/>
                    <a:pt x="19" y="68"/>
                  </a:cubicBezTo>
                  <a:cubicBezTo>
                    <a:pt x="19" y="196"/>
                    <a:pt x="19" y="196"/>
                    <a:pt x="19" y="196"/>
                  </a:cubicBezTo>
                  <a:cubicBezTo>
                    <a:pt x="19" y="197"/>
                    <a:pt x="20" y="198"/>
                    <a:pt x="22" y="198"/>
                  </a:cubicBezTo>
                  <a:cubicBezTo>
                    <a:pt x="209" y="198"/>
                    <a:pt x="209" y="198"/>
                    <a:pt x="209" y="198"/>
                  </a:cubicBezTo>
                  <a:cubicBezTo>
                    <a:pt x="211" y="198"/>
                    <a:pt x="212" y="197"/>
                    <a:pt x="212" y="196"/>
                  </a:cubicBezTo>
                  <a:cubicBezTo>
                    <a:pt x="212" y="70"/>
                    <a:pt x="212" y="70"/>
                    <a:pt x="212" y="70"/>
                  </a:cubicBezTo>
                  <a:cubicBezTo>
                    <a:pt x="224" y="78"/>
                    <a:pt x="224" y="78"/>
                    <a:pt x="224" y="78"/>
                  </a:cubicBezTo>
                  <a:cubicBezTo>
                    <a:pt x="224" y="79"/>
                    <a:pt x="225" y="79"/>
                    <a:pt x="225" y="79"/>
                  </a:cubicBezTo>
                  <a:cubicBezTo>
                    <a:pt x="226" y="79"/>
                    <a:pt x="226" y="78"/>
                    <a:pt x="227" y="78"/>
                  </a:cubicBezTo>
                  <a:cubicBezTo>
                    <a:pt x="228" y="77"/>
                    <a:pt x="227" y="75"/>
                    <a:pt x="226" y="75"/>
                  </a:cubicBezTo>
                  <a:close/>
                  <a:moveTo>
                    <a:pt x="44" y="13"/>
                  </a:moveTo>
                  <a:cubicBezTo>
                    <a:pt x="67" y="13"/>
                    <a:pt x="67" y="13"/>
                    <a:pt x="67" y="13"/>
                  </a:cubicBezTo>
                  <a:cubicBezTo>
                    <a:pt x="67" y="31"/>
                    <a:pt x="67" y="31"/>
                    <a:pt x="67" y="31"/>
                  </a:cubicBezTo>
                  <a:cubicBezTo>
                    <a:pt x="44" y="46"/>
                    <a:pt x="44" y="46"/>
                    <a:pt x="44" y="46"/>
                  </a:cubicBezTo>
                  <a:lnTo>
                    <a:pt x="44" y="13"/>
                  </a:lnTo>
                  <a:close/>
                  <a:moveTo>
                    <a:pt x="207" y="194"/>
                  </a:moveTo>
                  <a:cubicBezTo>
                    <a:pt x="24" y="194"/>
                    <a:pt x="24" y="194"/>
                    <a:pt x="24" y="194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43" y="53"/>
                    <a:pt x="43" y="53"/>
                    <a:pt x="43" y="53"/>
                  </a:cubicBezTo>
                  <a:cubicBezTo>
                    <a:pt x="43" y="53"/>
                    <a:pt x="43" y="53"/>
                    <a:pt x="43" y="53"/>
                  </a:cubicBezTo>
                  <a:cubicBezTo>
                    <a:pt x="70" y="34"/>
                    <a:pt x="70" y="34"/>
                    <a:pt x="70" y="34"/>
                  </a:cubicBezTo>
                  <a:cubicBezTo>
                    <a:pt x="70" y="34"/>
                    <a:pt x="70" y="34"/>
                    <a:pt x="70" y="34"/>
                  </a:cubicBezTo>
                  <a:cubicBezTo>
                    <a:pt x="114" y="5"/>
                    <a:pt x="114" y="5"/>
                    <a:pt x="114" y="5"/>
                  </a:cubicBezTo>
                  <a:cubicBezTo>
                    <a:pt x="207" y="67"/>
                    <a:pt x="207" y="67"/>
                    <a:pt x="207" y="67"/>
                  </a:cubicBezTo>
                  <a:lnTo>
                    <a:pt x="207" y="1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 sz="3200">
                <a:solidFill>
                  <a:srgbClr val="FFFFFF"/>
                </a:solidFill>
                <a:latin typeface="Open Sans Light"/>
              </a:endParaRPr>
            </a:p>
          </p:txBody>
        </p:sp>
        <p:sp>
          <p:nvSpPr>
            <p:cNvPr id="65" name="Freeform 23"/>
            <p:cNvSpPr>
              <a:spLocks noEditPoints="1"/>
            </p:cNvSpPr>
            <p:nvPr/>
          </p:nvSpPr>
          <p:spPr bwMode="auto">
            <a:xfrm>
              <a:off x="4105275" y="5649913"/>
              <a:ext cx="593725" cy="587375"/>
            </a:xfrm>
            <a:custGeom>
              <a:avLst/>
              <a:gdLst>
                <a:gd name="T0" fmla="*/ 24 w 74"/>
                <a:gd name="T1" fmla="*/ 2 h 73"/>
                <a:gd name="T2" fmla="*/ 24 w 74"/>
                <a:gd name="T3" fmla="*/ 24 h 73"/>
                <a:gd name="T4" fmla="*/ 2 w 74"/>
                <a:gd name="T5" fmla="*/ 24 h 73"/>
                <a:gd name="T6" fmla="*/ 1 w 74"/>
                <a:gd name="T7" fmla="*/ 25 h 73"/>
                <a:gd name="T8" fmla="*/ 0 w 74"/>
                <a:gd name="T9" fmla="*/ 26 h 73"/>
                <a:gd name="T10" fmla="*/ 0 w 74"/>
                <a:gd name="T11" fmla="*/ 47 h 73"/>
                <a:gd name="T12" fmla="*/ 2 w 74"/>
                <a:gd name="T13" fmla="*/ 49 h 73"/>
                <a:gd name="T14" fmla="*/ 24 w 74"/>
                <a:gd name="T15" fmla="*/ 49 h 73"/>
                <a:gd name="T16" fmla="*/ 24 w 74"/>
                <a:gd name="T17" fmla="*/ 71 h 73"/>
                <a:gd name="T18" fmla="*/ 26 w 74"/>
                <a:gd name="T19" fmla="*/ 73 h 73"/>
                <a:gd name="T20" fmla="*/ 47 w 74"/>
                <a:gd name="T21" fmla="*/ 73 h 73"/>
                <a:gd name="T22" fmla="*/ 49 w 74"/>
                <a:gd name="T23" fmla="*/ 71 h 73"/>
                <a:gd name="T24" fmla="*/ 49 w 74"/>
                <a:gd name="T25" fmla="*/ 49 h 73"/>
                <a:gd name="T26" fmla="*/ 71 w 74"/>
                <a:gd name="T27" fmla="*/ 49 h 73"/>
                <a:gd name="T28" fmla="*/ 73 w 74"/>
                <a:gd name="T29" fmla="*/ 48 h 73"/>
                <a:gd name="T30" fmla="*/ 74 w 74"/>
                <a:gd name="T31" fmla="*/ 47 h 73"/>
                <a:gd name="T32" fmla="*/ 74 w 74"/>
                <a:gd name="T33" fmla="*/ 26 h 73"/>
                <a:gd name="T34" fmla="*/ 71 w 74"/>
                <a:gd name="T35" fmla="*/ 24 h 73"/>
                <a:gd name="T36" fmla="*/ 49 w 74"/>
                <a:gd name="T37" fmla="*/ 24 h 73"/>
                <a:gd name="T38" fmla="*/ 49 w 74"/>
                <a:gd name="T39" fmla="*/ 2 h 73"/>
                <a:gd name="T40" fmla="*/ 47 w 74"/>
                <a:gd name="T41" fmla="*/ 0 h 73"/>
                <a:gd name="T42" fmla="*/ 26 w 74"/>
                <a:gd name="T43" fmla="*/ 0 h 73"/>
                <a:gd name="T44" fmla="*/ 24 w 74"/>
                <a:gd name="T45" fmla="*/ 2 h 73"/>
                <a:gd name="T46" fmla="*/ 29 w 74"/>
                <a:gd name="T47" fmla="*/ 26 h 73"/>
                <a:gd name="T48" fmla="*/ 29 w 74"/>
                <a:gd name="T49" fmla="*/ 4 h 73"/>
                <a:gd name="T50" fmla="*/ 45 w 74"/>
                <a:gd name="T51" fmla="*/ 4 h 73"/>
                <a:gd name="T52" fmla="*/ 45 w 74"/>
                <a:gd name="T53" fmla="*/ 26 h 73"/>
                <a:gd name="T54" fmla="*/ 47 w 74"/>
                <a:gd name="T55" fmla="*/ 29 h 73"/>
                <a:gd name="T56" fmla="*/ 69 w 74"/>
                <a:gd name="T57" fmla="*/ 29 h 73"/>
                <a:gd name="T58" fmla="*/ 69 w 74"/>
                <a:gd name="T59" fmla="*/ 45 h 73"/>
                <a:gd name="T60" fmla="*/ 47 w 74"/>
                <a:gd name="T61" fmla="*/ 45 h 73"/>
                <a:gd name="T62" fmla="*/ 45 w 74"/>
                <a:gd name="T63" fmla="*/ 47 h 73"/>
                <a:gd name="T64" fmla="*/ 45 w 74"/>
                <a:gd name="T65" fmla="*/ 69 h 73"/>
                <a:gd name="T66" fmla="*/ 29 w 74"/>
                <a:gd name="T67" fmla="*/ 69 h 73"/>
                <a:gd name="T68" fmla="*/ 29 w 74"/>
                <a:gd name="T69" fmla="*/ 47 h 73"/>
                <a:gd name="T70" fmla="*/ 26 w 74"/>
                <a:gd name="T71" fmla="*/ 45 h 73"/>
                <a:gd name="T72" fmla="*/ 5 w 74"/>
                <a:gd name="T73" fmla="*/ 45 h 73"/>
                <a:gd name="T74" fmla="*/ 5 w 74"/>
                <a:gd name="T75" fmla="*/ 29 h 73"/>
                <a:gd name="T76" fmla="*/ 26 w 74"/>
                <a:gd name="T77" fmla="*/ 29 h 73"/>
                <a:gd name="T78" fmla="*/ 29 w 74"/>
                <a:gd name="T79" fmla="*/ 2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4" h="73">
                  <a:moveTo>
                    <a:pt x="24" y="2"/>
                  </a:moveTo>
                  <a:cubicBezTo>
                    <a:pt x="24" y="24"/>
                    <a:pt x="24" y="24"/>
                    <a:pt x="24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1" y="24"/>
                    <a:pt x="1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8"/>
                    <a:pt x="1" y="49"/>
                    <a:pt x="2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71"/>
                    <a:pt x="24" y="71"/>
                    <a:pt x="24" y="71"/>
                  </a:cubicBezTo>
                  <a:cubicBezTo>
                    <a:pt x="24" y="72"/>
                    <a:pt x="25" y="73"/>
                    <a:pt x="26" y="73"/>
                  </a:cubicBezTo>
                  <a:cubicBezTo>
                    <a:pt x="47" y="73"/>
                    <a:pt x="47" y="73"/>
                    <a:pt x="47" y="73"/>
                  </a:cubicBezTo>
                  <a:cubicBezTo>
                    <a:pt x="48" y="73"/>
                    <a:pt x="49" y="72"/>
                    <a:pt x="49" y="71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2" y="49"/>
                    <a:pt x="73" y="49"/>
                    <a:pt x="73" y="48"/>
                  </a:cubicBezTo>
                  <a:cubicBezTo>
                    <a:pt x="73" y="48"/>
                    <a:pt x="74" y="47"/>
                    <a:pt x="74" y="47"/>
                  </a:cubicBezTo>
                  <a:cubicBezTo>
                    <a:pt x="74" y="26"/>
                    <a:pt x="74" y="26"/>
                    <a:pt x="74" y="26"/>
                  </a:cubicBezTo>
                  <a:cubicBezTo>
                    <a:pt x="74" y="25"/>
                    <a:pt x="73" y="24"/>
                    <a:pt x="71" y="24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1"/>
                    <a:pt x="48" y="0"/>
                    <a:pt x="47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5" y="0"/>
                    <a:pt x="24" y="1"/>
                    <a:pt x="24" y="2"/>
                  </a:cubicBezTo>
                  <a:close/>
                  <a:moveTo>
                    <a:pt x="29" y="26"/>
                  </a:moveTo>
                  <a:cubicBezTo>
                    <a:pt x="29" y="4"/>
                    <a:pt x="29" y="4"/>
                    <a:pt x="29" y="4"/>
                  </a:cubicBezTo>
                  <a:cubicBezTo>
                    <a:pt x="45" y="4"/>
                    <a:pt x="45" y="4"/>
                    <a:pt x="45" y="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5" y="28"/>
                    <a:pt x="46" y="29"/>
                    <a:pt x="47" y="29"/>
                  </a:cubicBezTo>
                  <a:cubicBezTo>
                    <a:pt x="69" y="29"/>
                    <a:pt x="69" y="29"/>
                    <a:pt x="69" y="29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47" y="45"/>
                    <a:pt x="47" y="45"/>
                    <a:pt x="47" y="45"/>
                  </a:cubicBezTo>
                  <a:cubicBezTo>
                    <a:pt x="46" y="45"/>
                    <a:pt x="45" y="46"/>
                    <a:pt x="45" y="47"/>
                  </a:cubicBezTo>
                  <a:cubicBezTo>
                    <a:pt x="45" y="69"/>
                    <a:pt x="45" y="69"/>
                    <a:pt x="45" y="69"/>
                  </a:cubicBezTo>
                  <a:cubicBezTo>
                    <a:pt x="29" y="69"/>
                    <a:pt x="29" y="69"/>
                    <a:pt x="29" y="69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6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8" y="29"/>
                    <a:pt x="29" y="28"/>
                    <a:pt x="29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 sz="3200">
                <a:solidFill>
                  <a:srgbClr val="FFFFFF"/>
                </a:solidFill>
                <a:latin typeface="Open Sans Light"/>
              </a:endParaRPr>
            </a:p>
          </p:txBody>
        </p:sp>
      </p:grpSp>
      <p:sp>
        <p:nvSpPr>
          <p:cNvPr id="66" name="Isosceles Triangle 65"/>
          <p:cNvSpPr>
            <a:spLocks noChangeAspect="1"/>
          </p:cNvSpPr>
          <p:nvPr/>
        </p:nvSpPr>
        <p:spPr>
          <a:xfrm rot="10800000">
            <a:off x="5046710" y="7886002"/>
            <a:ext cx="311789" cy="209563"/>
          </a:xfrm>
          <a:prstGeom prst="triangle">
            <a:avLst/>
          </a:prstGeom>
          <a:solidFill>
            <a:srgbClr val="FFFFFF">
              <a:alpha val="30196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67" name="Isosceles Triangle 66"/>
          <p:cNvSpPr>
            <a:spLocks noChangeAspect="1"/>
          </p:cNvSpPr>
          <p:nvPr/>
        </p:nvSpPr>
        <p:spPr>
          <a:xfrm rot="10800000">
            <a:off x="2641346" y="7886002"/>
            <a:ext cx="311789" cy="209563"/>
          </a:xfrm>
          <a:prstGeom prst="triangle">
            <a:avLst/>
          </a:prstGeom>
          <a:solidFill>
            <a:srgbClr val="FFFFFF">
              <a:alpha val="30196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74" name="Date Placeholder 7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75" name="Footer Placeholder 7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76" name="Slide Number Placeholder 7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22</a:t>
            </a:fld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xmlns="" id="{EA6B434E-C521-4B4E-9176-8F9D7EBE9D96}"/>
              </a:ext>
            </a:extLst>
          </p:cNvPr>
          <p:cNvGrpSpPr/>
          <p:nvPr/>
        </p:nvGrpSpPr>
        <p:grpSpPr>
          <a:xfrm>
            <a:off x="0" y="-4629"/>
            <a:ext cx="12192000" cy="360000"/>
            <a:chOff x="387926" y="-3642"/>
            <a:chExt cx="11804074" cy="1310604"/>
          </a:xfrm>
        </p:grpSpPr>
        <p:sp>
          <p:nvSpPr>
            <p:cNvPr id="41" name="Chevron 7">
              <a:extLst>
                <a:ext uri="{FF2B5EF4-FFF2-40B4-BE49-F238E27FC236}">
                  <a16:creationId xmlns:a16="http://schemas.microsoft.com/office/drawing/2014/main" xmlns="" id="{6E688A68-35E2-4DD0-BDCC-2B128A742AC7}"/>
                </a:ext>
              </a:extLst>
            </p:cNvPr>
            <p:cNvSpPr/>
            <p:nvPr/>
          </p:nvSpPr>
          <p:spPr>
            <a:xfrm>
              <a:off x="387926" y="156500"/>
              <a:ext cx="2351561" cy="1011382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2" name="Chevron 8">
              <a:extLst>
                <a:ext uri="{FF2B5EF4-FFF2-40B4-BE49-F238E27FC236}">
                  <a16:creationId xmlns:a16="http://schemas.microsoft.com/office/drawing/2014/main" xmlns="" id="{5E937B17-580C-4685-85EA-7BFFB8FCA4C0}"/>
                </a:ext>
              </a:extLst>
            </p:cNvPr>
            <p:cNvSpPr/>
            <p:nvPr/>
          </p:nvSpPr>
          <p:spPr>
            <a:xfrm>
              <a:off x="2532177" y="161191"/>
              <a:ext cx="2351562" cy="1011382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3" name="Chevron 9">
              <a:extLst>
                <a:ext uri="{FF2B5EF4-FFF2-40B4-BE49-F238E27FC236}">
                  <a16:creationId xmlns:a16="http://schemas.microsoft.com/office/drawing/2014/main" xmlns="" id="{34DF602E-1762-4F03-839C-452B1582554B}"/>
                </a:ext>
              </a:extLst>
            </p:cNvPr>
            <p:cNvSpPr/>
            <p:nvPr/>
          </p:nvSpPr>
          <p:spPr>
            <a:xfrm>
              <a:off x="4682028" y="161192"/>
              <a:ext cx="2349731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4" name="Chevron 10">
              <a:extLst>
                <a:ext uri="{FF2B5EF4-FFF2-40B4-BE49-F238E27FC236}">
                  <a16:creationId xmlns:a16="http://schemas.microsoft.com/office/drawing/2014/main" xmlns="" id="{1E76F3A1-6720-4525-A990-F166FE202572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5" name="Chevron 11">
              <a:extLst>
                <a:ext uri="{FF2B5EF4-FFF2-40B4-BE49-F238E27FC236}">
                  <a16:creationId xmlns:a16="http://schemas.microsoft.com/office/drawing/2014/main" xmlns="" id="{4749F794-7A9C-4E4A-8361-976F0F45F675}"/>
                </a:ext>
              </a:extLst>
            </p:cNvPr>
            <p:cNvSpPr/>
            <p:nvPr/>
          </p:nvSpPr>
          <p:spPr>
            <a:xfrm>
              <a:off x="6803706" y="-3642"/>
              <a:ext cx="2981943" cy="1310604"/>
            </a:xfrm>
            <a:prstGeom prst="chevron">
              <a:avLst/>
            </a:prstGeom>
            <a:solidFill>
              <a:srgbClr val="25B7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157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31" grpId="0" animBg="1"/>
      <p:bldP spid="14" grpId="0" animBg="1"/>
      <p:bldP spid="15" grpId="0" animBg="1"/>
      <p:bldP spid="16" grpId="0" animBg="1"/>
      <p:bldP spid="20" grpId="0" animBg="1"/>
      <p:bldP spid="56" grpId="0"/>
      <p:bldP spid="57" grpId="0"/>
      <p:bldP spid="58" grpId="0"/>
      <p:bldP spid="59" grpId="0"/>
      <p:bldP spid="66" grpId="0" animBg="1"/>
      <p:bldP spid="6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4629"/>
            <a:ext cx="12192000" cy="360000"/>
            <a:chOff x="387926" y="-3642"/>
            <a:chExt cx="11804074" cy="1310604"/>
          </a:xfrm>
        </p:grpSpPr>
        <p:sp>
          <p:nvSpPr>
            <p:cNvPr id="8" name="Chevron 7"/>
            <p:cNvSpPr/>
            <p:nvPr/>
          </p:nvSpPr>
          <p:spPr>
            <a:xfrm>
              <a:off x="387926" y="156500"/>
              <a:ext cx="2351561" cy="1011382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9" name="Chevron 8"/>
            <p:cNvSpPr/>
            <p:nvPr/>
          </p:nvSpPr>
          <p:spPr>
            <a:xfrm>
              <a:off x="2532177" y="161191"/>
              <a:ext cx="2351562" cy="1011382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0" name="Chevron 9"/>
            <p:cNvSpPr/>
            <p:nvPr/>
          </p:nvSpPr>
          <p:spPr>
            <a:xfrm>
              <a:off x="4682028" y="161192"/>
              <a:ext cx="2349731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1" name="Chevron 10"/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2" name="Chevron 11"/>
            <p:cNvSpPr/>
            <p:nvPr/>
          </p:nvSpPr>
          <p:spPr>
            <a:xfrm>
              <a:off x="6803706" y="-3642"/>
              <a:ext cx="2981943" cy="1310604"/>
            </a:xfrm>
            <a:prstGeom prst="chevron">
              <a:avLst/>
            </a:prstGeom>
            <a:solidFill>
              <a:srgbClr val="25B7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17537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Résultat d’extraction de données TeamCity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14" name="Content Placeholder 3" descr="TeamcityCSV - blurred.PNG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09043" y="1489940"/>
            <a:ext cx="8978746" cy="467098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96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22125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Résultat d’extraction de données Git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14" name="Content Placeholder 3" descr="GitFeatureCSV.PNG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45695" y="1987990"/>
            <a:ext cx="11053674" cy="383969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24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B16BAA7C-F59C-4061-B7CB-FBB5716C4E11}"/>
              </a:ext>
            </a:extLst>
          </p:cNvPr>
          <p:cNvGrpSpPr/>
          <p:nvPr/>
        </p:nvGrpSpPr>
        <p:grpSpPr>
          <a:xfrm>
            <a:off x="0" y="-4629"/>
            <a:ext cx="12192000" cy="360000"/>
            <a:chOff x="387926" y="-3642"/>
            <a:chExt cx="11804074" cy="1310604"/>
          </a:xfrm>
        </p:grpSpPr>
        <p:sp>
          <p:nvSpPr>
            <p:cNvPr id="19" name="Chevron 7">
              <a:extLst>
                <a:ext uri="{FF2B5EF4-FFF2-40B4-BE49-F238E27FC236}">
                  <a16:creationId xmlns:a16="http://schemas.microsoft.com/office/drawing/2014/main" xmlns="" id="{3158B87A-F792-4E9D-8B9F-05CF36189E2A}"/>
                </a:ext>
              </a:extLst>
            </p:cNvPr>
            <p:cNvSpPr/>
            <p:nvPr/>
          </p:nvSpPr>
          <p:spPr>
            <a:xfrm>
              <a:off x="387926" y="156500"/>
              <a:ext cx="2351561" cy="1011382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0" name="Chevron 8">
              <a:extLst>
                <a:ext uri="{FF2B5EF4-FFF2-40B4-BE49-F238E27FC236}">
                  <a16:creationId xmlns:a16="http://schemas.microsoft.com/office/drawing/2014/main" xmlns="" id="{A23DAE5B-BD74-4218-A305-1F2E3E5A40F4}"/>
                </a:ext>
              </a:extLst>
            </p:cNvPr>
            <p:cNvSpPr/>
            <p:nvPr/>
          </p:nvSpPr>
          <p:spPr>
            <a:xfrm>
              <a:off x="2532177" y="161191"/>
              <a:ext cx="2351562" cy="1011382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1" name="Chevron 9">
              <a:extLst>
                <a:ext uri="{FF2B5EF4-FFF2-40B4-BE49-F238E27FC236}">
                  <a16:creationId xmlns:a16="http://schemas.microsoft.com/office/drawing/2014/main" xmlns="" id="{BF7C1DE2-0C16-45C3-9963-79232B560ADD}"/>
                </a:ext>
              </a:extLst>
            </p:cNvPr>
            <p:cNvSpPr/>
            <p:nvPr/>
          </p:nvSpPr>
          <p:spPr>
            <a:xfrm>
              <a:off x="4682028" y="161192"/>
              <a:ext cx="2349731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2" name="Chevron 10">
              <a:extLst>
                <a:ext uri="{FF2B5EF4-FFF2-40B4-BE49-F238E27FC236}">
                  <a16:creationId xmlns:a16="http://schemas.microsoft.com/office/drawing/2014/main" xmlns="" id="{5A67AD55-F1A2-44D3-8A1D-398EEC1311B1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3" name="Chevron 11">
              <a:extLst>
                <a:ext uri="{FF2B5EF4-FFF2-40B4-BE49-F238E27FC236}">
                  <a16:creationId xmlns:a16="http://schemas.microsoft.com/office/drawing/2014/main" xmlns="" id="{BBF9CBB8-ECAD-479E-9EFE-693B44297881}"/>
                </a:ext>
              </a:extLst>
            </p:cNvPr>
            <p:cNvSpPr/>
            <p:nvPr/>
          </p:nvSpPr>
          <p:spPr>
            <a:xfrm>
              <a:off x="6803706" y="-3642"/>
              <a:ext cx="2981943" cy="1310604"/>
            </a:xfrm>
            <a:prstGeom prst="chevron">
              <a:avLst/>
            </a:prstGeom>
            <a:solidFill>
              <a:srgbClr val="25B7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37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935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Précision des modèles </a:t>
            </a:r>
            <a:r>
              <a:rPr lang="fr-FR" sz="32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entraînés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aphicFrame>
        <p:nvGraphicFramePr>
          <p:cNvPr id="1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543440"/>
              </p:ext>
            </p:extLst>
          </p:nvPr>
        </p:nvGraphicFramePr>
        <p:xfrm>
          <a:off x="1257968" y="1090494"/>
          <a:ext cx="9676064" cy="5047488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3359744">
                  <a:extLst>
                    <a:ext uri="{9D8B030D-6E8A-4147-A177-3AD203B41FA5}">
                      <a16:colId xmlns:a16="http://schemas.microsoft.com/office/drawing/2014/main" xmlns="" val="1356247362"/>
                    </a:ext>
                  </a:extLst>
                </a:gridCol>
                <a:gridCol w="3318316">
                  <a:extLst>
                    <a:ext uri="{9D8B030D-6E8A-4147-A177-3AD203B41FA5}">
                      <a16:colId xmlns:a16="http://schemas.microsoft.com/office/drawing/2014/main" xmlns="" val="1772259563"/>
                    </a:ext>
                  </a:extLst>
                </a:gridCol>
                <a:gridCol w="2998004">
                  <a:extLst>
                    <a:ext uri="{9D8B030D-6E8A-4147-A177-3AD203B41FA5}">
                      <a16:colId xmlns:a16="http://schemas.microsoft.com/office/drawing/2014/main" xmlns="" val="2796132032"/>
                    </a:ext>
                  </a:extLst>
                </a:gridCol>
              </a:tblGrid>
              <a:tr h="257579">
                <a:tc rowSpan="2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kern="1200" cap="none" spc="-20" dirty="0">
                          <a:solidFill>
                            <a:schemeClr val="tx1"/>
                          </a:solidFill>
                          <a:latin typeface="Open Sans Light" panose="020B0306030504020204" pitchFamily="34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rPr>
                        <a:t>Modèle</a:t>
                      </a:r>
                      <a:endParaRPr lang="en-US" sz="1600" kern="1200" cap="none" spc="-20" dirty="0">
                        <a:solidFill>
                          <a:schemeClr val="tx1"/>
                        </a:solidFill>
                        <a:latin typeface="Open Sans Light" panose="020B0306030504020204" pitchFamily="34" charset="0"/>
                        <a:ea typeface="Open Sans Light" panose="020B0306030504020204" pitchFamily="34" charset="0"/>
                        <a:cs typeface="Open Sans Light" panose="020B030603050402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kern="1200" cap="none" spc="-20" dirty="0">
                          <a:solidFill>
                            <a:schemeClr val="tx1"/>
                          </a:solidFill>
                          <a:latin typeface="Open Sans Light" panose="020B0306030504020204" pitchFamily="34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rPr>
                        <a:t>Précision</a:t>
                      </a:r>
                      <a:endParaRPr lang="en-US" sz="1600" kern="1200" cap="none" spc="-20" dirty="0">
                        <a:solidFill>
                          <a:schemeClr val="tx1"/>
                        </a:solidFill>
                        <a:latin typeface="Open Sans Light" panose="020B0306030504020204" pitchFamily="34" charset="0"/>
                        <a:ea typeface="Open Sans Light" panose="020B0306030504020204" pitchFamily="34" charset="0"/>
                        <a:cs typeface="Open Sans Light" panose="020B0306030504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7676970"/>
                  </a:ext>
                </a:extLst>
              </a:tr>
              <a:tr h="2575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kern="1200" cap="none" spc="-20" dirty="0">
                          <a:solidFill>
                            <a:schemeClr val="tx1"/>
                          </a:solidFill>
                          <a:latin typeface="Open Sans Light" panose="020B0306030504020204" pitchFamily="34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rPr>
                        <a:t>Tests unitaires</a:t>
                      </a:r>
                      <a:endParaRPr lang="en-US" sz="1600" kern="1200" cap="none" spc="-20" dirty="0">
                        <a:solidFill>
                          <a:schemeClr val="tx1"/>
                        </a:solidFill>
                        <a:latin typeface="Open Sans Light" panose="020B0306030504020204" pitchFamily="34" charset="0"/>
                        <a:ea typeface="Open Sans Light" panose="020B0306030504020204" pitchFamily="34" charset="0"/>
                        <a:cs typeface="Open Sans Light" panose="020B0306030504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kern="1200" cap="none" spc="-20">
                          <a:solidFill>
                            <a:schemeClr val="tx1"/>
                          </a:solidFill>
                          <a:latin typeface="Open Sans Light" panose="020B0306030504020204" pitchFamily="34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rPr>
                        <a:t>Test de code mort</a:t>
                      </a:r>
                      <a:endParaRPr lang="en-US" sz="1600" kern="1200" cap="none" spc="-20">
                        <a:solidFill>
                          <a:schemeClr val="tx1"/>
                        </a:solidFill>
                        <a:latin typeface="Open Sans Light" panose="020B0306030504020204" pitchFamily="34" charset="0"/>
                        <a:ea typeface="Open Sans Light" panose="020B0306030504020204" pitchFamily="34" charset="0"/>
                        <a:cs typeface="Open Sans Light" panose="020B0306030504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181430101"/>
                  </a:ext>
                </a:extLst>
              </a:tr>
              <a:tr h="257579">
                <a:tc gridSpan="3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kern="1200" cap="none" spc="-20" dirty="0">
                          <a:solidFill>
                            <a:schemeClr val="tx1"/>
                          </a:solidFill>
                          <a:latin typeface="Open Sans Light" panose="020B0306030504020204" pitchFamily="34" charset="0"/>
                          <a:ea typeface="Open Sans Light" panose="020B0306030504020204" pitchFamily="34" charset="0"/>
                          <a:cs typeface="Open Sans Light" panose="020B0306030504020204" pitchFamily="34" charset="0"/>
                        </a:rPr>
                        <a:t>Itération 1</a:t>
                      </a:r>
                      <a:endParaRPr lang="en-US" sz="1600" kern="1200" cap="none" spc="-20" dirty="0">
                        <a:solidFill>
                          <a:schemeClr val="tx1"/>
                        </a:solidFill>
                        <a:latin typeface="Open Sans Light" panose="020B0306030504020204" pitchFamily="34" charset="0"/>
                        <a:ea typeface="Open Sans Light" panose="020B0306030504020204" pitchFamily="34" charset="0"/>
                        <a:cs typeface="Open Sans Light" panose="020B0306030504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98179880"/>
                  </a:ext>
                </a:extLst>
              </a:tr>
              <a:tr h="257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b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K-Neirest Neighbors</a:t>
                      </a:r>
                      <a:endParaRPr lang="en-US" sz="1600" b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56%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58%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344386782"/>
                  </a:ext>
                </a:extLst>
              </a:tr>
              <a:tr h="257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b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Naive Bayes</a:t>
                      </a:r>
                      <a:endParaRPr lang="en-US" sz="1600" b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59%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58%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063413044"/>
                  </a:ext>
                </a:extLst>
              </a:tr>
              <a:tr h="257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b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XGBoost</a:t>
                      </a:r>
                      <a:endParaRPr lang="en-US" sz="1600" b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60%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59%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430882680"/>
                  </a:ext>
                </a:extLst>
              </a:tr>
              <a:tr h="257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b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Random Forest</a:t>
                      </a:r>
                      <a:endParaRPr lang="en-US" sz="1600" b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61%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58%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569589004"/>
                  </a:ext>
                </a:extLst>
              </a:tr>
              <a:tr h="257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b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Support Vector Machine</a:t>
                      </a:r>
                      <a:endParaRPr lang="en-US" sz="1600" b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58%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60%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680018078"/>
                  </a:ext>
                </a:extLst>
              </a:tr>
              <a:tr h="257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b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Decision Tree</a:t>
                      </a:r>
                      <a:endParaRPr lang="en-US" sz="1600" b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61%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63%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12913724"/>
                  </a:ext>
                </a:extLst>
              </a:tr>
              <a:tr h="257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b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Neural Network</a:t>
                      </a:r>
                      <a:endParaRPr lang="en-US" sz="1600" b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59%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dirty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62%</a:t>
                      </a:r>
                      <a:endParaRPr lang="en-US" sz="1600" dirty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268633889"/>
                  </a:ext>
                </a:extLst>
              </a:tr>
              <a:tr h="257579">
                <a:tc gridSpan="3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600" b="0" kern="1200" cap="none" spc="-20" dirty="0">
                          <a:solidFill>
                            <a:schemeClr val="tx1"/>
                          </a:solidFill>
                          <a:latin typeface="Open Sans Light" panose="020B0306030504020204"/>
                          <a:ea typeface="Open Sans Light" panose="020B0306030504020204" pitchFamily="34" charset="0"/>
                          <a:cs typeface="Open Sans Light" panose="020B0306030504020204" pitchFamily="34" charset="0"/>
                        </a:rPr>
                        <a:t>Itération 2</a:t>
                      </a:r>
                      <a:endParaRPr lang="en-US" sz="1600" b="0" kern="1200" cap="none" spc="-20" dirty="0">
                        <a:solidFill>
                          <a:schemeClr val="tx1"/>
                        </a:solidFill>
                        <a:latin typeface="Open Sans Light" panose="020B0306030504020204"/>
                        <a:ea typeface="Open Sans Light" panose="020B0306030504020204" pitchFamily="34" charset="0"/>
                        <a:cs typeface="Open Sans Light" panose="020B0306030504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99265508"/>
                  </a:ext>
                </a:extLst>
              </a:tr>
              <a:tr h="257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b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K-Neirest Neighbors</a:t>
                      </a:r>
                      <a:endParaRPr lang="en-US" sz="1600" b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dirty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72</a:t>
                      </a:r>
                      <a:r>
                        <a:rPr lang="fr-FR" sz="1600" dirty="0" smtClean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%</a:t>
                      </a:r>
                      <a:endParaRPr lang="en-US" sz="1600" dirty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70%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683700666"/>
                  </a:ext>
                </a:extLst>
              </a:tr>
              <a:tr h="257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b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Naive Bayes</a:t>
                      </a:r>
                      <a:endParaRPr lang="en-US" sz="1600" b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dirty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65%</a:t>
                      </a:r>
                      <a:endParaRPr lang="en-US" sz="1600" dirty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56%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461798986"/>
                  </a:ext>
                </a:extLst>
              </a:tr>
              <a:tr h="257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b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XGBoost</a:t>
                      </a:r>
                      <a:endParaRPr lang="en-US" sz="1600" b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69%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70%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572610074"/>
                  </a:ext>
                </a:extLst>
              </a:tr>
              <a:tr h="257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b="0" dirty="0" err="1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Random</a:t>
                      </a:r>
                      <a:r>
                        <a:rPr lang="fr-FR" sz="1600" b="0" dirty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 Forest</a:t>
                      </a:r>
                      <a:endParaRPr lang="en-US" sz="1600" b="0" dirty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72%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68%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530046290"/>
                  </a:ext>
                </a:extLst>
              </a:tr>
              <a:tr h="257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b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Support Vector Machine</a:t>
                      </a:r>
                      <a:endParaRPr lang="en-US" sz="1600" b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73%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72%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534623194"/>
                  </a:ext>
                </a:extLst>
              </a:tr>
              <a:tr h="257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b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Decision Tree</a:t>
                      </a:r>
                      <a:endParaRPr lang="en-US" sz="1600" b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74%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73%</a:t>
                      </a:r>
                      <a:endParaRPr lang="en-US" sz="160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30832077"/>
                  </a:ext>
                </a:extLst>
              </a:tr>
              <a:tr h="257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b="0" dirty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Neural Network</a:t>
                      </a:r>
                      <a:endParaRPr lang="en-US" sz="1600" b="0" dirty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dirty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66%</a:t>
                      </a:r>
                      <a:endParaRPr lang="en-US" sz="1600" dirty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600" dirty="0">
                          <a:effectLst/>
                          <a:latin typeface="Open Sans Light" panose="020B0306030504020204"/>
                          <a:ea typeface="Times New Roman" panose="02020603050405020304" pitchFamily="18" charset="0"/>
                        </a:rPr>
                        <a:t>72%</a:t>
                      </a:r>
                      <a:endParaRPr lang="en-US" sz="1600" dirty="0">
                        <a:effectLst/>
                        <a:latin typeface="Open Sans Light" panose="020B0306030504020204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809364488"/>
                  </a:ext>
                </a:extLst>
              </a:tr>
            </a:tbl>
          </a:graphicData>
        </a:graphic>
      </p:graphicFrame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25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E6FB1FE3-07C0-4EC8-8166-466454F35597}"/>
              </a:ext>
            </a:extLst>
          </p:cNvPr>
          <p:cNvGrpSpPr/>
          <p:nvPr/>
        </p:nvGrpSpPr>
        <p:grpSpPr>
          <a:xfrm>
            <a:off x="0" y="-4629"/>
            <a:ext cx="12192000" cy="360000"/>
            <a:chOff x="387926" y="-3642"/>
            <a:chExt cx="11804074" cy="1310604"/>
          </a:xfrm>
        </p:grpSpPr>
        <p:sp>
          <p:nvSpPr>
            <p:cNvPr id="19" name="Chevron 7">
              <a:extLst>
                <a:ext uri="{FF2B5EF4-FFF2-40B4-BE49-F238E27FC236}">
                  <a16:creationId xmlns:a16="http://schemas.microsoft.com/office/drawing/2014/main" xmlns="" id="{92990ABD-608F-4FF7-BB3E-C3D01E2AC181}"/>
                </a:ext>
              </a:extLst>
            </p:cNvPr>
            <p:cNvSpPr/>
            <p:nvPr/>
          </p:nvSpPr>
          <p:spPr>
            <a:xfrm>
              <a:off x="387926" y="156500"/>
              <a:ext cx="2351561" cy="1011382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0" name="Chevron 8">
              <a:extLst>
                <a:ext uri="{FF2B5EF4-FFF2-40B4-BE49-F238E27FC236}">
                  <a16:creationId xmlns:a16="http://schemas.microsoft.com/office/drawing/2014/main" xmlns="" id="{7223D87A-8644-4099-BC75-4971C9ECC33C}"/>
                </a:ext>
              </a:extLst>
            </p:cNvPr>
            <p:cNvSpPr/>
            <p:nvPr/>
          </p:nvSpPr>
          <p:spPr>
            <a:xfrm>
              <a:off x="2532177" y="161191"/>
              <a:ext cx="2351562" cy="1011382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1" name="Chevron 9">
              <a:extLst>
                <a:ext uri="{FF2B5EF4-FFF2-40B4-BE49-F238E27FC236}">
                  <a16:creationId xmlns:a16="http://schemas.microsoft.com/office/drawing/2014/main" xmlns="" id="{F3B7AA25-6B72-469A-9633-D4334C7CF738}"/>
                </a:ext>
              </a:extLst>
            </p:cNvPr>
            <p:cNvSpPr/>
            <p:nvPr/>
          </p:nvSpPr>
          <p:spPr>
            <a:xfrm>
              <a:off x="4682028" y="161192"/>
              <a:ext cx="2349731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2" name="Chevron 10">
              <a:extLst>
                <a:ext uri="{FF2B5EF4-FFF2-40B4-BE49-F238E27FC236}">
                  <a16:creationId xmlns:a16="http://schemas.microsoft.com/office/drawing/2014/main" xmlns="" id="{46C3F248-E3C3-4536-B723-A68F969989ED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3" name="Chevron 11">
              <a:extLst>
                <a:ext uri="{FF2B5EF4-FFF2-40B4-BE49-F238E27FC236}">
                  <a16:creationId xmlns:a16="http://schemas.microsoft.com/office/drawing/2014/main" xmlns="" id="{7AB38596-D87F-4625-9B04-A1384965E930}"/>
                </a:ext>
              </a:extLst>
            </p:cNvPr>
            <p:cNvSpPr/>
            <p:nvPr/>
          </p:nvSpPr>
          <p:spPr>
            <a:xfrm>
              <a:off x="6803706" y="-3642"/>
              <a:ext cx="2981943" cy="1310604"/>
            </a:xfrm>
            <a:prstGeom prst="chevron">
              <a:avLst/>
            </a:prstGeom>
            <a:solidFill>
              <a:srgbClr val="25B7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7877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>
            <a:spLocks/>
          </p:cNvSpPr>
          <p:nvPr/>
        </p:nvSpPr>
        <p:spPr>
          <a:xfrm>
            <a:off x="838200" y="34206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Interface ligne de commande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14" name="Content Placeholder 3" descr="G:\Stagiaires\Infra\2019\Youssef &amp; Mohamed\Figures\Demo.PNG"/>
          <p:cNvPicPr>
            <a:picLocks noGrp="1"/>
          </p:cNvPicPr>
          <p:nvPr>
            <p:ph idx="1"/>
          </p:nvPr>
        </p:nvPicPr>
        <p:blipFill>
          <a:blip r:embed="rId2" cstate="print"/>
          <a:srcRect l="1951" t="3114"/>
          <a:stretch>
            <a:fillRect/>
          </a:stretch>
        </p:blipFill>
        <p:spPr bwMode="auto">
          <a:xfrm>
            <a:off x="3200400" y="2942974"/>
            <a:ext cx="5890045" cy="1592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Date Placeholder 2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26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8E0BCE8F-5E21-42B4-8968-94C25D10B371}"/>
              </a:ext>
            </a:extLst>
          </p:cNvPr>
          <p:cNvGrpSpPr/>
          <p:nvPr/>
        </p:nvGrpSpPr>
        <p:grpSpPr>
          <a:xfrm>
            <a:off x="0" y="-4629"/>
            <a:ext cx="12192000" cy="360000"/>
            <a:chOff x="387926" y="-3642"/>
            <a:chExt cx="11804074" cy="1310604"/>
          </a:xfrm>
        </p:grpSpPr>
        <p:sp>
          <p:nvSpPr>
            <p:cNvPr id="16" name="Chevron 7">
              <a:extLst>
                <a:ext uri="{FF2B5EF4-FFF2-40B4-BE49-F238E27FC236}">
                  <a16:creationId xmlns:a16="http://schemas.microsoft.com/office/drawing/2014/main" xmlns="" id="{C9723CD7-BF48-4335-B67F-75EE5E4986DF}"/>
                </a:ext>
              </a:extLst>
            </p:cNvPr>
            <p:cNvSpPr/>
            <p:nvPr/>
          </p:nvSpPr>
          <p:spPr>
            <a:xfrm>
              <a:off x="387926" y="156500"/>
              <a:ext cx="2351561" cy="1011382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7" name="Chevron 8">
              <a:extLst>
                <a:ext uri="{FF2B5EF4-FFF2-40B4-BE49-F238E27FC236}">
                  <a16:creationId xmlns:a16="http://schemas.microsoft.com/office/drawing/2014/main" xmlns="" id="{AFD96AE3-C6F8-4CB6-853B-DB69E7652D5F}"/>
                </a:ext>
              </a:extLst>
            </p:cNvPr>
            <p:cNvSpPr/>
            <p:nvPr/>
          </p:nvSpPr>
          <p:spPr>
            <a:xfrm>
              <a:off x="2532177" y="161191"/>
              <a:ext cx="2351562" cy="1011382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8" name="Chevron 9">
              <a:extLst>
                <a:ext uri="{FF2B5EF4-FFF2-40B4-BE49-F238E27FC236}">
                  <a16:creationId xmlns:a16="http://schemas.microsoft.com/office/drawing/2014/main" xmlns="" id="{6D6ED1D7-8C42-4E59-A1CB-8705B5B0AF75}"/>
                </a:ext>
              </a:extLst>
            </p:cNvPr>
            <p:cNvSpPr/>
            <p:nvPr/>
          </p:nvSpPr>
          <p:spPr>
            <a:xfrm>
              <a:off x="4682028" y="161192"/>
              <a:ext cx="2349731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9" name="Chevron 10">
              <a:extLst>
                <a:ext uri="{FF2B5EF4-FFF2-40B4-BE49-F238E27FC236}">
                  <a16:creationId xmlns:a16="http://schemas.microsoft.com/office/drawing/2014/main" xmlns="" id="{4006E347-8989-4EE2-9C03-6CAB294B9F46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0" name="Chevron 11">
              <a:extLst>
                <a:ext uri="{FF2B5EF4-FFF2-40B4-BE49-F238E27FC236}">
                  <a16:creationId xmlns:a16="http://schemas.microsoft.com/office/drawing/2014/main" xmlns="" id="{14D2336C-66F4-4F49-9028-7DDF277C38E3}"/>
                </a:ext>
              </a:extLst>
            </p:cNvPr>
            <p:cNvSpPr/>
            <p:nvPr/>
          </p:nvSpPr>
          <p:spPr>
            <a:xfrm>
              <a:off x="6803706" y="-3642"/>
              <a:ext cx="2981943" cy="1310604"/>
            </a:xfrm>
            <a:prstGeom prst="chevron">
              <a:avLst/>
            </a:prstGeom>
            <a:solidFill>
              <a:srgbClr val="25B7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420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>
            <a:spLocks/>
          </p:cNvSpPr>
          <p:nvPr/>
        </p:nvSpPr>
        <p:spPr>
          <a:xfrm>
            <a:off x="838200" y="41036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Défis </a:t>
            </a:r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d’extraction de données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Temps moyen d’extraction de données Git d’un backup peut </a:t>
            </a:r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aller à </a:t>
            </a:r>
            <a:r>
              <a:rPr lang="fr-FR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3 heures</a:t>
            </a:r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pour 2000 Build sur TeamCity</a:t>
            </a:r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</a:t>
            </a:r>
            <a:endParaRPr lang="fr-FR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Exemple d’extraction de 550 </a:t>
            </a:r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lignes d’historique </a:t>
            </a:r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:</a:t>
            </a:r>
          </a:p>
          <a:p>
            <a:endParaRPr lang="fr-FR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Le nombre de </a:t>
            </a:r>
            <a:r>
              <a:rPr lang="fr-FR" dirty="0" err="1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failures</a:t>
            </a:r>
            <a:r>
              <a:rPr lang="fr-FR" b="1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fr-FR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insuffisant</a:t>
            </a:r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sur les </a:t>
            </a:r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back-ups.</a:t>
            </a:r>
            <a:endParaRPr lang="fr-FR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15" name="Picture 14" descr="teamCity elapsedtime blurr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863" y="3266737"/>
            <a:ext cx="10010274" cy="325120"/>
          </a:xfrm>
          <a:prstGeom prst="rect">
            <a:avLst/>
          </a:prstGeom>
        </p:spPr>
      </p:pic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27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19E6B01B-ED99-4171-BFE5-50E7C0AE3D61}"/>
              </a:ext>
            </a:extLst>
          </p:cNvPr>
          <p:cNvGrpSpPr/>
          <p:nvPr/>
        </p:nvGrpSpPr>
        <p:grpSpPr>
          <a:xfrm>
            <a:off x="0" y="-4629"/>
            <a:ext cx="12192000" cy="360000"/>
            <a:chOff x="387926" y="-3642"/>
            <a:chExt cx="11804074" cy="1310604"/>
          </a:xfrm>
        </p:grpSpPr>
        <p:sp>
          <p:nvSpPr>
            <p:cNvPr id="17" name="Chevron 7">
              <a:extLst>
                <a:ext uri="{FF2B5EF4-FFF2-40B4-BE49-F238E27FC236}">
                  <a16:creationId xmlns:a16="http://schemas.microsoft.com/office/drawing/2014/main" xmlns="" id="{9A1EE942-D4ED-4ABD-8A7D-9C4B03CE0C7B}"/>
                </a:ext>
              </a:extLst>
            </p:cNvPr>
            <p:cNvSpPr/>
            <p:nvPr/>
          </p:nvSpPr>
          <p:spPr>
            <a:xfrm>
              <a:off x="387926" y="156500"/>
              <a:ext cx="2351561" cy="1011382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8" name="Chevron 8">
              <a:extLst>
                <a:ext uri="{FF2B5EF4-FFF2-40B4-BE49-F238E27FC236}">
                  <a16:creationId xmlns:a16="http://schemas.microsoft.com/office/drawing/2014/main" xmlns="" id="{343D723B-903C-4FAB-A483-1B34FEC4BD5D}"/>
                </a:ext>
              </a:extLst>
            </p:cNvPr>
            <p:cNvSpPr/>
            <p:nvPr/>
          </p:nvSpPr>
          <p:spPr>
            <a:xfrm>
              <a:off x="2532177" y="161191"/>
              <a:ext cx="2351562" cy="1011382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19" name="Chevron 9">
              <a:extLst>
                <a:ext uri="{FF2B5EF4-FFF2-40B4-BE49-F238E27FC236}">
                  <a16:creationId xmlns:a16="http://schemas.microsoft.com/office/drawing/2014/main" xmlns="" id="{24D8B5F2-E9BA-4A0C-9B2D-F069DF4B5CA3}"/>
                </a:ext>
              </a:extLst>
            </p:cNvPr>
            <p:cNvSpPr/>
            <p:nvPr/>
          </p:nvSpPr>
          <p:spPr>
            <a:xfrm>
              <a:off x="4682028" y="161192"/>
              <a:ext cx="2349731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0" name="Chevron 10">
              <a:extLst>
                <a:ext uri="{FF2B5EF4-FFF2-40B4-BE49-F238E27FC236}">
                  <a16:creationId xmlns:a16="http://schemas.microsoft.com/office/drawing/2014/main" xmlns="" id="{84D8164B-BB53-4B7B-AE00-FCC165B0F802}"/>
                </a:ext>
              </a:extLst>
            </p:cNvPr>
            <p:cNvSpPr/>
            <p:nvPr/>
          </p:nvSpPr>
          <p:spPr>
            <a:xfrm>
              <a:off x="9635836" y="161191"/>
              <a:ext cx="2556164" cy="1011383"/>
            </a:xfrm>
            <a:prstGeom prst="chevron">
              <a:avLst/>
            </a:prstGeom>
            <a:solidFill>
              <a:srgbClr val="5BBE7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1" name="Chevron 11">
              <a:extLst>
                <a:ext uri="{FF2B5EF4-FFF2-40B4-BE49-F238E27FC236}">
                  <a16:creationId xmlns:a16="http://schemas.microsoft.com/office/drawing/2014/main" xmlns="" id="{7EC8C8C2-F435-4FD9-B401-12F3EBA7E5E8}"/>
                </a:ext>
              </a:extLst>
            </p:cNvPr>
            <p:cNvSpPr/>
            <p:nvPr/>
          </p:nvSpPr>
          <p:spPr>
            <a:xfrm>
              <a:off x="6803706" y="-3642"/>
              <a:ext cx="2981943" cy="1310604"/>
            </a:xfrm>
            <a:prstGeom prst="chevron">
              <a:avLst/>
            </a:prstGeom>
            <a:solidFill>
              <a:srgbClr val="25B7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2" name="Ellipse 1"/>
          <p:cNvSpPr/>
          <p:nvPr/>
        </p:nvSpPr>
        <p:spPr>
          <a:xfrm>
            <a:off x="9131118" y="3129566"/>
            <a:ext cx="1965101" cy="56667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483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>
            <a:spLocks/>
          </p:cNvSpPr>
          <p:nvPr/>
        </p:nvSpPr>
        <p:spPr>
          <a:xfrm>
            <a:off x="838200" y="31716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Conclusion</a:t>
            </a:r>
            <a:endParaRPr lang="en-US" sz="32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-1" y="-4629"/>
            <a:ext cx="12193200" cy="360000"/>
            <a:chOff x="387926" y="-3642"/>
            <a:chExt cx="11758529" cy="1310604"/>
          </a:xfrm>
        </p:grpSpPr>
        <p:sp>
          <p:nvSpPr>
            <p:cNvPr id="21" name="Chevron 20"/>
            <p:cNvSpPr/>
            <p:nvPr/>
          </p:nvSpPr>
          <p:spPr>
            <a:xfrm>
              <a:off x="387926" y="156500"/>
              <a:ext cx="2351561" cy="1011382"/>
            </a:xfrm>
            <a:prstGeom prst="chevron">
              <a:avLst/>
            </a:prstGeom>
            <a:solidFill>
              <a:srgbClr val="2099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Contexte du projet</a:t>
              </a:r>
              <a:endParaRPr lang="en-US" sz="1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2" name="Chevron 21"/>
            <p:cNvSpPr/>
            <p:nvPr/>
          </p:nvSpPr>
          <p:spPr>
            <a:xfrm>
              <a:off x="2532177" y="161191"/>
              <a:ext cx="2351562" cy="1011382"/>
            </a:xfrm>
            <a:prstGeom prst="chevron">
              <a:avLst/>
            </a:prstGeom>
            <a:solidFill>
              <a:srgbClr val="239CCE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Étude des besoins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3" name="Chevron 22"/>
            <p:cNvSpPr/>
            <p:nvPr/>
          </p:nvSpPr>
          <p:spPr>
            <a:xfrm>
              <a:off x="4682028" y="161192"/>
              <a:ext cx="2349731" cy="1011383"/>
            </a:xfrm>
            <a:prstGeom prst="chevron">
              <a:avLst/>
            </a:prstGeom>
            <a:solidFill>
              <a:srgbClr val="27A6C2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Modélisation</a:t>
              </a:r>
              <a:endParaRPr lang="en-US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4" name="Chevron 23"/>
            <p:cNvSpPr/>
            <p:nvPr/>
          </p:nvSpPr>
          <p:spPr>
            <a:xfrm>
              <a:off x="6836419" y="161192"/>
              <a:ext cx="2556164" cy="1011383"/>
            </a:xfrm>
            <a:prstGeom prst="chevron">
              <a:avLst/>
            </a:prstGeom>
            <a:solidFill>
              <a:srgbClr val="25B7A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Réalisation</a:t>
              </a:r>
              <a:endParaRPr lang="en-US" sz="1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25" name="Chevron 24"/>
            <p:cNvSpPr/>
            <p:nvPr/>
          </p:nvSpPr>
          <p:spPr>
            <a:xfrm>
              <a:off x="9164512" y="-3642"/>
              <a:ext cx="2981943" cy="1310604"/>
            </a:xfrm>
            <a:prstGeom prst="chevron">
              <a:avLst/>
            </a:prstGeom>
            <a:solidFill>
              <a:srgbClr val="5BBE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Conclusion</a:t>
              </a:r>
              <a:endParaRPr lang="en-US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27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8385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fr-MA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Travail</a:t>
            </a:r>
            <a:r>
              <a:rPr lang="fr-FR" dirty="0" smtClean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réalisé :</a:t>
            </a:r>
          </a:p>
          <a:p>
            <a:pPr lvl="1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Le module déterministe de détection </a:t>
            </a:r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des BuildConfig des </a:t>
            </a:r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tests </a:t>
            </a:r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unitaires</a:t>
            </a:r>
            <a:endParaRPr lang="fr-FR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lvl="1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L’extracteur de données </a:t>
            </a:r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Git</a:t>
            </a:r>
          </a:p>
          <a:p>
            <a:pPr lvl="1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L’extracteur de données </a:t>
            </a:r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TeamCity</a:t>
            </a:r>
            <a:endParaRPr lang="fr-FR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lvl="1"/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L’architecture d’analyse </a:t>
            </a:r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et d’entrainement </a:t>
            </a:r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des </a:t>
            </a:r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modèles </a:t>
            </a:r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 Machine </a:t>
            </a:r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Learning</a:t>
            </a:r>
          </a:p>
          <a:p>
            <a:pPr lvl="1"/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Résultat des modèles </a:t>
            </a:r>
            <a:r>
              <a:rPr lang="fr-FR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</a:t>
            </a:r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achine Learning:</a:t>
            </a:r>
          </a:p>
          <a:p>
            <a:pPr lvl="2"/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Une précision de 74% pour les tests unitaires</a:t>
            </a:r>
          </a:p>
          <a:p>
            <a:pPr lvl="2"/>
            <a:r>
              <a:rPr lang="fr-FR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Une précision de 73% pour le test du code mort</a:t>
            </a:r>
          </a:p>
          <a:p>
            <a:pPr lvl="1"/>
            <a:endParaRPr lang="fr-MA" dirty="0" smtClean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/>
            <a:r>
              <a:rPr lang="fr-M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Perspectives :</a:t>
            </a:r>
          </a:p>
          <a:p>
            <a:pPr lvl="1"/>
            <a:r>
              <a:rPr lang="fr-MA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Amélioration de la précision des modèles de Machine </a:t>
            </a:r>
            <a:r>
              <a:rPr lang="fr-MA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Learning</a:t>
            </a:r>
            <a:endParaRPr lang="fr-MA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lvl="1"/>
            <a:r>
              <a:rPr lang="fr-MA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Couvrir toutes les catégories de tests sur </a:t>
            </a:r>
            <a:r>
              <a:rPr lang="fr-MA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TeamCity</a:t>
            </a:r>
          </a:p>
          <a:p>
            <a:pPr lvl="1"/>
            <a:r>
              <a:rPr lang="fr-MA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Intégration de l’outil directement à </a:t>
            </a:r>
            <a:r>
              <a:rPr lang="fr-MA" dirty="0" err="1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Github</a:t>
            </a:r>
            <a:r>
              <a:rPr lang="fr-MA" dirty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interne</a:t>
            </a:r>
            <a:endParaRPr lang="fr-MA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2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19/06/2019</a:t>
            </a: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Conception et réalisation d’un outil intelligent d’aide à la validation des développements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E68E2-F952-4D58-BA71-B9359F82E943}" type="slidenum">
              <a:rPr lang="en-US" smtClean="0"/>
              <a:t>29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3144628"/>
            <a:ext cx="12192000" cy="674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6000"/>
              </a:lnSpc>
            </a:pPr>
            <a:r>
              <a:rPr lang="en-US" sz="4400" spc="20" dirty="0">
                <a:cs typeface="Helvetica Light"/>
              </a:rPr>
              <a:t>Merci </a:t>
            </a:r>
            <a:r>
              <a:rPr lang="fr-FR" sz="4400" spc="20" dirty="0">
                <a:ea typeface="Open Sans" panose="020B0606030504020204" pitchFamily="34" charset="0"/>
                <a:cs typeface="Open Sans" panose="020B0606030504020204" pitchFamily="34" charset="0"/>
              </a:rPr>
              <a:t>pour </a:t>
            </a:r>
            <a:r>
              <a:rPr lang="fr-FR" sz="4400" spc="20" dirty="0" smtClean="0">
                <a:ea typeface="Open Sans" panose="020B0606030504020204" pitchFamily="34" charset="0"/>
                <a:cs typeface="Open Sans" panose="020B0606030504020204" pitchFamily="34" charset="0"/>
              </a:rPr>
              <a:t>votre attention</a:t>
            </a:r>
            <a:endParaRPr lang="en-US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73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67"/>
          <p:cNvSpPr/>
          <p:nvPr/>
        </p:nvSpPr>
        <p:spPr>
          <a:xfrm>
            <a:off x="-2" y="2125837"/>
            <a:ext cx="12192002" cy="1402403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vert270" lIns="182880" rtlCol="0" anchor="ctr" anchorCtr="0"/>
          <a:lstStyle/>
          <a:p>
            <a:pPr algn="ctr" defTabSz="1219170"/>
            <a:endParaRPr lang="en-US" sz="3200" kern="0">
              <a:solidFill>
                <a:srgbClr val="FFFFFF"/>
              </a:solidFill>
              <a:latin typeface="Open Sans Ligh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991" y="250153"/>
            <a:ext cx="2317749" cy="417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6865" y="4986220"/>
            <a:ext cx="309880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M. Jaouad BOUTAHAR</a:t>
            </a:r>
            <a:endParaRPr lang="fr-F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Mme. </a:t>
            </a:r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Malika ADDOU</a:t>
            </a:r>
            <a:endParaRPr lang="fr-F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Mme. Mariam CHERRABI</a:t>
            </a:r>
          </a:p>
          <a:p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M. </a:t>
            </a:r>
            <a:r>
              <a:rPr lang="fr-FR" sz="2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Souhail</a:t>
            </a:r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EL GHAZI EL HOUSSAINI</a:t>
            </a:r>
            <a:endParaRPr lang="fr-F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M. </a:t>
            </a:r>
            <a:r>
              <a:rPr lang="fr-FR" sz="2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Othmane</a:t>
            </a:r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KINANE</a:t>
            </a:r>
            <a:endParaRPr lang="en-US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67650" y="4986220"/>
            <a:ext cx="23749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Président</a:t>
            </a:r>
            <a:endParaRPr lang="fr-F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Examinateur</a:t>
            </a:r>
            <a:endParaRPr lang="fr-F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Examinateur</a:t>
            </a:r>
            <a:endParaRPr lang="fr-FR" sz="2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Rapporteur</a:t>
            </a:r>
            <a:endParaRPr lang="fr-FR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Rapporteur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151" y="2034051"/>
            <a:ext cx="10926570" cy="1477328"/>
          </a:xfrm>
          <a:noFill/>
        </p:spPr>
        <p:txBody>
          <a:bodyPr wrap="square" lIns="243840" tIns="121920" rIns="243840" bIns="121920" rtlCol="0" anchor="b" anchorCtr="0">
            <a:spAutoFit/>
          </a:bodyPr>
          <a:lstStyle/>
          <a:p>
            <a:pPr defTabSz="1219170">
              <a:lnSpc>
                <a:spcPct val="100000"/>
              </a:lnSpc>
              <a:spcBef>
                <a:spcPts val="0"/>
              </a:spcBef>
            </a:pPr>
            <a:r>
              <a:rPr lang="fr-FR" sz="4000" b="1" kern="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11000"/>
                    </a:prstClr>
                  </a:outerShdw>
                </a:effectLst>
                <a:latin typeface="Open Sans Light"/>
                <a:ea typeface="+mn-ea"/>
                <a:cs typeface="+mn-cs"/>
              </a:rPr>
              <a:t>Conception et réalisation d’un outil intelligent d’aide à la validation des développements</a:t>
            </a:r>
            <a:endParaRPr lang="en-US" sz="4000" b="1" kern="0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11000"/>
                  </a:prstClr>
                </a:outerShdw>
              </a:effectLst>
              <a:latin typeface="Open Sans Light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70436" y="1048731"/>
            <a:ext cx="9144000" cy="100027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Projet de fin d’études</a:t>
            </a:r>
          </a:p>
          <a:p>
            <a:pPr algn="ctr"/>
            <a:endParaRPr lang="fr-FR" sz="1100" dirty="0">
              <a:ln w="0"/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r>
              <a:rPr lang="fr-FR" sz="24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Pour l'obtention du diplôme d'Ingénieur d'État en </a:t>
            </a:r>
            <a:r>
              <a:rPr lang="fr-FR" sz="2400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informatique</a:t>
            </a:r>
            <a:endParaRPr lang="fr-FR" sz="2400" dirty="0">
              <a:ln w="0"/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1523999" y="3628385"/>
            <a:ext cx="9144000" cy="1262062"/>
          </a:xfrm>
        </p:spPr>
        <p:txBody>
          <a:bodyPr>
            <a:normAutofit/>
          </a:bodyPr>
          <a:lstStyle/>
          <a:p>
            <a:r>
              <a:rPr lang="fr-FR" sz="20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Soutenu le </a:t>
            </a:r>
            <a:r>
              <a:rPr lang="fr-FR" sz="200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19 juin </a:t>
            </a:r>
            <a:r>
              <a:rPr lang="fr-FR" sz="20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2019 par :</a:t>
            </a:r>
          </a:p>
          <a:p>
            <a:r>
              <a:rPr lang="fr-FR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LGHOUMAIGUI Youssef</a:t>
            </a:r>
            <a:endParaRPr lang="fr-F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fr-FR" sz="20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Devant le jury composé de :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71" y="198158"/>
            <a:ext cx="2751787" cy="52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24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1448</TotalTime>
  <Words>1732</Words>
  <Application>Microsoft Office PowerPoint</Application>
  <PresentationFormat>Grand écran</PresentationFormat>
  <Paragraphs>606</Paragraphs>
  <Slides>30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41" baseType="lpstr">
      <vt:lpstr>Arial</vt:lpstr>
      <vt:lpstr>Calibri</vt:lpstr>
      <vt:lpstr>Calibri Light</vt:lpstr>
      <vt:lpstr>Helvetica Light</vt:lpstr>
      <vt:lpstr>Myriad Pro Light</vt:lpstr>
      <vt:lpstr>Nirmala UI</vt:lpstr>
      <vt:lpstr>Open Sans</vt:lpstr>
      <vt:lpstr>Open Sans Extrabold</vt:lpstr>
      <vt:lpstr>Open Sans Light</vt:lpstr>
      <vt:lpstr>Times New Roman</vt:lpstr>
      <vt:lpstr>Office Theme</vt:lpstr>
      <vt:lpstr>Conception et réalisation d’un outil intelligent d’aide à la validation des développements</vt:lpstr>
      <vt:lpstr>Présentation PowerPoint</vt:lpstr>
      <vt:lpstr>Organisme d’accueil</vt:lpstr>
      <vt:lpstr>Présentation PowerPoint</vt:lpstr>
      <vt:lpstr>Mise en situation</vt:lpstr>
      <vt:lpstr>Processus d’intégration continue</vt:lpstr>
      <vt:lpstr>Présentation PowerPoint</vt:lpstr>
      <vt:lpstr>Problématique</vt:lpstr>
      <vt:lpstr>Besoins fonctionnels</vt:lpstr>
      <vt:lpstr>Besoins non fonctionnels</vt:lpstr>
      <vt:lpstr>Étude comparative</vt:lpstr>
      <vt:lpstr>Étude comparative</vt:lpstr>
      <vt:lpstr>Étude comparative</vt:lpstr>
      <vt:lpstr>Étude comparative</vt:lpstr>
      <vt:lpstr>Approche adoptée</vt:lpstr>
      <vt:lpstr>Gestion de projet</vt:lpstr>
      <vt:lpstr>Phases de détection de BuildConfig</vt:lpstr>
      <vt:lpstr>Phase déterministe</vt:lpstr>
      <vt:lpstr>Phase probabiliste</vt:lpstr>
      <vt:lpstr>Phase probabiliste</vt:lpstr>
      <vt:lpstr>Phase probabiliste</vt:lpstr>
      <vt:lpstr>Présentation PowerPoint</vt:lpstr>
      <vt:lpstr>Résultat d’extraction de données TeamCity</vt:lpstr>
      <vt:lpstr>Résultat d’extraction de données Git</vt:lpstr>
      <vt:lpstr>Précision des modèles entraînés</vt:lpstr>
      <vt:lpstr>Présentation PowerPoint</vt:lpstr>
      <vt:lpstr>Présentation PowerPoint</vt:lpstr>
      <vt:lpstr>Présentation PowerPoint</vt:lpstr>
      <vt:lpstr>Présentation PowerPoint</vt:lpstr>
      <vt:lpstr>Conception et réalisation d’un outil intelligent d’aide à la validation des développements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et réalisation d’un outil intélligent d’aide à la validation des développements</dc:title>
  <dc:creator>mohamed lmoutaouakil</dc:creator>
  <cp:lastModifiedBy>lghou</cp:lastModifiedBy>
  <cp:revision>119</cp:revision>
  <dcterms:created xsi:type="dcterms:W3CDTF">2019-06-01T11:47:00Z</dcterms:created>
  <dcterms:modified xsi:type="dcterms:W3CDTF">2019-06-18T22:20:40Z</dcterms:modified>
</cp:coreProperties>
</file>