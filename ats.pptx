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294" r:id="rId2"/>
    <p:sldId id="314" r:id="rId3"/>
    <p:sldId id="750" r:id="rId4"/>
    <p:sldId id="753" r:id="rId5"/>
    <p:sldId id="751" r:id="rId6"/>
    <p:sldId id="752" r:id="rId7"/>
    <p:sldId id="754" r:id="rId8"/>
    <p:sldId id="755" r:id="rId9"/>
    <p:sldId id="756" r:id="rId10"/>
    <p:sldId id="757" r:id="rId11"/>
    <p:sldId id="295" r:id="rId12"/>
    <p:sldId id="708" r:id="rId13"/>
    <p:sldId id="300" r:id="rId14"/>
    <p:sldId id="749" r:id="rId15"/>
    <p:sldId id="718" r:id="rId16"/>
    <p:sldId id="744" r:id="rId17"/>
    <p:sldId id="301" r:id="rId18"/>
    <p:sldId id="743" r:id="rId19"/>
    <p:sldId id="719" r:id="rId20"/>
    <p:sldId id="721" r:id="rId21"/>
    <p:sldId id="732" r:id="rId22"/>
    <p:sldId id="307" r:id="rId23"/>
    <p:sldId id="331" r:id="rId24"/>
    <p:sldId id="733" r:id="rId25"/>
    <p:sldId id="722" r:id="rId26"/>
    <p:sldId id="729" r:id="rId27"/>
    <p:sldId id="728" r:id="rId28"/>
    <p:sldId id="327" r:id="rId29"/>
    <p:sldId id="724" r:id="rId30"/>
    <p:sldId id="725" r:id="rId31"/>
    <p:sldId id="746" r:id="rId32"/>
    <p:sldId id="726" r:id="rId33"/>
    <p:sldId id="739" r:id="rId34"/>
    <p:sldId id="734" r:id="rId35"/>
    <p:sldId id="748" r:id="rId36"/>
    <p:sldId id="745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BBE77"/>
    <a:srgbClr val="388C50"/>
    <a:srgbClr val="51DBD1"/>
    <a:srgbClr val="1E928A"/>
    <a:srgbClr val="25B7A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296" autoAdjust="0"/>
    <p:restoredTop sz="72438" autoAdjust="0"/>
  </p:normalViewPr>
  <p:slideViewPr>
    <p:cSldViewPr snapToGrid="0">
      <p:cViewPr varScale="1">
        <p:scale>
          <a:sx n="66" d="100"/>
          <a:sy n="66" d="100"/>
        </p:scale>
        <p:origin x="893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8C8E66-CD0F-4245-B61D-93A6D8BC6EC4}" type="datetimeFigureOut">
              <a:rPr lang="fr-FR" smtClean="0"/>
              <a:t>25/06/2020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9555CE-4940-400D-960E-33C86334DA7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362644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6B0659-C84A-4C94-9A37-1BE51DD4DB67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77737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9555CE-4940-400D-960E-33C86334DA79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883967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fr-FR" sz="2800" dirty="0"/>
              <a:t>L’organisme d’accueil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fr-FR" sz="2800" dirty="0"/>
              <a:t>Contexte de projet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fr-FR" sz="2800" dirty="0"/>
              <a:t>Présentation du projet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fr-FR" sz="2800" dirty="0"/>
              <a:t>Gestion de projet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fr-FR" sz="2800" dirty="0"/>
              <a:t>Spécification du projet</a:t>
            </a:r>
          </a:p>
          <a:p>
            <a:pPr>
              <a:lnSpc>
                <a:spcPct val="150000"/>
              </a:lnSpc>
            </a:pPr>
            <a:endParaRPr lang="fr-FR" sz="2800" dirty="0"/>
          </a:p>
          <a:p>
            <a:pPr lvl="1"/>
            <a:endParaRPr lang="fr-FR" b="1" dirty="0"/>
          </a:p>
          <a:p>
            <a:pPr lvl="1"/>
            <a:endParaRPr lang="fr-FR" b="1" dirty="0"/>
          </a:p>
          <a:p>
            <a:pPr lvl="1"/>
            <a:endParaRPr lang="fr-FR" b="1" dirty="0"/>
          </a:p>
          <a:p>
            <a:pPr marL="742950" lvl="1" indent="-285750">
              <a:buAutoNum type="romanUcParenR"/>
            </a:pPr>
            <a:endParaRPr lang="fr-FR" sz="1100" dirty="0"/>
          </a:p>
          <a:p>
            <a:endParaRPr lang="fr-FR" sz="1100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6B0659-C84A-4C94-9A37-1BE51DD4DB67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555358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6B0659-C84A-4C94-9A37-1BE51DD4DB67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328261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6B0659-C84A-4C94-9A37-1BE51DD4DB67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49637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endParaRPr lang="fr-FR" sz="1100" b="1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6B0659-C84A-4C94-9A37-1BE51DD4DB67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620793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endParaRPr lang="fr-FR" sz="1100" b="1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6B0659-C84A-4C94-9A37-1BE51DD4DB67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330140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6B0659-C84A-4C94-9A37-1BE51DD4DB67}" type="slidenum">
              <a:rPr lang="fr-FR" smtClean="0"/>
              <a:t>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659961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9555CE-4940-400D-960E-33C86334DA79}" type="slidenum">
              <a:rPr lang="fr-FR" smtClean="0"/>
              <a:t>35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056850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8A07F-BF48-4E9A-A97F-A7B73FA5B1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653666-329A-49CE-AA0F-D3626D63BB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4C0DA1-A118-4403-A258-B7E6EB98E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48DB5-1438-4DA6-879C-D731D861454B}" type="datetimeFigureOut">
              <a:rPr lang="fr-FR" smtClean="0"/>
              <a:t>25/06/2020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3175E1-F5FA-4CD6-8F51-070E6DB51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1A61DF-1242-4EDA-A564-3FAA83969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B7635-5653-4178-A5E1-FBB48DDB25B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3168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ED1C1-7185-482C-9D17-5A3CAA466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881FD7-1FEF-44E2-BD17-3140307A4F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AA89B4-29C9-4FE0-9C9E-2B14A2099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48DB5-1438-4DA6-879C-D731D861454B}" type="datetimeFigureOut">
              <a:rPr lang="fr-FR" smtClean="0"/>
              <a:t>25/06/2020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6A9C22-1068-48E8-828C-E8713B530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11FF7B-B573-46C2-ACC1-4D061BFA8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B7635-5653-4178-A5E1-FBB48DDB25B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63097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AEDA8-14A1-4055-9330-F8885CC7D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A1C3FA-7E09-4C4A-AA68-BCCE2CAC53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734B27-1ACB-45A1-9C40-96092A44A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48DB5-1438-4DA6-879C-D731D861454B}" type="datetimeFigureOut">
              <a:rPr lang="fr-FR" smtClean="0"/>
              <a:t>25/06/2020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0D91D7-96CD-4DAA-87E2-25B7D838C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1B938F-86A4-450F-9C48-0AFB4CF66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B7635-5653-4178-A5E1-FBB48DDB25B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20358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FDE71-E228-4A0C-80F8-0A13DB19F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E286DB-3377-48CE-BF5F-2E219D9020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86CADC-5D57-4CDD-A290-BD28DC4520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DBC0BF-65DE-4F2A-812C-40749A097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48DB5-1438-4DA6-879C-D731D861454B}" type="datetimeFigureOut">
              <a:rPr lang="fr-FR" smtClean="0"/>
              <a:t>25/06/2020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436F9E-7D7A-4CE0-B8BA-10E25F15F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DF99AA-D639-44B9-A406-3D60F6FE9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B7635-5653-4178-A5E1-FBB48DDB25B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072913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69266-5B4A-4E88-8A1F-20AFE0F0E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006796-1332-4D3C-9F86-C00D92C5A0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81B13E-4297-49F1-A070-FC8C5BC848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C8F145-31BB-4B02-B6E6-8CE718CE61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876D34-2E80-4BDC-965E-99933D751D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01A5ED-348C-4681-A2DB-43063D122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48DB5-1438-4DA6-879C-D731D861454B}" type="datetimeFigureOut">
              <a:rPr lang="fr-FR" smtClean="0"/>
              <a:t>25/06/2020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DDB89D-DD31-4147-9FFA-8D11F75B5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27C1E7-01DB-4C36-B6F7-B2EE0DF51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B7635-5653-4178-A5E1-FBB48DDB25B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19882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7DB1D-E4EC-4D55-B497-2B23891D5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38A9DA-38A7-42FC-993B-27A40013F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48DB5-1438-4DA6-879C-D731D861454B}" type="datetimeFigureOut">
              <a:rPr lang="fr-FR" smtClean="0"/>
              <a:t>25/06/2020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B1981A-8FCE-4A1E-A2CD-9003AAFFB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258E09-8129-412F-8D8D-388FB621B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B7635-5653-4178-A5E1-FBB48DDB25B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11236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1A31FF-4660-4815-9233-690F6AB32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48DB5-1438-4DA6-879C-D731D861454B}" type="datetimeFigureOut">
              <a:rPr lang="fr-FR" smtClean="0"/>
              <a:t>25/06/2020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BA8465-5FEE-4E22-B410-783E3510B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E2E4C1-0894-4422-9F49-536384857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B7635-5653-4178-A5E1-FBB48DDB25B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3181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2BC23-3C3C-41C0-83FF-1874AC883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4A1C08-F3FE-46DA-85D6-D71FA9B7DD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6F1E65-EE18-4361-A2CE-4AD3EF54BE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3D3952-E515-4C79-BF8D-12C1881F5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48DB5-1438-4DA6-879C-D731D861454B}" type="datetimeFigureOut">
              <a:rPr lang="fr-FR" smtClean="0"/>
              <a:t>25/06/2020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BD1326-B9AA-4256-9593-C73EB1560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F63CD8-F97A-4CC7-A97B-88F2A52B1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B7635-5653-4178-A5E1-FBB48DDB25B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66321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ABCA9-054B-4BF7-9B63-C48F1E52A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80DFA4-DCE6-44C0-A4ED-95572D170C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AD996C-3261-4DB5-A91F-6374B36764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D38FF3-D130-495A-A573-5F81FE7AF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48DB5-1438-4DA6-879C-D731D861454B}" type="datetimeFigureOut">
              <a:rPr lang="fr-FR" smtClean="0"/>
              <a:t>25/06/2020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BF7667-7EE6-4AA2-9303-2A6D6685A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58A1DF-B85F-4130-8D3F-C40C35B0F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B7635-5653-4178-A5E1-FBB48DDB25B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830366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23654-468F-4F3A-9C98-9BC5B0FB4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4547FF-ADCE-41F0-A517-296875D644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1D4EFA-DBCB-4D11-9D01-969235B13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48DB5-1438-4DA6-879C-D731D861454B}" type="datetimeFigureOut">
              <a:rPr lang="fr-FR" smtClean="0"/>
              <a:t>25/06/2020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308979-A1A7-49D6-A7A0-A1C87635D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494A97-0C26-445D-BEF6-143F00D65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B7635-5653-4178-A5E1-FBB48DDB25B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7704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868C18-A342-4DFB-A442-376B3E0102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4B2859-04F4-4423-84B8-59013578CA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F7F56B-556E-4163-88D4-7F966E930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48DB5-1438-4DA6-879C-D731D861454B}" type="datetimeFigureOut">
              <a:rPr lang="fr-FR" smtClean="0"/>
              <a:t>25/06/2020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45C48A-D956-4544-A6EC-3AAEC2B53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A68EE2-177C-4EFD-B0BD-7F08EA681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B7635-5653-4178-A5E1-FBB48DDB25B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57442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760DAA-8B41-43AD-A159-8C1FFEBE9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F806C6-6F15-490F-8D1F-5A60222FAC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9A8EC9-D9C6-4EBD-ADD7-18173DDEFF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948DB5-1438-4DA6-879C-D731D861454B}" type="datetimeFigureOut">
              <a:rPr lang="fr-FR" smtClean="0"/>
              <a:t>25/06/2020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28A48A-95A6-4A5D-8500-0073BF7273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C11782-3522-4530-8EC5-26C8897E42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DB7635-5653-4178-A5E1-FBB48DDB25B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55618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Rectangle 167"/>
          <p:cNvSpPr/>
          <p:nvPr/>
        </p:nvSpPr>
        <p:spPr>
          <a:xfrm>
            <a:off x="-2" y="2166011"/>
            <a:ext cx="12192002" cy="1362229"/>
          </a:xfrm>
          <a:prstGeom prst="rect">
            <a:avLst/>
          </a:prstGeom>
          <a:solidFill>
            <a:schemeClr val="tx1"/>
          </a:solidFill>
          <a:ln w="9525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vert270" lIns="182880" rtlCol="0" anchor="ctr" anchorCtr="0"/>
          <a:lstStyle/>
          <a:p>
            <a:pPr algn="ctr" defTabSz="1219170"/>
            <a:endParaRPr lang="en-US" sz="3200" kern="0">
              <a:solidFill>
                <a:srgbClr val="FFFFFF"/>
              </a:solidFill>
              <a:latin typeface="Open Sans Light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76" y="138367"/>
            <a:ext cx="2317749" cy="41770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79151" y="2034051"/>
            <a:ext cx="10926570" cy="1477328"/>
          </a:xfrm>
          <a:noFill/>
        </p:spPr>
        <p:txBody>
          <a:bodyPr wrap="square" lIns="243840" tIns="121920" rIns="243840" bIns="121920" rtlCol="0" anchor="b" anchorCtr="0">
            <a:spAutoFit/>
          </a:bodyPr>
          <a:lstStyle/>
          <a:p>
            <a:pPr defTabSz="1219170">
              <a:lnSpc>
                <a:spcPct val="100000"/>
              </a:lnSpc>
              <a:spcBef>
                <a:spcPts val="0"/>
              </a:spcBef>
            </a:pPr>
            <a:r>
              <a:rPr lang="fr-FR" sz="4000" b="1" kern="0" dirty="0">
                <a:solidFill>
                  <a:schemeClr val="bg1"/>
                </a:solidFill>
                <a:effectLst>
                  <a:outerShdw blurRad="50800" dist="38100" dir="8100000" algn="tr" rotWithShape="0">
                    <a:prstClr val="black">
                      <a:alpha val="11000"/>
                    </a:prstClr>
                  </a:outerShdw>
                </a:effectLst>
                <a:latin typeface="Open Sans Light"/>
                <a:ea typeface="+mn-ea"/>
                <a:cs typeface="+mn-cs"/>
              </a:rPr>
              <a:t>Conception et réalisation d’un outil de Simulation de charge</a:t>
            </a:r>
            <a:endParaRPr lang="en-US" sz="4000" b="1" kern="0" dirty="0">
              <a:solidFill>
                <a:schemeClr val="bg1"/>
              </a:solidFill>
              <a:effectLst>
                <a:outerShdw blurRad="50800" dist="38100" dir="8100000" algn="tr" rotWithShape="0">
                  <a:prstClr val="black">
                    <a:alpha val="11000"/>
                  </a:prstClr>
                </a:outerShdw>
              </a:effectLst>
              <a:latin typeface="Open Sans Light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70436" y="1048731"/>
            <a:ext cx="9144000" cy="10002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2400" dirty="0">
                <a:ln w="0"/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Projet de fin d’études</a:t>
            </a:r>
          </a:p>
          <a:p>
            <a:pPr algn="ctr"/>
            <a:endParaRPr lang="fr-FR" sz="1100" dirty="0">
              <a:ln w="0"/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algn="ctr"/>
            <a:r>
              <a:rPr lang="fr-FR" sz="2400" dirty="0">
                <a:ln w="0"/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Pour l'obtention du diplôme d'Ingénieur d'État en informatique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D1848E-98AE-40D9-9B27-1549C9A1E73B}"/>
              </a:ext>
            </a:extLst>
          </p:cNvPr>
          <p:cNvSpPr txBox="1"/>
          <p:nvPr/>
        </p:nvSpPr>
        <p:spPr>
          <a:xfrm>
            <a:off x="1758544" y="5333699"/>
            <a:ext cx="2568427" cy="630553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r>
              <a:rPr lang="fr-FR" sz="1600" b="1" dirty="0"/>
              <a:t>Réalisé  par :</a:t>
            </a:r>
          </a:p>
          <a:p>
            <a:r>
              <a:rPr lang="fr-FR" sz="1600" dirty="0"/>
              <a:t>	M. </a:t>
            </a:r>
            <a:r>
              <a:rPr lang="fr-FR" sz="1600" dirty="0" err="1"/>
              <a:t>Zouaid</a:t>
            </a:r>
            <a:r>
              <a:rPr lang="fr-FR" sz="1600" dirty="0"/>
              <a:t> Omar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89C9B7-505A-49F2-A5AF-F09C76086DD6}"/>
              </a:ext>
            </a:extLst>
          </p:cNvPr>
          <p:cNvSpPr txBox="1"/>
          <p:nvPr/>
        </p:nvSpPr>
        <p:spPr>
          <a:xfrm>
            <a:off x="3396343" y="3866146"/>
            <a:ext cx="4548249" cy="539599"/>
          </a:xfrm>
          <a:prstGeom prst="rect">
            <a:avLst/>
          </a:prstGeom>
          <a:solidFill>
            <a:srgbClr val="C00000"/>
          </a:solidFill>
        </p:spPr>
        <p:txBody>
          <a:bodyPr wrap="none" lIns="36000" tIns="36000" rIns="36000" bIns="36000" rtlCol="0">
            <a:noAutofit/>
          </a:bodyPr>
          <a:lstStyle/>
          <a:p>
            <a:pPr algn="ctr"/>
            <a:r>
              <a:rPr lang="fr-FR" sz="2000" dirty="0">
                <a:solidFill>
                  <a:schemeClr val="bg1"/>
                </a:solidFill>
              </a:rPr>
              <a:t>Présentation de l’avancement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9AF742-48D2-420A-96B9-78111A4D4EE5}"/>
              </a:ext>
            </a:extLst>
          </p:cNvPr>
          <p:cNvSpPr txBox="1"/>
          <p:nvPr/>
        </p:nvSpPr>
        <p:spPr>
          <a:xfrm>
            <a:off x="3396343" y="4444851"/>
            <a:ext cx="4548249" cy="432722"/>
          </a:xfrm>
          <a:prstGeom prst="rect">
            <a:avLst/>
          </a:prstGeom>
          <a:solidFill>
            <a:schemeClr val="tx1"/>
          </a:solidFill>
        </p:spPr>
        <p:txBody>
          <a:bodyPr wrap="square" lIns="36000" tIns="36000" rIns="36000" bIns="36000" rtlCol="0">
            <a:noAutofit/>
          </a:bodyPr>
          <a:lstStyle/>
          <a:p>
            <a:pPr algn="ctr"/>
            <a:r>
              <a:rPr lang="fr-FR" sz="1400" dirty="0">
                <a:solidFill>
                  <a:schemeClr val="bg1"/>
                </a:solidFill>
              </a:rPr>
              <a:t>Le Vendredi 19 Juin 2020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205C07-660C-4C97-90E0-10478DB7B2ED}"/>
              </a:ext>
            </a:extLst>
          </p:cNvPr>
          <p:cNvSpPr txBox="1"/>
          <p:nvPr/>
        </p:nvSpPr>
        <p:spPr>
          <a:xfrm>
            <a:off x="7474836" y="5333698"/>
            <a:ext cx="3826210" cy="927617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r>
              <a:rPr lang="fr-FR" sz="1600" b="1" dirty="0"/>
              <a:t>Encadré  par :</a:t>
            </a:r>
          </a:p>
          <a:p>
            <a:r>
              <a:rPr lang="fr-FR" sz="1600" dirty="0"/>
              <a:t>	M. Tarik </a:t>
            </a:r>
            <a:r>
              <a:rPr lang="fr-FR" sz="1600" dirty="0" err="1"/>
              <a:t>Douiyeh</a:t>
            </a:r>
            <a:r>
              <a:rPr lang="fr-FR" sz="16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248991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E8DF214-E6AD-416E-AB92-25BBB0C24BDF}"/>
              </a:ext>
            </a:extLst>
          </p:cNvPr>
          <p:cNvSpPr/>
          <p:nvPr/>
        </p:nvSpPr>
        <p:spPr>
          <a:xfrm>
            <a:off x="360725" y="251597"/>
            <a:ext cx="10570129" cy="540767"/>
          </a:xfrm>
          <a:prstGeom prst="rect">
            <a:avLst/>
          </a:prstGeom>
          <a:solidFill>
            <a:srgbClr val="4CA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2D4EB3D-FCB2-4147-8884-8C1C2A5EDB21}"/>
              </a:ext>
            </a:extLst>
          </p:cNvPr>
          <p:cNvSpPr txBox="1">
            <a:spLocks/>
          </p:cNvSpPr>
          <p:nvPr/>
        </p:nvSpPr>
        <p:spPr>
          <a:xfrm>
            <a:off x="203462" y="296489"/>
            <a:ext cx="5442327" cy="45098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en-GB" sz="3000" b="0" kern="1200" cap="all" baseline="0" noProof="0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fr-FR" cap="none" dirty="0">
                <a:solidFill>
                  <a:schemeClr val="bg1"/>
                </a:solidFill>
                <a:latin typeface="CIDFont+F3"/>
              </a:rPr>
              <a:t>C’est quoi un simulateur 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AC32652-9EBA-4373-892B-B976CC1EFBA5}"/>
              </a:ext>
            </a:extLst>
          </p:cNvPr>
          <p:cNvSpPr/>
          <p:nvPr/>
        </p:nvSpPr>
        <p:spPr>
          <a:xfrm>
            <a:off x="949123" y="1289709"/>
            <a:ext cx="9201875" cy="830997"/>
          </a:xfrm>
          <a:prstGeom prst="rect">
            <a:avLst/>
          </a:prstGeom>
          <a:ln>
            <a:solidFill>
              <a:srgbClr val="4CA1F4"/>
            </a:solidFill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fr-FR" sz="2400" dirty="0"/>
              <a:t>Un simulateur est un logiciel basé sur le processus de modélisation d'un phénomène réel avec un ensemble de formule mathématiques. 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E35FA5-59DF-4EE9-8CD9-A5D958A357E0}"/>
              </a:ext>
            </a:extLst>
          </p:cNvPr>
          <p:cNvSpPr/>
          <p:nvPr/>
        </p:nvSpPr>
        <p:spPr>
          <a:xfrm>
            <a:off x="949122" y="2644170"/>
            <a:ext cx="9201875" cy="1200329"/>
          </a:xfrm>
          <a:prstGeom prst="rect">
            <a:avLst/>
          </a:prstGeom>
          <a:ln>
            <a:solidFill>
              <a:srgbClr val="4CA1F4"/>
            </a:solidFill>
          </a:ln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400" dirty="0"/>
              <a:t>Il s'agit essentiellement d'un programme qui permet à l'utilisateur d'observer une opération par simulation sans réellement effectuer cette opération. </a:t>
            </a:r>
          </a:p>
        </p:txBody>
      </p:sp>
    </p:spTree>
    <p:extLst>
      <p:ext uri="{BB962C8B-B14F-4D97-AF65-F5344CB8AC3E}">
        <p14:creationId xmlns:p14="http://schemas.microsoft.com/office/powerpoint/2010/main" val="1642767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E8DF214-E6AD-416E-AB92-25BBB0C24BDF}"/>
              </a:ext>
            </a:extLst>
          </p:cNvPr>
          <p:cNvSpPr/>
          <p:nvPr/>
        </p:nvSpPr>
        <p:spPr>
          <a:xfrm>
            <a:off x="360725" y="251597"/>
            <a:ext cx="10570129" cy="540767"/>
          </a:xfrm>
          <a:prstGeom prst="rect">
            <a:avLst/>
          </a:prstGeom>
          <a:solidFill>
            <a:srgbClr val="4CA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2D4EB3D-FCB2-4147-8884-8C1C2A5EDB21}"/>
              </a:ext>
            </a:extLst>
          </p:cNvPr>
          <p:cNvSpPr txBox="1">
            <a:spLocks/>
          </p:cNvSpPr>
          <p:nvPr/>
        </p:nvSpPr>
        <p:spPr>
          <a:xfrm>
            <a:off x="203462" y="296489"/>
            <a:ext cx="5442327" cy="45098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en-GB" sz="3000" b="0" kern="1200" cap="all" baseline="0" noProof="0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fr-FR" cap="none" dirty="0">
                <a:solidFill>
                  <a:schemeClr val="bg1"/>
                </a:solidFill>
                <a:latin typeface="CIDFont+F3"/>
              </a:rPr>
              <a:t>Les types de simulation?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AC32652-9EBA-4373-892B-B976CC1EFBA5}"/>
              </a:ext>
            </a:extLst>
          </p:cNvPr>
          <p:cNvSpPr/>
          <p:nvPr/>
        </p:nvSpPr>
        <p:spPr>
          <a:xfrm>
            <a:off x="1579945" y="1602225"/>
            <a:ext cx="8831482" cy="707886"/>
          </a:xfrm>
          <a:prstGeom prst="rect">
            <a:avLst/>
          </a:prstGeom>
          <a:ln>
            <a:solidFill>
              <a:srgbClr val="4CA1F4"/>
            </a:solidFill>
          </a:ln>
        </p:spPr>
        <p:txBody>
          <a:bodyPr wrap="square">
            <a:spAutoFit/>
          </a:bodyPr>
          <a:lstStyle/>
          <a:p>
            <a:pPr marL="342900" indent="-342900" algn="ctr">
              <a:buFont typeface="Wingdings" panose="05000000000000000000" pitchFamily="2" charset="2"/>
              <a:buChar char="§"/>
            </a:pPr>
            <a:r>
              <a:rPr lang="fr-FR" sz="2000" b="1" dirty="0"/>
              <a:t>La simulation continue </a:t>
            </a:r>
            <a:r>
              <a:rPr lang="fr-FR" sz="2000" dirty="0"/>
              <a:t>fait référence à un modèle informatique d'un système physique contenu dans le temps.</a:t>
            </a:r>
            <a:endParaRPr lang="en-US" sz="20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D520DD-3A20-4233-94DD-91A0DECF1EAD}"/>
              </a:ext>
            </a:extLst>
          </p:cNvPr>
          <p:cNvSpPr/>
          <p:nvPr/>
        </p:nvSpPr>
        <p:spPr>
          <a:xfrm>
            <a:off x="1579945" y="2782430"/>
            <a:ext cx="8831482" cy="707886"/>
          </a:xfrm>
          <a:prstGeom prst="rect">
            <a:avLst/>
          </a:prstGeom>
          <a:ln>
            <a:solidFill>
              <a:srgbClr val="4CA1F4"/>
            </a:solidFill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fr-FR" sz="2000" b="1" dirty="0"/>
              <a:t>Une simulation d'événements discrets </a:t>
            </a:r>
            <a:r>
              <a:rPr lang="fr-FR" sz="2000" dirty="0"/>
              <a:t>( DES ) modélise le fonctionnement d'un système comme une séquence discrète d'événements dans le temps. </a:t>
            </a:r>
          </a:p>
        </p:txBody>
      </p:sp>
    </p:spTree>
    <p:extLst>
      <p:ext uri="{BB962C8B-B14F-4D97-AF65-F5344CB8AC3E}">
        <p14:creationId xmlns:p14="http://schemas.microsoft.com/office/powerpoint/2010/main" val="1648744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E8DF214-E6AD-416E-AB92-25BBB0C24BDF}"/>
              </a:ext>
            </a:extLst>
          </p:cNvPr>
          <p:cNvSpPr/>
          <p:nvPr/>
        </p:nvSpPr>
        <p:spPr>
          <a:xfrm>
            <a:off x="360725" y="251597"/>
            <a:ext cx="10570129" cy="540767"/>
          </a:xfrm>
          <a:prstGeom prst="rect">
            <a:avLst/>
          </a:prstGeom>
          <a:solidFill>
            <a:srgbClr val="4CA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2D4EB3D-FCB2-4147-8884-8C1C2A5EDB21}"/>
              </a:ext>
            </a:extLst>
          </p:cNvPr>
          <p:cNvSpPr txBox="1">
            <a:spLocks/>
          </p:cNvSpPr>
          <p:nvPr/>
        </p:nvSpPr>
        <p:spPr>
          <a:xfrm>
            <a:off x="203462" y="296489"/>
            <a:ext cx="10063282" cy="45098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en-GB" sz="3000" b="0" kern="1200" cap="all" baseline="0" noProof="0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fr-FR" cap="none" dirty="0">
                <a:solidFill>
                  <a:schemeClr val="bg1"/>
                </a:solidFill>
                <a:latin typeface="CIDFont+F3"/>
              </a:rPr>
              <a:t>Approches de la simulation des évènements discrète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AC32652-9EBA-4373-892B-B976CC1EFBA5}"/>
              </a:ext>
            </a:extLst>
          </p:cNvPr>
          <p:cNvSpPr/>
          <p:nvPr/>
        </p:nvSpPr>
        <p:spPr>
          <a:xfrm>
            <a:off x="520862" y="1289709"/>
            <a:ext cx="10150998" cy="1015663"/>
          </a:xfrm>
          <a:prstGeom prst="rect">
            <a:avLst/>
          </a:prstGeom>
          <a:ln>
            <a:solidFill>
              <a:srgbClr val="4CA1F4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b="1" dirty="0"/>
              <a:t>progression temporelle à incrément fixe </a:t>
            </a:r>
            <a:r>
              <a:rPr lang="fr-FR" sz="2000" dirty="0"/>
              <a:t>, où le temps est divisé en petites tranches de temps et l'état du système est mis à jour en fonction de l'ensemble des événements qui se produisent dans le temps tranche.</a:t>
            </a:r>
            <a:endParaRPr lang="en-US" sz="20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D520DD-3A20-4233-94DD-91A0DECF1EAD}"/>
              </a:ext>
            </a:extLst>
          </p:cNvPr>
          <p:cNvSpPr/>
          <p:nvPr/>
        </p:nvSpPr>
        <p:spPr>
          <a:xfrm>
            <a:off x="1527860" y="3245418"/>
            <a:ext cx="7650865" cy="400110"/>
          </a:xfrm>
          <a:prstGeom prst="rect">
            <a:avLst/>
          </a:prstGeom>
          <a:ln>
            <a:solidFill>
              <a:srgbClr val="4CA1F4"/>
            </a:solidFill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fr-FR" sz="2000" b="1" dirty="0"/>
              <a:t>Avantages : </a:t>
            </a:r>
            <a:r>
              <a:rPr lang="fr-FR" sz="2000" dirty="0"/>
              <a:t>Facile à implémenter</a:t>
            </a:r>
            <a:endParaRPr lang="en-US" sz="20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406A6E-A59A-4A8E-BCE0-01A3ED3C0493}"/>
              </a:ext>
            </a:extLst>
          </p:cNvPr>
          <p:cNvSpPr/>
          <p:nvPr/>
        </p:nvSpPr>
        <p:spPr>
          <a:xfrm>
            <a:off x="1527860" y="4219620"/>
            <a:ext cx="7650865" cy="400110"/>
          </a:xfrm>
          <a:prstGeom prst="rect">
            <a:avLst/>
          </a:prstGeom>
          <a:ln>
            <a:solidFill>
              <a:srgbClr val="4CA1F4"/>
            </a:solidFill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fr-FR" sz="2000" b="1" dirty="0"/>
              <a:t>Inconvénient : </a:t>
            </a:r>
            <a:r>
              <a:rPr lang="fr-FR" sz="2000" dirty="0"/>
              <a:t>lente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409798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5" grpId="0" animBg="1"/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E8DF214-E6AD-416E-AB92-25BBB0C24BDF}"/>
              </a:ext>
            </a:extLst>
          </p:cNvPr>
          <p:cNvSpPr/>
          <p:nvPr/>
        </p:nvSpPr>
        <p:spPr>
          <a:xfrm>
            <a:off x="360725" y="251597"/>
            <a:ext cx="10570129" cy="540767"/>
          </a:xfrm>
          <a:prstGeom prst="rect">
            <a:avLst/>
          </a:prstGeom>
          <a:solidFill>
            <a:srgbClr val="4CA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2D4EB3D-FCB2-4147-8884-8C1C2A5EDB21}"/>
              </a:ext>
            </a:extLst>
          </p:cNvPr>
          <p:cNvSpPr txBox="1">
            <a:spLocks/>
          </p:cNvSpPr>
          <p:nvPr/>
        </p:nvSpPr>
        <p:spPr>
          <a:xfrm>
            <a:off x="203462" y="296489"/>
            <a:ext cx="10063282" cy="45098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en-GB" sz="3000" b="0" kern="1200" cap="all" baseline="0" noProof="0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fr-FR" cap="none" dirty="0">
                <a:solidFill>
                  <a:schemeClr val="bg1"/>
                </a:solidFill>
                <a:latin typeface="CIDFont+F3"/>
              </a:rPr>
              <a:t>Approches de la simulation des évènements discrète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AC32652-9EBA-4373-892B-B976CC1EFBA5}"/>
              </a:ext>
            </a:extLst>
          </p:cNvPr>
          <p:cNvSpPr/>
          <p:nvPr/>
        </p:nvSpPr>
        <p:spPr>
          <a:xfrm>
            <a:off x="520862" y="1289709"/>
            <a:ext cx="10150998" cy="1631216"/>
          </a:xfrm>
          <a:prstGeom prst="rect">
            <a:avLst/>
          </a:prstGeom>
          <a:ln>
            <a:solidFill>
              <a:srgbClr val="4CA1F4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b="1" dirty="0"/>
              <a:t>la progression temporelle du prochain événement</a:t>
            </a:r>
            <a:r>
              <a:rPr lang="fr-FR" sz="2000" dirty="0"/>
              <a:t>, Chaque événement se produit à un instant particulier et marque un changement d' état dans le système. Entre les événements consécutifs, aucun changement dans le système n'est supposé se produire; ainsi, le temps de simulation peut directement passer au temps d'occurrence du prochain événement, qui est appelé progression temporelle du prochain événement.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32E6B7F-5962-475E-A55A-18F82FFAC334}"/>
              </a:ext>
            </a:extLst>
          </p:cNvPr>
          <p:cNvSpPr/>
          <p:nvPr/>
        </p:nvSpPr>
        <p:spPr>
          <a:xfrm>
            <a:off x="2083443" y="3245418"/>
            <a:ext cx="7338348" cy="400110"/>
          </a:xfrm>
          <a:prstGeom prst="rect">
            <a:avLst/>
          </a:prstGeom>
          <a:ln>
            <a:solidFill>
              <a:srgbClr val="4CA1F4"/>
            </a:solidFill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fr-FR" sz="2000" b="1" dirty="0"/>
              <a:t>Avantages : </a:t>
            </a:r>
            <a:r>
              <a:rPr lang="fr-FR" sz="2000" dirty="0"/>
              <a:t>Concise</a:t>
            </a:r>
            <a:r>
              <a:rPr lang="fr-FR" sz="2000" b="1" dirty="0"/>
              <a:t>, </a:t>
            </a:r>
            <a:r>
              <a:rPr lang="fr-FR" sz="2000" dirty="0"/>
              <a:t>Plus rapide</a:t>
            </a:r>
            <a:endParaRPr lang="en-US" sz="20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BC79323-8743-4CB7-A22B-0EE4507BFC80}"/>
              </a:ext>
            </a:extLst>
          </p:cNvPr>
          <p:cNvSpPr/>
          <p:nvPr/>
        </p:nvSpPr>
        <p:spPr>
          <a:xfrm>
            <a:off x="2083443" y="4092299"/>
            <a:ext cx="7338348" cy="400110"/>
          </a:xfrm>
          <a:prstGeom prst="rect">
            <a:avLst/>
          </a:prstGeom>
          <a:ln>
            <a:solidFill>
              <a:srgbClr val="4CA1F4"/>
            </a:solidFill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fr-FR" sz="2000" b="1" dirty="0"/>
              <a:t>Inconvénient : </a:t>
            </a:r>
            <a:r>
              <a:rPr lang="fr-FR" sz="2000" dirty="0"/>
              <a:t>Implémentation compliquée 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147246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6" grpId="0" animBg="1"/>
      <p:bldP spid="1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E8DF214-E6AD-416E-AB92-25BBB0C24BDF}"/>
              </a:ext>
            </a:extLst>
          </p:cNvPr>
          <p:cNvSpPr/>
          <p:nvPr/>
        </p:nvSpPr>
        <p:spPr>
          <a:xfrm>
            <a:off x="360725" y="251597"/>
            <a:ext cx="10570129" cy="540767"/>
          </a:xfrm>
          <a:prstGeom prst="rect">
            <a:avLst/>
          </a:prstGeom>
          <a:solidFill>
            <a:srgbClr val="4CA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 dirty="0">
              <a:latin typeface="Asap Medium" panose="020F0604030102060203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2D4EB3D-FCB2-4147-8884-8C1C2A5EDB21}"/>
              </a:ext>
            </a:extLst>
          </p:cNvPr>
          <p:cNvSpPr txBox="1">
            <a:spLocks/>
          </p:cNvSpPr>
          <p:nvPr/>
        </p:nvSpPr>
        <p:spPr>
          <a:xfrm>
            <a:off x="203462" y="296489"/>
            <a:ext cx="9079434" cy="45098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en-GB" sz="3000" b="0" kern="1200" cap="all" baseline="0" noProof="0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fr-FR" cap="none" dirty="0">
                <a:solidFill>
                  <a:schemeClr val="bg1"/>
                </a:solidFill>
                <a:latin typeface="CIDFont+F3"/>
              </a:rPr>
              <a:t>Les composantes de simulateur de service de </a:t>
            </a:r>
            <a:r>
              <a:rPr lang="fr-FR" cap="none" dirty="0" err="1">
                <a:solidFill>
                  <a:schemeClr val="bg1"/>
                </a:solidFill>
                <a:latin typeface="CIDFont+F3"/>
              </a:rPr>
              <a:t>scaling</a:t>
            </a:r>
            <a:endParaRPr lang="fr-FR" cap="none" dirty="0">
              <a:solidFill>
                <a:schemeClr val="bg1"/>
              </a:solidFill>
              <a:latin typeface="CIDFont+F3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AC32652-9EBA-4373-892B-B976CC1EFBA5}"/>
              </a:ext>
            </a:extLst>
          </p:cNvPr>
          <p:cNvSpPr/>
          <p:nvPr/>
        </p:nvSpPr>
        <p:spPr>
          <a:xfrm>
            <a:off x="520862" y="1289709"/>
            <a:ext cx="10150998" cy="1631216"/>
          </a:xfrm>
          <a:prstGeom prst="rect">
            <a:avLst/>
          </a:prstGeom>
          <a:ln>
            <a:solidFill>
              <a:srgbClr val="4CA1F4"/>
            </a:solidFill>
          </a:ln>
        </p:spPr>
        <p:txBody>
          <a:bodyPr wrap="square">
            <a:spAutoFit/>
          </a:bodyPr>
          <a:lstStyle/>
          <a:p>
            <a:r>
              <a:rPr lang="fr-FR" sz="2000" b="1" dirty="0"/>
              <a:t>Horloge </a:t>
            </a:r>
            <a:r>
              <a:rPr lang="fr-FR" sz="2000" dirty="0"/>
              <a:t>La simulation doit garder une trace du temps de simulation actuel, dans toutes les unités de mesure qui conviennent au système modélisé. Dans les simulations à événements discrets, par opposition aux simulations continues, le temps «saute» parce que les événements sont instantanés - l'horloge passe à l'heure de début de l'événement suivant à mesure que la simulation se poursuit.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D62325-800D-48E2-8177-82AED5FDA5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6976" y="4218992"/>
            <a:ext cx="3288775" cy="1951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789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E8DF214-E6AD-416E-AB92-25BBB0C24BDF}"/>
              </a:ext>
            </a:extLst>
          </p:cNvPr>
          <p:cNvSpPr/>
          <p:nvPr/>
        </p:nvSpPr>
        <p:spPr>
          <a:xfrm>
            <a:off x="360725" y="251597"/>
            <a:ext cx="10570129" cy="540767"/>
          </a:xfrm>
          <a:prstGeom prst="rect">
            <a:avLst/>
          </a:prstGeom>
          <a:solidFill>
            <a:srgbClr val="4CA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2D4EB3D-FCB2-4147-8884-8C1C2A5EDB21}"/>
              </a:ext>
            </a:extLst>
          </p:cNvPr>
          <p:cNvSpPr txBox="1">
            <a:spLocks/>
          </p:cNvSpPr>
          <p:nvPr/>
        </p:nvSpPr>
        <p:spPr>
          <a:xfrm>
            <a:off x="203462" y="296489"/>
            <a:ext cx="7146462" cy="45098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en-GB" sz="3000" b="0" kern="1200" cap="all" baseline="0" noProof="0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fr-FR" cap="none" dirty="0">
                <a:solidFill>
                  <a:schemeClr val="bg1"/>
                </a:solidFill>
                <a:latin typeface="CIDFont+F3"/>
              </a:rPr>
              <a:t>Les composantes du simulateur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AC32652-9EBA-4373-892B-B976CC1EFBA5}"/>
              </a:ext>
            </a:extLst>
          </p:cNvPr>
          <p:cNvSpPr/>
          <p:nvPr/>
        </p:nvSpPr>
        <p:spPr>
          <a:xfrm>
            <a:off x="520862" y="1289709"/>
            <a:ext cx="10150998" cy="707886"/>
          </a:xfrm>
          <a:prstGeom prst="rect">
            <a:avLst/>
          </a:prstGeom>
          <a:ln>
            <a:solidFill>
              <a:srgbClr val="4CA1F4"/>
            </a:solidFill>
          </a:ln>
        </p:spPr>
        <p:txBody>
          <a:bodyPr wrap="square">
            <a:spAutoFit/>
          </a:bodyPr>
          <a:lstStyle/>
          <a:p>
            <a:r>
              <a:rPr lang="fr-FR" sz="2000" b="1" dirty="0"/>
              <a:t>État </a:t>
            </a:r>
            <a:r>
              <a:rPr lang="fr-FR" sz="2000" dirty="0"/>
              <a:t>Un état du système est un ensemble de variables qui capture les propriétés qui avances du système à étudier et qui changent après chaque événement.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DA91C7-2178-4307-A67D-3C71D9C4204F}"/>
              </a:ext>
            </a:extLst>
          </p:cNvPr>
          <p:cNvSpPr/>
          <p:nvPr/>
        </p:nvSpPr>
        <p:spPr>
          <a:xfrm>
            <a:off x="570290" y="2599577"/>
            <a:ext cx="10150998" cy="1938992"/>
          </a:xfrm>
          <a:prstGeom prst="rect">
            <a:avLst/>
          </a:prstGeom>
          <a:ln>
            <a:solidFill>
              <a:srgbClr val="4CA1F4"/>
            </a:solidFill>
          </a:ln>
        </p:spPr>
        <p:txBody>
          <a:bodyPr wrap="square">
            <a:spAutoFit/>
          </a:bodyPr>
          <a:lstStyle/>
          <a:p>
            <a:r>
              <a:rPr lang="fr-FR" sz="2000" dirty="0"/>
              <a:t>Les variables d’état de notre simulateur sont les suivants :</a:t>
            </a:r>
          </a:p>
          <a:p>
            <a:endParaRPr lang="fr-FR" sz="2000" dirty="0"/>
          </a:p>
          <a:p>
            <a:pPr marL="1371600" lvl="2" indent="-457200">
              <a:buFont typeface="Courier New" panose="02070309020205020404" pitchFamily="49" charset="0"/>
              <a:buChar char="o"/>
            </a:pPr>
            <a:r>
              <a:rPr lang="fr-FR" sz="2000" dirty="0"/>
              <a:t>La liste des requêtes</a:t>
            </a:r>
          </a:p>
          <a:p>
            <a:pPr marL="1371600" lvl="2" indent="-457200">
              <a:buFont typeface="Courier New" panose="02070309020205020404" pitchFamily="49" charset="0"/>
              <a:buChar char="o"/>
            </a:pPr>
            <a:r>
              <a:rPr lang="fr-FR" sz="2000" dirty="0"/>
              <a:t>La Queue Cloud</a:t>
            </a:r>
          </a:p>
          <a:p>
            <a:pPr marL="1371600" lvl="2" indent="-457200">
              <a:buFont typeface="Courier New" panose="02070309020205020404" pitchFamily="49" charset="0"/>
              <a:buChar char="o"/>
            </a:pPr>
            <a:r>
              <a:rPr lang="fr-FR" sz="2000" dirty="0"/>
              <a:t>La liste des </a:t>
            </a:r>
            <a:r>
              <a:rPr lang="fr-FR" sz="2000" dirty="0" err="1"/>
              <a:t>workers</a:t>
            </a:r>
            <a:endParaRPr lang="fr-FR" sz="2000" dirty="0"/>
          </a:p>
          <a:p>
            <a:pPr marL="1371600" lvl="2" indent="-457200">
              <a:buFont typeface="Courier New" panose="02070309020205020404" pitchFamily="49" charset="0"/>
              <a:buChar char="o"/>
            </a:pPr>
            <a:r>
              <a:rPr lang="fr-FR" sz="2000" dirty="0"/>
              <a:t>Le temps</a:t>
            </a:r>
          </a:p>
        </p:txBody>
      </p:sp>
    </p:spTree>
    <p:extLst>
      <p:ext uri="{BB962C8B-B14F-4D97-AF65-F5344CB8AC3E}">
        <p14:creationId xmlns:p14="http://schemas.microsoft.com/office/powerpoint/2010/main" val="2375621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E8DF214-E6AD-416E-AB92-25BBB0C24BDF}"/>
              </a:ext>
            </a:extLst>
          </p:cNvPr>
          <p:cNvSpPr/>
          <p:nvPr/>
        </p:nvSpPr>
        <p:spPr>
          <a:xfrm>
            <a:off x="360725" y="251597"/>
            <a:ext cx="10570129" cy="540767"/>
          </a:xfrm>
          <a:prstGeom prst="rect">
            <a:avLst/>
          </a:prstGeom>
          <a:solidFill>
            <a:srgbClr val="4CA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2D4EB3D-FCB2-4147-8884-8C1C2A5EDB21}"/>
              </a:ext>
            </a:extLst>
          </p:cNvPr>
          <p:cNvSpPr txBox="1">
            <a:spLocks/>
          </p:cNvSpPr>
          <p:nvPr/>
        </p:nvSpPr>
        <p:spPr>
          <a:xfrm>
            <a:off x="203462" y="296489"/>
            <a:ext cx="7146462" cy="45098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en-GB" sz="3000" b="0" kern="1200" cap="all" baseline="0" noProof="0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fr-FR" cap="none" dirty="0">
                <a:solidFill>
                  <a:schemeClr val="bg1"/>
                </a:solidFill>
                <a:latin typeface="CIDFont+F3"/>
              </a:rPr>
              <a:t>Les composantes du simulateur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AC32652-9EBA-4373-892B-B976CC1EFBA5}"/>
              </a:ext>
            </a:extLst>
          </p:cNvPr>
          <p:cNvSpPr/>
          <p:nvPr/>
        </p:nvSpPr>
        <p:spPr>
          <a:xfrm>
            <a:off x="520862" y="1289709"/>
            <a:ext cx="10150998" cy="707886"/>
          </a:xfrm>
          <a:prstGeom prst="rect">
            <a:avLst/>
          </a:prstGeom>
          <a:ln>
            <a:solidFill>
              <a:srgbClr val="4CA1F4"/>
            </a:solidFill>
          </a:ln>
        </p:spPr>
        <p:txBody>
          <a:bodyPr wrap="square">
            <a:spAutoFit/>
          </a:bodyPr>
          <a:lstStyle/>
          <a:p>
            <a:r>
              <a:rPr lang="fr-FR" sz="2000" b="1" dirty="0"/>
              <a:t>Liste des événements </a:t>
            </a:r>
            <a:r>
              <a:rPr lang="fr-FR" sz="2000" dirty="0"/>
              <a:t>La simulation conserve au moins une liste d'événements de simulation. Ceci est appelé l' </a:t>
            </a:r>
            <a:r>
              <a:rPr lang="fr-FR" sz="2000" i="1" dirty="0"/>
              <a:t>ensemble d'événements en attente</a:t>
            </a:r>
            <a:r>
              <a:rPr lang="fr-FR" sz="2000" dirty="0"/>
              <a:t>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6A8F00F-A60E-44DC-A9E6-5639B8A6D723}"/>
              </a:ext>
            </a:extLst>
          </p:cNvPr>
          <p:cNvSpPr/>
          <p:nvPr/>
        </p:nvSpPr>
        <p:spPr>
          <a:xfrm>
            <a:off x="570290" y="2599577"/>
            <a:ext cx="10150998" cy="2862322"/>
          </a:xfrm>
          <a:prstGeom prst="rect">
            <a:avLst/>
          </a:prstGeom>
          <a:ln>
            <a:solidFill>
              <a:srgbClr val="4CA1F4"/>
            </a:solidFill>
          </a:ln>
        </p:spPr>
        <p:txBody>
          <a:bodyPr wrap="square">
            <a:spAutoFit/>
          </a:bodyPr>
          <a:lstStyle/>
          <a:p>
            <a:r>
              <a:rPr lang="fr-FR" sz="2000" dirty="0"/>
              <a:t>La liste des évènements possible de notre simulateur est la suivante:</a:t>
            </a:r>
          </a:p>
          <a:p>
            <a:endParaRPr lang="fr-FR" sz="2000" dirty="0"/>
          </a:p>
          <a:p>
            <a:pPr marL="1371600" lvl="2" indent="-457200">
              <a:buFont typeface="Courier New" panose="02070309020205020404" pitchFamily="49" charset="0"/>
              <a:buChar char="o"/>
            </a:pPr>
            <a:r>
              <a:rPr lang="fr-FR" sz="2000" dirty="0" err="1"/>
              <a:t>Scaling</a:t>
            </a:r>
            <a:r>
              <a:rPr lang="fr-FR" sz="2000" dirty="0"/>
              <a:t> Up,</a:t>
            </a:r>
          </a:p>
          <a:p>
            <a:pPr marL="1371600" lvl="2" indent="-457200">
              <a:buFont typeface="Courier New" panose="02070309020205020404" pitchFamily="49" charset="0"/>
              <a:buChar char="o"/>
            </a:pPr>
            <a:r>
              <a:rPr lang="fr-FR" sz="2000" dirty="0" err="1"/>
              <a:t>Scaling</a:t>
            </a:r>
            <a:r>
              <a:rPr lang="fr-FR" sz="2000" dirty="0"/>
              <a:t> Down,</a:t>
            </a:r>
          </a:p>
          <a:p>
            <a:pPr marL="1371600" lvl="2" indent="-457200">
              <a:buFont typeface="Courier New" panose="02070309020205020404" pitchFamily="49" charset="0"/>
              <a:buChar char="o"/>
            </a:pPr>
            <a:r>
              <a:rPr lang="fr-FR" sz="2000" dirty="0" err="1"/>
              <a:t>Arrived</a:t>
            </a:r>
            <a:r>
              <a:rPr lang="fr-FR" sz="2000" dirty="0"/>
              <a:t> </a:t>
            </a:r>
            <a:r>
              <a:rPr lang="fr-FR" sz="2000" dirty="0" err="1"/>
              <a:t>Request</a:t>
            </a:r>
            <a:r>
              <a:rPr lang="fr-FR" sz="2000" dirty="0"/>
              <a:t>,</a:t>
            </a:r>
          </a:p>
          <a:p>
            <a:pPr marL="1371600" lvl="2" indent="-457200">
              <a:buFont typeface="Courier New" panose="02070309020205020404" pitchFamily="49" charset="0"/>
              <a:buChar char="o"/>
            </a:pPr>
            <a:r>
              <a:rPr lang="fr-FR" sz="2000" dirty="0" err="1"/>
              <a:t>Dequeue</a:t>
            </a:r>
            <a:r>
              <a:rPr lang="fr-FR" sz="2000" dirty="0"/>
              <a:t> time,</a:t>
            </a:r>
          </a:p>
          <a:p>
            <a:pPr marL="1371600" lvl="2" indent="-457200">
              <a:buFont typeface="Courier New" panose="02070309020205020404" pitchFamily="49" charset="0"/>
              <a:buChar char="o"/>
            </a:pPr>
            <a:r>
              <a:rPr lang="fr-FR" sz="2000" dirty="0" err="1"/>
              <a:t>Launching</a:t>
            </a:r>
            <a:r>
              <a:rPr lang="fr-FR" sz="2000" dirty="0"/>
              <a:t> </a:t>
            </a:r>
            <a:r>
              <a:rPr lang="fr-FR" sz="2000" dirty="0" err="1"/>
              <a:t>Workers</a:t>
            </a:r>
            <a:r>
              <a:rPr lang="fr-FR" sz="2000" dirty="0"/>
              <a:t>,</a:t>
            </a:r>
          </a:p>
          <a:p>
            <a:pPr marL="1371600" lvl="2" indent="-457200">
              <a:buFont typeface="Courier New" panose="02070309020205020404" pitchFamily="49" charset="0"/>
              <a:buChar char="o"/>
            </a:pPr>
            <a:r>
              <a:rPr lang="fr-FR" sz="2000" dirty="0"/>
              <a:t>End of simulation</a:t>
            </a:r>
          </a:p>
          <a:p>
            <a:pPr marL="1371600" lvl="2" indent="-457200">
              <a:buFont typeface="Courier New" panose="02070309020205020404" pitchFamily="49" charset="0"/>
              <a:buChar char="o"/>
            </a:pPr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2789129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E8DF214-E6AD-416E-AB92-25BBB0C24BDF}"/>
              </a:ext>
            </a:extLst>
          </p:cNvPr>
          <p:cNvSpPr/>
          <p:nvPr/>
        </p:nvSpPr>
        <p:spPr>
          <a:xfrm>
            <a:off x="360725" y="251597"/>
            <a:ext cx="10570129" cy="540767"/>
          </a:xfrm>
          <a:prstGeom prst="rect">
            <a:avLst/>
          </a:prstGeom>
          <a:solidFill>
            <a:srgbClr val="4CA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2D4EB3D-FCB2-4147-8884-8C1C2A5EDB21}"/>
              </a:ext>
            </a:extLst>
          </p:cNvPr>
          <p:cNvSpPr txBox="1">
            <a:spLocks/>
          </p:cNvSpPr>
          <p:nvPr/>
        </p:nvSpPr>
        <p:spPr>
          <a:xfrm>
            <a:off x="203462" y="296489"/>
            <a:ext cx="7146462" cy="45098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en-GB" sz="3000" b="0" kern="1200" cap="all" baseline="0" noProof="0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fr-FR" cap="none" dirty="0">
                <a:solidFill>
                  <a:schemeClr val="bg1"/>
                </a:solidFill>
                <a:latin typeface="CIDFont+F3"/>
              </a:rPr>
              <a:t>Les composantes du simulateur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AC32652-9EBA-4373-892B-B976CC1EFBA5}"/>
              </a:ext>
            </a:extLst>
          </p:cNvPr>
          <p:cNvSpPr/>
          <p:nvPr/>
        </p:nvSpPr>
        <p:spPr>
          <a:xfrm>
            <a:off x="520862" y="1289709"/>
            <a:ext cx="10150998" cy="707886"/>
          </a:xfrm>
          <a:prstGeom prst="rect">
            <a:avLst/>
          </a:prstGeom>
          <a:ln>
            <a:solidFill>
              <a:srgbClr val="4CA1F4"/>
            </a:solidFill>
          </a:ln>
        </p:spPr>
        <p:txBody>
          <a:bodyPr wrap="square">
            <a:spAutoFit/>
          </a:bodyPr>
          <a:lstStyle/>
          <a:p>
            <a:r>
              <a:rPr lang="fr-FR" sz="2000" b="1" dirty="0"/>
              <a:t>Statistiques </a:t>
            </a:r>
            <a:r>
              <a:rPr lang="fr-FR" sz="2000" dirty="0"/>
              <a:t>La simulation garde généralement la trace des statistiques du système , qui quantifient les aspects intéressants. 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46D220E-2195-46D3-B0F5-9C392BA925B1}"/>
              </a:ext>
            </a:extLst>
          </p:cNvPr>
          <p:cNvSpPr/>
          <p:nvPr/>
        </p:nvSpPr>
        <p:spPr>
          <a:xfrm>
            <a:off x="570290" y="2599577"/>
            <a:ext cx="10150998" cy="1323439"/>
          </a:xfrm>
          <a:prstGeom prst="rect">
            <a:avLst/>
          </a:prstGeom>
          <a:ln>
            <a:solidFill>
              <a:srgbClr val="4CA1F4"/>
            </a:solidFill>
          </a:ln>
        </p:spPr>
        <p:txBody>
          <a:bodyPr wrap="square">
            <a:spAutoFit/>
          </a:bodyPr>
          <a:lstStyle/>
          <a:p>
            <a:r>
              <a:rPr lang="fr-FR" sz="2000" dirty="0"/>
              <a:t>Les </a:t>
            </a:r>
            <a:r>
              <a:rPr lang="fr-FR" sz="2000" dirty="0" err="1"/>
              <a:t>résulats</a:t>
            </a:r>
            <a:r>
              <a:rPr lang="fr-FR" sz="2000" dirty="0"/>
              <a:t> de la simulation sont les suivants :</a:t>
            </a:r>
          </a:p>
          <a:p>
            <a:pPr marL="1371600" lvl="2" indent="-457200">
              <a:buFont typeface="Courier New" panose="02070309020205020404" pitchFamily="49" charset="0"/>
              <a:buChar char="o"/>
            </a:pPr>
            <a:r>
              <a:rPr lang="fr-FR" sz="2000" dirty="0"/>
              <a:t>Etat des </a:t>
            </a:r>
            <a:r>
              <a:rPr lang="fr-FR" sz="2000" dirty="0" err="1"/>
              <a:t>workers</a:t>
            </a:r>
            <a:endParaRPr lang="fr-FR" sz="2000" dirty="0"/>
          </a:p>
          <a:p>
            <a:pPr marL="1371600" lvl="2" indent="-457200">
              <a:buFont typeface="Courier New" panose="02070309020205020404" pitchFamily="49" charset="0"/>
              <a:buChar char="o"/>
            </a:pPr>
            <a:r>
              <a:rPr lang="fr-FR" sz="2000" dirty="0"/>
              <a:t>Etat de la queue</a:t>
            </a:r>
          </a:p>
          <a:p>
            <a:pPr marL="1371600" lvl="2" indent="-457200">
              <a:buFont typeface="Courier New" panose="02070309020205020404" pitchFamily="49" charset="0"/>
              <a:buChar char="o"/>
            </a:pPr>
            <a:r>
              <a:rPr lang="fr-FR" sz="2000" dirty="0"/>
              <a:t>Cloud </a:t>
            </a:r>
            <a:r>
              <a:rPr lang="fr-FR" sz="2000" dirty="0" err="1"/>
              <a:t>metrics</a:t>
            </a:r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4140455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E8DF214-E6AD-416E-AB92-25BBB0C24BDF}"/>
              </a:ext>
            </a:extLst>
          </p:cNvPr>
          <p:cNvSpPr/>
          <p:nvPr/>
        </p:nvSpPr>
        <p:spPr>
          <a:xfrm>
            <a:off x="360725" y="251597"/>
            <a:ext cx="10570129" cy="540767"/>
          </a:xfrm>
          <a:prstGeom prst="rect">
            <a:avLst/>
          </a:prstGeom>
          <a:solidFill>
            <a:srgbClr val="4CA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2D4EB3D-FCB2-4147-8884-8C1C2A5EDB21}"/>
              </a:ext>
            </a:extLst>
          </p:cNvPr>
          <p:cNvSpPr txBox="1">
            <a:spLocks/>
          </p:cNvSpPr>
          <p:nvPr/>
        </p:nvSpPr>
        <p:spPr>
          <a:xfrm>
            <a:off x="203462" y="296489"/>
            <a:ext cx="7146462" cy="45098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en-GB" sz="3000" b="0" kern="1200" cap="all" baseline="0" noProof="0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fr-FR" cap="none" dirty="0">
                <a:solidFill>
                  <a:schemeClr val="bg1"/>
                </a:solidFill>
                <a:latin typeface="CIDFont+F3"/>
              </a:rPr>
              <a:t>Les composantes du simulateur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AC32652-9EBA-4373-892B-B976CC1EFBA5}"/>
              </a:ext>
            </a:extLst>
          </p:cNvPr>
          <p:cNvSpPr/>
          <p:nvPr/>
        </p:nvSpPr>
        <p:spPr>
          <a:xfrm>
            <a:off x="520862" y="1289709"/>
            <a:ext cx="10150998" cy="1015663"/>
          </a:xfrm>
          <a:prstGeom prst="rect">
            <a:avLst/>
          </a:prstGeom>
          <a:ln>
            <a:solidFill>
              <a:srgbClr val="4CA1F4"/>
            </a:solidFill>
          </a:ln>
        </p:spPr>
        <p:txBody>
          <a:bodyPr wrap="square">
            <a:spAutoFit/>
          </a:bodyPr>
          <a:lstStyle/>
          <a:p>
            <a:r>
              <a:rPr lang="fr-FR" sz="2000" b="1" dirty="0" err="1"/>
              <a:t>Ending</a:t>
            </a:r>
            <a:r>
              <a:rPr lang="fr-FR" sz="2000" b="1" dirty="0"/>
              <a:t> condition </a:t>
            </a:r>
            <a:r>
              <a:rPr lang="fr-FR" sz="2000" dirty="0"/>
              <a:t>Parce que les événements sont amorcés, une simulation d'événement discret pourrait théoriquement s'exécuter indéfiniment. Le concepteur de simulation doit donc décider de la fin de la simulation. 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D520DD-3A20-4233-94DD-91A0DECF1EAD}"/>
              </a:ext>
            </a:extLst>
          </p:cNvPr>
          <p:cNvSpPr/>
          <p:nvPr/>
        </p:nvSpPr>
        <p:spPr>
          <a:xfrm>
            <a:off x="520862" y="2802717"/>
            <a:ext cx="10150998" cy="1477328"/>
          </a:xfrm>
          <a:prstGeom prst="rect">
            <a:avLst/>
          </a:prstGeom>
          <a:ln>
            <a:solidFill>
              <a:srgbClr val="4CA1F4"/>
            </a:solidFill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fr-FR" sz="2000" dirty="0"/>
              <a:t>Les conditions d’arrêt sont les suivants 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fr-FR" sz="2000" dirty="0"/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fr-FR" sz="2000" dirty="0"/>
              <a:t>File d’attente vide &amp; </a:t>
            </a:r>
            <a:r>
              <a:rPr lang="fr-FR" sz="2000" dirty="0" err="1"/>
              <a:t>workers</a:t>
            </a:r>
            <a:r>
              <a:rPr lang="fr-FR" sz="2000" dirty="0"/>
              <a:t> </a:t>
            </a:r>
            <a:r>
              <a:rPr lang="fr-FR" sz="2000" dirty="0" err="1"/>
              <a:t>Idle</a:t>
            </a:r>
            <a:r>
              <a:rPr lang="fr-FR" sz="2000" dirty="0"/>
              <a:t> &amp; état de </a:t>
            </a:r>
            <a:r>
              <a:rPr lang="fr-FR" sz="2000" dirty="0" err="1"/>
              <a:t>scaling</a:t>
            </a:r>
            <a:r>
              <a:rPr lang="fr-FR" sz="2000" dirty="0"/>
              <a:t> est stable;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fr-FR" sz="2000" dirty="0"/>
              <a:t>End of simulation time.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fr-FR" sz="1000" dirty="0"/>
          </a:p>
        </p:txBody>
      </p:sp>
    </p:spTree>
    <p:extLst>
      <p:ext uri="{BB962C8B-B14F-4D97-AF65-F5344CB8AC3E}">
        <p14:creationId xmlns:p14="http://schemas.microsoft.com/office/powerpoint/2010/main" val="717551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88D25-FCA8-40C3-89E9-976E28DCB7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5262" y="45530"/>
            <a:ext cx="10706099" cy="800275"/>
          </a:xfrm>
        </p:spPr>
        <p:txBody>
          <a:bodyPr>
            <a:normAutofit/>
          </a:bodyPr>
          <a:lstStyle/>
          <a:p>
            <a:pPr algn="l"/>
            <a:r>
              <a:rPr lang="fr-FR" sz="1800" dirty="0">
                <a:solidFill>
                  <a:srgbClr val="C00000"/>
                </a:solidFill>
              </a:rPr>
              <a:t>Plan 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8DBA98D-C658-4B43-9A6C-C677FCB48491}"/>
              </a:ext>
            </a:extLst>
          </p:cNvPr>
          <p:cNvCxnSpPr>
            <a:cxnSpLocks/>
          </p:cNvCxnSpPr>
          <p:nvPr/>
        </p:nvCxnSpPr>
        <p:spPr>
          <a:xfrm>
            <a:off x="560195" y="991893"/>
            <a:ext cx="10706098" cy="0"/>
          </a:xfrm>
          <a:prstGeom prst="line">
            <a:avLst/>
          </a:prstGeom>
          <a:ln w="444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FF8FF7A2-CF62-40A3-BAF4-A41AC4CCF273}"/>
              </a:ext>
            </a:extLst>
          </p:cNvPr>
          <p:cNvGrpSpPr/>
          <p:nvPr/>
        </p:nvGrpSpPr>
        <p:grpSpPr>
          <a:xfrm>
            <a:off x="7688004" y="2311399"/>
            <a:ext cx="2127437" cy="406400"/>
            <a:chOff x="6862622" y="1733550"/>
            <a:chExt cx="1595578" cy="304800"/>
          </a:xfrm>
        </p:grpSpPr>
        <p:sp>
          <p:nvSpPr>
            <p:cNvPr id="8" name="Chevron 57">
              <a:extLst>
                <a:ext uri="{FF2B5EF4-FFF2-40B4-BE49-F238E27FC236}">
                  <a16:creationId xmlns:a16="http://schemas.microsoft.com/office/drawing/2014/main" id="{49BE5210-A30A-41E1-BDF8-2A52854B1B98}"/>
                </a:ext>
              </a:extLst>
            </p:cNvPr>
            <p:cNvSpPr/>
            <p:nvPr/>
          </p:nvSpPr>
          <p:spPr>
            <a:xfrm>
              <a:off x="6862622" y="1733550"/>
              <a:ext cx="1595578" cy="304800"/>
            </a:xfrm>
            <a:prstGeom prst="chevron">
              <a:avLst>
                <a:gd name="adj" fmla="val 32323"/>
              </a:avLst>
            </a:prstGeom>
            <a:solidFill>
              <a:srgbClr val="5BBE77"/>
            </a:solidFill>
            <a:ln w="381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1917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b="0" i="0" u="none" strike="noStrike" kern="0" cap="none" spc="0" normalizeH="0" baseline="0" noProof="0">
                <a:ln>
                  <a:noFill/>
                </a:ln>
                <a:solidFill>
                  <a:srgbClr val="57565A"/>
                </a:solidFill>
                <a:effectLst/>
                <a:uLnTx/>
                <a:uFillTx/>
                <a:latin typeface="Open Sans Light"/>
                <a:ea typeface="+mn-ea"/>
                <a:cs typeface="+mn-cs"/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D7A97DEC-8280-47AA-923D-7F7F07331F60}"/>
                </a:ext>
              </a:extLst>
            </p:cNvPr>
            <p:cNvSpPr/>
            <p:nvPr/>
          </p:nvSpPr>
          <p:spPr>
            <a:xfrm>
              <a:off x="7617114" y="1833416"/>
              <a:ext cx="86594" cy="86594"/>
            </a:xfrm>
            <a:prstGeom prst="ellipse">
              <a:avLst/>
            </a:prstGeom>
            <a:solidFill>
              <a:sysClr val="window" lastClr="FFFFFF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1917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b="0" i="0" u="none" strike="noStrike" kern="0" cap="none" spc="0" normalizeH="0" baseline="0" noProof="0">
                <a:ln>
                  <a:noFill/>
                </a:ln>
                <a:solidFill>
                  <a:srgbClr val="57565A"/>
                </a:solidFill>
                <a:effectLst/>
                <a:uLnTx/>
                <a:uFillTx/>
                <a:latin typeface="Open Sans Light"/>
                <a:ea typeface="+mn-ea"/>
                <a:cs typeface="+mn-cs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16E9E2D8-40F0-4948-B351-51B228FAD83C}"/>
              </a:ext>
            </a:extLst>
          </p:cNvPr>
          <p:cNvGrpSpPr/>
          <p:nvPr/>
        </p:nvGrpSpPr>
        <p:grpSpPr>
          <a:xfrm>
            <a:off x="5813263" y="2311400"/>
            <a:ext cx="1985814" cy="406400"/>
            <a:chOff x="5318416" y="1733550"/>
            <a:chExt cx="1595578" cy="304800"/>
          </a:xfrm>
        </p:grpSpPr>
        <p:sp>
          <p:nvSpPr>
            <p:cNvPr id="11" name="Chevron 60">
              <a:extLst>
                <a:ext uri="{FF2B5EF4-FFF2-40B4-BE49-F238E27FC236}">
                  <a16:creationId xmlns:a16="http://schemas.microsoft.com/office/drawing/2014/main" id="{660ECE80-EE34-4366-9393-61600DB60486}"/>
                </a:ext>
              </a:extLst>
            </p:cNvPr>
            <p:cNvSpPr/>
            <p:nvPr/>
          </p:nvSpPr>
          <p:spPr>
            <a:xfrm>
              <a:off x="5318416" y="1733550"/>
              <a:ext cx="1595578" cy="304800"/>
            </a:xfrm>
            <a:prstGeom prst="chevron">
              <a:avLst>
                <a:gd name="adj" fmla="val 32323"/>
              </a:avLst>
            </a:prstGeom>
            <a:solidFill>
              <a:srgbClr val="25B7AB"/>
            </a:solidFill>
            <a:ln w="381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1917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b="0" i="0" u="none" strike="noStrike" kern="0" cap="none" spc="0" normalizeH="0" baseline="0" noProof="0">
                <a:ln>
                  <a:noFill/>
                </a:ln>
                <a:solidFill>
                  <a:srgbClr val="57565A"/>
                </a:solidFill>
                <a:effectLst/>
                <a:uLnTx/>
                <a:uFillTx/>
                <a:latin typeface="Open Sans Light"/>
                <a:ea typeface="+mn-ea"/>
                <a:cs typeface="+mn-cs"/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C5998EDC-1F70-44B2-8482-53E64E9620B3}"/>
                </a:ext>
              </a:extLst>
            </p:cNvPr>
            <p:cNvSpPr/>
            <p:nvPr/>
          </p:nvSpPr>
          <p:spPr>
            <a:xfrm>
              <a:off x="6072908" y="1833416"/>
              <a:ext cx="86594" cy="86594"/>
            </a:xfrm>
            <a:prstGeom prst="ellipse">
              <a:avLst/>
            </a:prstGeom>
            <a:solidFill>
              <a:sysClr val="window" lastClr="FFFFFF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1917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b="0" i="0" u="none" strike="noStrike" kern="0" cap="none" spc="0" normalizeH="0" baseline="0" noProof="0">
                <a:ln>
                  <a:noFill/>
                </a:ln>
                <a:solidFill>
                  <a:srgbClr val="57565A"/>
                </a:solidFill>
                <a:effectLst/>
                <a:uLnTx/>
                <a:uFillTx/>
                <a:latin typeface="Open Sans Light"/>
                <a:ea typeface="+mn-ea"/>
                <a:cs typeface="+mn-cs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5DD26D9-419C-47C9-8719-5808715A1BB1}"/>
              </a:ext>
            </a:extLst>
          </p:cNvPr>
          <p:cNvGrpSpPr/>
          <p:nvPr/>
        </p:nvGrpSpPr>
        <p:grpSpPr>
          <a:xfrm>
            <a:off x="4083697" y="2311400"/>
            <a:ext cx="1842324" cy="406400"/>
            <a:chOff x="3774211" y="1733550"/>
            <a:chExt cx="1595578" cy="304800"/>
          </a:xfrm>
        </p:grpSpPr>
        <p:sp>
          <p:nvSpPr>
            <p:cNvPr id="14" name="Chevron 63">
              <a:extLst>
                <a:ext uri="{FF2B5EF4-FFF2-40B4-BE49-F238E27FC236}">
                  <a16:creationId xmlns:a16="http://schemas.microsoft.com/office/drawing/2014/main" id="{5FB536F6-7BB5-4032-A5DE-D367741BE146}"/>
                </a:ext>
              </a:extLst>
            </p:cNvPr>
            <p:cNvSpPr/>
            <p:nvPr/>
          </p:nvSpPr>
          <p:spPr>
            <a:xfrm>
              <a:off x="3774211" y="1733550"/>
              <a:ext cx="1595578" cy="304800"/>
            </a:xfrm>
            <a:prstGeom prst="chevron">
              <a:avLst>
                <a:gd name="adj" fmla="val 32323"/>
              </a:avLst>
            </a:prstGeom>
            <a:solidFill>
              <a:srgbClr val="27A6C2"/>
            </a:solidFill>
            <a:ln w="381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1917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b="0" i="0" u="none" strike="noStrike" kern="0" cap="none" spc="0" normalizeH="0" baseline="0" noProof="0">
                <a:ln>
                  <a:noFill/>
                </a:ln>
                <a:solidFill>
                  <a:srgbClr val="57565A"/>
                </a:solidFill>
                <a:effectLst/>
                <a:uLnTx/>
                <a:uFillTx/>
                <a:latin typeface="Open Sans Light"/>
                <a:ea typeface="+mn-ea"/>
                <a:cs typeface="+mn-cs"/>
              </a:endParaRP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4758EC84-8546-461A-A25C-A77C061B2855}"/>
                </a:ext>
              </a:extLst>
            </p:cNvPr>
            <p:cNvSpPr/>
            <p:nvPr/>
          </p:nvSpPr>
          <p:spPr>
            <a:xfrm>
              <a:off x="4528703" y="1833416"/>
              <a:ext cx="86594" cy="86594"/>
            </a:xfrm>
            <a:prstGeom prst="ellipse">
              <a:avLst/>
            </a:prstGeom>
            <a:solidFill>
              <a:sysClr val="window" lastClr="FFFFFF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1917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b="0" i="0" u="none" strike="noStrike" kern="0" cap="none" spc="0" normalizeH="0" baseline="0" noProof="0">
                <a:ln>
                  <a:noFill/>
                </a:ln>
                <a:solidFill>
                  <a:srgbClr val="57565A"/>
                </a:solidFill>
                <a:effectLst/>
                <a:uLnTx/>
                <a:uFillTx/>
                <a:latin typeface="Open Sans Light"/>
                <a:ea typeface="+mn-ea"/>
                <a:cs typeface="+mn-cs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2D59CE2-F20A-4739-A810-F37FF4FC4C7F}"/>
              </a:ext>
            </a:extLst>
          </p:cNvPr>
          <p:cNvGrpSpPr/>
          <p:nvPr/>
        </p:nvGrpSpPr>
        <p:grpSpPr>
          <a:xfrm>
            <a:off x="2278754" y="2311400"/>
            <a:ext cx="1917700" cy="406400"/>
            <a:chOff x="2230005" y="1733550"/>
            <a:chExt cx="1595578" cy="304800"/>
          </a:xfrm>
        </p:grpSpPr>
        <p:sp>
          <p:nvSpPr>
            <p:cNvPr id="17" name="Chevron 66">
              <a:extLst>
                <a:ext uri="{FF2B5EF4-FFF2-40B4-BE49-F238E27FC236}">
                  <a16:creationId xmlns:a16="http://schemas.microsoft.com/office/drawing/2014/main" id="{901A51B1-E96D-4790-9F54-A63CCEDE2DF2}"/>
                </a:ext>
              </a:extLst>
            </p:cNvPr>
            <p:cNvSpPr/>
            <p:nvPr/>
          </p:nvSpPr>
          <p:spPr>
            <a:xfrm>
              <a:off x="2230005" y="1733550"/>
              <a:ext cx="1595578" cy="304800"/>
            </a:xfrm>
            <a:prstGeom prst="chevron">
              <a:avLst>
                <a:gd name="adj" fmla="val 32323"/>
              </a:avLst>
            </a:prstGeom>
            <a:solidFill>
              <a:srgbClr val="239CCE"/>
            </a:solidFill>
            <a:ln w="381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1917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b="0" i="0" u="none" strike="noStrike" kern="0" cap="none" spc="0" normalizeH="0" baseline="0" noProof="0">
                <a:ln>
                  <a:noFill/>
                </a:ln>
                <a:solidFill>
                  <a:srgbClr val="57565A"/>
                </a:solidFill>
                <a:effectLst/>
                <a:uLnTx/>
                <a:uFillTx/>
                <a:latin typeface="Open Sans Light"/>
                <a:ea typeface="+mn-ea"/>
                <a:cs typeface="+mn-cs"/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AE441B93-5C8D-4D24-B019-4B741C0B6DBB}"/>
                </a:ext>
              </a:extLst>
            </p:cNvPr>
            <p:cNvSpPr/>
            <p:nvPr/>
          </p:nvSpPr>
          <p:spPr>
            <a:xfrm>
              <a:off x="2984497" y="1833416"/>
              <a:ext cx="86594" cy="86594"/>
            </a:xfrm>
            <a:prstGeom prst="ellipse">
              <a:avLst/>
            </a:prstGeom>
            <a:solidFill>
              <a:sysClr val="window" lastClr="FFFFFF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1917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b="0" i="0" u="none" strike="noStrike" kern="0" cap="none" spc="0" normalizeH="0" baseline="0" noProof="0">
                <a:ln>
                  <a:noFill/>
                </a:ln>
                <a:solidFill>
                  <a:srgbClr val="57565A"/>
                </a:solidFill>
                <a:effectLst/>
                <a:uLnTx/>
                <a:uFillTx/>
                <a:latin typeface="Open Sans Light"/>
                <a:ea typeface="+mn-ea"/>
                <a:cs typeface="+mn-cs"/>
              </a:endParaRPr>
            </a:p>
          </p:txBody>
        </p:sp>
      </p:grpSp>
      <p:sp>
        <p:nvSpPr>
          <p:cNvPr id="19" name="Oval 18">
            <a:extLst>
              <a:ext uri="{FF2B5EF4-FFF2-40B4-BE49-F238E27FC236}">
                <a16:creationId xmlns:a16="http://schemas.microsoft.com/office/drawing/2014/main" id="{184C7A54-79D0-4F59-89E9-548E4E60ACD3}"/>
              </a:ext>
            </a:extLst>
          </p:cNvPr>
          <p:cNvSpPr/>
          <p:nvPr/>
        </p:nvSpPr>
        <p:spPr>
          <a:xfrm>
            <a:off x="640755" y="3213483"/>
            <a:ext cx="1666845" cy="1693897"/>
          </a:xfrm>
          <a:prstGeom prst="ellipse">
            <a:avLst/>
          </a:prstGeom>
          <a:solidFill>
            <a:srgbClr val="2099D8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 Light"/>
              <a:ea typeface="+mn-ea"/>
              <a:cs typeface="+mn-cs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3516D7D-8F69-4104-BAD3-D09D8472BE33}"/>
              </a:ext>
            </a:extLst>
          </p:cNvPr>
          <p:cNvSpPr/>
          <p:nvPr/>
        </p:nvSpPr>
        <p:spPr>
          <a:xfrm>
            <a:off x="2413139" y="3213483"/>
            <a:ext cx="1619349" cy="1714501"/>
          </a:xfrm>
          <a:prstGeom prst="ellipse">
            <a:avLst/>
          </a:prstGeom>
          <a:solidFill>
            <a:srgbClr val="239CCE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0" cap="none" spc="0" normalizeH="0" baseline="0" noProof="0">
              <a:ln>
                <a:noFill/>
              </a:ln>
              <a:solidFill>
                <a:srgbClr val="57565A"/>
              </a:solidFill>
              <a:effectLst/>
              <a:uLnTx/>
              <a:uFillTx/>
              <a:latin typeface="Open Sans Light"/>
              <a:ea typeface="+mn-ea"/>
              <a:cs typeface="+mn-cs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71F5AE6-7881-4706-9BF1-96D20F7EAC47}"/>
              </a:ext>
            </a:extLst>
          </p:cNvPr>
          <p:cNvSpPr/>
          <p:nvPr/>
        </p:nvSpPr>
        <p:spPr>
          <a:xfrm>
            <a:off x="4195183" y="3225799"/>
            <a:ext cx="1619349" cy="1714500"/>
          </a:xfrm>
          <a:prstGeom prst="ellipse">
            <a:avLst/>
          </a:prstGeom>
          <a:solidFill>
            <a:srgbClr val="27A6C2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0" cap="none" spc="0" normalizeH="0" baseline="0" noProof="0">
              <a:ln>
                <a:noFill/>
              </a:ln>
              <a:solidFill>
                <a:srgbClr val="57565A"/>
              </a:solidFill>
              <a:effectLst/>
              <a:uLnTx/>
              <a:uFillTx/>
              <a:latin typeface="Open Sans Light"/>
              <a:ea typeface="+mn-ea"/>
              <a:cs typeface="+mn-cs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7F053A54-8755-451A-A3B9-2F1B925AB2FC}"/>
              </a:ext>
            </a:extLst>
          </p:cNvPr>
          <p:cNvSpPr/>
          <p:nvPr/>
        </p:nvSpPr>
        <p:spPr>
          <a:xfrm>
            <a:off x="5950240" y="3225799"/>
            <a:ext cx="1676506" cy="1681581"/>
          </a:xfrm>
          <a:prstGeom prst="ellipse">
            <a:avLst/>
          </a:prstGeom>
          <a:solidFill>
            <a:srgbClr val="25B7AB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rgbClr val="57565A"/>
              </a:solidFill>
              <a:effectLst/>
              <a:uLnTx/>
              <a:uFillTx/>
              <a:latin typeface="Open Sans Light"/>
              <a:ea typeface="+mn-ea"/>
              <a:cs typeface="+mn-cs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5D21FC3-1A36-4FDA-8A8A-CF8C7A8BD044}"/>
              </a:ext>
            </a:extLst>
          </p:cNvPr>
          <p:cNvSpPr/>
          <p:nvPr/>
        </p:nvSpPr>
        <p:spPr>
          <a:xfrm>
            <a:off x="7906543" y="3258717"/>
            <a:ext cx="1676501" cy="1648663"/>
          </a:xfrm>
          <a:prstGeom prst="ellipse">
            <a:avLst/>
          </a:prstGeom>
          <a:solidFill>
            <a:srgbClr val="5BBE77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rgbClr val="57565A"/>
              </a:solidFill>
              <a:effectLst/>
              <a:uLnTx/>
              <a:uFillTx/>
              <a:latin typeface="Open Sans Light"/>
              <a:ea typeface="+mn-ea"/>
              <a:cs typeface="+mn-cs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0C5061D-336F-4D2A-88C5-42BC08492FEC}"/>
              </a:ext>
            </a:extLst>
          </p:cNvPr>
          <p:cNvCxnSpPr/>
          <p:nvPr/>
        </p:nvCxnSpPr>
        <p:spPr>
          <a:xfrm flipH="1" flipV="1">
            <a:off x="1473054" y="2717799"/>
            <a:ext cx="0" cy="508000"/>
          </a:xfrm>
          <a:prstGeom prst="line">
            <a:avLst/>
          </a:prstGeom>
          <a:noFill/>
          <a:ln w="12700" cap="flat" cmpd="sng" algn="ctr">
            <a:solidFill>
              <a:srgbClr val="2099D8"/>
            </a:solidFill>
            <a:prstDash val="solid"/>
          </a:ln>
          <a:effectLst/>
        </p:spPr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AE87651-5491-494D-8DB9-F2B377BFC682}"/>
              </a:ext>
            </a:extLst>
          </p:cNvPr>
          <p:cNvCxnSpPr/>
          <p:nvPr/>
        </p:nvCxnSpPr>
        <p:spPr>
          <a:xfrm flipH="1" flipV="1">
            <a:off x="3237604" y="2705483"/>
            <a:ext cx="0" cy="508000"/>
          </a:xfrm>
          <a:prstGeom prst="line">
            <a:avLst/>
          </a:prstGeom>
          <a:noFill/>
          <a:ln w="12700" cap="flat" cmpd="sng" algn="ctr">
            <a:solidFill>
              <a:srgbClr val="239CCE"/>
            </a:solidFill>
            <a:prstDash val="solid"/>
          </a:ln>
          <a:effectLst/>
        </p:spPr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812150B-625B-47C8-9491-7E618A667781}"/>
              </a:ext>
            </a:extLst>
          </p:cNvPr>
          <p:cNvCxnSpPr/>
          <p:nvPr/>
        </p:nvCxnSpPr>
        <p:spPr>
          <a:xfrm flipH="1" flipV="1">
            <a:off x="5004858" y="2705483"/>
            <a:ext cx="0" cy="508000"/>
          </a:xfrm>
          <a:prstGeom prst="line">
            <a:avLst/>
          </a:prstGeom>
          <a:noFill/>
          <a:ln w="12700" cap="flat" cmpd="sng" algn="ctr">
            <a:solidFill>
              <a:srgbClr val="27A6C2"/>
            </a:solidFill>
            <a:prstDash val="solid"/>
          </a:ln>
          <a:effectLst/>
        </p:spPr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3350E92-088A-4B4D-BAF9-94804CC261D3}"/>
              </a:ext>
            </a:extLst>
          </p:cNvPr>
          <p:cNvCxnSpPr/>
          <p:nvPr/>
        </p:nvCxnSpPr>
        <p:spPr>
          <a:xfrm flipH="1" flipV="1">
            <a:off x="6821582" y="2717799"/>
            <a:ext cx="0" cy="508000"/>
          </a:xfrm>
          <a:prstGeom prst="line">
            <a:avLst/>
          </a:prstGeom>
          <a:noFill/>
          <a:ln w="12700" cap="flat" cmpd="sng" algn="ctr">
            <a:solidFill>
              <a:srgbClr val="5BBE77"/>
            </a:solidFill>
            <a:prstDash val="solid"/>
          </a:ln>
          <a:effectLst/>
        </p:spPr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A8BDC337-DF91-4120-AE94-6D2CF4885997}"/>
              </a:ext>
            </a:extLst>
          </p:cNvPr>
          <p:cNvCxnSpPr/>
          <p:nvPr/>
        </p:nvCxnSpPr>
        <p:spPr>
          <a:xfrm flipH="1" flipV="1">
            <a:off x="8751722" y="2717799"/>
            <a:ext cx="0" cy="508000"/>
          </a:xfrm>
          <a:prstGeom prst="line">
            <a:avLst/>
          </a:prstGeom>
          <a:noFill/>
          <a:ln w="12700" cap="flat" cmpd="sng" algn="ctr">
            <a:solidFill>
              <a:srgbClr val="7EC44E"/>
            </a:solidFill>
            <a:prstDash val="solid"/>
          </a:ln>
          <a:effectLst/>
        </p:spPr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8D52D6EF-8E71-49C6-8E73-76D4D94AE66C}"/>
              </a:ext>
            </a:extLst>
          </p:cNvPr>
          <p:cNvSpPr/>
          <p:nvPr/>
        </p:nvSpPr>
        <p:spPr>
          <a:xfrm>
            <a:off x="466848" y="3817035"/>
            <a:ext cx="198581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/>
            <a:r>
              <a:rPr lang="fr-FR" dirty="0">
                <a:solidFill>
                  <a:schemeClr val="bg1"/>
                </a:solidFill>
                <a:latin typeface="Open Sans Light"/>
              </a:rPr>
              <a:t>Contexte du projet</a:t>
            </a:r>
            <a:endParaRPr lang="en-US" dirty="0">
              <a:solidFill>
                <a:schemeClr val="bg1"/>
              </a:solidFill>
              <a:latin typeface="Open Sans Light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494212A-4E71-46B5-AE30-C31E5EC64785}"/>
              </a:ext>
            </a:extLst>
          </p:cNvPr>
          <p:cNvSpPr/>
          <p:nvPr/>
        </p:nvSpPr>
        <p:spPr>
          <a:xfrm>
            <a:off x="2278754" y="3827024"/>
            <a:ext cx="185927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/>
            <a:r>
              <a:rPr lang="fr-FR" dirty="0">
                <a:solidFill>
                  <a:schemeClr val="bg1"/>
                </a:solidFill>
                <a:latin typeface="Open Sans Light"/>
              </a:rPr>
              <a:t>Problématique</a:t>
            </a:r>
            <a:endParaRPr lang="en-US" dirty="0">
              <a:solidFill>
                <a:schemeClr val="bg1"/>
              </a:solidFill>
              <a:latin typeface="Open Sans Light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8EC4CF0-3915-4457-A4B9-65DE9ED7562D}"/>
              </a:ext>
            </a:extLst>
          </p:cNvPr>
          <p:cNvSpPr/>
          <p:nvPr/>
        </p:nvSpPr>
        <p:spPr>
          <a:xfrm>
            <a:off x="4032488" y="3839340"/>
            <a:ext cx="198581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/>
            <a:r>
              <a:rPr lang="fr-FR" dirty="0">
                <a:solidFill>
                  <a:schemeClr val="bg1"/>
                </a:solidFill>
                <a:latin typeface="Open Sans Light"/>
              </a:rPr>
              <a:t>Solution</a:t>
            </a:r>
            <a:endParaRPr lang="en-US" dirty="0">
              <a:solidFill>
                <a:schemeClr val="bg1"/>
              </a:solidFill>
              <a:latin typeface="Open Sans Light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E2662BC-2F00-4151-AD9E-E1F62F1F2AAB}"/>
              </a:ext>
            </a:extLst>
          </p:cNvPr>
          <p:cNvSpPr/>
          <p:nvPr/>
        </p:nvSpPr>
        <p:spPr>
          <a:xfrm>
            <a:off x="5770689" y="3839340"/>
            <a:ext cx="198581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/>
            <a:r>
              <a:rPr lang="fr-FR" dirty="0">
                <a:solidFill>
                  <a:schemeClr val="bg1"/>
                </a:solidFill>
                <a:latin typeface="Open Sans Light"/>
              </a:rPr>
              <a:t>Spécification</a:t>
            </a:r>
            <a:endParaRPr lang="en-US" dirty="0">
              <a:solidFill>
                <a:schemeClr val="bg1"/>
              </a:solidFill>
              <a:latin typeface="Open Sans Light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3E1BF41-DA6C-4F4A-8293-D4873192EE46}"/>
              </a:ext>
            </a:extLst>
          </p:cNvPr>
          <p:cNvSpPr/>
          <p:nvPr/>
        </p:nvSpPr>
        <p:spPr>
          <a:xfrm>
            <a:off x="7799077" y="3839340"/>
            <a:ext cx="198581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/>
            <a:r>
              <a:rPr lang="fr-FR" dirty="0">
                <a:solidFill>
                  <a:schemeClr val="bg1"/>
                </a:solidFill>
                <a:latin typeface="Open Sans Light"/>
              </a:rPr>
              <a:t>Conception</a:t>
            </a:r>
            <a:endParaRPr lang="en-US" dirty="0">
              <a:solidFill>
                <a:schemeClr val="bg1"/>
              </a:solidFill>
              <a:latin typeface="Open Sans Light"/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1BF2766E-F6D9-4FE7-AEBA-B32B85582A2C}"/>
              </a:ext>
            </a:extLst>
          </p:cNvPr>
          <p:cNvGrpSpPr/>
          <p:nvPr/>
        </p:nvGrpSpPr>
        <p:grpSpPr>
          <a:xfrm>
            <a:off x="627193" y="2311400"/>
            <a:ext cx="1764319" cy="406400"/>
            <a:chOff x="685800" y="1733550"/>
            <a:chExt cx="1595578" cy="304800"/>
          </a:xfrm>
        </p:grpSpPr>
        <p:sp>
          <p:nvSpPr>
            <p:cNvPr id="36" name="Chevron 91">
              <a:extLst>
                <a:ext uri="{FF2B5EF4-FFF2-40B4-BE49-F238E27FC236}">
                  <a16:creationId xmlns:a16="http://schemas.microsoft.com/office/drawing/2014/main" id="{CE9EBFC7-A3AE-4E2E-9897-02D43F786447}"/>
                </a:ext>
              </a:extLst>
            </p:cNvPr>
            <p:cNvSpPr/>
            <p:nvPr/>
          </p:nvSpPr>
          <p:spPr>
            <a:xfrm>
              <a:off x="685800" y="1733550"/>
              <a:ext cx="1595578" cy="304800"/>
            </a:xfrm>
            <a:prstGeom prst="chevron">
              <a:avLst>
                <a:gd name="adj" fmla="val 32323"/>
              </a:avLst>
            </a:prstGeom>
            <a:solidFill>
              <a:srgbClr val="2099D8"/>
            </a:solidFill>
            <a:ln w="381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1917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b="0" i="0" u="none" strike="noStrike" kern="0" cap="none" spc="0" normalizeH="0" baseline="0" noProof="0">
                <a:ln>
                  <a:noFill/>
                </a:ln>
                <a:solidFill>
                  <a:srgbClr val="57565A"/>
                </a:solidFill>
                <a:effectLst/>
                <a:uLnTx/>
                <a:uFillTx/>
                <a:latin typeface="Open Sans Light"/>
                <a:ea typeface="+mn-ea"/>
                <a:cs typeface="+mn-cs"/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D499C662-68A4-47D6-8574-39178CE6A23D}"/>
                </a:ext>
              </a:extLst>
            </p:cNvPr>
            <p:cNvSpPr/>
            <p:nvPr/>
          </p:nvSpPr>
          <p:spPr>
            <a:xfrm>
              <a:off x="1440292" y="1833416"/>
              <a:ext cx="86594" cy="86594"/>
            </a:xfrm>
            <a:prstGeom prst="ellipse">
              <a:avLst/>
            </a:prstGeom>
            <a:solidFill>
              <a:sysClr val="window" lastClr="FFFFFF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1917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 Light"/>
                <a:ea typeface="+mn-ea"/>
                <a:cs typeface="+mn-cs"/>
              </a:endParaRPr>
            </a:p>
          </p:txBody>
        </p:sp>
      </p:grpSp>
      <p:sp>
        <p:nvSpPr>
          <p:cNvPr id="38" name="Oval 37">
            <a:extLst>
              <a:ext uri="{FF2B5EF4-FFF2-40B4-BE49-F238E27FC236}">
                <a16:creationId xmlns:a16="http://schemas.microsoft.com/office/drawing/2014/main" id="{A2F63CB6-3DEC-46D4-8304-BF23A7AAEF6B}"/>
              </a:ext>
            </a:extLst>
          </p:cNvPr>
          <p:cNvSpPr/>
          <p:nvPr/>
        </p:nvSpPr>
        <p:spPr>
          <a:xfrm>
            <a:off x="9894223" y="3258717"/>
            <a:ext cx="1658876" cy="1648664"/>
          </a:xfrm>
          <a:prstGeom prst="ellipse">
            <a:avLst/>
          </a:prstGeom>
          <a:solidFill>
            <a:srgbClr val="388C50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rgbClr val="57565A"/>
              </a:solidFill>
              <a:effectLst/>
              <a:uLnTx/>
              <a:uFillTx/>
              <a:latin typeface="Open Sans Light"/>
              <a:ea typeface="+mn-ea"/>
              <a:cs typeface="+mn-cs"/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3A975991-4F8F-4DE9-B5A1-E5E77FD35FB5}"/>
              </a:ext>
            </a:extLst>
          </p:cNvPr>
          <p:cNvGrpSpPr/>
          <p:nvPr/>
        </p:nvGrpSpPr>
        <p:grpSpPr>
          <a:xfrm>
            <a:off x="9704368" y="2299083"/>
            <a:ext cx="1985814" cy="406400"/>
            <a:chOff x="6862622" y="1733550"/>
            <a:chExt cx="1595578" cy="304800"/>
          </a:xfrm>
          <a:solidFill>
            <a:srgbClr val="388C50"/>
          </a:solidFill>
        </p:grpSpPr>
        <p:sp>
          <p:nvSpPr>
            <p:cNvPr id="41" name="Chevron 57">
              <a:extLst>
                <a:ext uri="{FF2B5EF4-FFF2-40B4-BE49-F238E27FC236}">
                  <a16:creationId xmlns:a16="http://schemas.microsoft.com/office/drawing/2014/main" id="{717DA762-044E-4EAB-978F-05204C3FF4B4}"/>
                </a:ext>
              </a:extLst>
            </p:cNvPr>
            <p:cNvSpPr/>
            <p:nvPr/>
          </p:nvSpPr>
          <p:spPr>
            <a:xfrm>
              <a:off x="6862622" y="1733550"/>
              <a:ext cx="1595578" cy="304800"/>
            </a:xfrm>
            <a:prstGeom prst="chevron">
              <a:avLst>
                <a:gd name="adj" fmla="val 32323"/>
              </a:avLst>
            </a:prstGeom>
            <a:grpFill/>
            <a:ln w="381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1917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b="0" i="0" u="none" strike="noStrike" kern="0" cap="none" spc="0" normalizeH="0" baseline="0" noProof="0">
                <a:ln>
                  <a:noFill/>
                </a:ln>
                <a:solidFill>
                  <a:srgbClr val="57565A"/>
                </a:solidFill>
                <a:effectLst/>
                <a:uLnTx/>
                <a:uFillTx/>
                <a:latin typeface="Open Sans Light"/>
                <a:ea typeface="+mn-ea"/>
                <a:cs typeface="+mn-cs"/>
              </a:endParaRPr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C72FE12B-978F-41B1-B084-A83C6F14C4B0}"/>
                </a:ext>
              </a:extLst>
            </p:cNvPr>
            <p:cNvSpPr/>
            <p:nvPr/>
          </p:nvSpPr>
          <p:spPr>
            <a:xfrm>
              <a:off x="7617114" y="1833416"/>
              <a:ext cx="86594" cy="86594"/>
            </a:xfrm>
            <a:prstGeom prst="ellipse">
              <a:avLst/>
            </a:prstGeom>
            <a:grpFill/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1917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b="0" i="0" u="none" strike="noStrike" kern="0" cap="none" spc="0" normalizeH="0" baseline="0" noProof="0">
                <a:ln>
                  <a:noFill/>
                </a:ln>
                <a:solidFill>
                  <a:srgbClr val="57565A"/>
                </a:solidFill>
                <a:effectLst/>
                <a:uLnTx/>
                <a:uFillTx/>
                <a:latin typeface="Open Sans Light"/>
                <a:ea typeface="+mn-ea"/>
                <a:cs typeface="+mn-cs"/>
              </a:endParaRPr>
            </a:p>
          </p:txBody>
        </p:sp>
      </p:grpSp>
      <p:sp>
        <p:nvSpPr>
          <p:cNvPr id="43" name="Rectangle 42">
            <a:extLst>
              <a:ext uri="{FF2B5EF4-FFF2-40B4-BE49-F238E27FC236}">
                <a16:creationId xmlns:a16="http://schemas.microsoft.com/office/drawing/2014/main" id="{F77649BE-14B3-4DC5-922E-C1079D75326A}"/>
              </a:ext>
            </a:extLst>
          </p:cNvPr>
          <p:cNvSpPr/>
          <p:nvPr/>
        </p:nvSpPr>
        <p:spPr>
          <a:xfrm>
            <a:off x="9758255" y="3832917"/>
            <a:ext cx="198581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/>
            <a:r>
              <a:rPr lang="fr-FR" dirty="0">
                <a:solidFill>
                  <a:schemeClr val="bg1"/>
                </a:solidFill>
                <a:latin typeface="Open Sans Light"/>
              </a:rPr>
              <a:t>Etat d’avancement</a:t>
            </a:r>
            <a:endParaRPr lang="en-US" dirty="0">
              <a:solidFill>
                <a:schemeClr val="bg1"/>
              </a:solidFill>
              <a:latin typeface="Open Sans Light"/>
            </a:endParaRP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57ED3B68-41FD-4138-BE86-65DE1A59FF5F}"/>
              </a:ext>
            </a:extLst>
          </p:cNvPr>
          <p:cNvCxnSpPr/>
          <p:nvPr/>
        </p:nvCxnSpPr>
        <p:spPr>
          <a:xfrm flipH="1" flipV="1">
            <a:off x="10697275" y="2711937"/>
            <a:ext cx="0" cy="508000"/>
          </a:xfrm>
          <a:prstGeom prst="line">
            <a:avLst/>
          </a:prstGeom>
          <a:noFill/>
          <a:ln w="12700" cap="flat" cmpd="sng" algn="ctr">
            <a:solidFill>
              <a:srgbClr val="7EC44E"/>
            </a:solidFill>
            <a:prstDash val="solid"/>
          </a:ln>
          <a:effectLst/>
        </p:spPr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42FBAFAE-D451-4940-B612-F0D5FE6B5141}"/>
              </a:ext>
            </a:extLst>
          </p:cNvPr>
          <p:cNvSpPr/>
          <p:nvPr/>
        </p:nvSpPr>
        <p:spPr>
          <a:xfrm>
            <a:off x="10613645" y="2447490"/>
            <a:ext cx="115459" cy="115459"/>
          </a:xfrm>
          <a:prstGeom prst="ellipse">
            <a:avLst/>
          </a:prstGeom>
          <a:solidFill>
            <a:sysClr val="window" lastClr="FFFFFF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0" cap="none" spc="0" normalizeH="0" baseline="0" noProof="0">
              <a:ln>
                <a:noFill/>
              </a:ln>
              <a:solidFill>
                <a:srgbClr val="57565A"/>
              </a:solidFill>
              <a:effectLst/>
              <a:uLnTx/>
              <a:uFillTx/>
              <a:latin typeface="Open Sans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200166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88D25-FCA8-40C3-89E9-976E28DCB7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6688" y="2448734"/>
            <a:ext cx="10706099" cy="980266"/>
          </a:xfrm>
          <a:solidFill>
            <a:srgbClr val="C00000"/>
          </a:solidFill>
        </p:spPr>
        <p:txBody>
          <a:bodyPr anchor="ctr"/>
          <a:lstStyle/>
          <a:p>
            <a:r>
              <a:rPr lang="fr-FR" sz="3600" dirty="0">
                <a:solidFill>
                  <a:schemeClr val="bg1"/>
                </a:solidFill>
              </a:rPr>
              <a:t>Contexte de projet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F2DB350-ECCE-49D2-9854-CE63BA543854}"/>
              </a:ext>
            </a:extLst>
          </p:cNvPr>
          <p:cNvCxnSpPr>
            <a:cxnSpLocks/>
          </p:cNvCxnSpPr>
          <p:nvPr/>
        </p:nvCxnSpPr>
        <p:spPr>
          <a:xfrm>
            <a:off x="606688" y="3521988"/>
            <a:ext cx="10706098" cy="0"/>
          </a:xfrm>
          <a:prstGeom prst="line">
            <a:avLst/>
          </a:prstGeom>
          <a:ln w="952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30043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5D02FEE-9801-4442-B506-533992494F24}"/>
              </a:ext>
            </a:extLst>
          </p:cNvPr>
          <p:cNvSpPr/>
          <p:nvPr/>
        </p:nvSpPr>
        <p:spPr>
          <a:xfrm>
            <a:off x="293613" y="226902"/>
            <a:ext cx="10570129" cy="540767"/>
          </a:xfrm>
          <a:prstGeom prst="rect">
            <a:avLst/>
          </a:prstGeom>
          <a:solidFill>
            <a:srgbClr val="4CA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1C878262-A16B-4BAE-9A0E-F2913BA16CAC}"/>
              </a:ext>
            </a:extLst>
          </p:cNvPr>
          <p:cNvSpPr txBox="1">
            <a:spLocks/>
          </p:cNvSpPr>
          <p:nvPr/>
        </p:nvSpPr>
        <p:spPr>
          <a:xfrm>
            <a:off x="-94614" y="251597"/>
            <a:ext cx="6369577" cy="45098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en-GB" sz="3000" b="0" kern="1200" cap="all" baseline="0" noProof="0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fr-FR" cap="none" dirty="0">
                <a:solidFill>
                  <a:schemeClr val="bg1"/>
                </a:solidFill>
                <a:latin typeface="CIDFont+F3"/>
              </a:rPr>
              <a:t>Contexte du projet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1D1279B-8460-41BB-9AB7-98FC548C2B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671" y="1090569"/>
            <a:ext cx="10570129" cy="4798504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A2A7181-2777-443E-925D-CCDD796E86E1}"/>
              </a:ext>
            </a:extLst>
          </p:cNvPr>
          <p:cNvSpPr/>
          <p:nvPr/>
        </p:nvSpPr>
        <p:spPr>
          <a:xfrm>
            <a:off x="947956" y="1652630"/>
            <a:ext cx="2449585" cy="1635853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3A93C9E-3632-4CC8-A0A2-60A9A3754748}"/>
              </a:ext>
            </a:extLst>
          </p:cNvPr>
          <p:cNvCxnSpPr>
            <a:cxnSpLocks/>
          </p:cNvCxnSpPr>
          <p:nvPr/>
        </p:nvCxnSpPr>
        <p:spPr>
          <a:xfrm flipH="1" flipV="1">
            <a:off x="3523376" y="2822692"/>
            <a:ext cx="1024332" cy="465791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9D76AC15-FD39-4E0E-9AD0-54414BADAF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5816" y="1645956"/>
            <a:ext cx="657225" cy="65722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8B083AA-7FE3-41A5-9D98-36F0CCA1F83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0953" y="4369222"/>
            <a:ext cx="1495425" cy="86677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CD3F25C-6611-45BF-BCCD-86C46143513E}"/>
              </a:ext>
            </a:extLst>
          </p:cNvPr>
          <p:cNvSpPr txBox="1"/>
          <p:nvPr/>
        </p:nvSpPr>
        <p:spPr>
          <a:xfrm>
            <a:off x="3999600" y="3298148"/>
            <a:ext cx="1096216" cy="595618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pPr algn="ctr"/>
            <a:r>
              <a:rPr lang="fr-FR" sz="1100" b="1" dirty="0">
                <a:solidFill>
                  <a:srgbClr val="FF0000"/>
                </a:solidFill>
              </a:rPr>
              <a:t>Elément qui nous intéresse</a:t>
            </a:r>
          </a:p>
        </p:txBody>
      </p:sp>
    </p:spTree>
    <p:extLst>
      <p:ext uri="{BB962C8B-B14F-4D97-AF65-F5344CB8AC3E}">
        <p14:creationId xmlns:p14="http://schemas.microsoft.com/office/powerpoint/2010/main" val="3557983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E8DF214-E6AD-416E-AB92-25BBB0C24BDF}"/>
              </a:ext>
            </a:extLst>
          </p:cNvPr>
          <p:cNvSpPr/>
          <p:nvPr/>
        </p:nvSpPr>
        <p:spPr>
          <a:xfrm>
            <a:off x="360725" y="251597"/>
            <a:ext cx="10570129" cy="540767"/>
          </a:xfrm>
          <a:prstGeom prst="rect">
            <a:avLst/>
          </a:prstGeom>
          <a:solidFill>
            <a:srgbClr val="4CA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2D4EB3D-FCB2-4147-8884-8C1C2A5EDB21}"/>
              </a:ext>
            </a:extLst>
          </p:cNvPr>
          <p:cNvSpPr txBox="1">
            <a:spLocks/>
          </p:cNvSpPr>
          <p:nvPr/>
        </p:nvSpPr>
        <p:spPr>
          <a:xfrm>
            <a:off x="203462" y="296489"/>
            <a:ext cx="5442327" cy="45098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en-GB" sz="3000" b="0" kern="1200" cap="all" baseline="0" noProof="0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fr-FR" cap="none" dirty="0">
                <a:solidFill>
                  <a:schemeClr val="bg1"/>
                </a:solidFill>
                <a:latin typeface="CIDFont+F3"/>
              </a:rPr>
              <a:t>Contexte du projet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C7DB99-95AC-4541-A161-3D72C4FFFA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935" y="1112981"/>
            <a:ext cx="9481381" cy="463203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86513B0-5F50-46AC-820D-DE017990DC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9958" y="2264734"/>
            <a:ext cx="6998941" cy="3668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826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E8DF214-E6AD-416E-AB92-25BBB0C24BDF}"/>
              </a:ext>
            </a:extLst>
          </p:cNvPr>
          <p:cNvSpPr/>
          <p:nvPr/>
        </p:nvSpPr>
        <p:spPr>
          <a:xfrm>
            <a:off x="360725" y="251597"/>
            <a:ext cx="10570129" cy="540767"/>
          </a:xfrm>
          <a:prstGeom prst="rect">
            <a:avLst/>
          </a:prstGeom>
          <a:solidFill>
            <a:srgbClr val="4CA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2D4EB3D-FCB2-4147-8884-8C1C2A5EDB21}"/>
              </a:ext>
            </a:extLst>
          </p:cNvPr>
          <p:cNvSpPr txBox="1">
            <a:spLocks/>
          </p:cNvSpPr>
          <p:nvPr/>
        </p:nvSpPr>
        <p:spPr>
          <a:xfrm>
            <a:off x="203462" y="296489"/>
            <a:ext cx="5442327" cy="45098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en-GB" sz="3000" b="0" kern="1200" cap="all" baseline="0" noProof="0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fr-FR" cap="none" dirty="0">
                <a:solidFill>
                  <a:schemeClr val="bg1"/>
                </a:solidFill>
                <a:latin typeface="CIDFont+F3"/>
              </a:rPr>
              <a:t>Contexte du projet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C7DB99-95AC-4541-A161-3D72C4FFFA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270" y="1426129"/>
            <a:ext cx="9125023" cy="428533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1052214-926E-4F85-8330-C7D6299C95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3370" y="2390862"/>
            <a:ext cx="7245291" cy="3473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4970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88D25-FCA8-40C3-89E9-976E28DCB7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6688" y="2448734"/>
            <a:ext cx="10706099" cy="980266"/>
          </a:xfrm>
          <a:solidFill>
            <a:srgbClr val="C00000"/>
          </a:solidFill>
        </p:spPr>
        <p:txBody>
          <a:bodyPr anchor="ctr"/>
          <a:lstStyle/>
          <a:p>
            <a:r>
              <a:rPr lang="fr-FR" sz="3600" dirty="0">
                <a:solidFill>
                  <a:schemeClr val="bg1"/>
                </a:solidFill>
              </a:rPr>
              <a:t>Problématique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F2DB350-ECCE-49D2-9854-CE63BA543854}"/>
              </a:ext>
            </a:extLst>
          </p:cNvPr>
          <p:cNvCxnSpPr>
            <a:cxnSpLocks/>
          </p:cNvCxnSpPr>
          <p:nvPr/>
        </p:nvCxnSpPr>
        <p:spPr>
          <a:xfrm>
            <a:off x="606688" y="3521988"/>
            <a:ext cx="10706098" cy="0"/>
          </a:xfrm>
          <a:prstGeom prst="line">
            <a:avLst/>
          </a:prstGeom>
          <a:ln w="952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13217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0000EAA-3D18-447B-891A-6069A62EE130}"/>
              </a:ext>
            </a:extLst>
          </p:cNvPr>
          <p:cNvSpPr/>
          <p:nvPr/>
        </p:nvSpPr>
        <p:spPr>
          <a:xfrm>
            <a:off x="360725" y="251597"/>
            <a:ext cx="10939246" cy="540767"/>
          </a:xfrm>
          <a:prstGeom prst="rect">
            <a:avLst/>
          </a:prstGeom>
          <a:solidFill>
            <a:srgbClr val="4CA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CE9A49A-E761-462E-BA41-E94065D97B7A}"/>
              </a:ext>
            </a:extLst>
          </p:cNvPr>
          <p:cNvSpPr txBox="1">
            <a:spLocks/>
          </p:cNvSpPr>
          <p:nvPr/>
        </p:nvSpPr>
        <p:spPr>
          <a:xfrm>
            <a:off x="203462" y="296489"/>
            <a:ext cx="5442327" cy="45098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en-GB" sz="3000" b="0" kern="1200" cap="all" baseline="0" noProof="0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fr-FR" cap="none" dirty="0">
                <a:solidFill>
                  <a:schemeClr val="bg1"/>
                </a:solidFill>
                <a:latin typeface="CIDFont+F3"/>
              </a:rPr>
              <a:t>Problématique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2522497-373A-4F92-827D-0C12FFCE9A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1737" y="1075540"/>
            <a:ext cx="961840" cy="106978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EBAD4F8-2C3A-47A2-A38F-1D8CB471F615}"/>
              </a:ext>
            </a:extLst>
          </p:cNvPr>
          <p:cNvSpPr/>
          <p:nvPr/>
        </p:nvSpPr>
        <p:spPr>
          <a:xfrm>
            <a:off x="604680" y="988768"/>
            <a:ext cx="9518709" cy="671915"/>
          </a:xfrm>
          <a:prstGeom prst="rect">
            <a:avLst/>
          </a:prstGeom>
          <a:ln>
            <a:solidFill>
              <a:srgbClr val="4CA1F4"/>
            </a:solidFill>
          </a:ln>
        </p:spPr>
        <p:txBody>
          <a:bodyPr wrap="square">
            <a:spAutoFit/>
          </a:bodyPr>
          <a:lstStyle/>
          <a:p>
            <a:r>
              <a:rPr lang="fr-FR" dirty="0">
                <a:latin typeface="CIDFont+F3"/>
              </a:rPr>
              <a:t>La problématique du service de </a:t>
            </a:r>
            <a:r>
              <a:rPr lang="fr-FR" dirty="0" err="1">
                <a:latin typeface="CIDFont+F3"/>
              </a:rPr>
              <a:t>scaling</a:t>
            </a:r>
            <a:r>
              <a:rPr lang="fr-FR" dirty="0">
                <a:latin typeface="CIDFont+F3"/>
              </a:rPr>
              <a:t> existant réside dans le choix manuel des Configurations, fait par l’équipe </a:t>
            </a:r>
            <a:r>
              <a:rPr lang="fr-FR" dirty="0" err="1">
                <a:latin typeface="CIDFont+F3"/>
              </a:rPr>
              <a:t>CloudOps</a:t>
            </a:r>
            <a:r>
              <a:rPr lang="fr-FR" dirty="0">
                <a:latin typeface="CIDFont+F3"/>
              </a:rPr>
              <a:t>. Ce choix manuel cause les problèmes suivants :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A744B4-B78A-45A3-8AA3-B9CFEAFB9DDA}"/>
              </a:ext>
            </a:extLst>
          </p:cNvPr>
          <p:cNvSpPr/>
          <p:nvPr/>
        </p:nvSpPr>
        <p:spPr>
          <a:xfrm>
            <a:off x="953545" y="1897987"/>
            <a:ext cx="9518709" cy="369332"/>
          </a:xfrm>
          <a:prstGeom prst="rect">
            <a:avLst/>
          </a:prstGeom>
          <a:ln>
            <a:solidFill>
              <a:srgbClr val="4CA1F4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fr-FR" dirty="0">
                <a:latin typeface="CIDFont+F3"/>
              </a:rPr>
              <a:t>Une configuration générée par l’être humain =&gt; aucun milieu de test avant la mise en production;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3558E27-422A-4576-BB64-B6083A0502F3}"/>
              </a:ext>
            </a:extLst>
          </p:cNvPr>
          <p:cNvSpPr/>
          <p:nvPr/>
        </p:nvSpPr>
        <p:spPr>
          <a:xfrm>
            <a:off x="953545" y="2402392"/>
            <a:ext cx="9518709" cy="923330"/>
          </a:xfrm>
          <a:prstGeom prst="rect">
            <a:avLst/>
          </a:prstGeom>
          <a:ln>
            <a:solidFill>
              <a:srgbClr val="4CA1F4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fr-FR" dirty="0">
                <a:latin typeface="CIDFont+F3"/>
              </a:rPr>
              <a:t>Une charge  non supportées par le service au cas d’une configuration minimale, </a:t>
            </a:r>
            <a:r>
              <a:rPr lang="fr-FR" dirty="0" err="1">
                <a:latin typeface="CIDFont+F3"/>
              </a:rPr>
              <a:t>cce</a:t>
            </a:r>
            <a:r>
              <a:rPr lang="fr-FR" dirty="0">
                <a:latin typeface="CIDFont+F3"/>
              </a:rPr>
              <a:t> qui engendre un temps de réponse non satisfaisant pour le client;</a:t>
            </a:r>
          </a:p>
          <a:p>
            <a:endParaRPr lang="fr-FR" dirty="0">
              <a:latin typeface="CIDFont+F3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F7E7F6A-6438-4E9F-9EBD-E83BD9012BEC}"/>
              </a:ext>
            </a:extLst>
          </p:cNvPr>
          <p:cNvSpPr/>
          <p:nvPr/>
        </p:nvSpPr>
        <p:spPr>
          <a:xfrm>
            <a:off x="1070993" y="3513614"/>
            <a:ext cx="9518709" cy="646331"/>
          </a:xfrm>
          <a:prstGeom prst="rect">
            <a:avLst/>
          </a:prstGeom>
          <a:ln>
            <a:solidFill>
              <a:srgbClr val="4CA1F4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fr-FR" dirty="0">
                <a:latin typeface="CIDFont+F3"/>
              </a:rPr>
              <a:t>Un coût de déploiement sur le cloud très élevé, au cas d’une configuration gourmande en terme de </a:t>
            </a:r>
            <a:r>
              <a:rPr lang="fr-FR" dirty="0" err="1">
                <a:latin typeface="CIDFont+F3"/>
              </a:rPr>
              <a:t>workers</a:t>
            </a:r>
            <a:r>
              <a:rPr lang="fr-FR" dirty="0">
                <a:latin typeface="CIDFont+F3"/>
              </a:rPr>
              <a:t>;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FAA3294-E900-462A-801C-96329DFA04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9570" y="4381933"/>
            <a:ext cx="4875537" cy="2110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670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0" grpId="0" animBg="1"/>
      <p:bldP spid="1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88D25-FCA8-40C3-89E9-976E28DCB7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6688" y="2448734"/>
            <a:ext cx="10706099" cy="980266"/>
          </a:xfrm>
          <a:solidFill>
            <a:srgbClr val="C00000"/>
          </a:solidFill>
        </p:spPr>
        <p:txBody>
          <a:bodyPr anchor="ctr"/>
          <a:lstStyle/>
          <a:p>
            <a:r>
              <a:rPr lang="fr-FR" sz="3600" dirty="0">
                <a:solidFill>
                  <a:schemeClr val="bg1"/>
                </a:solidFill>
              </a:rPr>
              <a:t>Solution proposée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F2DB350-ECCE-49D2-9854-CE63BA543854}"/>
              </a:ext>
            </a:extLst>
          </p:cNvPr>
          <p:cNvCxnSpPr>
            <a:cxnSpLocks/>
          </p:cNvCxnSpPr>
          <p:nvPr/>
        </p:nvCxnSpPr>
        <p:spPr>
          <a:xfrm>
            <a:off x="606688" y="3521988"/>
            <a:ext cx="10706098" cy="0"/>
          </a:xfrm>
          <a:prstGeom prst="line">
            <a:avLst/>
          </a:prstGeom>
          <a:ln w="952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23270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76E6907-B92E-4BC7-96AF-2142B503118A}"/>
              </a:ext>
            </a:extLst>
          </p:cNvPr>
          <p:cNvSpPr/>
          <p:nvPr/>
        </p:nvSpPr>
        <p:spPr>
          <a:xfrm>
            <a:off x="360725" y="251597"/>
            <a:ext cx="10570129" cy="540767"/>
          </a:xfrm>
          <a:prstGeom prst="rect">
            <a:avLst/>
          </a:prstGeom>
          <a:solidFill>
            <a:srgbClr val="4CA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6FAB43F-6E59-4313-BA21-A653AA6BF56E}"/>
              </a:ext>
            </a:extLst>
          </p:cNvPr>
          <p:cNvSpPr txBox="1">
            <a:spLocks/>
          </p:cNvSpPr>
          <p:nvPr/>
        </p:nvSpPr>
        <p:spPr>
          <a:xfrm>
            <a:off x="203462" y="296489"/>
            <a:ext cx="5442327" cy="45098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en-GB" sz="3000" b="0" kern="1200" cap="all" baseline="0" noProof="0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fr-FR" cap="none" dirty="0">
                <a:solidFill>
                  <a:schemeClr val="bg1"/>
                </a:solidFill>
                <a:latin typeface="CIDFont+F3"/>
              </a:rPr>
              <a:t>Solution proposée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8143C38-9D89-4981-8023-FB7087E69C89}"/>
              </a:ext>
            </a:extLst>
          </p:cNvPr>
          <p:cNvSpPr txBox="1"/>
          <p:nvPr/>
        </p:nvSpPr>
        <p:spPr>
          <a:xfrm>
            <a:off x="1033297" y="1136053"/>
            <a:ext cx="8604200" cy="373945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r>
              <a:rPr lang="fr-FR" dirty="0">
                <a:latin typeface="CIDFont+F3"/>
              </a:rPr>
              <a:t>La création d’un simulateur de charge du service de </a:t>
            </a:r>
            <a:r>
              <a:rPr lang="fr-FR" dirty="0" err="1">
                <a:latin typeface="CIDFont+F3"/>
              </a:rPr>
              <a:t>Scaling</a:t>
            </a:r>
            <a:r>
              <a:rPr lang="fr-FR" dirty="0">
                <a:latin typeface="CIDFont+F3"/>
              </a:rPr>
              <a:t> dans le but de :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fr-FR" dirty="0">
              <a:latin typeface="CIDFont+F3"/>
            </a:endParaRPr>
          </a:p>
          <a:p>
            <a:pPr lvl="1"/>
            <a:r>
              <a:rPr lang="fr-FR" dirty="0">
                <a:latin typeface="CIDFont+F3"/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fr-FR" dirty="0">
              <a:latin typeface="CIDFont+F3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latin typeface="CIDFont+F3"/>
            </a:endParaRPr>
          </a:p>
          <a:p>
            <a:pPr lvl="1"/>
            <a:endParaRPr lang="fr-FR" sz="1100" b="1" dirty="0"/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fr-FR" sz="1600" dirty="0"/>
          </a:p>
          <a:p>
            <a:r>
              <a:rPr lang="fr-FR" sz="1600" dirty="0"/>
              <a:t> </a:t>
            </a:r>
            <a:endParaRPr lang="fr-FR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A380C4C-4771-43BE-B8FB-3BFF2C398AB0}"/>
              </a:ext>
            </a:extLst>
          </p:cNvPr>
          <p:cNvSpPr/>
          <p:nvPr/>
        </p:nvSpPr>
        <p:spPr>
          <a:xfrm>
            <a:off x="8539993" y="1686187"/>
            <a:ext cx="3087148" cy="1585798"/>
          </a:xfrm>
          <a:prstGeom prst="ellipse">
            <a:avLst/>
          </a:prstGeom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>
                <a:latin typeface="CIDFont+F3"/>
              </a:rPr>
              <a:t>Simuler le fonctionnement du service de </a:t>
            </a:r>
            <a:r>
              <a:rPr lang="fr-FR" sz="1600" dirty="0" err="1">
                <a:latin typeface="CIDFont+F3"/>
              </a:rPr>
              <a:t>scaling</a:t>
            </a:r>
            <a:endParaRPr lang="fr-FR" sz="1600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6BCA4B6-013F-4823-80A1-71F724C7146F}"/>
              </a:ext>
            </a:extLst>
          </p:cNvPr>
          <p:cNvSpPr/>
          <p:nvPr/>
        </p:nvSpPr>
        <p:spPr>
          <a:xfrm>
            <a:off x="1160080" y="3479231"/>
            <a:ext cx="2986035" cy="1894656"/>
          </a:xfrm>
          <a:prstGeom prst="ellipse">
            <a:avLst/>
          </a:prstGeom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1600" dirty="0">
                <a:latin typeface="CIDFont+F3"/>
              </a:rPr>
              <a:t>Tester la configuration dans un milieu hors production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EACBE6A9-FE2C-432E-8E51-386BEBBE4F30}"/>
              </a:ext>
            </a:extLst>
          </p:cNvPr>
          <p:cNvSpPr/>
          <p:nvPr/>
        </p:nvSpPr>
        <p:spPr>
          <a:xfrm>
            <a:off x="8684761" y="3429001"/>
            <a:ext cx="2942379" cy="1944886"/>
          </a:xfrm>
          <a:prstGeom prst="ellipse">
            <a:avLst/>
          </a:prstGeom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>
                <a:latin typeface="CIDFont+F3"/>
              </a:rPr>
              <a:t>Evaluer la qualité de déploiement de la configuration</a:t>
            </a:r>
            <a:endParaRPr lang="fr-FR" sz="1600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8EE2340-57A1-404E-A7C9-CFC0F001F9B1}"/>
              </a:ext>
            </a:extLst>
          </p:cNvPr>
          <p:cNvSpPr/>
          <p:nvPr/>
        </p:nvSpPr>
        <p:spPr>
          <a:xfrm>
            <a:off x="1160080" y="1792970"/>
            <a:ext cx="3263064" cy="1479015"/>
          </a:xfrm>
          <a:prstGeom prst="ellipse">
            <a:avLst/>
          </a:prstGeom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>
                <a:latin typeface="CIDFont+F3"/>
              </a:rPr>
              <a:t>Calculer les métriques Cloud relatives à une configuration</a:t>
            </a:r>
            <a:endParaRPr lang="fr-FR" sz="1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A595D5-C6ED-4635-B2EE-A412ACDF9E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8308" y="2325543"/>
            <a:ext cx="2187539" cy="2307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669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" grpId="0" animBg="1"/>
      <p:bldP spid="20" grpId="0" animBg="1"/>
      <p:bldP spid="21" grpId="0" animBg="1"/>
      <p:bldP spid="2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76E6907-B92E-4BC7-96AF-2142B503118A}"/>
              </a:ext>
            </a:extLst>
          </p:cNvPr>
          <p:cNvSpPr/>
          <p:nvPr/>
        </p:nvSpPr>
        <p:spPr>
          <a:xfrm>
            <a:off x="360725" y="251597"/>
            <a:ext cx="10570129" cy="540767"/>
          </a:xfrm>
          <a:prstGeom prst="rect">
            <a:avLst/>
          </a:prstGeom>
          <a:solidFill>
            <a:srgbClr val="4CA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6FAB43F-6E59-4313-BA21-A653AA6BF56E}"/>
              </a:ext>
            </a:extLst>
          </p:cNvPr>
          <p:cNvSpPr txBox="1">
            <a:spLocks/>
          </p:cNvSpPr>
          <p:nvPr/>
        </p:nvSpPr>
        <p:spPr>
          <a:xfrm>
            <a:off x="203462" y="296489"/>
            <a:ext cx="5442327" cy="45098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en-GB" sz="3000" b="0" kern="1200" cap="all" baseline="0" noProof="0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fr-FR" cap="none" dirty="0">
                <a:solidFill>
                  <a:schemeClr val="bg1"/>
                </a:solidFill>
                <a:latin typeface="CIDFont+F3"/>
              </a:rPr>
              <a:t>Solution proposée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7435DE-CD16-4C13-8C31-1396134E51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137" y="959556"/>
            <a:ext cx="10267609" cy="5646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9968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88D25-FCA8-40C3-89E9-976E28DCB7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6688" y="2448734"/>
            <a:ext cx="10706099" cy="980266"/>
          </a:xfrm>
          <a:solidFill>
            <a:srgbClr val="C00000"/>
          </a:solidFill>
        </p:spPr>
        <p:txBody>
          <a:bodyPr anchor="ctr"/>
          <a:lstStyle/>
          <a:p>
            <a:r>
              <a:rPr lang="fr-FR" sz="3600" cap="none" dirty="0">
                <a:solidFill>
                  <a:schemeClr val="bg1"/>
                </a:solidFill>
              </a:rPr>
              <a:t>Spécifications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F2DB350-ECCE-49D2-9854-CE63BA543854}"/>
              </a:ext>
            </a:extLst>
          </p:cNvPr>
          <p:cNvCxnSpPr>
            <a:cxnSpLocks/>
          </p:cNvCxnSpPr>
          <p:nvPr/>
        </p:nvCxnSpPr>
        <p:spPr>
          <a:xfrm>
            <a:off x="606688" y="3521988"/>
            <a:ext cx="10706098" cy="0"/>
          </a:xfrm>
          <a:prstGeom prst="line">
            <a:avLst/>
          </a:prstGeom>
          <a:ln w="952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05862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66EA67B-5793-4D7A-B06C-7349F3E89BFB}"/>
              </a:ext>
            </a:extLst>
          </p:cNvPr>
          <p:cNvSpPr/>
          <p:nvPr/>
        </p:nvSpPr>
        <p:spPr>
          <a:xfrm>
            <a:off x="532987" y="53925"/>
            <a:ext cx="10570129" cy="540767"/>
          </a:xfrm>
          <a:prstGeom prst="rect">
            <a:avLst/>
          </a:prstGeom>
          <a:solidFill>
            <a:srgbClr val="4CA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280687D-3799-4AA9-965D-C8EA88E98FF1}"/>
              </a:ext>
            </a:extLst>
          </p:cNvPr>
          <p:cNvSpPr txBox="1">
            <a:spLocks/>
          </p:cNvSpPr>
          <p:nvPr/>
        </p:nvSpPr>
        <p:spPr>
          <a:xfrm>
            <a:off x="228629" y="78751"/>
            <a:ext cx="5442327" cy="45098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en-GB" sz="3000" b="0" kern="1200" cap="all" baseline="0" noProof="0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fr-FR" cap="none" dirty="0">
                <a:solidFill>
                  <a:schemeClr val="bg1"/>
                </a:solidFill>
                <a:latin typeface="CIDFont+F3"/>
              </a:rPr>
              <a:t>Spécifications fonctionnelles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CD28FE-7A78-405B-89A4-3C18B62BC5B2}"/>
              </a:ext>
            </a:extLst>
          </p:cNvPr>
          <p:cNvSpPr txBox="1"/>
          <p:nvPr/>
        </p:nvSpPr>
        <p:spPr>
          <a:xfrm>
            <a:off x="767036" y="594692"/>
            <a:ext cx="10657927" cy="540767"/>
          </a:xfrm>
          <a:prstGeom prst="rect">
            <a:avLst/>
          </a:prstGeom>
          <a:solidFill>
            <a:schemeClr val="bg1"/>
          </a:solidFill>
        </p:spPr>
        <p:txBody>
          <a:bodyPr wrap="square" lIns="36000" tIns="36000" rIns="36000" bIns="36000" rtlCol="0">
            <a:noAutofit/>
          </a:bodyPr>
          <a:lstStyle/>
          <a:p>
            <a:endParaRPr lang="fr-FR" dirty="0">
              <a:latin typeface="CIDFont+F3"/>
            </a:endParaRPr>
          </a:p>
          <a:p>
            <a:r>
              <a:rPr lang="fr-FR" dirty="0">
                <a:latin typeface="CIDFont+F3"/>
              </a:rPr>
              <a:t>Diagramme de cas d’utilisations 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E5E9F0-977B-4B2A-BDF4-4509862390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9106" y="1386840"/>
            <a:ext cx="8578379" cy="5392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6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93F28A7-1698-4822-9692-7177DA0F4795}"/>
              </a:ext>
            </a:extLst>
          </p:cNvPr>
          <p:cNvSpPr/>
          <p:nvPr/>
        </p:nvSpPr>
        <p:spPr>
          <a:xfrm>
            <a:off x="554252" y="234523"/>
            <a:ext cx="10570129" cy="540767"/>
          </a:xfrm>
          <a:prstGeom prst="rect">
            <a:avLst/>
          </a:prstGeom>
          <a:solidFill>
            <a:srgbClr val="4CA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48D9C7E-F20D-437D-AC43-1318999D8ADF}"/>
              </a:ext>
            </a:extLst>
          </p:cNvPr>
          <p:cNvSpPr txBox="1">
            <a:spLocks/>
          </p:cNvSpPr>
          <p:nvPr/>
        </p:nvSpPr>
        <p:spPr>
          <a:xfrm>
            <a:off x="653673" y="234523"/>
            <a:ext cx="5442327" cy="45098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en-GB" sz="3000" b="0" kern="1200" cap="all" baseline="0" noProof="0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fr-FR" cap="none" dirty="0">
                <a:solidFill>
                  <a:schemeClr val="bg1"/>
                </a:solidFill>
                <a:latin typeface="CIDFont+F3"/>
              </a:rPr>
              <a:t>Spécifications techniques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63790FE-8A50-42F3-9598-23D29C0A2B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609" y="1230167"/>
            <a:ext cx="9742634" cy="4147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5312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88D25-FCA8-40C3-89E9-976E28DCB7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6688" y="2448734"/>
            <a:ext cx="10706099" cy="980266"/>
          </a:xfrm>
          <a:solidFill>
            <a:srgbClr val="C00000"/>
          </a:solidFill>
        </p:spPr>
        <p:txBody>
          <a:bodyPr anchor="ctr"/>
          <a:lstStyle/>
          <a:p>
            <a:r>
              <a:rPr lang="fr-FR" sz="3600" cap="none" dirty="0">
                <a:solidFill>
                  <a:schemeClr val="bg1"/>
                </a:solidFill>
              </a:rPr>
              <a:t>Conception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F2DB350-ECCE-49D2-9854-CE63BA543854}"/>
              </a:ext>
            </a:extLst>
          </p:cNvPr>
          <p:cNvCxnSpPr>
            <a:cxnSpLocks/>
          </p:cNvCxnSpPr>
          <p:nvPr/>
        </p:nvCxnSpPr>
        <p:spPr>
          <a:xfrm>
            <a:off x="606688" y="3521988"/>
            <a:ext cx="10706098" cy="0"/>
          </a:xfrm>
          <a:prstGeom prst="line">
            <a:avLst/>
          </a:prstGeom>
          <a:ln w="952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65417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4D0B7E8-2D5B-4AF1-9200-61618942C882}"/>
              </a:ext>
            </a:extLst>
          </p:cNvPr>
          <p:cNvSpPr txBox="1"/>
          <p:nvPr/>
        </p:nvSpPr>
        <p:spPr>
          <a:xfrm>
            <a:off x="926427" y="693895"/>
            <a:ext cx="10657927" cy="540767"/>
          </a:xfrm>
          <a:prstGeom prst="rect">
            <a:avLst/>
          </a:prstGeom>
          <a:solidFill>
            <a:schemeClr val="bg1"/>
          </a:solidFill>
        </p:spPr>
        <p:txBody>
          <a:bodyPr wrap="square" lIns="36000" tIns="36000" rIns="36000" bIns="36000" rtlCol="0">
            <a:noAutofit/>
          </a:bodyPr>
          <a:lstStyle/>
          <a:p>
            <a:endParaRPr lang="fr-FR" dirty="0">
              <a:latin typeface="CIDFont+F3"/>
            </a:endParaRPr>
          </a:p>
          <a:p>
            <a:r>
              <a:rPr lang="fr-FR" dirty="0">
                <a:latin typeface="CIDFont+F3"/>
              </a:rPr>
              <a:t>Diagramme de classes Métier :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ED2C16-5D04-4E0C-9CAC-BC768749737A}"/>
              </a:ext>
            </a:extLst>
          </p:cNvPr>
          <p:cNvSpPr/>
          <p:nvPr/>
        </p:nvSpPr>
        <p:spPr>
          <a:xfrm>
            <a:off x="361305" y="242913"/>
            <a:ext cx="10570129" cy="540767"/>
          </a:xfrm>
          <a:prstGeom prst="rect">
            <a:avLst/>
          </a:prstGeom>
          <a:solidFill>
            <a:srgbClr val="4CA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0681581-AF6E-423D-95CD-B656FCA4A5D8}"/>
              </a:ext>
            </a:extLst>
          </p:cNvPr>
          <p:cNvSpPr txBox="1">
            <a:spLocks/>
          </p:cNvSpPr>
          <p:nvPr/>
        </p:nvSpPr>
        <p:spPr>
          <a:xfrm>
            <a:off x="0" y="231843"/>
            <a:ext cx="4413278" cy="45098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en-GB" sz="3000" b="0" kern="1200" cap="all" baseline="0" noProof="0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fr-FR" cap="none" dirty="0">
                <a:solidFill>
                  <a:schemeClr val="bg1"/>
                </a:solidFill>
                <a:latin typeface="CIDFont+F3"/>
              </a:rPr>
              <a:t> Conception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9A6BA0-8872-4873-8357-3739B26BC4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3806" y="1437401"/>
            <a:ext cx="6957269" cy="472670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035E7AF-49A4-4352-9D78-20A4FBC615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3337" y="1345226"/>
            <a:ext cx="2168014" cy="12317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6020480-C0C3-4A78-950E-DDE5D530CC7D}"/>
              </a:ext>
            </a:extLst>
          </p:cNvPr>
          <p:cNvSpPr/>
          <p:nvPr/>
        </p:nvSpPr>
        <p:spPr>
          <a:xfrm>
            <a:off x="4413278" y="1326837"/>
            <a:ext cx="2048073" cy="125008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 dirty="0"/>
          </a:p>
        </p:txBody>
      </p:sp>
    </p:spTree>
    <p:extLst>
      <p:ext uri="{BB962C8B-B14F-4D97-AF65-F5344CB8AC3E}">
        <p14:creationId xmlns:p14="http://schemas.microsoft.com/office/powerpoint/2010/main" val="849289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4D0B7E8-2D5B-4AF1-9200-61618942C882}"/>
              </a:ext>
            </a:extLst>
          </p:cNvPr>
          <p:cNvSpPr txBox="1"/>
          <p:nvPr/>
        </p:nvSpPr>
        <p:spPr>
          <a:xfrm>
            <a:off x="926427" y="693895"/>
            <a:ext cx="10657927" cy="540767"/>
          </a:xfrm>
          <a:prstGeom prst="rect">
            <a:avLst/>
          </a:prstGeom>
          <a:solidFill>
            <a:schemeClr val="bg1"/>
          </a:solidFill>
        </p:spPr>
        <p:txBody>
          <a:bodyPr wrap="square" lIns="36000" tIns="36000" rIns="36000" bIns="36000" rtlCol="0">
            <a:noAutofit/>
          </a:bodyPr>
          <a:lstStyle/>
          <a:p>
            <a:endParaRPr lang="fr-FR" dirty="0">
              <a:latin typeface="CIDFont+F3"/>
            </a:endParaRPr>
          </a:p>
          <a:p>
            <a:r>
              <a:rPr lang="fr-FR" dirty="0">
                <a:latin typeface="CIDFont+F3"/>
              </a:rPr>
              <a:t>Diagramme de classes métiers :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ED2C16-5D04-4E0C-9CAC-BC768749737A}"/>
              </a:ext>
            </a:extLst>
          </p:cNvPr>
          <p:cNvSpPr/>
          <p:nvPr/>
        </p:nvSpPr>
        <p:spPr>
          <a:xfrm>
            <a:off x="361305" y="242913"/>
            <a:ext cx="10570129" cy="540767"/>
          </a:xfrm>
          <a:prstGeom prst="rect">
            <a:avLst/>
          </a:prstGeom>
          <a:solidFill>
            <a:srgbClr val="4CA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0681581-AF6E-423D-95CD-B656FCA4A5D8}"/>
              </a:ext>
            </a:extLst>
          </p:cNvPr>
          <p:cNvSpPr txBox="1">
            <a:spLocks/>
          </p:cNvSpPr>
          <p:nvPr/>
        </p:nvSpPr>
        <p:spPr>
          <a:xfrm>
            <a:off x="460726" y="242913"/>
            <a:ext cx="4413278" cy="45098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en-GB" sz="3000" b="0" kern="1200" cap="all" baseline="0" noProof="0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fr-FR" cap="none" dirty="0">
                <a:solidFill>
                  <a:schemeClr val="bg1"/>
                </a:solidFill>
                <a:latin typeface="CIDFont+F3"/>
              </a:rPr>
              <a:t>Conception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9A6BA0-8872-4873-8357-3739B26BC4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6755" y="1434517"/>
            <a:ext cx="6957269" cy="472670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725989E-66A9-467E-88C6-6951F5976C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5877" y="1404852"/>
            <a:ext cx="2257734" cy="161107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6020480-C0C3-4A78-950E-DDE5D530CC7D}"/>
              </a:ext>
            </a:extLst>
          </p:cNvPr>
          <p:cNvSpPr/>
          <p:nvPr/>
        </p:nvSpPr>
        <p:spPr>
          <a:xfrm>
            <a:off x="2365695" y="1434518"/>
            <a:ext cx="2197916" cy="158141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 dirty="0"/>
          </a:p>
        </p:txBody>
      </p:sp>
    </p:spTree>
    <p:extLst>
      <p:ext uri="{BB962C8B-B14F-4D97-AF65-F5344CB8AC3E}">
        <p14:creationId xmlns:p14="http://schemas.microsoft.com/office/powerpoint/2010/main" val="34343702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4D0B7E8-2D5B-4AF1-9200-61618942C882}"/>
              </a:ext>
            </a:extLst>
          </p:cNvPr>
          <p:cNvSpPr txBox="1"/>
          <p:nvPr/>
        </p:nvSpPr>
        <p:spPr>
          <a:xfrm>
            <a:off x="926427" y="693895"/>
            <a:ext cx="10657927" cy="540767"/>
          </a:xfrm>
          <a:prstGeom prst="rect">
            <a:avLst/>
          </a:prstGeom>
          <a:solidFill>
            <a:schemeClr val="bg1"/>
          </a:solidFill>
        </p:spPr>
        <p:txBody>
          <a:bodyPr wrap="square" lIns="36000" tIns="36000" rIns="36000" bIns="36000" rtlCol="0">
            <a:noAutofit/>
          </a:bodyPr>
          <a:lstStyle/>
          <a:p>
            <a:endParaRPr lang="fr-FR" dirty="0">
              <a:latin typeface="CIDFont+F3"/>
            </a:endParaRPr>
          </a:p>
          <a:p>
            <a:r>
              <a:rPr lang="fr-FR" dirty="0">
                <a:latin typeface="CIDFont+F3"/>
              </a:rPr>
              <a:t>Diagramme de classes métiers :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ED2C16-5D04-4E0C-9CAC-BC768749737A}"/>
              </a:ext>
            </a:extLst>
          </p:cNvPr>
          <p:cNvSpPr/>
          <p:nvPr/>
        </p:nvSpPr>
        <p:spPr>
          <a:xfrm>
            <a:off x="361305" y="242913"/>
            <a:ext cx="10570129" cy="540767"/>
          </a:xfrm>
          <a:prstGeom prst="rect">
            <a:avLst/>
          </a:prstGeom>
          <a:solidFill>
            <a:srgbClr val="4CA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0681581-AF6E-423D-95CD-B656FCA4A5D8}"/>
              </a:ext>
            </a:extLst>
          </p:cNvPr>
          <p:cNvSpPr txBox="1">
            <a:spLocks/>
          </p:cNvSpPr>
          <p:nvPr/>
        </p:nvSpPr>
        <p:spPr>
          <a:xfrm>
            <a:off x="460726" y="242913"/>
            <a:ext cx="4413278" cy="45098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en-GB" sz="3000" b="0" kern="1200" cap="all" baseline="0" noProof="0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fr-FR" cap="none" dirty="0">
                <a:solidFill>
                  <a:schemeClr val="bg1"/>
                </a:solidFill>
                <a:latin typeface="CIDFont+F3"/>
              </a:rPr>
              <a:t>Conception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9A6BA0-8872-4873-8357-3739B26BC4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1162" y="1437401"/>
            <a:ext cx="7989675" cy="472670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0EA2E1C-4634-4626-8F1E-0B9CF38A47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0642" y="916673"/>
            <a:ext cx="2873536" cy="19036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B754E70-C62F-4BB5-B05E-798AC27481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6391" y="3014793"/>
            <a:ext cx="2150024" cy="1903638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86B64859-F68B-4BCA-A9FA-5B1F53FF47D0}"/>
              </a:ext>
            </a:extLst>
          </p:cNvPr>
          <p:cNvSpPr/>
          <p:nvPr/>
        </p:nvSpPr>
        <p:spPr>
          <a:xfrm>
            <a:off x="9116391" y="3014793"/>
            <a:ext cx="2150024" cy="190363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6020480-C0C3-4A78-950E-DDE5D530CC7D}"/>
              </a:ext>
            </a:extLst>
          </p:cNvPr>
          <p:cNvSpPr/>
          <p:nvPr/>
        </p:nvSpPr>
        <p:spPr>
          <a:xfrm>
            <a:off x="7335892" y="1000237"/>
            <a:ext cx="2605062" cy="173457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 dirty="0"/>
          </a:p>
        </p:txBody>
      </p:sp>
    </p:spTree>
    <p:extLst>
      <p:ext uri="{BB962C8B-B14F-4D97-AF65-F5344CB8AC3E}">
        <p14:creationId xmlns:p14="http://schemas.microsoft.com/office/powerpoint/2010/main" val="17867628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4D0B7E8-2D5B-4AF1-9200-61618942C882}"/>
              </a:ext>
            </a:extLst>
          </p:cNvPr>
          <p:cNvSpPr txBox="1"/>
          <p:nvPr/>
        </p:nvSpPr>
        <p:spPr>
          <a:xfrm>
            <a:off x="926427" y="693895"/>
            <a:ext cx="10657927" cy="540767"/>
          </a:xfrm>
          <a:prstGeom prst="rect">
            <a:avLst/>
          </a:prstGeom>
          <a:solidFill>
            <a:schemeClr val="bg1"/>
          </a:solidFill>
        </p:spPr>
        <p:txBody>
          <a:bodyPr wrap="square" lIns="36000" tIns="36000" rIns="36000" bIns="36000" rtlCol="0">
            <a:noAutofit/>
          </a:bodyPr>
          <a:lstStyle/>
          <a:p>
            <a:endParaRPr lang="fr-FR" dirty="0">
              <a:latin typeface="CIDFont+F3"/>
            </a:endParaRPr>
          </a:p>
          <a:p>
            <a:r>
              <a:rPr lang="fr-FR" dirty="0">
                <a:latin typeface="CIDFont+F3"/>
              </a:rPr>
              <a:t>Diagramme de classes métiers :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ED2C16-5D04-4E0C-9CAC-BC768749737A}"/>
              </a:ext>
            </a:extLst>
          </p:cNvPr>
          <p:cNvSpPr/>
          <p:nvPr/>
        </p:nvSpPr>
        <p:spPr>
          <a:xfrm>
            <a:off x="361305" y="242913"/>
            <a:ext cx="10570129" cy="540767"/>
          </a:xfrm>
          <a:prstGeom prst="rect">
            <a:avLst/>
          </a:prstGeom>
          <a:solidFill>
            <a:srgbClr val="4CA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0681581-AF6E-423D-95CD-B656FCA4A5D8}"/>
              </a:ext>
            </a:extLst>
          </p:cNvPr>
          <p:cNvSpPr txBox="1">
            <a:spLocks/>
          </p:cNvSpPr>
          <p:nvPr/>
        </p:nvSpPr>
        <p:spPr>
          <a:xfrm>
            <a:off x="460726" y="242913"/>
            <a:ext cx="4413278" cy="45098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en-GB" sz="3000" b="0" kern="1200" cap="all" baseline="0" noProof="0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fr-FR" cap="none" dirty="0">
                <a:solidFill>
                  <a:schemeClr val="bg1"/>
                </a:solidFill>
                <a:latin typeface="CIDFont+F3"/>
              </a:rPr>
              <a:t>Analyse et Conception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9A6BA0-8872-4873-8357-3739B26BC4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4080" y="1482756"/>
            <a:ext cx="7989675" cy="472670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8BC77E1-A25C-4F7C-8048-C85FF1C6E1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0826" y="4697835"/>
            <a:ext cx="1641666" cy="1408989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DF98BB4E-97F3-4AD4-A0C2-E90D226536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2304" y="3984770"/>
            <a:ext cx="3015509" cy="200711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6020480-C0C3-4A78-950E-DDE5D530CC7D}"/>
              </a:ext>
            </a:extLst>
          </p:cNvPr>
          <p:cNvSpPr/>
          <p:nvPr/>
        </p:nvSpPr>
        <p:spPr>
          <a:xfrm>
            <a:off x="4513276" y="3984770"/>
            <a:ext cx="2860647" cy="192946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040CDC4-5EC9-4775-802C-6F63C65B94A0}"/>
              </a:ext>
            </a:extLst>
          </p:cNvPr>
          <p:cNvSpPr/>
          <p:nvPr/>
        </p:nvSpPr>
        <p:spPr>
          <a:xfrm>
            <a:off x="8397380" y="4697835"/>
            <a:ext cx="2222444" cy="146338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 dirty="0"/>
          </a:p>
        </p:txBody>
      </p:sp>
    </p:spTree>
    <p:extLst>
      <p:ext uri="{BB962C8B-B14F-4D97-AF65-F5344CB8AC3E}">
        <p14:creationId xmlns:p14="http://schemas.microsoft.com/office/powerpoint/2010/main" val="36251485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4D0B7E8-2D5B-4AF1-9200-61618942C882}"/>
              </a:ext>
            </a:extLst>
          </p:cNvPr>
          <p:cNvSpPr txBox="1"/>
          <p:nvPr/>
        </p:nvSpPr>
        <p:spPr>
          <a:xfrm>
            <a:off x="926427" y="693895"/>
            <a:ext cx="10657927" cy="540767"/>
          </a:xfrm>
          <a:prstGeom prst="rect">
            <a:avLst/>
          </a:prstGeom>
          <a:solidFill>
            <a:schemeClr val="bg1"/>
          </a:solidFill>
        </p:spPr>
        <p:txBody>
          <a:bodyPr wrap="square" lIns="36000" tIns="36000" rIns="36000" bIns="36000" rtlCol="0">
            <a:noAutofit/>
          </a:bodyPr>
          <a:lstStyle/>
          <a:p>
            <a:endParaRPr lang="fr-FR" dirty="0">
              <a:latin typeface="CIDFont+F3"/>
            </a:endParaRPr>
          </a:p>
          <a:p>
            <a:r>
              <a:rPr lang="fr-FR" dirty="0">
                <a:latin typeface="CIDFont+F3"/>
              </a:rPr>
              <a:t>Diagramme de classes métiers :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ED2C16-5D04-4E0C-9CAC-BC768749737A}"/>
              </a:ext>
            </a:extLst>
          </p:cNvPr>
          <p:cNvSpPr/>
          <p:nvPr/>
        </p:nvSpPr>
        <p:spPr>
          <a:xfrm>
            <a:off x="361305" y="242913"/>
            <a:ext cx="10570129" cy="540767"/>
          </a:xfrm>
          <a:prstGeom prst="rect">
            <a:avLst/>
          </a:prstGeom>
          <a:solidFill>
            <a:srgbClr val="4CA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0681581-AF6E-423D-95CD-B656FCA4A5D8}"/>
              </a:ext>
            </a:extLst>
          </p:cNvPr>
          <p:cNvSpPr txBox="1">
            <a:spLocks/>
          </p:cNvSpPr>
          <p:nvPr/>
        </p:nvSpPr>
        <p:spPr>
          <a:xfrm>
            <a:off x="460726" y="242913"/>
            <a:ext cx="4413278" cy="45098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en-GB" sz="3000" b="0" kern="1200" cap="all" baseline="0" noProof="0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fr-FR" cap="none" dirty="0">
                <a:solidFill>
                  <a:schemeClr val="bg1"/>
                </a:solidFill>
                <a:latin typeface="CIDFont+F3"/>
              </a:rPr>
              <a:t>Conception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9A6BA0-8872-4873-8357-3739B26BC4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7977" y="1437401"/>
            <a:ext cx="6957269" cy="472670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8ED9338-CB2C-4EE0-8A37-216560A57B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2839" y="2423510"/>
            <a:ext cx="3003687" cy="180984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6020480-C0C3-4A78-950E-DDE5D530CC7D}"/>
              </a:ext>
            </a:extLst>
          </p:cNvPr>
          <p:cNvSpPr/>
          <p:nvPr/>
        </p:nvSpPr>
        <p:spPr>
          <a:xfrm>
            <a:off x="1266738" y="2423510"/>
            <a:ext cx="2734811" cy="180984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 dirty="0"/>
          </a:p>
        </p:txBody>
      </p:sp>
    </p:spTree>
    <p:extLst>
      <p:ext uri="{BB962C8B-B14F-4D97-AF65-F5344CB8AC3E}">
        <p14:creationId xmlns:p14="http://schemas.microsoft.com/office/powerpoint/2010/main" val="27698717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4D0B7E8-2D5B-4AF1-9200-61618942C882}"/>
              </a:ext>
            </a:extLst>
          </p:cNvPr>
          <p:cNvSpPr txBox="1"/>
          <p:nvPr/>
        </p:nvSpPr>
        <p:spPr>
          <a:xfrm>
            <a:off x="926427" y="693895"/>
            <a:ext cx="10657927" cy="540767"/>
          </a:xfrm>
          <a:prstGeom prst="rect">
            <a:avLst/>
          </a:prstGeom>
          <a:solidFill>
            <a:schemeClr val="bg1"/>
          </a:solidFill>
        </p:spPr>
        <p:txBody>
          <a:bodyPr wrap="square" lIns="36000" tIns="36000" rIns="36000" bIns="36000" rtlCol="0">
            <a:noAutofit/>
          </a:bodyPr>
          <a:lstStyle/>
          <a:p>
            <a:endParaRPr lang="fr-FR" dirty="0">
              <a:latin typeface="CIDFont+F3"/>
            </a:endParaRPr>
          </a:p>
          <a:p>
            <a:r>
              <a:rPr lang="fr-FR" dirty="0">
                <a:latin typeface="CIDFont+F3"/>
              </a:rPr>
              <a:t>Diagramme de classes métiers :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ED2C16-5D04-4E0C-9CAC-BC768749737A}"/>
              </a:ext>
            </a:extLst>
          </p:cNvPr>
          <p:cNvSpPr/>
          <p:nvPr/>
        </p:nvSpPr>
        <p:spPr>
          <a:xfrm>
            <a:off x="361305" y="242913"/>
            <a:ext cx="10570129" cy="540767"/>
          </a:xfrm>
          <a:prstGeom prst="rect">
            <a:avLst/>
          </a:prstGeom>
          <a:solidFill>
            <a:srgbClr val="4CA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0681581-AF6E-423D-95CD-B656FCA4A5D8}"/>
              </a:ext>
            </a:extLst>
          </p:cNvPr>
          <p:cNvSpPr txBox="1">
            <a:spLocks/>
          </p:cNvSpPr>
          <p:nvPr/>
        </p:nvSpPr>
        <p:spPr>
          <a:xfrm>
            <a:off x="460726" y="242913"/>
            <a:ext cx="4413278" cy="45098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en-GB" sz="3000" b="0" kern="1200" cap="all" baseline="0" noProof="0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fr-FR" cap="none" dirty="0">
                <a:solidFill>
                  <a:schemeClr val="bg1"/>
                </a:solidFill>
                <a:latin typeface="CIDFont+F3"/>
              </a:rPr>
              <a:t>Analyse et Conception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9A6BA0-8872-4873-8357-3739B26BC4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7977" y="1437401"/>
            <a:ext cx="6957269" cy="472670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B11A586-7A35-4071-A335-FEB3D332EB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9301" y="3942826"/>
            <a:ext cx="2055488" cy="214889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6020480-C0C3-4A78-950E-DDE5D530CC7D}"/>
              </a:ext>
            </a:extLst>
          </p:cNvPr>
          <p:cNvSpPr/>
          <p:nvPr/>
        </p:nvSpPr>
        <p:spPr>
          <a:xfrm>
            <a:off x="3439301" y="3942826"/>
            <a:ext cx="2055488" cy="222128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 dirty="0"/>
          </a:p>
        </p:txBody>
      </p:sp>
    </p:spTree>
    <p:extLst>
      <p:ext uri="{BB962C8B-B14F-4D97-AF65-F5344CB8AC3E}">
        <p14:creationId xmlns:p14="http://schemas.microsoft.com/office/powerpoint/2010/main" val="327335663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4D0B7E8-2D5B-4AF1-9200-61618942C882}"/>
              </a:ext>
            </a:extLst>
          </p:cNvPr>
          <p:cNvSpPr txBox="1"/>
          <p:nvPr/>
        </p:nvSpPr>
        <p:spPr>
          <a:xfrm>
            <a:off x="926427" y="693895"/>
            <a:ext cx="10657927" cy="540767"/>
          </a:xfrm>
          <a:prstGeom prst="rect">
            <a:avLst/>
          </a:prstGeom>
          <a:solidFill>
            <a:schemeClr val="bg1"/>
          </a:solidFill>
        </p:spPr>
        <p:txBody>
          <a:bodyPr wrap="square" lIns="36000" tIns="36000" rIns="36000" bIns="36000" rtlCol="0">
            <a:noAutofit/>
          </a:bodyPr>
          <a:lstStyle/>
          <a:p>
            <a:endParaRPr lang="fr-FR" dirty="0">
              <a:latin typeface="CIDFont+F3"/>
            </a:endParaRPr>
          </a:p>
          <a:p>
            <a:r>
              <a:rPr lang="fr-FR" dirty="0">
                <a:latin typeface="CIDFont+F3"/>
              </a:rPr>
              <a:t>Diagramme de classes métiers :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ED2C16-5D04-4E0C-9CAC-BC768749737A}"/>
              </a:ext>
            </a:extLst>
          </p:cNvPr>
          <p:cNvSpPr/>
          <p:nvPr/>
        </p:nvSpPr>
        <p:spPr>
          <a:xfrm>
            <a:off x="361305" y="242913"/>
            <a:ext cx="10570129" cy="540767"/>
          </a:xfrm>
          <a:prstGeom prst="rect">
            <a:avLst/>
          </a:prstGeom>
          <a:solidFill>
            <a:srgbClr val="4CA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0681581-AF6E-423D-95CD-B656FCA4A5D8}"/>
              </a:ext>
            </a:extLst>
          </p:cNvPr>
          <p:cNvSpPr txBox="1">
            <a:spLocks/>
          </p:cNvSpPr>
          <p:nvPr/>
        </p:nvSpPr>
        <p:spPr>
          <a:xfrm>
            <a:off x="460726" y="242913"/>
            <a:ext cx="4413278" cy="45098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en-GB" sz="3000" b="0" kern="1200" cap="all" baseline="0" noProof="0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fr-FR" cap="none" dirty="0">
                <a:solidFill>
                  <a:schemeClr val="bg1"/>
                </a:solidFill>
                <a:latin typeface="CIDFont+F3"/>
              </a:rPr>
              <a:t>Analyse et Conception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9A6BA0-8872-4873-8357-3739B26BC4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7977" y="1437401"/>
            <a:ext cx="6957269" cy="472670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7CBA6B3-9D6E-48C7-9863-65ADC8A3A3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6207" y="2053340"/>
            <a:ext cx="2558562" cy="188635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6020480-C0C3-4A78-950E-DDE5D530CC7D}"/>
              </a:ext>
            </a:extLst>
          </p:cNvPr>
          <p:cNvSpPr/>
          <p:nvPr/>
        </p:nvSpPr>
        <p:spPr>
          <a:xfrm>
            <a:off x="5706207" y="2053340"/>
            <a:ext cx="2558562" cy="188635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 dirty="0"/>
          </a:p>
        </p:txBody>
      </p:sp>
    </p:spTree>
    <p:extLst>
      <p:ext uri="{BB962C8B-B14F-4D97-AF65-F5344CB8AC3E}">
        <p14:creationId xmlns:p14="http://schemas.microsoft.com/office/powerpoint/2010/main" val="384834688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4D0B7E8-2D5B-4AF1-9200-61618942C882}"/>
              </a:ext>
            </a:extLst>
          </p:cNvPr>
          <p:cNvSpPr txBox="1"/>
          <p:nvPr/>
        </p:nvSpPr>
        <p:spPr>
          <a:xfrm>
            <a:off x="926427" y="693895"/>
            <a:ext cx="10657927" cy="540767"/>
          </a:xfrm>
          <a:prstGeom prst="rect">
            <a:avLst/>
          </a:prstGeom>
          <a:solidFill>
            <a:schemeClr val="bg1"/>
          </a:solidFill>
        </p:spPr>
        <p:txBody>
          <a:bodyPr wrap="square" lIns="36000" tIns="36000" rIns="36000" bIns="36000" rtlCol="0">
            <a:noAutofit/>
          </a:bodyPr>
          <a:lstStyle/>
          <a:p>
            <a:endParaRPr lang="fr-FR" dirty="0">
              <a:latin typeface="CIDFont+F3"/>
            </a:endParaRPr>
          </a:p>
          <a:p>
            <a:r>
              <a:rPr lang="fr-FR" dirty="0">
                <a:latin typeface="CIDFont+F3"/>
              </a:rPr>
              <a:t>Diagramme de classes métiers :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ED2C16-5D04-4E0C-9CAC-BC768749737A}"/>
              </a:ext>
            </a:extLst>
          </p:cNvPr>
          <p:cNvSpPr/>
          <p:nvPr/>
        </p:nvSpPr>
        <p:spPr>
          <a:xfrm>
            <a:off x="361305" y="242913"/>
            <a:ext cx="10570129" cy="540767"/>
          </a:xfrm>
          <a:prstGeom prst="rect">
            <a:avLst/>
          </a:prstGeom>
          <a:solidFill>
            <a:srgbClr val="4CA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0681581-AF6E-423D-95CD-B656FCA4A5D8}"/>
              </a:ext>
            </a:extLst>
          </p:cNvPr>
          <p:cNvSpPr txBox="1">
            <a:spLocks/>
          </p:cNvSpPr>
          <p:nvPr/>
        </p:nvSpPr>
        <p:spPr>
          <a:xfrm>
            <a:off x="460726" y="242913"/>
            <a:ext cx="4413278" cy="45098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en-GB" sz="3000" b="0" kern="1200" cap="all" baseline="0" noProof="0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fr-FR" cap="none" dirty="0">
                <a:solidFill>
                  <a:schemeClr val="bg1"/>
                </a:solidFill>
                <a:latin typeface="CIDFont+F3"/>
              </a:rPr>
              <a:t>Conception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9A6BA0-8872-4873-8357-3739B26BC4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7977" y="1437401"/>
            <a:ext cx="6957269" cy="472670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343A2DE-FF28-4294-BDE0-F1828BEEF7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8101" y="2207058"/>
            <a:ext cx="2791815" cy="191733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260797D-DCE2-4AFE-9C80-8D52F57673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1666" y="4091691"/>
            <a:ext cx="2592197" cy="213877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5510E62-6257-42B6-9B14-8550E2232BB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8204" y="3800753"/>
            <a:ext cx="2110923" cy="141744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6020480-C0C3-4A78-950E-DDE5D530CC7D}"/>
              </a:ext>
            </a:extLst>
          </p:cNvPr>
          <p:cNvSpPr/>
          <p:nvPr/>
        </p:nvSpPr>
        <p:spPr>
          <a:xfrm>
            <a:off x="4051883" y="2273416"/>
            <a:ext cx="2718033" cy="182840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762F472-E0E1-4FFD-A3BB-F6F7E46DCA83}"/>
              </a:ext>
            </a:extLst>
          </p:cNvPr>
          <p:cNvSpPr/>
          <p:nvPr/>
        </p:nvSpPr>
        <p:spPr>
          <a:xfrm>
            <a:off x="7534735" y="3790708"/>
            <a:ext cx="2064392" cy="142748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56DF949-D3BB-47C0-B4EA-F205E5B9EF44}"/>
              </a:ext>
            </a:extLst>
          </p:cNvPr>
          <p:cNvSpPr/>
          <p:nvPr/>
        </p:nvSpPr>
        <p:spPr>
          <a:xfrm>
            <a:off x="4521666" y="4169229"/>
            <a:ext cx="2592197" cy="199487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 dirty="0"/>
          </a:p>
        </p:txBody>
      </p:sp>
    </p:spTree>
    <p:extLst>
      <p:ext uri="{BB962C8B-B14F-4D97-AF65-F5344CB8AC3E}">
        <p14:creationId xmlns:p14="http://schemas.microsoft.com/office/powerpoint/2010/main" val="209642857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79A6BA0-8872-4873-8357-3739B26BC4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7734" y="1354821"/>
            <a:ext cx="6957269" cy="472670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4D0B7E8-2D5B-4AF1-9200-61618942C882}"/>
              </a:ext>
            </a:extLst>
          </p:cNvPr>
          <p:cNvSpPr txBox="1"/>
          <p:nvPr/>
        </p:nvSpPr>
        <p:spPr>
          <a:xfrm>
            <a:off x="926427" y="693895"/>
            <a:ext cx="10657927" cy="540767"/>
          </a:xfrm>
          <a:prstGeom prst="rect">
            <a:avLst/>
          </a:prstGeom>
          <a:solidFill>
            <a:schemeClr val="bg1"/>
          </a:solidFill>
        </p:spPr>
        <p:txBody>
          <a:bodyPr wrap="square" lIns="36000" tIns="36000" rIns="36000" bIns="36000" rtlCol="0">
            <a:noAutofit/>
          </a:bodyPr>
          <a:lstStyle/>
          <a:p>
            <a:endParaRPr lang="fr-FR" dirty="0">
              <a:latin typeface="CIDFont+F3"/>
            </a:endParaRPr>
          </a:p>
          <a:p>
            <a:r>
              <a:rPr lang="fr-FR" dirty="0">
                <a:latin typeface="CIDFont+F3"/>
              </a:rPr>
              <a:t>Diagramme de classes métiers 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686A9D-CDB1-4283-92AC-B1DC7F81E2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3908" y="3688898"/>
            <a:ext cx="2571565" cy="193444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BED2C16-5D04-4E0C-9CAC-BC768749737A}"/>
              </a:ext>
            </a:extLst>
          </p:cNvPr>
          <p:cNvSpPr/>
          <p:nvPr/>
        </p:nvSpPr>
        <p:spPr>
          <a:xfrm>
            <a:off x="361305" y="242913"/>
            <a:ext cx="10570129" cy="540767"/>
          </a:xfrm>
          <a:prstGeom prst="rect">
            <a:avLst/>
          </a:prstGeom>
          <a:solidFill>
            <a:srgbClr val="4CA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0681581-AF6E-423D-95CD-B656FCA4A5D8}"/>
              </a:ext>
            </a:extLst>
          </p:cNvPr>
          <p:cNvSpPr txBox="1">
            <a:spLocks/>
          </p:cNvSpPr>
          <p:nvPr/>
        </p:nvSpPr>
        <p:spPr>
          <a:xfrm>
            <a:off x="460726" y="242913"/>
            <a:ext cx="4413278" cy="45098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en-GB" sz="3000" b="0" kern="1200" cap="all" baseline="0" noProof="0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fr-FR" cap="none" dirty="0">
                <a:solidFill>
                  <a:schemeClr val="bg1"/>
                </a:solidFill>
                <a:latin typeface="CIDFont+F3"/>
              </a:rPr>
              <a:t>Conception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6020480-C0C3-4A78-950E-DDE5D530CC7D}"/>
              </a:ext>
            </a:extLst>
          </p:cNvPr>
          <p:cNvSpPr/>
          <p:nvPr/>
        </p:nvSpPr>
        <p:spPr>
          <a:xfrm>
            <a:off x="1753298" y="3688899"/>
            <a:ext cx="2315363" cy="181428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 dirty="0"/>
          </a:p>
        </p:txBody>
      </p:sp>
    </p:spTree>
    <p:extLst>
      <p:ext uri="{BB962C8B-B14F-4D97-AF65-F5344CB8AC3E}">
        <p14:creationId xmlns:p14="http://schemas.microsoft.com/office/powerpoint/2010/main" val="284779745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88D25-FCA8-40C3-89E9-976E28DCB7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6688" y="2448734"/>
            <a:ext cx="10706099" cy="980266"/>
          </a:xfrm>
          <a:solidFill>
            <a:srgbClr val="C00000"/>
          </a:solidFill>
        </p:spPr>
        <p:txBody>
          <a:bodyPr anchor="ctr"/>
          <a:lstStyle/>
          <a:p>
            <a:r>
              <a:rPr lang="fr-FR" sz="3600" dirty="0">
                <a:solidFill>
                  <a:schemeClr val="bg1"/>
                </a:solidFill>
              </a:rPr>
              <a:t>Avancement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F2DB350-ECCE-49D2-9854-CE63BA543854}"/>
              </a:ext>
            </a:extLst>
          </p:cNvPr>
          <p:cNvCxnSpPr>
            <a:cxnSpLocks/>
          </p:cNvCxnSpPr>
          <p:nvPr/>
        </p:nvCxnSpPr>
        <p:spPr>
          <a:xfrm>
            <a:off x="606688" y="3521988"/>
            <a:ext cx="10706098" cy="0"/>
          </a:xfrm>
          <a:prstGeom prst="line">
            <a:avLst/>
          </a:prstGeom>
          <a:ln w="952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778376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93F28A7-1698-4822-9692-7177DA0F4795}"/>
              </a:ext>
            </a:extLst>
          </p:cNvPr>
          <p:cNvSpPr/>
          <p:nvPr/>
        </p:nvSpPr>
        <p:spPr>
          <a:xfrm>
            <a:off x="554252" y="234523"/>
            <a:ext cx="10570129" cy="540767"/>
          </a:xfrm>
          <a:prstGeom prst="rect">
            <a:avLst/>
          </a:prstGeom>
          <a:solidFill>
            <a:srgbClr val="4CA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48D9C7E-F20D-437D-AC43-1318999D8ADF}"/>
              </a:ext>
            </a:extLst>
          </p:cNvPr>
          <p:cNvSpPr txBox="1">
            <a:spLocks/>
          </p:cNvSpPr>
          <p:nvPr/>
        </p:nvSpPr>
        <p:spPr>
          <a:xfrm>
            <a:off x="1005365" y="234523"/>
            <a:ext cx="5442327" cy="45098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en-GB" sz="3000" b="0" kern="1200" cap="all" baseline="0" noProof="0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pPr algn="l"/>
            <a:r>
              <a:rPr lang="fr-FR" cap="none" dirty="0">
                <a:solidFill>
                  <a:schemeClr val="bg1"/>
                </a:solidFill>
                <a:latin typeface="CIDFont+F3"/>
              </a:rPr>
              <a:t>Planning &amp; Avancement</a:t>
            </a:r>
          </a:p>
        </p:txBody>
      </p:sp>
      <p:graphicFrame>
        <p:nvGraphicFramePr>
          <p:cNvPr id="2" name="Table 3">
            <a:extLst>
              <a:ext uri="{FF2B5EF4-FFF2-40B4-BE49-F238E27FC236}">
                <a16:creationId xmlns:a16="http://schemas.microsoft.com/office/drawing/2014/main" id="{24C58AF6-AF59-4EBD-ABC3-E639202956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9540127"/>
              </p:ext>
            </p:extLst>
          </p:nvPr>
        </p:nvGraphicFramePr>
        <p:xfrm>
          <a:off x="729762" y="1087339"/>
          <a:ext cx="9274429" cy="48073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17029">
                  <a:extLst>
                    <a:ext uri="{9D8B030D-6E8A-4147-A177-3AD203B41FA5}">
                      <a16:colId xmlns:a16="http://schemas.microsoft.com/office/drawing/2014/main" val="2763454353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3263280934"/>
                    </a:ext>
                  </a:extLst>
                </a:gridCol>
              </a:tblGrid>
              <a:tr h="352233">
                <a:tc>
                  <a:txBody>
                    <a:bodyPr/>
                    <a:lstStyle/>
                    <a:p>
                      <a:pPr algn="ctr"/>
                      <a:r>
                        <a:rPr lang="fr-FR" dirty="0" err="1"/>
                        <a:t>Tasks</a:t>
                      </a:r>
                      <a:r>
                        <a:rPr lang="fr-FR" dirty="0"/>
                        <a:t> &amp; livrables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Durée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598396"/>
                  </a:ext>
                </a:extLst>
              </a:tr>
              <a:tr h="301848">
                <a:tc>
                  <a:txBody>
                    <a:bodyPr/>
                    <a:lstStyle/>
                    <a:p>
                      <a:r>
                        <a:rPr lang="fr-FR" dirty="0"/>
                        <a:t>Formation C#, unit </a:t>
                      </a:r>
                      <a:r>
                        <a:rPr lang="fr-FR" dirty="0" err="1"/>
                        <a:t>testing</a:t>
                      </a:r>
                      <a:r>
                        <a:rPr lang="fr-FR" dirty="0"/>
                        <a:t>, Git, Azure …</a:t>
                      </a:r>
                    </a:p>
                  </a:txBody>
                  <a:tcPr>
                    <a:solidFill>
                      <a:srgbClr val="5BBE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4 Semaines</a:t>
                      </a:r>
                    </a:p>
                  </a:txBody>
                  <a:tcPr>
                    <a:solidFill>
                      <a:srgbClr val="5BBE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7293414"/>
                  </a:ext>
                </a:extLst>
              </a:tr>
              <a:tr h="301848">
                <a:tc>
                  <a:txBody>
                    <a:bodyPr/>
                    <a:lstStyle/>
                    <a:p>
                      <a:r>
                        <a:rPr lang="fr-FR" dirty="0"/>
                        <a:t>Etude de l'existant</a:t>
                      </a:r>
                    </a:p>
                  </a:txBody>
                  <a:tcPr>
                    <a:solidFill>
                      <a:srgbClr val="5BBE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3jours</a:t>
                      </a:r>
                    </a:p>
                  </a:txBody>
                  <a:tcPr>
                    <a:solidFill>
                      <a:srgbClr val="5BBE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3312971"/>
                  </a:ext>
                </a:extLst>
              </a:tr>
              <a:tr h="301848">
                <a:tc>
                  <a:txBody>
                    <a:bodyPr/>
                    <a:lstStyle/>
                    <a:p>
                      <a:r>
                        <a:rPr lang="fr-FR" dirty="0"/>
                        <a:t> Spécifications générales</a:t>
                      </a:r>
                    </a:p>
                  </a:txBody>
                  <a:tcPr>
                    <a:solidFill>
                      <a:srgbClr val="5BBE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5 jours</a:t>
                      </a:r>
                    </a:p>
                  </a:txBody>
                  <a:tcPr>
                    <a:solidFill>
                      <a:srgbClr val="5BBE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9019045"/>
                  </a:ext>
                </a:extLst>
              </a:tr>
              <a:tr h="425503">
                <a:tc>
                  <a:txBody>
                    <a:bodyPr/>
                    <a:lstStyle/>
                    <a:p>
                      <a:r>
                        <a:rPr lang="fr-FR" dirty="0"/>
                        <a:t> Itération 1 : Récupération des inputs &amp; implémentation des objets de base</a:t>
                      </a:r>
                    </a:p>
                  </a:txBody>
                  <a:tcPr>
                    <a:solidFill>
                      <a:srgbClr val="5BBE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5jours</a:t>
                      </a:r>
                    </a:p>
                  </a:txBody>
                  <a:tcPr>
                    <a:solidFill>
                      <a:srgbClr val="5BBE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0034242"/>
                  </a:ext>
                </a:extLst>
              </a:tr>
              <a:tr h="425503">
                <a:tc>
                  <a:txBody>
                    <a:bodyPr/>
                    <a:lstStyle/>
                    <a:p>
                      <a:r>
                        <a:rPr lang="fr-FR" dirty="0"/>
                        <a:t> Itération 2 : Implémentation du </a:t>
                      </a:r>
                      <a:r>
                        <a:rPr lang="fr-FR" dirty="0" err="1"/>
                        <a:t>simulaterQueue</a:t>
                      </a:r>
                      <a:r>
                        <a:rPr lang="fr-FR" dirty="0"/>
                        <a:t> &amp; </a:t>
                      </a:r>
                      <a:r>
                        <a:rPr lang="fr-FR" dirty="0" err="1"/>
                        <a:t>simulaterWorkers</a:t>
                      </a:r>
                      <a:endParaRPr lang="fr-FR" dirty="0"/>
                    </a:p>
                  </a:txBody>
                  <a:tcPr>
                    <a:solidFill>
                      <a:srgbClr val="5BBE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5jours</a:t>
                      </a:r>
                    </a:p>
                  </a:txBody>
                  <a:tcPr>
                    <a:solidFill>
                      <a:srgbClr val="5BBE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7790185"/>
                  </a:ext>
                </a:extLst>
              </a:tr>
              <a:tr h="301848">
                <a:tc>
                  <a:txBody>
                    <a:bodyPr/>
                    <a:lstStyle/>
                    <a:p>
                      <a:r>
                        <a:rPr lang="fr-FR" dirty="0"/>
                        <a:t> Itération 3 : Implémenter le </a:t>
                      </a:r>
                      <a:r>
                        <a:rPr lang="fr-FR" dirty="0" err="1"/>
                        <a:t>ScalerSimulater</a:t>
                      </a:r>
                      <a:endParaRPr lang="fr-FR" dirty="0"/>
                    </a:p>
                  </a:txBody>
                  <a:tcPr>
                    <a:solidFill>
                      <a:srgbClr val="5BBE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5jours</a:t>
                      </a:r>
                    </a:p>
                  </a:txBody>
                  <a:tcPr>
                    <a:solidFill>
                      <a:srgbClr val="5BBE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8136417"/>
                  </a:ext>
                </a:extLst>
              </a:tr>
              <a:tr h="425503">
                <a:tc>
                  <a:txBody>
                    <a:bodyPr/>
                    <a:lstStyle/>
                    <a:p>
                      <a:r>
                        <a:rPr lang="fr-FR" dirty="0"/>
                        <a:t> Itération 4 : Implémenter Simulator &amp; </a:t>
                      </a:r>
                      <a:r>
                        <a:rPr lang="fr-FR" dirty="0" err="1"/>
                        <a:t>Orchestrator</a:t>
                      </a:r>
                      <a:endParaRPr lang="fr-FR" dirty="0"/>
                    </a:p>
                  </a:txBody>
                  <a:tcPr>
                    <a:solidFill>
                      <a:srgbClr val="5BBE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5jours</a:t>
                      </a:r>
                    </a:p>
                  </a:txBody>
                  <a:tcPr>
                    <a:solidFill>
                      <a:srgbClr val="5BBE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8047030"/>
                  </a:ext>
                </a:extLst>
              </a:tr>
              <a:tr h="425503">
                <a:tc>
                  <a:txBody>
                    <a:bodyPr/>
                    <a:lstStyle/>
                    <a:p>
                      <a:r>
                        <a:rPr lang="fr-FR" dirty="0"/>
                        <a:t> Itération 5 : </a:t>
                      </a:r>
                      <a:r>
                        <a:rPr lang="fr-FR" dirty="0" err="1"/>
                        <a:t>Extendre</a:t>
                      </a:r>
                      <a:r>
                        <a:rPr lang="fr-FR" dirty="0"/>
                        <a:t> l'objet de configuration : </a:t>
                      </a:r>
                      <a:r>
                        <a:rPr lang="fr-FR" dirty="0" err="1"/>
                        <a:t>IConfigurationHolderHolder</a:t>
                      </a:r>
                      <a:endParaRPr lang="fr-FR" dirty="0"/>
                    </a:p>
                  </a:txBody>
                  <a:tcPr>
                    <a:solidFill>
                      <a:srgbClr val="5BBE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5jours</a:t>
                      </a:r>
                    </a:p>
                  </a:txBody>
                  <a:tcPr>
                    <a:solidFill>
                      <a:srgbClr val="5BBE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984445"/>
                  </a:ext>
                </a:extLst>
              </a:tr>
              <a:tr h="425503">
                <a:tc>
                  <a:txBody>
                    <a:bodyPr/>
                    <a:lstStyle/>
                    <a:p>
                      <a:r>
                        <a:rPr lang="fr-FR" dirty="0"/>
                        <a:t>Itération 6 : Implémenter les Métriques</a:t>
                      </a:r>
                    </a:p>
                  </a:txBody>
                  <a:tcPr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BE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10jours</a:t>
                      </a:r>
                    </a:p>
                  </a:txBody>
                  <a:tcPr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BE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5261236"/>
                  </a:ext>
                </a:extLst>
              </a:tr>
              <a:tr h="425503">
                <a:tc>
                  <a:txBody>
                    <a:bodyPr/>
                    <a:lstStyle/>
                    <a:p>
                      <a:r>
                        <a:rPr lang="fr-FR" dirty="0"/>
                        <a:t>Itération 7 :Implémentation du Simulation </a:t>
                      </a:r>
                      <a:r>
                        <a:rPr lang="fr-FR" dirty="0" err="1"/>
                        <a:t>ResultPrinter</a:t>
                      </a:r>
                      <a:endParaRPr lang="fr-FR" dirty="0"/>
                    </a:p>
                  </a:txBody>
                  <a:tcP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X</a:t>
                      </a:r>
                    </a:p>
                  </a:txBody>
                  <a:tcP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9697978"/>
                  </a:ext>
                </a:extLst>
              </a:tr>
              <a:tr h="425503">
                <a:tc>
                  <a:txBody>
                    <a:bodyPr/>
                    <a:lstStyle/>
                    <a:p>
                      <a:r>
                        <a:rPr lang="fr-FR" dirty="0"/>
                        <a:t>Itération 8 : Intégrer les Graphs </a:t>
                      </a:r>
                      <a:r>
                        <a:rPr lang="fr-FR" dirty="0" err="1"/>
                        <a:t>Requests</a:t>
                      </a:r>
                      <a:endParaRPr lang="fr-FR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X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59016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126549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88D25-FCA8-40C3-89E9-976E28DCB7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6688" y="2448734"/>
            <a:ext cx="10706099" cy="980266"/>
          </a:xfrm>
          <a:solidFill>
            <a:srgbClr val="C00000"/>
          </a:solidFill>
        </p:spPr>
        <p:txBody>
          <a:bodyPr anchor="ctr"/>
          <a:lstStyle/>
          <a:p>
            <a:r>
              <a:rPr lang="fr-FR" sz="3600" dirty="0">
                <a:solidFill>
                  <a:schemeClr val="bg1"/>
                </a:solidFill>
              </a:rPr>
              <a:t>Démo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F2DB350-ECCE-49D2-9854-CE63BA543854}"/>
              </a:ext>
            </a:extLst>
          </p:cNvPr>
          <p:cNvCxnSpPr>
            <a:cxnSpLocks/>
          </p:cNvCxnSpPr>
          <p:nvPr/>
        </p:nvCxnSpPr>
        <p:spPr>
          <a:xfrm>
            <a:off x="606688" y="3521988"/>
            <a:ext cx="10706098" cy="0"/>
          </a:xfrm>
          <a:prstGeom prst="line">
            <a:avLst/>
          </a:prstGeom>
          <a:ln w="952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60818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2946</TotalTime>
  <Words>931</Words>
  <Application>Microsoft Office PowerPoint</Application>
  <PresentationFormat>Widescreen</PresentationFormat>
  <Paragraphs>168</Paragraphs>
  <Slides>36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5" baseType="lpstr">
      <vt:lpstr>Arial</vt:lpstr>
      <vt:lpstr>Asap Medium</vt:lpstr>
      <vt:lpstr>Calibri</vt:lpstr>
      <vt:lpstr>Calibri Light</vt:lpstr>
      <vt:lpstr>CIDFont+F3</vt:lpstr>
      <vt:lpstr>Courier New</vt:lpstr>
      <vt:lpstr>Open Sans Light</vt:lpstr>
      <vt:lpstr>Wingdings</vt:lpstr>
      <vt:lpstr>Office Theme</vt:lpstr>
      <vt:lpstr>Conception et réalisation d’un outil de Simulation de charge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Plan </vt:lpstr>
      <vt:lpstr>Contexte de projet</vt:lpstr>
      <vt:lpstr>PowerPoint Presentation</vt:lpstr>
      <vt:lpstr>PowerPoint Presentation</vt:lpstr>
      <vt:lpstr>PowerPoint Presentation</vt:lpstr>
      <vt:lpstr>Problématique</vt:lpstr>
      <vt:lpstr>PowerPoint Presentation</vt:lpstr>
      <vt:lpstr>Solution proposée</vt:lpstr>
      <vt:lpstr>PowerPoint Presentation</vt:lpstr>
      <vt:lpstr>PowerPoint Presentation</vt:lpstr>
      <vt:lpstr>Spécifications</vt:lpstr>
      <vt:lpstr>PowerPoint Presentation</vt:lpstr>
      <vt:lpstr>PowerPoint Presentation</vt:lpstr>
      <vt:lpstr>Conception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Avancement</vt:lpstr>
      <vt:lpstr>PowerPoint Presentation</vt:lpstr>
      <vt:lpstr>Démo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ZLaP</dc:creator>
  <cp:lastModifiedBy>ZLaP</cp:lastModifiedBy>
  <cp:revision>28</cp:revision>
  <dcterms:created xsi:type="dcterms:W3CDTF">2020-06-18T08:57:23Z</dcterms:created>
  <dcterms:modified xsi:type="dcterms:W3CDTF">2020-06-26T21:45:09Z</dcterms:modified>
</cp:coreProperties>
</file>